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Default Extension="fntdata" ContentType="application/x-fontdata"/>
  <Default Extension="jpg" ContentType="image/jpeg"/>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authors.xml" ContentType="application/vnd.ms-powerpoint.author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autoCompressPictures="0">
  <p:sldMasterIdLst>
    <p:sldMasterId id="2147483658" r:id="rId4"/>
  </p:sldMasterIdLst>
  <p:notesMasterIdLst>
    <p:notesMasterId r:id="rId79"/>
  </p:notesMasterIdLst>
  <p:sldIdLst>
    <p:sldId id="378" r:id="rId5"/>
    <p:sldId id="257" r:id="rId6"/>
    <p:sldId id="258" r:id="rId7"/>
    <p:sldId id="263" r:id="rId8"/>
    <p:sldId id="261" r:id="rId9"/>
    <p:sldId id="260" r:id="rId10"/>
    <p:sldId id="262" r:id="rId11"/>
    <p:sldId id="305" r:id="rId12"/>
    <p:sldId id="264" r:id="rId13"/>
    <p:sldId id="265" r:id="rId14"/>
    <p:sldId id="339" r:id="rId15"/>
    <p:sldId id="340" r:id="rId16"/>
    <p:sldId id="341" r:id="rId17"/>
    <p:sldId id="342" r:id="rId18"/>
    <p:sldId id="345" r:id="rId19"/>
    <p:sldId id="346" r:id="rId20"/>
    <p:sldId id="347" r:id="rId21"/>
    <p:sldId id="348" r:id="rId22"/>
    <p:sldId id="349" r:id="rId23"/>
    <p:sldId id="350" r:id="rId24"/>
    <p:sldId id="351" r:id="rId25"/>
    <p:sldId id="352" r:id="rId26"/>
    <p:sldId id="353" r:id="rId27"/>
    <p:sldId id="354" r:id="rId28"/>
    <p:sldId id="355" r:id="rId29"/>
    <p:sldId id="356" r:id="rId30"/>
    <p:sldId id="343" r:id="rId31"/>
    <p:sldId id="344" r:id="rId32"/>
    <p:sldId id="357" r:id="rId33"/>
    <p:sldId id="358" r:id="rId34"/>
    <p:sldId id="359" r:id="rId35"/>
    <p:sldId id="360" r:id="rId36"/>
    <p:sldId id="361" r:id="rId37"/>
    <p:sldId id="362" r:id="rId38"/>
    <p:sldId id="363" r:id="rId39"/>
    <p:sldId id="364" r:id="rId40"/>
    <p:sldId id="365" r:id="rId41"/>
    <p:sldId id="366" r:id="rId42"/>
    <p:sldId id="367" r:id="rId43"/>
    <p:sldId id="368" r:id="rId44"/>
    <p:sldId id="377" r:id="rId45"/>
    <p:sldId id="376" r:id="rId46"/>
    <p:sldId id="369" r:id="rId47"/>
    <p:sldId id="370" r:id="rId48"/>
    <p:sldId id="371" r:id="rId49"/>
    <p:sldId id="372" r:id="rId50"/>
    <p:sldId id="373" r:id="rId51"/>
    <p:sldId id="374" r:id="rId52"/>
    <p:sldId id="375" r:id="rId53"/>
    <p:sldId id="379" r:id="rId54"/>
    <p:sldId id="282" r:id="rId55"/>
    <p:sldId id="387" r:id="rId56"/>
    <p:sldId id="286" r:id="rId57"/>
    <p:sldId id="399" r:id="rId58"/>
    <p:sldId id="405" r:id="rId59"/>
    <p:sldId id="398" r:id="rId60"/>
    <p:sldId id="406" r:id="rId61"/>
    <p:sldId id="315" r:id="rId62"/>
    <p:sldId id="292" r:id="rId63"/>
    <p:sldId id="400" r:id="rId64"/>
    <p:sldId id="293" r:id="rId65"/>
    <p:sldId id="294" r:id="rId66"/>
    <p:sldId id="407" r:id="rId67"/>
    <p:sldId id="401" r:id="rId68"/>
    <p:sldId id="299" r:id="rId69"/>
    <p:sldId id="300" r:id="rId70"/>
    <p:sldId id="402" r:id="rId71"/>
    <p:sldId id="403" r:id="rId72"/>
    <p:sldId id="336" r:id="rId73"/>
    <p:sldId id="330" r:id="rId74"/>
    <p:sldId id="404" r:id="rId75"/>
    <p:sldId id="296" r:id="rId76"/>
    <p:sldId id="297" r:id="rId77"/>
    <p:sldId id="380" r:id="rId78"/>
  </p:sldIdLst>
  <p:sldSz cx="9144000" cy="5143500" type="screen16x9"/>
  <p:notesSz cx="6858000" cy="9144000"/>
  <p:embeddedFontLst>
    <p:embeddedFont>
      <p:font typeface="Helvetica Neue" panose="020B0604020202020204" charset="0"/>
      <p:regular r:id="rId80"/>
      <p:bold r:id="rId81"/>
      <p:italic r:id="rId82"/>
      <p:boldItalic r:id="rId83"/>
    </p:embeddedFont>
    <p:embeddedFont>
      <p:font typeface="Proxima Nova" panose="020B0604020202020204" charset="0"/>
      <p:regular r:id="rId84"/>
      <p:bold r:id="rId85"/>
      <p:italic r:id="rId86"/>
      <p:boldItalic r:id="rId87"/>
    </p:embeddedFont>
    <p:embeddedFont>
      <p:font typeface="Roboto Thin" panose="020B0604020202020204" charset="0"/>
      <p:regular r:id="rId88"/>
      <p:italic r:id="rId89"/>
    </p:embeddedFont>
    <p:embeddedFont>
      <p:font typeface="Roboto" panose="02000000000000000000" pitchFamily="2" charset="0"/>
      <p:regular r:id="rId90"/>
      <p:bold r:id="rId91"/>
      <p:italic r:id="rId92"/>
      <p:boldItalic r:id="rId93"/>
    </p:embeddedFont>
    <p:embeddedFont>
      <p:font typeface="Segoe UI" panose="020B0502040204020203" pitchFamily="34" charset="0"/>
      <p:regular r:id="rId94"/>
      <p:bold r:id="rId95"/>
      <p:italic r:id="rId96"/>
      <p:boldItalic r:id="rId97"/>
    </p:embeddedFont>
    <p:embeddedFont>
      <p:font typeface="Open Sans" panose="020B0604020202020204" charset="0"/>
      <p:regular r:id="rId98"/>
      <p:bold r:id="rId99"/>
      <p:italic r:id="rId100"/>
      <p:boldItalic r:id="rId101"/>
    </p:embeddedFont>
    <p:embeddedFont>
      <p:font typeface="Roboto Light" panose="020B0604020202020204" charset="0"/>
      <p:regular r:id="rId102"/>
      <p:italic r:id="rId103"/>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1620">
          <p15:clr>
            <a:srgbClr val="A4A3A4"/>
          </p15:clr>
        </p15:guide>
        <p15:guide id="2" pos="2880">
          <p15:clr>
            <a:srgbClr val="A4A3A4"/>
          </p15:clr>
        </p15:guide>
      </p15:sldGuide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BC4821C5-7DAE-40AD-6BC5-33696CD2F500}" name="Buckens, Myrthe" initials="MB" userId="S::buckens.m@buas.nl::d647a740-c1b5-45be-8984-ac0295ff2426" providerId="AD"/>
</p188:authorLst>
</file>

<file path=ppt/commentAuthors.xml><?xml version="1.0" encoding="utf-8"?>
<p:cmAuthorLst xmlns:a="http://schemas.openxmlformats.org/drawingml/2006/main" xmlns:r="http://schemas.openxmlformats.org/officeDocument/2006/relationships" xmlns:p="http://schemas.openxmlformats.org/presentationml/2006/main">
  <p:cmAuthor id="1" name="Biswas, Abhishek" initials="BA" lastIdx="1" clrIdx="0">
    <p:extLst>
      <p:ext uri="{19B8F6BF-5375-455C-9EA6-DF929625EA0E}">
        <p15:presenceInfo xmlns:p15="http://schemas.microsoft.com/office/powerpoint/2012/main" userId="S::biswas.a@buas.nl::fb8d240a-d551-4b24-ab9a-9862bbc79dd8"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764D4AE7-FFBC-431D-9275-528F30A785D3}">
  <a:tblStyle styleId="{764D4AE7-FFBC-431D-9275-528F30A785D3}" styleName="Table_0">
    <a:wholeTbl>
      <a:tcTxStyle>
        <a:font>
          <a:latin typeface="Arial"/>
          <a:ea typeface="Arial"/>
          <a:cs typeface="Arial"/>
        </a:font>
        <a:srgbClr val="000000"/>
      </a:tcTxStyle>
      <a:tcStyle>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4875" autoAdjust="0"/>
    <p:restoredTop sz="94702" autoAdjust="0"/>
  </p:normalViewPr>
  <p:slideViewPr>
    <p:cSldViewPr snapToGrid="0">
      <p:cViewPr varScale="1">
        <p:scale>
          <a:sx n="141" d="100"/>
          <a:sy n="141" d="100"/>
        </p:scale>
        <p:origin x="2622" y="126"/>
      </p:cViewPr>
      <p:guideLst>
        <p:guide orient="horz" pos="1620"/>
        <p:guide pos="2880"/>
      </p:guideLst>
    </p:cSldViewPr>
  </p:slideViewPr>
  <p:outlineViewPr>
    <p:cViewPr>
      <p:scale>
        <a:sx n="33" d="100"/>
        <a:sy n="33" d="100"/>
      </p:scale>
      <p:origin x="0" y="0"/>
    </p:cViewPr>
  </p:outlineViewPr>
  <p:notesTextViewPr>
    <p:cViewPr>
      <p:scale>
        <a:sx n="1" d="1"/>
        <a:sy n="1" d="1"/>
      </p:scale>
      <p:origin x="0" y="0"/>
    </p:cViewPr>
  </p:notesTextViewPr>
  <p:sorterViewPr>
    <p:cViewPr>
      <p:scale>
        <a:sx n="180" d="100"/>
        <a:sy n="180" d="100"/>
      </p:scale>
      <p:origin x="0" y="0"/>
    </p:cViewPr>
  </p:sorter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2.xml"/><Relationship Id="rId21" Type="http://schemas.openxmlformats.org/officeDocument/2006/relationships/slide" Target="slides/slide17.xml"/><Relationship Id="rId42" Type="http://schemas.openxmlformats.org/officeDocument/2006/relationships/slide" Target="slides/slide38.xml"/><Relationship Id="rId47" Type="http://schemas.openxmlformats.org/officeDocument/2006/relationships/slide" Target="slides/slide43.xml"/><Relationship Id="rId63" Type="http://schemas.openxmlformats.org/officeDocument/2006/relationships/slide" Target="slides/slide59.xml"/><Relationship Id="rId68" Type="http://schemas.openxmlformats.org/officeDocument/2006/relationships/slide" Target="slides/slide64.xml"/><Relationship Id="rId84" Type="http://schemas.openxmlformats.org/officeDocument/2006/relationships/font" Target="fonts/font5.fntdata"/><Relationship Id="rId89" Type="http://schemas.openxmlformats.org/officeDocument/2006/relationships/font" Target="fonts/font10.fntdata"/><Relationship Id="rId16" Type="http://schemas.openxmlformats.org/officeDocument/2006/relationships/slide" Target="slides/slide12.xml"/><Relationship Id="rId107" Type="http://schemas.openxmlformats.org/officeDocument/2006/relationships/theme" Target="theme/theme1.xml"/><Relationship Id="rId11" Type="http://schemas.openxmlformats.org/officeDocument/2006/relationships/slide" Target="slides/slide7.xml"/><Relationship Id="rId32" Type="http://schemas.openxmlformats.org/officeDocument/2006/relationships/slide" Target="slides/slide28.xml"/><Relationship Id="rId37" Type="http://schemas.openxmlformats.org/officeDocument/2006/relationships/slide" Target="slides/slide33.xml"/><Relationship Id="rId53" Type="http://schemas.openxmlformats.org/officeDocument/2006/relationships/slide" Target="slides/slide49.xml"/><Relationship Id="rId58" Type="http://schemas.openxmlformats.org/officeDocument/2006/relationships/slide" Target="slides/slide54.xml"/><Relationship Id="rId74" Type="http://schemas.openxmlformats.org/officeDocument/2006/relationships/slide" Target="slides/slide70.xml"/><Relationship Id="rId79" Type="http://schemas.openxmlformats.org/officeDocument/2006/relationships/notesMaster" Target="notesMasters/notesMaster1.xml"/><Relationship Id="rId102" Type="http://schemas.openxmlformats.org/officeDocument/2006/relationships/font" Target="fonts/font23.fntdata"/><Relationship Id="rId5" Type="http://schemas.openxmlformats.org/officeDocument/2006/relationships/slide" Target="slides/slide1.xml"/><Relationship Id="rId90" Type="http://schemas.openxmlformats.org/officeDocument/2006/relationships/font" Target="fonts/font11.fntdata"/><Relationship Id="rId95" Type="http://schemas.openxmlformats.org/officeDocument/2006/relationships/font" Target="fonts/font16.fntdata"/><Relationship Id="rId22" Type="http://schemas.openxmlformats.org/officeDocument/2006/relationships/slide" Target="slides/slide18.xml"/><Relationship Id="rId27" Type="http://schemas.openxmlformats.org/officeDocument/2006/relationships/slide" Target="slides/slide23.xml"/><Relationship Id="rId43" Type="http://schemas.openxmlformats.org/officeDocument/2006/relationships/slide" Target="slides/slide39.xml"/><Relationship Id="rId48" Type="http://schemas.openxmlformats.org/officeDocument/2006/relationships/slide" Target="slides/slide44.xml"/><Relationship Id="rId64" Type="http://schemas.openxmlformats.org/officeDocument/2006/relationships/slide" Target="slides/slide60.xml"/><Relationship Id="rId69" Type="http://schemas.openxmlformats.org/officeDocument/2006/relationships/slide" Target="slides/slide65.xml"/><Relationship Id="rId80" Type="http://schemas.openxmlformats.org/officeDocument/2006/relationships/font" Target="fonts/font1.fntdata"/><Relationship Id="rId85" Type="http://schemas.openxmlformats.org/officeDocument/2006/relationships/font" Target="fonts/font6.fntdata"/><Relationship Id="rId12" Type="http://schemas.openxmlformats.org/officeDocument/2006/relationships/slide" Target="slides/slide8.xml"/><Relationship Id="rId17" Type="http://schemas.openxmlformats.org/officeDocument/2006/relationships/slide" Target="slides/slide13.xml"/><Relationship Id="rId33" Type="http://schemas.openxmlformats.org/officeDocument/2006/relationships/slide" Target="slides/slide29.xml"/><Relationship Id="rId38" Type="http://schemas.openxmlformats.org/officeDocument/2006/relationships/slide" Target="slides/slide34.xml"/><Relationship Id="rId59" Type="http://schemas.openxmlformats.org/officeDocument/2006/relationships/slide" Target="slides/slide55.xml"/><Relationship Id="rId103" Type="http://schemas.openxmlformats.org/officeDocument/2006/relationships/font" Target="fonts/font24.fntdata"/><Relationship Id="rId108" Type="http://schemas.openxmlformats.org/officeDocument/2006/relationships/tableStyles" Target="tableStyles.xml"/><Relationship Id="rId54" Type="http://schemas.openxmlformats.org/officeDocument/2006/relationships/slide" Target="slides/slide50.xml"/><Relationship Id="rId70" Type="http://schemas.openxmlformats.org/officeDocument/2006/relationships/slide" Target="slides/slide66.xml"/><Relationship Id="rId75" Type="http://schemas.openxmlformats.org/officeDocument/2006/relationships/slide" Target="slides/slide71.xml"/><Relationship Id="rId91" Type="http://schemas.openxmlformats.org/officeDocument/2006/relationships/font" Target="fonts/font12.fntdata"/><Relationship Id="rId96" Type="http://schemas.openxmlformats.org/officeDocument/2006/relationships/font" Target="fonts/font17.fntdata"/><Relationship Id="rId1" Type="http://schemas.openxmlformats.org/officeDocument/2006/relationships/customXml" Target="../customXml/item1.xml"/><Relationship Id="rId6" Type="http://schemas.openxmlformats.org/officeDocument/2006/relationships/slide" Target="slides/slide2.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slide" Target="slides/slide32.xml"/><Relationship Id="rId49" Type="http://schemas.openxmlformats.org/officeDocument/2006/relationships/slide" Target="slides/slide45.xml"/><Relationship Id="rId57" Type="http://schemas.openxmlformats.org/officeDocument/2006/relationships/slide" Target="slides/slide53.xml"/><Relationship Id="rId106" Type="http://schemas.openxmlformats.org/officeDocument/2006/relationships/viewProps" Target="viewProps.xml"/><Relationship Id="rId10" Type="http://schemas.openxmlformats.org/officeDocument/2006/relationships/slide" Target="slides/slide6.xml"/><Relationship Id="rId31" Type="http://schemas.openxmlformats.org/officeDocument/2006/relationships/slide" Target="slides/slide27.xml"/><Relationship Id="rId44" Type="http://schemas.openxmlformats.org/officeDocument/2006/relationships/slide" Target="slides/slide40.xml"/><Relationship Id="rId52" Type="http://schemas.openxmlformats.org/officeDocument/2006/relationships/slide" Target="slides/slide48.xml"/><Relationship Id="rId60" Type="http://schemas.openxmlformats.org/officeDocument/2006/relationships/slide" Target="slides/slide56.xml"/><Relationship Id="rId65" Type="http://schemas.openxmlformats.org/officeDocument/2006/relationships/slide" Target="slides/slide61.xml"/><Relationship Id="rId73" Type="http://schemas.openxmlformats.org/officeDocument/2006/relationships/slide" Target="slides/slide69.xml"/><Relationship Id="rId78" Type="http://schemas.openxmlformats.org/officeDocument/2006/relationships/slide" Target="slides/slide74.xml"/><Relationship Id="rId81" Type="http://schemas.openxmlformats.org/officeDocument/2006/relationships/font" Target="fonts/font2.fntdata"/><Relationship Id="rId86" Type="http://schemas.openxmlformats.org/officeDocument/2006/relationships/font" Target="fonts/font7.fntdata"/><Relationship Id="rId94" Type="http://schemas.openxmlformats.org/officeDocument/2006/relationships/font" Target="fonts/font15.fntdata"/><Relationship Id="rId99" Type="http://schemas.openxmlformats.org/officeDocument/2006/relationships/font" Target="fonts/font20.fntdata"/><Relationship Id="rId101" Type="http://schemas.openxmlformats.org/officeDocument/2006/relationships/font" Target="fonts/font22.fntdata"/><Relationship Id="rId4" Type="http://schemas.openxmlformats.org/officeDocument/2006/relationships/slideMaster" Target="slideMasters/slideMaster1.xml"/><Relationship Id="rId9" Type="http://schemas.openxmlformats.org/officeDocument/2006/relationships/slide" Target="slides/slide5.xml"/><Relationship Id="rId13" Type="http://schemas.openxmlformats.org/officeDocument/2006/relationships/slide" Target="slides/slide9.xml"/><Relationship Id="rId18" Type="http://schemas.openxmlformats.org/officeDocument/2006/relationships/slide" Target="slides/slide14.xml"/><Relationship Id="rId39" Type="http://schemas.openxmlformats.org/officeDocument/2006/relationships/slide" Target="slides/slide35.xml"/><Relationship Id="rId109" Type="http://schemas.microsoft.com/office/2018/10/relationships/authors" Target="authors.xml"/><Relationship Id="rId34" Type="http://schemas.openxmlformats.org/officeDocument/2006/relationships/slide" Target="slides/slide30.xml"/><Relationship Id="rId50" Type="http://schemas.openxmlformats.org/officeDocument/2006/relationships/slide" Target="slides/slide46.xml"/><Relationship Id="rId55" Type="http://schemas.openxmlformats.org/officeDocument/2006/relationships/slide" Target="slides/slide51.xml"/><Relationship Id="rId76" Type="http://schemas.openxmlformats.org/officeDocument/2006/relationships/slide" Target="slides/slide72.xml"/><Relationship Id="rId97" Type="http://schemas.openxmlformats.org/officeDocument/2006/relationships/font" Target="fonts/font18.fntdata"/><Relationship Id="rId104" Type="http://schemas.openxmlformats.org/officeDocument/2006/relationships/commentAuthors" Target="commentAuthors.xml"/><Relationship Id="rId7" Type="http://schemas.openxmlformats.org/officeDocument/2006/relationships/slide" Target="slides/slide3.xml"/><Relationship Id="rId71" Type="http://schemas.openxmlformats.org/officeDocument/2006/relationships/slide" Target="slides/slide67.xml"/><Relationship Id="rId92" Type="http://schemas.openxmlformats.org/officeDocument/2006/relationships/font" Target="fonts/font13.fntdata"/><Relationship Id="rId2" Type="http://schemas.openxmlformats.org/officeDocument/2006/relationships/customXml" Target="../customXml/item2.xml"/><Relationship Id="rId29" Type="http://schemas.openxmlformats.org/officeDocument/2006/relationships/slide" Target="slides/slide25.xml"/><Relationship Id="rId24" Type="http://schemas.openxmlformats.org/officeDocument/2006/relationships/slide" Target="slides/slide20.xml"/><Relationship Id="rId40" Type="http://schemas.openxmlformats.org/officeDocument/2006/relationships/slide" Target="slides/slide36.xml"/><Relationship Id="rId45" Type="http://schemas.openxmlformats.org/officeDocument/2006/relationships/slide" Target="slides/slide41.xml"/><Relationship Id="rId66" Type="http://schemas.openxmlformats.org/officeDocument/2006/relationships/slide" Target="slides/slide62.xml"/><Relationship Id="rId87" Type="http://schemas.openxmlformats.org/officeDocument/2006/relationships/font" Target="fonts/font8.fntdata"/><Relationship Id="rId61" Type="http://schemas.openxmlformats.org/officeDocument/2006/relationships/slide" Target="slides/slide57.xml"/><Relationship Id="rId82" Type="http://schemas.openxmlformats.org/officeDocument/2006/relationships/font" Target="fonts/font3.fntdata"/><Relationship Id="rId19" Type="http://schemas.openxmlformats.org/officeDocument/2006/relationships/slide" Target="slides/slide15.xml"/><Relationship Id="rId14" Type="http://schemas.openxmlformats.org/officeDocument/2006/relationships/slide" Target="slides/slide10.xml"/><Relationship Id="rId30" Type="http://schemas.openxmlformats.org/officeDocument/2006/relationships/slide" Target="slides/slide26.xml"/><Relationship Id="rId35" Type="http://schemas.openxmlformats.org/officeDocument/2006/relationships/slide" Target="slides/slide31.xml"/><Relationship Id="rId56" Type="http://schemas.openxmlformats.org/officeDocument/2006/relationships/slide" Target="slides/slide52.xml"/><Relationship Id="rId77" Type="http://schemas.openxmlformats.org/officeDocument/2006/relationships/slide" Target="slides/slide73.xml"/><Relationship Id="rId100" Type="http://schemas.openxmlformats.org/officeDocument/2006/relationships/font" Target="fonts/font21.fntdata"/><Relationship Id="rId105" Type="http://schemas.openxmlformats.org/officeDocument/2006/relationships/presProps" Target="presProps.xml"/><Relationship Id="rId8" Type="http://schemas.openxmlformats.org/officeDocument/2006/relationships/slide" Target="slides/slide4.xml"/><Relationship Id="rId51" Type="http://schemas.openxmlformats.org/officeDocument/2006/relationships/slide" Target="slides/slide47.xml"/><Relationship Id="rId72" Type="http://schemas.openxmlformats.org/officeDocument/2006/relationships/slide" Target="slides/slide68.xml"/><Relationship Id="rId93" Type="http://schemas.openxmlformats.org/officeDocument/2006/relationships/font" Target="fonts/font14.fntdata"/><Relationship Id="rId98" Type="http://schemas.openxmlformats.org/officeDocument/2006/relationships/font" Target="fonts/font19.fntdata"/><Relationship Id="rId3" Type="http://schemas.openxmlformats.org/officeDocument/2006/relationships/customXml" Target="../customXml/item3.xml"/><Relationship Id="rId25" Type="http://schemas.openxmlformats.org/officeDocument/2006/relationships/slide" Target="slides/slide21.xml"/><Relationship Id="rId46" Type="http://schemas.openxmlformats.org/officeDocument/2006/relationships/slide" Target="slides/slide42.xml"/><Relationship Id="rId67" Type="http://schemas.openxmlformats.org/officeDocument/2006/relationships/slide" Target="slides/slide63.xml"/><Relationship Id="rId20" Type="http://schemas.openxmlformats.org/officeDocument/2006/relationships/slide" Target="slides/slide16.xml"/><Relationship Id="rId41" Type="http://schemas.openxmlformats.org/officeDocument/2006/relationships/slide" Target="slides/slide37.xml"/><Relationship Id="rId62" Type="http://schemas.openxmlformats.org/officeDocument/2006/relationships/slide" Target="slides/slide58.xml"/><Relationship Id="rId83" Type="http://schemas.openxmlformats.org/officeDocument/2006/relationships/font" Target="fonts/font4.fntdata"/><Relationship Id="rId88" Type="http://schemas.openxmlformats.org/officeDocument/2006/relationships/font" Target="fonts/font9.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7"/>
        <p:cNvGrpSpPr/>
        <p:nvPr/>
      </p:nvGrpSpPr>
      <p:grpSpPr>
        <a:xfrm>
          <a:off x="0" y="0"/>
          <a:ext cx="0" cy="0"/>
          <a:chOff x="0" y="0"/>
          <a:chExt cx="0" cy="0"/>
        </a:xfrm>
      </p:grpSpPr>
      <p:sp>
        <p:nvSpPr>
          <p:cNvPr id="98" name="Google Shape;98;g6b4f495656_0_66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9" name="Google Shape;99;g6b4f495656_0_66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4"/>
        <p:cNvGrpSpPr/>
        <p:nvPr/>
      </p:nvGrpSpPr>
      <p:grpSpPr>
        <a:xfrm>
          <a:off x="0" y="0"/>
          <a:ext cx="0" cy="0"/>
          <a:chOff x="0" y="0"/>
          <a:chExt cx="0" cy="0"/>
        </a:xfrm>
      </p:grpSpPr>
      <p:sp>
        <p:nvSpPr>
          <p:cNvPr id="105" name="Google Shape;105;g6b4f495656_0_67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6" name="Google Shape;106;g6b4f495656_0_67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9"/>
        <p:cNvGrpSpPr/>
        <p:nvPr/>
      </p:nvGrpSpPr>
      <p:grpSpPr>
        <a:xfrm>
          <a:off x="0" y="0"/>
          <a:ext cx="0" cy="0"/>
          <a:chOff x="0" y="0"/>
          <a:chExt cx="0" cy="0"/>
        </a:xfrm>
      </p:grpSpPr>
      <p:sp>
        <p:nvSpPr>
          <p:cNvPr id="150" name="Google Shape;150;g6b4f495656_0_69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1" name="Google Shape;151;g6b4f495656_0_69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dirty="0"/>
              <a:t>MUST BE UPDATED EVERY WEEK</a:t>
            </a:r>
            <a:endParaRPr dirty="0"/>
          </a:p>
          <a:p>
            <a:pPr marL="0" lvl="0" indent="0" algn="l" rtl="0">
              <a:spcBef>
                <a:spcPts val="0"/>
              </a:spcBef>
              <a:spcAft>
                <a:spcPts val="0"/>
              </a:spcAft>
              <a:buNone/>
            </a:pPr>
            <a:r>
              <a:rPr lang="en" dirty="0"/>
              <a:t>This is simply a log (journal) of what you do each day, and what you learn from it. It is your responsibility to update this regularly and frequently. Be sure to include working links to any specific evidence you are referencing (and make sure that you share your docs with the teaching team). Note: some of the required information may be captured in production documents such as your work log or peer reviews. </a:t>
            </a:r>
            <a:endParaRPr dirty="0"/>
          </a:p>
          <a:p>
            <a:pPr marL="0" lvl="0" indent="0" algn="l" rtl="0">
              <a:spcBef>
                <a:spcPts val="0"/>
              </a:spcBef>
              <a:spcAft>
                <a:spcPts val="0"/>
              </a:spcAft>
              <a:buNone/>
            </a:pPr>
            <a:r>
              <a:rPr lang="en" dirty="0"/>
              <a:t>In such cases, you simply need to provide links to those artifacts and may include any explanatory comment or reflection you feel is appropriate. </a:t>
            </a:r>
            <a:endParaRPr dirty="0"/>
          </a:p>
          <a:p>
            <a:pPr marL="0" lvl="0" indent="0" algn="l" rtl="0">
              <a:spcBef>
                <a:spcPts val="0"/>
              </a:spcBef>
              <a:spcAft>
                <a:spcPts val="0"/>
              </a:spcAft>
              <a:buNone/>
            </a:pPr>
            <a:r>
              <a:rPr lang="en" dirty="0"/>
              <a:t>(Some reflection is almost always a good idea as it provides the foundation for Section C.)</a:t>
            </a:r>
            <a:endParaRPr dirty="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8"/>
        <p:cNvGrpSpPr/>
        <p:nvPr/>
      </p:nvGrpSpPr>
      <p:grpSpPr>
        <a:xfrm>
          <a:off x="0" y="0"/>
          <a:ext cx="0" cy="0"/>
          <a:chOff x="0" y="0"/>
          <a:chExt cx="0" cy="0"/>
        </a:xfrm>
      </p:grpSpPr>
      <p:sp>
        <p:nvSpPr>
          <p:cNvPr id="129" name="Google Shape;129;g6b602ea5a7_1_10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0" name="Google Shape;130;g6b602ea5a7_1_10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dirty="0"/>
              <a:t>Copy and paste the feedback from the previous block’s assessment into the text box.</a:t>
            </a:r>
            <a:endParaRPr dirty="0"/>
          </a:p>
          <a:p>
            <a:pPr marL="0" lvl="0" indent="0" algn="l" rtl="0">
              <a:spcBef>
                <a:spcPts val="0"/>
              </a:spcBef>
              <a:spcAft>
                <a:spcPts val="0"/>
              </a:spcAft>
              <a:buNone/>
            </a:pPr>
            <a:r>
              <a:rPr lang="en" dirty="0"/>
              <a:t>Copy and paste the bullet points you listed on the “Lessons Learned” page in section C of your last block’s log.</a:t>
            </a:r>
            <a:endParaRPr dirty="0"/>
          </a:p>
          <a:p>
            <a:pPr marL="0" lvl="0" indent="0" algn="l" rtl="0">
              <a:spcBef>
                <a:spcPts val="0"/>
              </a:spcBef>
              <a:spcAft>
                <a:spcPts val="0"/>
              </a:spcAft>
              <a:buNone/>
            </a:pPr>
            <a:r>
              <a:rPr lang="en" dirty="0"/>
              <a:t>Compare the grade you gave yourself with the grade you received, and reevaluate or restate your feeling on your current level of progress.</a:t>
            </a:r>
            <a:endParaRPr dirty="0"/>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8"/>
        <p:cNvGrpSpPr/>
        <p:nvPr/>
      </p:nvGrpSpPr>
      <p:grpSpPr>
        <a:xfrm>
          <a:off x="0" y="0"/>
          <a:ext cx="0" cy="0"/>
          <a:chOff x="0" y="0"/>
          <a:chExt cx="0" cy="0"/>
        </a:xfrm>
      </p:grpSpPr>
      <p:sp>
        <p:nvSpPr>
          <p:cNvPr id="119" name="Google Shape;119;g6b602ea5a7_1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0" name="Google Shape;120;g6b602ea5a7_1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dirty="0"/>
              <a:t>Copy and paste the feedback from the previous block’s assessment into the text box.</a:t>
            </a:r>
            <a:endParaRPr dirty="0"/>
          </a:p>
          <a:p>
            <a:pPr marL="0" lvl="0" indent="0" algn="l" rtl="0">
              <a:spcBef>
                <a:spcPts val="0"/>
              </a:spcBef>
              <a:spcAft>
                <a:spcPts val="0"/>
              </a:spcAft>
              <a:buNone/>
            </a:pPr>
            <a:r>
              <a:rPr lang="en" dirty="0"/>
              <a:t>Copy and paste the bullet points you listed on the “Lessons Learned” page in section C of your last block’s log.</a:t>
            </a:r>
            <a:endParaRPr dirty="0"/>
          </a:p>
          <a:p>
            <a:pPr marL="0" lvl="0" indent="0" algn="l" rtl="0">
              <a:spcBef>
                <a:spcPts val="0"/>
              </a:spcBef>
              <a:spcAft>
                <a:spcPts val="0"/>
              </a:spcAft>
              <a:buNone/>
            </a:pPr>
            <a:r>
              <a:rPr lang="en" dirty="0"/>
              <a:t>Compare the grade you gave yourself with the grade you received, and reevaluate or restate your feeling on your current level of progress.</a:t>
            </a:r>
            <a:endParaRPr dirty="0"/>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9"/>
        <p:cNvGrpSpPr/>
        <p:nvPr/>
      </p:nvGrpSpPr>
      <p:grpSpPr>
        <a:xfrm>
          <a:off x="0" y="0"/>
          <a:ext cx="0" cy="0"/>
          <a:chOff x="0" y="0"/>
          <a:chExt cx="0" cy="0"/>
        </a:xfrm>
      </p:grpSpPr>
      <p:sp>
        <p:nvSpPr>
          <p:cNvPr id="140" name="Google Shape;140;g6b602ea5a7_1_9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1" name="Google Shape;141;g6b602ea5a7_1_9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Describe your goals for this block using the SMARTER method. Make sure they are clear, relevant, have a measurable outcome, and can be recorded. Consider how well do they align with the role(s) you wish to take, and with the requirements given in the project brief. Think about the objectives you plan to choose, or that are mandated by the project. Are there any competencies that you need to focus on?</a:t>
            </a:r>
            <a:endParaRPr/>
          </a:p>
          <a:p>
            <a:pPr marL="0" lvl="0" indent="0" algn="l" rtl="0">
              <a:spcBef>
                <a:spcPts val="0"/>
              </a:spcBef>
              <a:spcAft>
                <a:spcPts val="0"/>
              </a:spcAft>
              <a:buNone/>
            </a:pPr>
            <a:endParaRPr/>
          </a:p>
          <a:p>
            <a:pPr marL="0" lvl="0" indent="0" algn="l" rtl="0">
              <a:spcBef>
                <a:spcPts val="0"/>
              </a:spcBef>
              <a:spcAft>
                <a:spcPts val="0"/>
              </a:spcAft>
              <a:buNone/>
            </a:pPr>
            <a:r>
              <a:rPr lang="en"/>
              <a:t>For each goal, find concrete examples of tasks you expect to undertake that will demonstrate this within the project for the block. Make sure the plan has an outcome that can be tracked and assessed. Make sure you have a clearly stated target for each goal. If you are unsure of how to demonstrate something, ask for help from your teachers.</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9"/>
        <p:cNvGrpSpPr/>
        <p:nvPr/>
      </p:nvGrpSpPr>
      <p:grpSpPr>
        <a:xfrm>
          <a:off x="0" y="0"/>
          <a:ext cx="0" cy="0"/>
          <a:chOff x="0" y="0"/>
          <a:chExt cx="0" cy="0"/>
        </a:xfrm>
      </p:grpSpPr>
      <p:sp>
        <p:nvSpPr>
          <p:cNvPr id="150" name="Google Shape;150;g6b4f495656_0_69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1" name="Google Shape;151;g6b4f495656_0_69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dirty="0"/>
              <a:t>MUST BE UPDATED EVERY WEEK</a:t>
            </a:r>
            <a:endParaRPr dirty="0"/>
          </a:p>
          <a:p>
            <a:pPr marL="0" lvl="0" indent="0" algn="l" rtl="0">
              <a:spcBef>
                <a:spcPts val="0"/>
              </a:spcBef>
              <a:spcAft>
                <a:spcPts val="0"/>
              </a:spcAft>
              <a:buNone/>
            </a:pPr>
            <a:r>
              <a:rPr lang="en" dirty="0"/>
              <a:t>This is simply a log (journal) of what you do each day, and what you learn from it. It is your responsibility to update this regularly and frequently. Be sure to include working links to any specific evidence you are referencing (and make sure that you share your docs with the teaching team). Note: some of the required information may be captured in production documents such as your work log or peer reviews. </a:t>
            </a:r>
            <a:endParaRPr dirty="0"/>
          </a:p>
          <a:p>
            <a:pPr marL="0" lvl="0" indent="0" algn="l" rtl="0">
              <a:spcBef>
                <a:spcPts val="0"/>
              </a:spcBef>
              <a:spcAft>
                <a:spcPts val="0"/>
              </a:spcAft>
              <a:buNone/>
            </a:pPr>
            <a:r>
              <a:rPr lang="en" dirty="0"/>
              <a:t>In such cases, you simply need to provide links to those artifacts and may include any explanatory comment or reflection you feel is appropriate. </a:t>
            </a:r>
            <a:endParaRPr dirty="0"/>
          </a:p>
          <a:p>
            <a:pPr marL="0" lvl="0" indent="0" algn="l" rtl="0">
              <a:spcBef>
                <a:spcPts val="0"/>
              </a:spcBef>
              <a:spcAft>
                <a:spcPts val="0"/>
              </a:spcAft>
              <a:buNone/>
            </a:pPr>
            <a:r>
              <a:rPr lang="en" dirty="0"/>
              <a:t>(Some reflection is almost always a good idea as it provides the foundation for Section C.)</a:t>
            </a:r>
            <a:endParaRPr dirty="0"/>
          </a:p>
        </p:txBody>
      </p:sp>
    </p:spTree>
    <p:extLst>
      <p:ext uri="{BB962C8B-B14F-4D97-AF65-F5344CB8AC3E}">
        <p14:creationId xmlns:p14="http://schemas.microsoft.com/office/powerpoint/2010/main" val="32673764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6"/>
        <p:cNvGrpSpPr/>
        <p:nvPr/>
      </p:nvGrpSpPr>
      <p:grpSpPr>
        <a:xfrm>
          <a:off x="0" y="0"/>
          <a:ext cx="0" cy="0"/>
          <a:chOff x="0" y="0"/>
          <a:chExt cx="0" cy="0"/>
        </a:xfrm>
      </p:grpSpPr>
      <p:sp>
        <p:nvSpPr>
          <p:cNvPr id="157" name="Google Shape;157;g75e44ff1a3_0_4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8" name="Google Shape;158;g75e44ff1a3_0_4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8"/>
        <p:cNvGrpSpPr/>
        <p:nvPr/>
      </p:nvGrpSpPr>
      <p:grpSpPr>
        <a:xfrm>
          <a:off x="0" y="0"/>
          <a:ext cx="0" cy="0"/>
          <a:chOff x="0" y="0"/>
          <a:chExt cx="0" cy="0"/>
        </a:xfrm>
      </p:grpSpPr>
      <p:sp>
        <p:nvSpPr>
          <p:cNvPr id="169" name="Google Shape;169;g75e44ff1a3_0_2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70" name="Google Shape;170;g75e44ff1a3_0_2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6"/>
        <p:cNvGrpSpPr/>
        <p:nvPr/>
      </p:nvGrpSpPr>
      <p:grpSpPr>
        <a:xfrm>
          <a:off x="0" y="0"/>
          <a:ext cx="0" cy="0"/>
          <a:chOff x="0" y="0"/>
          <a:chExt cx="0" cy="0"/>
        </a:xfrm>
      </p:grpSpPr>
      <p:sp>
        <p:nvSpPr>
          <p:cNvPr id="157" name="Google Shape;157;g75e44ff1a3_0_4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8" name="Google Shape;158;g75e44ff1a3_0_4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65018114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8"/>
        <p:cNvGrpSpPr/>
        <p:nvPr/>
      </p:nvGrpSpPr>
      <p:grpSpPr>
        <a:xfrm>
          <a:off x="0" y="0"/>
          <a:ext cx="0" cy="0"/>
          <a:chOff x="0" y="0"/>
          <a:chExt cx="0" cy="0"/>
        </a:xfrm>
      </p:grpSpPr>
      <p:sp>
        <p:nvSpPr>
          <p:cNvPr id="169" name="Google Shape;169;g75e44ff1a3_0_2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70" name="Google Shape;170;g75e44ff1a3_0_2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41294168"/>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6"/>
        <p:cNvGrpSpPr/>
        <p:nvPr/>
      </p:nvGrpSpPr>
      <p:grpSpPr>
        <a:xfrm>
          <a:off x="0" y="0"/>
          <a:ext cx="0" cy="0"/>
          <a:chOff x="0" y="0"/>
          <a:chExt cx="0" cy="0"/>
        </a:xfrm>
      </p:grpSpPr>
      <p:sp>
        <p:nvSpPr>
          <p:cNvPr id="157" name="Google Shape;157;g75e44ff1a3_0_4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8" name="Google Shape;158;g75e44ff1a3_0_4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233604017"/>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8"/>
        <p:cNvGrpSpPr/>
        <p:nvPr/>
      </p:nvGrpSpPr>
      <p:grpSpPr>
        <a:xfrm>
          <a:off x="0" y="0"/>
          <a:ext cx="0" cy="0"/>
          <a:chOff x="0" y="0"/>
          <a:chExt cx="0" cy="0"/>
        </a:xfrm>
      </p:grpSpPr>
      <p:sp>
        <p:nvSpPr>
          <p:cNvPr id="169" name="Google Shape;169;g75e44ff1a3_0_2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70" name="Google Shape;170;g75e44ff1a3_0_2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791863539"/>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6"/>
        <p:cNvGrpSpPr/>
        <p:nvPr/>
      </p:nvGrpSpPr>
      <p:grpSpPr>
        <a:xfrm>
          <a:off x="0" y="0"/>
          <a:ext cx="0" cy="0"/>
          <a:chOff x="0" y="0"/>
          <a:chExt cx="0" cy="0"/>
        </a:xfrm>
      </p:grpSpPr>
      <p:sp>
        <p:nvSpPr>
          <p:cNvPr id="157" name="Google Shape;157;g75e44ff1a3_0_4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8" name="Google Shape;158;g75e44ff1a3_0_4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07840306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8"/>
        <p:cNvGrpSpPr/>
        <p:nvPr/>
      </p:nvGrpSpPr>
      <p:grpSpPr>
        <a:xfrm>
          <a:off x="0" y="0"/>
          <a:ext cx="0" cy="0"/>
          <a:chOff x="0" y="0"/>
          <a:chExt cx="0" cy="0"/>
        </a:xfrm>
      </p:grpSpPr>
      <p:sp>
        <p:nvSpPr>
          <p:cNvPr id="169" name="Google Shape;169;g75e44ff1a3_0_2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70" name="Google Shape;170;g75e44ff1a3_0_2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99309188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6"/>
        <p:cNvGrpSpPr/>
        <p:nvPr/>
      </p:nvGrpSpPr>
      <p:grpSpPr>
        <a:xfrm>
          <a:off x="0" y="0"/>
          <a:ext cx="0" cy="0"/>
          <a:chOff x="0" y="0"/>
          <a:chExt cx="0" cy="0"/>
        </a:xfrm>
      </p:grpSpPr>
      <p:sp>
        <p:nvSpPr>
          <p:cNvPr id="157" name="Google Shape;157;g75e44ff1a3_0_4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8" name="Google Shape;158;g75e44ff1a3_0_4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412647145"/>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8"/>
        <p:cNvGrpSpPr/>
        <p:nvPr/>
      </p:nvGrpSpPr>
      <p:grpSpPr>
        <a:xfrm>
          <a:off x="0" y="0"/>
          <a:ext cx="0" cy="0"/>
          <a:chOff x="0" y="0"/>
          <a:chExt cx="0" cy="0"/>
        </a:xfrm>
      </p:grpSpPr>
      <p:sp>
        <p:nvSpPr>
          <p:cNvPr id="169" name="Google Shape;169;g75e44ff1a3_0_2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70" name="Google Shape;170;g75e44ff1a3_0_2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8027685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6"/>
        <p:cNvGrpSpPr/>
        <p:nvPr/>
      </p:nvGrpSpPr>
      <p:grpSpPr>
        <a:xfrm>
          <a:off x="0" y="0"/>
          <a:ext cx="0" cy="0"/>
          <a:chOff x="0" y="0"/>
          <a:chExt cx="0" cy="0"/>
        </a:xfrm>
      </p:grpSpPr>
      <p:sp>
        <p:nvSpPr>
          <p:cNvPr id="157" name="Google Shape;157;g75e44ff1a3_0_4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8" name="Google Shape;158;g75e44ff1a3_0_4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01384470"/>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8"/>
        <p:cNvGrpSpPr/>
        <p:nvPr/>
      </p:nvGrpSpPr>
      <p:grpSpPr>
        <a:xfrm>
          <a:off x="0" y="0"/>
          <a:ext cx="0" cy="0"/>
          <a:chOff x="0" y="0"/>
          <a:chExt cx="0" cy="0"/>
        </a:xfrm>
      </p:grpSpPr>
      <p:sp>
        <p:nvSpPr>
          <p:cNvPr id="169" name="Google Shape;169;g75e44ff1a3_0_2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70" name="Google Shape;170;g75e44ff1a3_0_2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603602808"/>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6"/>
        <p:cNvGrpSpPr/>
        <p:nvPr/>
      </p:nvGrpSpPr>
      <p:grpSpPr>
        <a:xfrm>
          <a:off x="0" y="0"/>
          <a:ext cx="0" cy="0"/>
          <a:chOff x="0" y="0"/>
          <a:chExt cx="0" cy="0"/>
        </a:xfrm>
      </p:grpSpPr>
      <p:sp>
        <p:nvSpPr>
          <p:cNvPr id="157" name="Google Shape;157;g75e44ff1a3_0_4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8" name="Google Shape;158;g75e44ff1a3_0_4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611426648"/>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8"/>
        <p:cNvGrpSpPr/>
        <p:nvPr/>
      </p:nvGrpSpPr>
      <p:grpSpPr>
        <a:xfrm>
          <a:off x="0" y="0"/>
          <a:ext cx="0" cy="0"/>
          <a:chOff x="0" y="0"/>
          <a:chExt cx="0" cy="0"/>
        </a:xfrm>
      </p:grpSpPr>
      <p:sp>
        <p:nvSpPr>
          <p:cNvPr id="169" name="Google Shape;169;g75e44ff1a3_0_2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70" name="Google Shape;170;g75e44ff1a3_0_2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983751030"/>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6"/>
        <p:cNvGrpSpPr/>
        <p:nvPr/>
      </p:nvGrpSpPr>
      <p:grpSpPr>
        <a:xfrm>
          <a:off x="0" y="0"/>
          <a:ext cx="0" cy="0"/>
          <a:chOff x="0" y="0"/>
          <a:chExt cx="0" cy="0"/>
        </a:xfrm>
      </p:grpSpPr>
      <p:sp>
        <p:nvSpPr>
          <p:cNvPr id="157" name="Google Shape;157;g75e44ff1a3_0_4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8" name="Google Shape;158;g75e44ff1a3_0_4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173701493"/>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8"/>
        <p:cNvGrpSpPr/>
        <p:nvPr/>
      </p:nvGrpSpPr>
      <p:grpSpPr>
        <a:xfrm>
          <a:off x="0" y="0"/>
          <a:ext cx="0" cy="0"/>
          <a:chOff x="0" y="0"/>
          <a:chExt cx="0" cy="0"/>
        </a:xfrm>
      </p:grpSpPr>
      <p:sp>
        <p:nvSpPr>
          <p:cNvPr id="169" name="Google Shape;169;g75e44ff1a3_0_2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70" name="Google Shape;170;g75e44ff1a3_0_2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953237358"/>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6"/>
        <p:cNvGrpSpPr/>
        <p:nvPr/>
      </p:nvGrpSpPr>
      <p:grpSpPr>
        <a:xfrm>
          <a:off x="0" y="0"/>
          <a:ext cx="0" cy="0"/>
          <a:chOff x="0" y="0"/>
          <a:chExt cx="0" cy="0"/>
        </a:xfrm>
      </p:grpSpPr>
      <p:sp>
        <p:nvSpPr>
          <p:cNvPr id="157" name="Google Shape;157;g75e44ff1a3_0_4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8" name="Google Shape;158;g75e44ff1a3_0_4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765932416"/>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8"/>
        <p:cNvGrpSpPr/>
        <p:nvPr/>
      </p:nvGrpSpPr>
      <p:grpSpPr>
        <a:xfrm>
          <a:off x="0" y="0"/>
          <a:ext cx="0" cy="0"/>
          <a:chOff x="0" y="0"/>
          <a:chExt cx="0" cy="0"/>
        </a:xfrm>
      </p:grpSpPr>
      <p:sp>
        <p:nvSpPr>
          <p:cNvPr id="169" name="Google Shape;169;g75e44ff1a3_0_2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70" name="Google Shape;170;g75e44ff1a3_0_2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63769918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6"/>
        <p:cNvGrpSpPr/>
        <p:nvPr/>
      </p:nvGrpSpPr>
      <p:grpSpPr>
        <a:xfrm>
          <a:off x="0" y="0"/>
          <a:ext cx="0" cy="0"/>
          <a:chOff x="0" y="0"/>
          <a:chExt cx="0" cy="0"/>
        </a:xfrm>
      </p:grpSpPr>
      <p:sp>
        <p:nvSpPr>
          <p:cNvPr id="157" name="Google Shape;157;g75e44ff1a3_0_4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8" name="Google Shape;158;g75e44ff1a3_0_4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095328188"/>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8"/>
        <p:cNvGrpSpPr/>
        <p:nvPr/>
      </p:nvGrpSpPr>
      <p:grpSpPr>
        <a:xfrm>
          <a:off x="0" y="0"/>
          <a:ext cx="0" cy="0"/>
          <a:chOff x="0" y="0"/>
          <a:chExt cx="0" cy="0"/>
        </a:xfrm>
      </p:grpSpPr>
      <p:sp>
        <p:nvSpPr>
          <p:cNvPr id="169" name="Google Shape;169;g75e44ff1a3_0_2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70" name="Google Shape;170;g75e44ff1a3_0_2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54168140"/>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4"/>
        <p:cNvGrpSpPr/>
        <p:nvPr/>
      </p:nvGrpSpPr>
      <p:grpSpPr>
        <a:xfrm>
          <a:off x="0" y="0"/>
          <a:ext cx="0" cy="0"/>
          <a:chOff x="0" y="0"/>
          <a:chExt cx="0" cy="0"/>
        </a:xfrm>
      </p:grpSpPr>
      <p:sp>
        <p:nvSpPr>
          <p:cNvPr id="105" name="Google Shape;105;g6b4f495656_0_67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6" name="Google Shape;106;g6b4f495656_0_67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059656778"/>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6"/>
        <p:cNvGrpSpPr/>
        <p:nvPr/>
      </p:nvGrpSpPr>
      <p:grpSpPr>
        <a:xfrm>
          <a:off x="0" y="0"/>
          <a:ext cx="0" cy="0"/>
          <a:chOff x="0" y="0"/>
          <a:chExt cx="0" cy="0"/>
        </a:xfrm>
      </p:grpSpPr>
      <p:sp>
        <p:nvSpPr>
          <p:cNvPr id="157" name="Google Shape;157;g75e44ff1a3_0_4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8" name="Google Shape;158;g75e44ff1a3_0_4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158674269"/>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8"/>
        <p:cNvGrpSpPr/>
        <p:nvPr/>
      </p:nvGrpSpPr>
      <p:grpSpPr>
        <a:xfrm>
          <a:off x="0" y="0"/>
          <a:ext cx="0" cy="0"/>
          <a:chOff x="0" y="0"/>
          <a:chExt cx="0" cy="0"/>
        </a:xfrm>
      </p:grpSpPr>
      <p:sp>
        <p:nvSpPr>
          <p:cNvPr id="169" name="Google Shape;169;g75e44ff1a3_0_2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70" name="Google Shape;170;g75e44ff1a3_0_2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59066390"/>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6"/>
        <p:cNvGrpSpPr/>
        <p:nvPr/>
      </p:nvGrpSpPr>
      <p:grpSpPr>
        <a:xfrm>
          <a:off x="0" y="0"/>
          <a:ext cx="0" cy="0"/>
          <a:chOff x="0" y="0"/>
          <a:chExt cx="0" cy="0"/>
        </a:xfrm>
      </p:grpSpPr>
      <p:sp>
        <p:nvSpPr>
          <p:cNvPr id="157" name="Google Shape;157;g75e44ff1a3_0_4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8" name="Google Shape;158;g75e44ff1a3_0_4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001289173"/>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8"/>
        <p:cNvGrpSpPr/>
        <p:nvPr/>
      </p:nvGrpSpPr>
      <p:grpSpPr>
        <a:xfrm>
          <a:off x="0" y="0"/>
          <a:ext cx="0" cy="0"/>
          <a:chOff x="0" y="0"/>
          <a:chExt cx="0" cy="0"/>
        </a:xfrm>
      </p:grpSpPr>
      <p:sp>
        <p:nvSpPr>
          <p:cNvPr id="169" name="Google Shape;169;g75e44ff1a3_0_2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70" name="Google Shape;170;g75e44ff1a3_0_2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373723825"/>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6"/>
        <p:cNvGrpSpPr/>
        <p:nvPr/>
      </p:nvGrpSpPr>
      <p:grpSpPr>
        <a:xfrm>
          <a:off x="0" y="0"/>
          <a:ext cx="0" cy="0"/>
          <a:chOff x="0" y="0"/>
          <a:chExt cx="0" cy="0"/>
        </a:xfrm>
      </p:grpSpPr>
      <p:sp>
        <p:nvSpPr>
          <p:cNvPr id="157" name="Google Shape;157;g75e44ff1a3_0_4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8" name="Google Shape;158;g75e44ff1a3_0_4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337414050"/>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8"/>
        <p:cNvGrpSpPr/>
        <p:nvPr/>
      </p:nvGrpSpPr>
      <p:grpSpPr>
        <a:xfrm>
          <a:off x="0" y="0"/>
          <a:ext cx="0" cy="0"/>
          <a:chOff x="0" y="0"/>
          <a:chExt cx="0" cy="0"/>
        </a:xfrm>
      </p:grpSpPr>
      <p:sp>
        <p:nvSpPr>
          <p:cNvPr id="169" name="Google Shape;169;g75e44ff1a3_0_2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70" name="Google Shape;170;g75e44ff1a3_0_2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185391275"/>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6"/>
        <p:cNvGrpSpPr/>
        <p:nvPr/>
      </p:nvGrpSpPr>
      <p:grpSpPr>
        <a:xfrm>
          <a:off x="0" y="0"/>
          <a:ext cx="0" cy="0"/>
          <a:chOff x="0" y="0"/>
          <a:chExt cx="0" cy="0"/>
        </a:xfrm>
      </p:grpSpPr>
      <p:sp>
        <p:nvSpPr>
          <p:cNvPr id="157" name="Google Shape;157;g75e44ff1a3_0_4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8" name="Google Shape;158;g75e44ff1a3_0_4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621868693"/>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8"/>
        <p:cNvGrpSpPr/>
        <p:nvPr/>
      </p:nvGrpSpPr>
      <p:grpSpPr>
        <a:xfrm>
          <a:off x="0" y="0"/>
          <a:ext cx="0" cy="0"/>
          <a:chOff x="0" y="0"/>
          <a:chExt cx="0" cy="0"/>
        </a:xfrm>
      </p:grpSpPr>
      <p:sp>
        <p:nvSpPr>
          <p:cNvPr id="169" name="Google Shape;169;g75e44ff1a3_0_2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70" name="Google Shape;170;g75e44ff1a3_0_2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588499654"/>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6"/>
        <p:cNvGrpSpPr/>
        <p:nvPr/>
      </p:nvGrpSpPr>
      <p:grpSpPr>
        <a:xfrm>
          <a:off x="0" y="0"/>
          <a:ext cx="0" cy="0"/>
          <a:chOff x="0" y="0"/>
          <a:chExt cx="0" cy="0"/>
        </a:xfrm>
      </p:grpSpPr>
      <p:sp>
        <p:nvSpPr>
          <p:cNvPr id="157" name="Google Shape;157;g75e44ff1a3_0_4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8" name="Google Shape;158;g75e44ff1a3_0_4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162260077"/>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8"/>
        <p:cNvGrpSpPr/>
        <p:nvPr/>
      </p:nvGrpSpPr>
      <p:grpSpPr>
        <a:xfrm>
          <a:off x="0" y="0"/>
          <a:ext cx="0" cy="0"/>
          <a:chOff x="0" y="0"/>
          <a:chExt cx="0" cy="0"/>
        </a:xfrm>
      </p:grpSpPr>
      <p:sp>
        <p:nvSpPr>
          <p:cNvPr id="169" name="Google Shape;169;g75e44ff1a3_0_2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70" name="Google Shape;170;g75e44ff1a3_0_2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47611910"/>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6"/>
        <p:cNvGrpSpPr/>
        <p:nvPr/>
      </p:nvGrpSpPr>
      <p:grpSpPr>
        <a:xfrm>
          <a:off x="0" y="0"/>
          <a:ext cx="0" cy="0"/>
          <a:chOff x="0" y="0"/>
          <a:chExt cx="0" cy="0"/>
        </a:xfrm>
      </p:grpSpPr>
      <p:sp>
        <p:nvSpPr>
          <p:cNvPr id="157" name="Google Shape;157;g75e44ff1a3_0_4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8" name="Google Shape;158;g75e44ff1a3_0_4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869920180"/>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8"/>
        <p:cNvGrpSpPr/>
        <p:nvPr/>
      </p:nvGrpSpPr>
      <p:grpSpPr>
        <a:xfrm>
          <a:off x="0" y="0"/>
          <a:ext cx="0" cy="0"/>
          <a:chOff x="0" y="0"/>
          <a:chExt cx="0" cy="0"/>
        </a:xfrm>
      </p:grpSpPr>
      <p:sp>
        <p:nvSpPr>
          <p:cNvPr id="169" name="Google Shape;169;g75e44ff1a3_0_2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70" name="Google Shape;170;g75e44ff1a3_0_2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204058092"/>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6"/>
        <p:cNvGrpSpPr/>
        <p:nvPr/>
      </p:nvGrpSpPr>
      <p:grpSpPr>
        <a:xfrm>
          <a:off x="0" y="0"/>
          <a:ext cx="0" cy="0"/>
          <a:chOff x="0" y="0"/>
          <a:chExt cx="0" cy="0"/>
        </a:xfrm>
      </p:grpSpPr>
      <p:sp>
        <p:nvSpPr>
          <p:cNvPr id="157" name="Google Shape;157;g75e44ff1a3_0_4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8" name="Google Shape;158;g75e44ff1a3_0_4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55366325"/>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8"/>
        <p:cNvGrpSpPr/>
        <p:nvPr/>
      </p:nvGrpSpPr>
      <p:grpSpPr>
        <a:xfrm>
          <a:off x="0" y="0"/>
          <a:ext cx="0" cy="0"/>
          <a:chOff x="0" y="0"/>
          <a:chExt cx="0" cy="0"/>
        </a:xfrm>
      </p:grpSpPr>
      <p:sp>
        <p:nvSpPr>
          <p:cNvPr id="169" name="Google Shape;169;g75e44ff1a3_0_2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70" name="Google Shape;170;g75e44ff1a3_0_2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038635148"/>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6"/>
        <p:cNvGrpSpPr/>
        <p:nvPr/>
      </p:nvGrpSpPr>
      <p:grpSpPr>
        <a:xfrm>
          <a:off x="0" y="0"/>
          <a:ext cx="0" cy="0"/>
          <a:chOff x="0" y="0"/>
          <a:chExt cx="0" cy="0"/>
        </a:xfrm>
      </p:grpSpPr>
      <p:sp>
        <p:nvSpPr>
          <p:cNvPr id="157" name="Google Shape;157;g75e44ff1a3_0_4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8" name="Google Shape;158;g75e44ff1a3_0_4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15613397"/>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8"/>
        <p:cNvGrpSpPr/>
        <p:nvPr/>
      </p:nvGrpSpPr>
      <p:grpSpPr>
        <a:xfrm>
          <a:off x="0" y="0"/>
          <a:ext cx="0" cy="0"/>
          <a:chOff x="0" y="0"/>
          <a:chExt cx="0" cy="0"/>
        </a:xfrm>
      </p:grpSpPr>
      <p:sp>
        <p:nvSpPr>
          <p:cNvPr id="169" name="Google Shape;169;g75e44ff1a3_0_2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70" name="Google Shape;170;g75e44ff1a3_0_2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798930760"/>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6"/>
        <p:cNvGrpSpPr/>
        <p:nvPr/>
      </p:nvGrpSpPr>
      <p:grpSpPr>
        <a:xfrm>
          <a:off x="0" y="0"/>
          <a:ext cx="0" cy="0"/>
          <a:chOff x="0" y="0"/>
          <a:chExt cx="0" cy="0"/>
        </a:xfrm>
      </p:grpSpPr>
      <p:sp>
        <p:nvSpPr>
          <p:cNvPr id="157" name="Google Shape;157;g75e44ff1a3_0_4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8" name="Google Shape;158;g75e44ff1a3_0_4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552635077"/>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8"/>
        <p:cNvGrpSpPr/>
        <p:nvPr/>
      </p:nvGrpSpPr>
      <p:grpSpPr>
        <a:xfrm>
          <a:off x="0" y="0"/>
          <a:ext cx="0" cy="0"/>
          <a:chOff x="0" y="0"/>
          <a:chExt cx="0" cy="0"/>
        </a:xfrm>
      </p:grpSpPr>
      <p:sp>
        <p:nvSpPr>
          <p:cNvPr id="169" name="Google Shape;169;g75e44ff1a3_0_2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70" name="Google Shape;170;g75e44ff1a3_0_2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205506543"/>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6"/>
        <p:cNvGrpSpPr/>
        <p:nvPr/>
      </p:nvGrpSpPr>
      <p:grpSpPr>
        <a:xfrm>
          <a:off x="0" y="0"/>
          <a:ext cx="0" cy="0"/>
          <a:chOff x="0" y="0"/>
          <a:chExt cx="0" cy="0"/>
        </a:xfrm>
      </p:grpSpPr>
      <p:sp>
        <p:nvSpPr>
          <p:cNvPr id="157" name="Google Shape;157;g75e44ff1a3_0_4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8" name="Google Shape;158;g75e44ff1a3_0_4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669356416"/>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8"/>
        <p:cNvGrpSpPr/>
        <p:nvPr/>
      </p:nvGrpSpPr>
      <p:grpSpPr>
        <a:xfrm>
          <a:off x="0" y="0"/>
          <a:ext cx="0" cy="0"/>
          <a:chOff x="0" y="0"/>
          <a:chExt cx="0" cy="0"/>
        </a:xfrm>
      </p:grpSpPr>
      <p:sp>
        <p:nvSpPr>
          <p:cNvPr id="169" name="Google Shape;169;g75e44ff1a3_0_2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70" name="Google Shape;170;g75e44ff1a3_0_2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825960025"/>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4"/>
        <p:cNvGrpSpPr/>
        <p:nvPr/>
      </p:nvGrpSpPr>
      <p:grpSpPr>
        <a:xfrm>
          <a:off x="0" y="0"/>
          <a:ext cx="0" cy="0"/>
          <a:chOff x="0" y="0"/>
          <a:chExt cx="0" cy="0"/>
        </a:xfrm>
      </p:grpSpPr>
      <p:sp>
        <p:nvSpPr>
          <p:cNvPr id="105" name="Google Shape;105;g6b4f495656_0_67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6" name="Google Shape;106;g6b4f495656_0_67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658425407"/>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2"/>
        <p:cNvGrpSpPr/>
        <p:nvPr/>
      </p:nvGrpSpPr>
      <p:grpSpPr>
        <a:xfrm>
          <a:off x="0" y="0"/>
          <a:ext cx="0" cy="0"/>
          <a:chOff x="0" y="0"/>
          <a:chExt cx="0" cy="0"/>
        </a:xfrm>
      </p:grpSpPr>
      <p:sp>
        <p:nvSpPr>
          <p:cNvPr id="353" name="Google Shape;353;g6b4f495656_0_69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54" name="Google Shape;354;g6b4f495656_0_69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dirty="0"/>
              <a:t>MUST BE COMPLETED IN WEEK 20, BUT SHOULD BE UPDATED REGULARLY</a:t>
            </a:r>
            <a:endParaRPr dirty="0"/>
          </a:p>
          <a:p>
            <a:pPr marL="0" lvl="0" indent="0" algn="l" rtl="0">
              <a:spcBef>
                <a:spcPts val="0"/>
              </a:spcBef>
              <a:spcAft>
                <a:spcPts val="0"/>
              </a:spcAft>
              <a:buNone/>
            </a:pPr>
            <a:r>
              <a:rPr lang="en" dirty="0"/>
              <a:t>This is where you link your evidence to each of the Intended Learning Outcomes of this block.</a:t>
            </a:r>
            <a:endParaRPr dirty="0"/>
          </a:p>
        </p:txBody>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9">
          <a:extLst>
            <a:ext uri="{FF2B5EF4-FFF2-40B4-BE49-F238E27FC236}">
              <a16:creationId xmlns:a16="http://schemas.microsoft.com/office/drawing/2014/main" id="{24BC6F97-84BF-2F97-5CB1-7A9691B9BBCB}"/>
            </a:ext>
          </a:extLst>
        </p:cNvPr>
        <p:cNvGrpSpPr/>
        <p:nvPr/>
      </p:nvGrpSpPr>
      <p:grpSpPr>
        <a:xfrm>
          <a:off x="0" y="0"/>
          <a:ext cx="0" cy="0"/>
          <a:chOff x="0" y="0"/>
          <a:chExt cx="0" cy="0"/>
        </a:xfrm>
      </p:grpSpPr>
      <p:sp>
        <p:nvSpPr>
          <p:cNvPr id="360" name="Google Shape;360;g6b4f495656_0_703:notes">
            <a:extLst>
              <a:ext uri="{FF2B5EF4-FFF2-40B4-BE49-F238E27FC236}">
                <a16:creationId xmlns:a16="http://schemas.microsoft.com/office/drawing/2014/main" id="{19F6F6F7-1B29-CED8-152B-FA3E60A546A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61" name="Google Shape;361;g6b4f495656_0_703:notes">
            <a:extLst>
              <a:ext uri="{FF2B5EF4-FFF2-40B4-BE49-F238E27FC236}">
                <a16:creationId xmlns:a16="http://schemas.microsoft.com/office/drawing/2014/main" id="{A3C8058E-363A-D595-85D0-0F005F26808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059829603"/>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9"/>
        <p:cNvGrpSpPr/>
        <p:nvPr/>
      </p:nvGrpSpPr>
      <p:grpSpPr>
        <a:xfrm>
          <a:off x="0" y="0"/>
          <a:ext cx="0" cy="0"/>
          <a:chOff x="0" y="0"/>
          <a:chExt cx="0" cy="0"/>
        </a:xfrm>
      </p:grpSpPr>
      <p:sp>
        <p:nvSpPr>
          <p:cNvPr id="390" name="Google Shape;390;g6b602ea5a7_1_27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91" name="Google Shape;391;g6b602ea5a7_1_27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9">
          <a:extLst>
            <a:ext uri="{FF2B5EF4-FFF2-40B4-BE49-F238E27FC236}">
              <a16:creationId xmlns:a16="http://schemas.microsoft.com/office/drawing/2014/main" id="{F88C2208-766C-C3A4-0289-A973D2D4894E}"/>
            </a:ext>
          </a:extLst>
        </p:cNvPr>
        <p:cNvGrpSpPr/>
        <p:nvPr/>
      </p:nvGrpSpPr>
      <p:grpSpPr>
        <a:xfrm>
          <a:off x="0" y="0"/>
          <a:ext cx="0" cy="0"/>
          <a:chOff x="0" y="0"/>
          <a:chExt cx="0" cy="0"/>
        </a:xfrm>
      </p:grpSpPr>
      <p:sp>
        <p:nvSpPr>
          <p:cNvPr id="390" name="Google Shape;390;g6b602ea5a7_1_270:notes">
            <a:extLst>
              <a:ext uri="{FF2B5EF4-FFF2-40B4-BE49-F238E27FC236}">
                <a16:creationId xmlns:a16="http://schemas.microsoft.com/office/drawing/2014/main" id="{F12BA31E-A348-E8AA-0B97-7B14B6C9A273}"/>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91" name="Google Shape;391;g6b602ea5a7_1_270:notes">
            <a:extLst>
              <a:ext uri="{FF2B5EF4-FFF2-40B4-BE49-F238E27FC236}">
                <a16:creationId xmlns:a16="http://schemas.microsoft.com/office/drawing/2014/main" id="{A938629C-A21F-1913-91BD-9C0F1FC0EF5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730215292"/>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9">
          <a:extLst>
            <a:ext uri="{FF2B5EF4-FFF2-40B4-BE49-F238E27FC236}">
              <a16:creationId xmlns:a16="http://schemas.microsoft.com/office/drawing/2014/main" id="{F88C2208-766C-C3A4-0289-A973D2D4894E}"/>
            </a:ext>
          </a:extLst>
        </p:cNvPr>
        <p:cNvGrpSpPr/>
        <p:nvPr/>
      </p:nvGrpSpPr>
      <p:grpSpPr>
        <a:xfrm>
          <a:off x="0" y="0"/>
          <a:ext cx="0" cy="0"/>
          <a:chOff x="0" y="0"/>
          <a:chExt cx="0" cy="0"/>
        </a:xfrm>
      </p:grpSpPr>
      <p:sp>
        <p:nvSpPr>
          <p:cNvPr id="390" name="Google Shape;390;g6b602ea5a7_1_270:notes">
            <a:extLst>
              <a:ext uri="{FF2B5EF4-FFF2-40B4-BE49-F238E27FC236}">
                <a16:creationId xmlns:a16="http://schemas.microsoft.com/office/drawing/2014/main" id="{F12BA31E-A348-E8AA-0B97-7B14B6C9A273}"/>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91" name="Google Shape;391;g6b602ea5a7_1_270:notes">
            <a:extLst>
              <a:ext uri="{FF2B5EF4-FFF2-40B4-BE49-F238E27FC236}">
                <a16:creationId xmlns:a16="http://schemas.microsoft.com/office/drawing/2014/main" id="{A938629C-A21F-1913-91BD-9C0F1FC0EF5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326638482"/>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9">
          <a:extLst>
            <a:ext uri="{FF2B5EF4-FFF2-40B4-BE49-F238E27FC236}">
              <a16:creationId xmlns:a16="http://schemas.microsoft.com/office/drawing/2014/main" id="{062FC12A-4AE3-9384-0933-9E22434D6558}"/>
            </a:ext>
          </a:extLst>
        </p:cNvPr>
        <p:cNvGrpSpPr/>
        <p:nvPr/>
      </p:nvGrpSpPr>
      <p:grpSpPr>
        <a:xfrm>
          <a:off x="0" y="0"/>
          <a:ext cx="0" cy="0"/>
          <a:chOff x="0" y="0"/>
          <a:chExt cx="0" cy="0"/>
        </a:xfrm>
      </p:grpSpPr>
      <p:sp>
        <p:nvSpPr>
          <p:cNvPr id="390" name="Google Shape;390;g6b602ea5a7_1_270:notes">
            <a:extLst>
              <a:ext uri="{FF2B5EF4-FFF2-40B4-BE49-F238E27FC236}">
                <a16:creationId xmlns:a16="http://schemas.microsoft.com/office/drawing/2014/main" id="{6D894EE8-40D1-C473-907B-1DB83E1BA91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91" name="Google Shape;391;g6b602ea5a7_1_270:notes">
            <a:extLst>
              <a:ext uri="{FF2B5EF4-FFF2-40B4-BE49-F238E27FC236}">
                <a16:creationId xmlns:a16="http://schemas.microsoft.com/office/drawing/2014/main" id="{F4F60824-6A1A-00AF-7BA4-5CA1F705740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3018985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9">
          <a:extLst>
            <a:ext uri="{FF2B5EF4-FFF2-40B4-BE49-F238E27FC236}">
              <a16:creationId xmlns:a16="http://schemas.microsoft.com/office/drawing/2014/main" id="{062FC12A-4AE3-9384-0933-9E22434D6558}"/>
            </a:ext>
          </a:extLst>
        </p:cNvPr>
        <p:cNvGrpSpPr/>
        <p:nvPr/>
      </p:nvGrpSpPr>
      <p:grpSpPr>
        <a:xfrm>
          <a:off x="0" y="0"/>
          <a:ext cx="0" cy="0"/>
          <a:chOff x="0" y="0"/>
          <a:chExt cx="0" cy="0"/>
        </a:xfrm>
      </p:grpSpPr>
      <p:sp>
        <p:nvSpPr>
          <p:cNvPr id="390" name="Google Shape;390;g6b602ea5a7_1_270:notes">
            <a:extLst>
              <a:ext uri="{FF2B5EF4-FFF2-40B4-BE49-F238E27FC236}">
                <a16:creationId xmlns:a16="http://schemas.microsoft.com/office/drawing/2014/main" id="{6D894EE8-40D1-C473-907B-1DB83E1BA91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91" name="Google Shape;391;g6b602ea5a7_1_270:notes">
            <a:extLst>
              <a:ext uri="{FF2B5EF4-FFF2-40B4-BE49-F238E27FC236}">
                <a16:creationId xmlns:a16="http://schemas.microsoft.com/office/drawing/2014/main" id="{F4F60824-6A1A-00AF-7BA4-5CA1F705740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391106438"/>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9"/>
        <p:cNvGrpSpPr/>
        <p:nvPr/>
      </p:nvGrpSpPr>
      <p:grpSpPr>
        <a:xfrm>
          <a:off x="0" y="0"/>
          <a:ext cx="0" cy="0"/>
          <a:chOff x="0" y="0"/>
          <a:chExt cx="0" cy="0"/>
        </a:xfrm>
      </p:grpSpPr>
      <p:sp>
        <p:nvSpPr>
          <p:cNvPr id="360" name="Google Shape;360;g6b4f495656_0_70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61" name="Google Shape;361;g6b4f495656_0_70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52"/>
        <p:cNvGrpSpPr/>
        <p:nvPr/>
      </p:nvGrpSpPr>
      <p:grpSpPr>
        <a:xfrm>
          <a:off x="0" y="0"/>
          <a:ext cx="0" cy="0"/>
          <a:chOff x="0" y="0"/>
          <a:chExt cx="0" cy="0"/>
        </a:xfrm>
      </p:grpSpPr>
      <p:sp>
        <p:nvSpPr>
          <p:cNvPr id="453" name="Google Shape;453;g6b602ea5a7_1_34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54" name="Google Shape;454;g6b602ea5a7_1_34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52">
          <a:extLst>
            <a:ext uri="{FF2B5EF4-FFF2-40B4-BE49-F238E27FC236}">
              <a16:creationId xmlns:a16="http://schemas.microsoft.com/office/drawing/2014/main" id="{FCAA020E-FB45-AC51-2AE3-616A73A5C2D2}"/>
            </a:ext>
          </a:extLst>
        </p:cNvPr>
        <p:cNvGrpSpPr/>
        <p:nvPr/>
      </p:nvGrpSpPr>
      <p:grpSpPr>
        <a:xfrm>
          <a:off x="0" y="0"/>
          <a:ext cx="0" cy="0"/>
          <a:chOff x="0" y="0"/>
          <a:chExt cx="0" cy="0"/>
        </a:xfrm>
      </p:grpSpPr>
      <p:sp>
        <p:nvSpPr>
          <p:cNvPr id="453" name="Google Shape;453;g6b602ea5a7_1_346:notes">
            <a:extLst>
              <a:ext uri="{FF2B5EF4-FFF2-40B4-BE49-F238E27FC236}">
                <a16:creationId xmlns:a16="http://schemas.microsoft.com/office/drawing/2014/main" id="{71CE232E-AE41-B182-924B-63E276EA7AB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54" name="Google Shape;454;g6b602ea5a7_1_346:notes">
            <a:extLst>
              <a:ext uri="{FF2B5EF4-FFF2-40B4-BE49-F238E27FC236}">
                <a16:creationId xmlns:a16="http://schemas.microsoft.com/office/drawing/2014/main" id="{D288A570-55B4-B7A6-CE99-C74F1CBE9BF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783576056"/>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63"/>
        <p:cNvGrpSpPr/>
        <p:nvPr/>
      </p:nvGrpSpPr>
      <p:grpSpPr>
        <a:xfrm>
          <a:off x="0" y="0"/>
          <a:ext cx="0" cy="0"/>
          <a:chOff x="0" y="0"/>
          <a:chExt cx="0" cy="0"/>
        </a:xfrm>
      </p:grpSpPr>
      <p:sp>
        <p:nvSpPr>
          <p:cNvPr id="464" name="Google Shape;464;g6b4f495656_0_72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65" name="Google Shape;465;g6b4f495656_0_72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71"/>
        <p:cNvGrpSpPr/>
        <p:nvPr/>
      </p:nvGrpSpPr>
      <p:grpSpPr>
        <a:xfrm>
          <a:off x="0" y="0"/>
          <a:ext cx="0" cy="0"/>
          <a:chOff x="0" y="0"/>
          <a:chExt cx="0" cy="0"/>
        </a:xfrm>
      </p:grpSpPr>
      <p:sp>
        <p:nvSpPr>
          <p:cNvPr id="472" name="Google Shape;472;g6b602ea5a7_1_35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73" name="Google Shape;473;g6b602ea5a7_1_35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71"/>
        <p:cNvGrpSpPr/>
        <p:nvPr/>
      </p:nvGrpSpPr>
      <p:grpSpPr>
        <a:xfrm>
          <a:off x="0" y="0"/>
          <a:ext cx="0" cy="0"/>
          <a:chOff x="0" y="0"/>
          <a:chExt cx="0" cy="0"/>
        </a:xfrm>
      </p:grpSpPr>
      <p:sp>
        <p:nvSpPr>
          <p:cNvPr id="472" name="Google Shape;472;g6b602ea5a7_1_35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73" name="Google Shape;473;g6b602ea5a7_1_35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419070759"/>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71">
          <a:extLst>
            <a:ext uri="{FF2B5EF4-FFF2-40B4-BE49-F238E27FC236}">
              <a16:creationId xmlns:a16="http://schemas.microsoft.com/office/drawing/2014/main" id="{9E5271FF-013C-9B4B-3711-DCCA3506F86A}"/>
            </a:ext>
          </a:extLst>
        </p:cNvPr>
        <p:cNvGrpSpPr/>
        <p:nvPr/>
      </p:nvGrpSpPr>
      <p:grpSpPr>
        <a:xfrm>
          <a:off x="0" y="0"/>
          <a:ext cx="0" cy="0"/>
          <a:chOff x="0" y="0"/>
          <a:chExt cx="0" cy="0"/>
        </a:xfrm>
      </p:grpSpPr>
      <p:sp>
        <p:nvSpPr>
          <p:cNvPr id="472" name="Google Shape;472;g6b602ea5a7_1_359:notes">
            <a:extLst>
              <a:ext uri="{FF2B5EF4-FFF2-40B4-BE49-F238E27FC236}">
                <a16:creationId xmlns:a16="http://schemas.microsoft.com/office/drawing/2014/main" id="{AA6831BE-4551-1D73-2127-E88ACC9F6D9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73" name="Google Shape;473;g6b602ea5a7_1_359:notes">
            <a:extLst>
              <a:ext uri="{FF2B5EF4-FFF2-40B4-BE49-F238E27FC236}">
                <a16:creationId xmlns:a16="http://schemas.microsoft.com/office/drawing/2014/main" id="{F84D9DE6-3B9D-A6E6-46DA-CD3D97D8955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102188420"/>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63"/>
        <p:cNvGrpSpPr/>
        <p:nvPr/>
      </p:nvGrpSpPr>
      <p:grpSpPr>
        <a:xfrm>
          <a:off x="0" y="0"/>
          <a:ext cx="0" cy="0"/>
          <a:chOff x="0" y="0"/>
          <a:chExt cx="0" cy="0"/>
        </a:xfrm>
      </p:grpSpPr>
      <p:sp>
        <p:nvSpPr>
          <p:cNvPr id="464" name="Google Shape;464;g6b4f495656_0_72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65" name="Google Shape;465;g6b4f495656_0_72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693897508"/>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71"/>
        <p:cNvGrpSpPr/>
        <p:nvPr/>
      </p:nvGrpSpPr>
      <p:grpSpPr>
        <a:xfrm>
          <a:off x="0" y="0"/>
          <a:ext cx="0" cy="0"/>
          <a:chOff x="0" y="0"/>
          <a:chExt cx="0" cy="0"/>
        </a:xfrm>
      </p:grpSpPr>
      <p:sp>
        <p:nvSpPr>
          <p:cNvPr id="472" name="Google Shape;472;g6b602ea5a7_1_35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73" name="Google Shape;473;g6b602ea5a7_1_35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393390409"/>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71">
          <a:extLst>
            <a:ext uri="{FF2B5EF4-FFF2-40B4-BE49-F238E27FC236}">
              <a16:creationId xmlns:a16="http://schemas.microsoft.com/office/drawing/2014/main" id="{FBB8AD7A-C6AD-4A50-DA2C-79B66D1CB3C7}"/>
            </a:ext>
          </a:extLst>
        </p:cNvPr>
        <p:cNvGrpSpPr/>
        <p:nvPr/>
      </p:nvGrpSpPr>
      <p:grpSpPr>
        <a:xfrm>
          <a:off x="0" y="0"/>
          <a:ext cx="0" cy="0"/>
          <a:chOff x="0" y="0"/>
          <a:chExt cx="0" cy="0"/>
        </a:xfrm>
      </p:grpSpPr>
      <p:sp>
        <p:nvSpPr>
          <p:cNvPr id="472" name="Google Shape;472;g6b602ea5a7_1_359:notes">
            <a:extLst>
              <a:ext uri="{FF2B5EF4-FFF2-40B4-BE49-F238E27FC236}">
                <a16:creationId xmlns:a16="http://schemas.microsoft.com/office/drawing/2014/main" id="{A1FE9A43-5A94-6035-09FA-F559D1F6E37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73" name="Google Shape;473;g6b602ea5a7_1_359:notes">
            <a:extLst>
              <a:ext uri="{FF2B5EF4-FFF2-40B4-BE49-F238E27FC236}">
                <a16:creationId xmlns:a16="http://schemas.microsoft.com/office/drawing/2014/main" id="{E65FA0CF-4D02-0867-74BD-990CB26C14D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096719544"/>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71">
          <a:extLst>
            <a:ext uri="{FF2B5EF4-FFF2-40B4-BE49-F238E27FC236}">
              <a16:creationId xmlns:a16="http://schemas.microsoft.com/office/drawing/2014/main" id="{0DCE54AB-AB5D-45D5-F748-8CEE3908C2B5}"/>
            </a:ext>
          </a:extLst>
        </p:cNvPr>
        <p:cNvGrpSpPr/>
        <p:nvPr/>
      </p:nvGrpSpPr>
      <p:grpSpPr>
        <a:xfrm>
          <a:off x="0" y="0"/>
          <a:ext cx="0" cy="0"/>
          <a:chOff x="0" y="0"/>
          <a:chExt cx="0" cy="0"/>
        </a:xfrm>
      </p:grpSpPr>
      <p:sp>
        <p:nvSpPr>
          <p:cNvPr id="472" name="Google Shape;472;g6b602ea5a7_1_359:notes">
            <a:extLst>
              <a:ext uri="{FF2B5EF4-FFF2-40B4-BE49-F238E27FC236}">
                <a16:creationId xmlns:a16="http://schemas.microsoft.com/office/drawing/2014/main" id="{1F3E51F6-EFDC-6112-E3FA-DBA3978973C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73" name="Google Shape;473;g6b602ea5a7_1_359:notes">
            <a:extLst>
              <a:ext uri="{FF2B5EF4-FFF2-40B4-BE49-F238E27FC236}">
                <a16:creationId xmlns:a16="http://schemas.microsoft.com/office/drawing/2014/main" id="{8D947759-31C2-F625-1BBD-D973561C5B4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265438630"/>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63"/>
        <p:cNvGrpSpPr/>
        <p:nvPr/>
      </p:nvGrpSpPr>
      <p:grpSpPr>
        <a:xfrm>
          <a:off x="0" y="0"/>
          <a:ext cx="0" cy="0"/>
          <a:chOff x="0" y="0"/>
          <a:chExt cx="0" cy="0"/>
        </a:xfrm>
      </p:grpSpPr>
      <p:sp>
        <p:nvSpPr>
          <p:cNvPr id="464" name="Google Shape;464;g6b4f495656_0_72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65" name="Google Shape;465;g6b4f495656_0_72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717244046"/>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71"/>
        <p:cNvGrpSpPr/>
        <p:nvPr/>
      </p:nvGrpSpPr>
      <p:grpSpPr>
        <a:xfrm>
          <a:off x="0" y="0"/>
          <a:ext cx="0" cy="0"/>
          <a:chOff x="0" y="0"/>
          <a:chExt cx="0" cy="0"/>
        </a:xfrm>
      </p:grpSpPr>
      <p:sp>
        <p:nvSpPr>
          <p:cNvPr id="472" name="Google Shape;472;g6b602ea5a7_1_35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73" name="Google Shape;473;g6b602ea5a7_1_35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027361882"/>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71">
          <a:extLst>
            <a:ext uri="{FF2B5EF4-FFF2-40B4-BE49-F238E27FC236}">
              <a16:creationId xmlns:a16="http://schemas.microsoft.com/office/drawing/2014/main" id="{A25F3289-1130-8B87-4772-55047E10ADD3}"/>
            </a:ext>
          </a:extLst>
        </p:cNvPr>
        <p:cNvGrpSpPr/>
        <p:nvPr/>
      </p:nvGrpSpPr>
      <p:grpSpPr>
        <a:xfrm>
          <a:off x="0" y="0"/>
          <a:ext cx="0" cy="0"/>
          <a:chOff x="0" y="0"/>
          <a:chExt cx="0" cy="0"/>
        </a:xfrm>
      </p:grpSpPr>
      <p:sp>
        <p:nvSpPr>
          <p:cNvPr id="472" name="Google Shape;472;g6b602ea5a7_1_359:notes">
            <a:extLst>
              <a:ext uri="{FF2B5EF4-FFF2-40B4-BE49-F238E27FC236}">
                <a16:creationId xmlns:a16="http://schemas.microsoft.com/office/drawing/2014/main" id="{2644CD2B-D529-9B97-A6DF-A44D8EDFBC1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73" name="Google Shape;473;g6b602ea5a7_1_359:notes">
            <a:extLst>
              <a:ext uri="{FF2B5EF4-FFF2-40B4-BE49-F238E27FC236}">
                <a16:creationId xmlns:a16="http://schemas.microsoft.com/office/drawing/2014/main" id="{993014CE-6780-733F-5F4A-FFC85F1EFF6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152440309"/>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93"/>
        <p:cNvGrpSpPr/>
        <p:nvPr/>
      </p:nvGrpSpPr>
      <p:grpSpPr>
        <a:xfrm>
          <a:off x="0" y="0"/>
          <a:ext cx="0" cy="0"/>
          <a:chOff x="0" y="0"/>
          <a:chExt cx="0" cy="0"/>
        </a:xfrm>
      </p:grpSpPr>
      <p:sp>
        <p:nvSpPr>
          <p:cNvPr id="494" name="Google Shape;494;g6b4f495656_0_75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95" name="Google Shape;495;g6b4f495656_0_75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MUST BE COMPLETED IN WEEK 8</a:t>
            </a:r>
            <a:endParaRPr/>
          </a:p>
          <a:p>
            <a:pPr marL="0" lvl="0" indent="0" algn="l" rtl="0">
              <a:spcBef>
                <a:spcPts val="0"/>
              </a:spcBef>
              <a:spcAft>
                <a:spcPts val="0"/>
              </a:spcAft>
              <a:buNone/>
            </a:pPr>
            <a:r>
              <a:rPr lang="en"/>
              <a:t>Summative reflection on your progress during the block including a critical assessment of everything you did and learned during the block. This is a comprehensive review of everything recorded in Section B, evaluated against the goals and planning laid out in Section A.</a:t>
            </a:r>
            <a:endParaRPr/>
          </a:p>
        </p:txBody>
      </p:sp>
    </p:spTree>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0"/>
        <p:cNvGrpSpPr/>
        <p:nvPr/>
      </p:nvGrpSpPr>
      <p:grpSpPr>
        <a:xfrm>
          <a:off x="0" y="0"/>
          <a:ext cx="0" cy="0"/>
          <a:chOff x="0" y="0"/>
          <a:chExt cx="0" cy="0"/>
        </a:xfrm>
      </p:grpSpPr>
      <p:sp>
        <p:nvSpPr>
          <p:cNvPr id="501" name="Google Shape;501;g6b602ea5a7_1_21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02" name="Google Shape;502;g6b602ea5a7_1_21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0"/>
        <p:cNvGrpSpPr/>
        <p:nvPr/>
      </p:nvGrpSpPr>
      <p:grpSpPr>
        <a:xfrm>
          <a:off x="0" y="0"/>
          <a:ext cx="0" cy="0"/>
          <a:chOff x="0" y="0"/>
          <a:chExt cx="0" cy="0"/>
        </a:xfrm>
      </p:grpSpPr>
      <p:sp>
        <p:nvSpPr>
          <p:cNvPr id="501" name="Google Shape;501;g6b602ea5a7_1_21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02" name="Google Shape;502;g6b602ea5a7_1_21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189532580"/>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p:cSld name="TITLE_1">
    <p:bg>
      <p:bgPr>
        <a:solidFill>
          <a:srgbClr val="EC781C"/>
        </a:solidFill>
        <a:effectLst/>
      </p:bgPr>
    </p:bg>
    <p:spTree>
      <p:nvGrpSpPr>
        <p:cNvPr id="1" name="Shape 9"/>
        <p:cNvGrpSpPr/>
        <p:nvPr/>
      </p:nvGrpSpPr>
      <p:grpSpPr>
        <a:xfrm>
          <a:off x="0" y="0"/>
          <a:ext cx="0" cy="0"/>
          <a:chOff x="0" y="0"/>
          <a:chExt cx="0" cy="0"/>
        </a:xfrm>
      </p:grpSpPr>
      <p:sp>
        <p:nvSpPr>
          <p:cNvPr id="10" name="Google Shape;10;p2"/>
          <p:cNvSpPr/>
          <p:nvPr/>
        </p:nvSpPr>
        <p:spPr>
          <a:xfrm>
            <a:off x="3109025" y="-1200"/>
            <a:ext cx="6035100" cy="5146200"/>
          </a:xfrm>
          <a:prstGeom prst="rect">
            <a:avLst/>
          </a:prstGeom>
          <a:solidFill>
            <a:srgbClr val="66666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 name="Google Shape;11;p2"/>
          <p:cNvSpPr/>
          <p:nvPr/>
        </p:nvSpPr>
        <p:spPr>
          <a:xfrm>
            <a:off x="0" y="4363525"/>
            <a:ext cx="9144000" cy="777300"/>
          </a:xfrm>
          <a:prstGeom prst="rect">
            <a:avLst/>
          </a:pr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 name="Google Shape;12;p2"/>
          <p:cNvSpPr txBox="1">
            <a:spLocks noGrp="1"/>
          </p:cNvSpPr>
          <p:nvPr>
            <p:ph type="ctrTitle"/>
          </p:nvPr>
        </p:nvSpPr>
        <p:spPr>
          <a:xfrm>
            <a:off x="3657600" y="548650"/>
            <a:ext cx="4937700" cy="3264300"/>
          </a:xfrm>
          <a:prstGeom prst="rect">
            <a:avLst/>
          </a:prstGeom>
        </p:spPr>
        <p:txBody>
          <a:bodyPr spcFirstLastPara="1" wrap="square" lIns="91425" tIns="91425" rIns="91425" bIns="91425" anchor="t" anchorCtr="0">
            <a:noAutofit/>
          </a:bodyPr>
          <a:lstStyle>
            <a:lvl1pPr lvl="0" rtl="0">
              <a:spcBef>
                <a:spcPts val="0"/>
              </a:spcBef>
              <a:spcAft>
                <a:spcPts val="0"/>
              </a:spcAft>
              <a:buClr>
                <a:srgbClr val="FFFFFF"/>
              </a:buClr>
              <a:buSzPts val="1800"/>
              <a:buNone/>
              <a:defRPr sz="1800">
                <a:solidFill>
                  <a:srgbClr val="FFFFFF"/>
                </a:solidFill>
              </a:defRPr>
            </a:lvl1pPr>
            <a:lvl2pPr lvl="1" algn="ctr" rtl="0">
              <a:spcBef>
                <a:spcPts val="0"/>
              </a:spcBef>
              <a:spcAft>
                <a:spcPts val="0"/>
              </a:spcAft>
              <a:buClr>
                <a:srgbClr val="FFFFFF"/>
              </a:buClr>
              <a:buSzPts val="3600"/>
              <a:buNone/>
              <a:defRPr sz="3600">
                <a:solidFill>
                  <a:srgbClr val="FFFFFF"/>
                </a:solidFill>
              </a:defRPr>
            </a:lvl2pPr>
            <a:lvl3pPr lvl="2" algn="ctr" rtl="0">
              <a:spcBef>
                <a:spcPts val="0"/>
              </a:spcBef>
              <a:spcAft>
                <a:spcPts val="0"/>
              </a:spcAft>
              <a:buClr>
                <a:srgbClr val="FFFFFF"/>
              </a:buClr>
              <a:buSzPts val="3600"/>
              <a:buNone/>
              <a:defRPr sz="3600">
                <a:solidFill>
                  <a:srgbClr val="FFFFFF"/>
                </a:solidFill>
              </a:defRPr>
            </a:lvl3pPr>
            <a:lvl4pPr lvl="3" algn="ctr" rtl="0">
              <a:spcBef>
                <a:spcPts val="0"/>
              </a:spcBef>
              <a:spcAft>
                <a:spcPts val="0"/>
              </a:spcAft>
              <a:buClr>
                <a:srgbClr val="FFFFFF"/>
              </a:buClr>
              <a:buSzPts val="3600"/>
              <a:buNone/>
              <a:defRPr sz="3600">
                <a:solidFill>
                  <a:srgbClr val="FFFFFF"/>
                </a:solidFill>
              </a:defRPr>
            </a:lvl4pPr>
            <a:lvl5pPr lvl="4" algn="ctr" rtl="0">
              <a:spcBef>
                <a:spcPts val="0"/>
              </a:spcBef>
              <a:spcAft>
                <a:spcPts val="0"/>
              </a:spcAft>
              <a:buClr>
                <a:srgbClr val="FFFFFF"/>
              </a:buClr>
              <a:buSzPts val="3600"/>
              <a:buNone/>
              <a:defRPr sz="3600">
                <a:solidFill>
                  <a:srgbClr val="FFFFFF"/>
                </a:solidFill>
              </a:defRPr>
            </a:lvl5pPr>
            <a:lvl6pPr lvl="5" algn="ctr" rtl="0">
              <a:spcBef>
                <a:spcPts val="0"/>
              </a:spcBef>
              <a:spcAft>
                <a:spcPts val="0"/>
              </a:spcAft>
              <a:buClr>
                <a:srgbClr val="FFFFFF"/>
              </a:buClr>
              <a:buSzPts val="3600"/>
              <a:buNone/>
              <a:defRPr sz="3600">
                <a:solidFill>
                  <a:srgbClr val="FFFFFF"/>
                </a:solidFill>
              </a:defRPr>
            </a:lvl6pPr>
            <a:lvl7pPr lvl="6" algn="ctr" rtl="0">
              <a:spcBef>
                <a:spcPts val="0"/>
              </a:spcBef>
              <a:spcAft>
                <a:spcPts val="0"/>
              </a:spcAft>
              <a:buClr>
                <a:srgbClr val="FFFFFF"/>
              </a:buClr>
              <a:buSzPts val="3600"/>
              <a:buNone/>
              <a:defRPr sz="3600">
                <a:solidFill>
                  <a:srgbClr val="FFFFFF"/>
                </a:solidFill>
              </a:defRPr>
            </a:lvl7pPr>
            <a:lvl8pPr lvl="7" algn="ctr" rtl="0">
              <a:spcBef>
                <a:spcPts val="0"/>
              </a:spcBef>
              <a:spcAft>
                <a:spcPts val="0"/>
              </a:spcAft>
              <a:buClr>
                <a:srgbClr val="FFFFFF"/>
              </a:buClr>
              <a:buSzPts val="3600"/>
              <a:buNone/>
              <a:defRPr sz="3600">
                <a:solidFill>
                  <a:srgbClr val="FFFFFF"/>
                </a:solidFill>
              </a:defRPr>
            </a:lvl8pPr>
            <a:lvl9pPr lvl="8" algn="ctr" rtl="0">
              <a:spcBef>
                <a:spcPts val="0"/>
              </a:spcBef>
              <a:spcAft>
                <a:spcPts val="0"/>
              </a:spcAft>
              <a:buClr>
                <a:srgbClr val="FFFFFF"/>
              </a:buClr>
              <a:buSzPts val="3600"/>
              <a:buNone/>
              <a:defRPr sz="3600">
                <a:solidFill>
                  <a:srgbClr val="FFFFFF"/>
                </a:solidFill>
              </a:defRPr>
            </a:lvl9pPr>
          </a:lstStyle>
          <a:p>
            <a:endParaRPr/>
          </a:p>
        </p:txBody>
      </p:sp>
      <p:sp>
        <p:nvSpPr>
          <p:cNvPr id="13" name="Google Shape;13;p2"/>
          <p:cNvSpPr txBox="1">
            <a:spLocks noGrp="1"/>
          </p:cNvSpPr>
          <p:nvPr>
            <p:ph type="subTitle" idx="1"/>
          </p:nvPr>
        </p:nvSpPr>
        <p:spPr>
          <a:xfrm>
            <a:off x="548650" y="548650"/>
            <a:ext cx="2011800" cy="32643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Clr>
                <a:srgbClr val="FFFFFF"/>
              </a:buClr>
              <a:buSzPts val="1800"/>
              <a:buNone/>
              <a:defRPr sz="1800">
                <a:solidFill>
                  <a:srgbClr val="FFFFFF"/>
                </a:solidFill>
              </a:defRPr>
            </a:lvl1pPr>
            <a:lvl2pPr lvl="1" algn="ctr" rtl="0">
              <a:lnSpc>
                <a:spcPct val="100000"/>
              </a:lnSpc>
              <a:spcBef>
                <a:spcPts val="0"/>
              </a:spcBef>
              <a:spcAft>
                <a:spcPts val="0"/>
              </a:spcAft>
              <a:buClr>
                <a:srgbClr val="FFFFFF"/>
              </a:buClr>
              <a:buSzPts val="3000"/>
              <a:buNone/>
              <a:defRPr sz="3000">
                <a:solidFill>
                  <a:srgbClr val="FFFFFF"/>
                </a:solidFill>
              </a:defRPr>
            </a:lvl2pPr>
            <a:lvl3pPr lvl="2" algn="ctr" rtl="0">
              <a:lnSpc>
                <a:spcPct val="100000"/>
              </a:lnSpc>
              <a:spcBef>
                <a:spcPts val="0"/>
              </a:spcBef>
              <a:spcAft>
                <a:spcPts val="0"/>
              </a:spcAft>
              <a:buClr>
                <a:srgbClr val="FFFFFF"/>
              </a:buClr>
              <a:buSzPts val="3000"/>
              <a:buNone/>
              <a:defRPr sz="3000">
                <a:solidFill>
                  <a:srgbClr val="FFFFFF"/>
                </a:solidFill>
              </a:defRPr>
            </a:lvl3pPr>
            <a:lvl4pPr lvl="3" algn="ctr" rtl="0">
              <a:lnSpc>
                <a:spcPct val="100000"/>
              </a:lnSpc>
              <a:spcBef>
                <a:spcPts val="0"/>
              </a:spcBef>
              <a:spcAft>
                <a:spcPts val="0"/>
              </a:spcAft>
              <a:buClr>
                <a:srgbClr val="FFFFFF"/>
              </a:buClr>
              <a:buSzPts val="3000"/>
              <a:buNone/>
              <a:defRPr sz="3000">
                <a:solidFill>
                  <a:srgbClr val="FFFFFF"/>
                </a:solidFill>
              </a:defRPr>
            </a:lvl4pPr>
            <a:lvl5pPr lvl="4" algn="ctr" rtl="0">
              <a:lnSpc>
                <a:spcPct val="100000"/>
              </a:lnSpc>
              <a:spcBef>
                <a:spcPts val="0"/>
              </a:spcBef>
              <a:spcAft>
                <a:spcPts val="0"/>
              </a:spcAft>
              <a:buClr>
                <a:srgbClr val="FFFFFF"/>
              </a:buClr>
              <a:buSzPts val="3000"/>
              <a:buNone/>
              <a:defRPr sz="3000">
                <a:solidFill>
                  <a:srgbClr val="FFFFFF"/>
                </a:solidFill>
              </a:defRPr>
            </a:lvl5pPr>
            <a:lvl6pPr lvl="5" algn="ctr" rtl="0">
              <a:lnSpc>
                <a:spcPct val="100000"/>
              </a:lnSpc>
              <a:spcBef>
                <a:spcPts val="0"/>
              </a:spcBef>
              <a:spcAft>
                <a:spcPts val="0"/>
              </a:spcAft>
              <a:buClr>
                <a:srgbClr val="FFFFFF"/>
              </a:buClr>
              <a:buSzPts val="3000"/>
              <a:buNone/>
              <a:defRPr sz="3000">
                <a:solidFill>
                  <a:srgbClr val="FFFFFF"/>
                </a:solidFill>
              </a:defRPr>
            </a:lvl6pPr>
            <a:lvl7pPr lvl="6" algn="ctr" rtl="0">
              <a:lnSpc>
                <a:spcPct val="100000"/>
              </a:lnSpc>
              <a:spcBef>
                <a:spcPts val="0"/>
              </a:spcBef>
              <a:spcAft>
                <a:spcPts val="0"/>
              </a:spcAft>
              <a:buClr>
                <a:srgbClr val="FFFFFF"/>
              </a:buClr>
              <a:buSzPts val="3000"/>
              <a:buNone/>
              <a:defRPr sz="3000">
                <a:solidFill>
                  <a:srgbClr val="FFFFFF"/>
                </a:solidFill>
              </a:defRPr>
            </a:lvl7pPr>
            <a:lvl8pPr lvl="7" algn="ctr" rtl="0">
              <a:lnSpc>
                <a:spcPct val="100000"/>
              </a:lnSpc>
              <a:spcBef>
                <a:spcPts val="0"/>
              </a:spcBef>
              <a:spcAft>
                <a:spcPts val="0"/>
              </a:spcAft>
              <a:buClr>
                <a:srgbClr val="FFFFFF"/>
              </a:buClr>
              <a:buSzPts val="3000"/>
              <a:buNone/>
              <a:defRPr sz="3000">
                <a:solidFill>
                  <a:srgbClr val="FFFFFF"/>
                </a:solidFill>
              </a:defRPr>
            </a:lvl8pPr>
            <a:lvl9pPr lvl="8" algn="ctr" rtl="0">
              <a:lnSpc>
                <a:spcPct val="100000"/>
              </a:lnSpc>
              <a:spcBef>
                <a:spcPts val="0"/>
              </a:spcBef>
              <a:spcAft>
                <a:spcPts val="0"/>
              </a:spcAft>
              <a:buClr>
                <a:srgbClr val="FFFFFF"/>
              </a:buClr>
              <a:buSzPts val="3000"/>
              <a:buNone/>
              <a:defRPr sz="3000">
                <a:solidFill>
                  <a:srgbClr val="FFFFFF"/>
                </a:solidFill>
              </a:defRPr>
            </a:lvl9pPr>
          </a:lstStyle>
          <a:p>
            <a:endParaRPr/>
          </a:p>
        </p:txBody>
      </p:sp>
      <p:pic>
        <p:nvPicPr>
          <p:cNvPr id="14" name="Google Shape;14;p2"/>
          <p:cNvPicPr preferRelativeResize="0"/>
          <p:nvPr/>
        </p:nvPicPr>
        <p:blipFill>
          <a:blip r:embed="rId2">
            <a:alphaModFix/>
          </a:blip>
          <a:stretch>
            <a:fillRect/>
          </a:stretch>
        </p:blipFill>
        <p:spPr>
          <a:xfrm>
            <a:off x="164592" y="4523578"/>
            <a:ext cx="1329394" cy="457200"/>
          </a:xfrm>
          <a:prstGeom prst="rect">
            <a:avLst/>
          </a:prstGeom>
          <a:noFill/>
          <a:ln>
            <a:noFill/>
          </a:ln>
        </p:spPr>
      </p:pic>
      <p:sp>
        <p:nvSpPr>
          <p:cNvPr id="16" name="Google Shape;16;p2"/>
          <p:cNvSpPr txBox="1"/>
          <p:nvPr/>
        </p:nvSpPr>
        <p:spPr>
          <a:xfrm>
            <a:off x="1846250" y="4412100"/>
            <a:ext cx="6527400" cy="598800"/>
          </a:xfrm>
          <a:prstGeom prst="rect">
            <a:avLst/>
          </a:prstGeom>
          <a:noFill/>
          <a:ln>
            <a:noFill/>
          </a:ln>
        </p:spPr>
        <p:txBody>
          <a:bodyPr spcFirstLastPara="1" wrap="square" lIns="91425" tIns="91425" rIns="91425" bIns="91425"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 sz="700" b="1" dirty="0">
                <a:solidFill>
                  <a:srgbClr val="999999"/>
                </a:solidFill>
                <a:latin typeface="Helvetica Neue"/>
                <a:ea typeface="Helvetica Neue"/>
                <a:cs typeface="Helvetica Neue"/>
                <a:sym typeface="Helvetica Neue"/>
              </a:rPr>
              <a:t>Project Brief &amp; Assessment Assignment : </a:t>
            </a:r>
            <a:r>
              <a:rPr lang="en" sz="700" b="1" dirty="0">
                <a:latin typeface="Helvetica Neue"/>
                <a:ea typeface="Helvetica Neue"/>
                <a:cs typeface="Helvetica Neue"/>
                <a:sym typeface="Helvetica Neue"/>
              </a:rPr>
              <a:t>In Microsoft Team </a:t>
            </a:r>
            <a:r>
              <a:rPr kumimoji="0" lang="en-US" altLang="en-US" sz="700" b="1" i="0" u="none" strike="noStrike" cap="none" normalizeH="0" baseline="0" dirty="0">
                <a:ln>
                  <a:noFill/>
                </a:ln>
                <a:solidFill>
                  <a:srgbClr val="242424"/>
                </a:solidFill>
                <a:effectLst/>
                <a:latin typeface="Segoe UI" panose="020B0502040204020203" pitchFamily="34" charset="0"/>
                <a:cs typeface="Segoe UI" panose="020B0502040204020203" pitchFamily="34" charset="0"/>
              </a:rPr>
              <a:t>FAI2.P1-01  Project 2A</a:t>
            </a:r>
            <a:endParaRPr sz="700" b="1" dirty="0">
              <a:latin typeface="Helvetica Neue"/>
              <a:ea typeface="Helvetica Neue"/>
              <a:cs typeface="Helvetica Neue"/>
              <a:sym typeface="Helvetica Neue"/>
            </a:endParaRPr>
          </a:p>
          <a:p>
            <a:pPr marL="0" lvl="0" indent="0" algn="l" rtl="0">
              <a:spcBef>
                <a:spcPts val="0"/>
              </a:spcBef>
              <a:spcAft>
                <a:spcPts val="0"/>
              </a:spcAft>
              <a:buNone/>
            </a:pPr>
            <a:endParaRPr dirty="0">
              <a:latin typeface="Roboto"/>
              <a:ea typeface="Roboto"/>
              <a:cs typeface="Roboto"/>
              <a:sym typeface="Roboto"/>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p:cSld name="CUSTOM_1_2">
    <p:bg>
      <p:bgPr>
        <a:solidFill>
          <a:srgbClr val="666666"/>
        </a:solidFill>
        <a:effectLst/>
      </p:bgPr>
    </p:bg>
    <p:spTree>
      <p:nvGrpSpPr>
        <p:cNvPr id="1" name="Shape 17"/>
        <p:cNvGrpSpPr/>
        <p:nvPr/>
      </p:nvGrpSpPr>
      <p:grpSpPr>
        <a:xfrm>
          <a:off x="0" y="0"/>
          <a:ext cx="0" cy="0"/>
          <a:chOff x="0" y="0"/>
          <a:chExt cx="0" cy="0"/>
        </a:xfrm>
      </p:grpSpPr>
      <p:sp>
        <p:nvSpPr>
          <p:cNvPr id="18" name="Google Shape;18;p3"/>
          <p:cNvSpPr txBox="1">
            <a:spLocks noGrp="1"/>
          </p:cNvSpPr>
          <p:nvPr>
            <p:ph type="ctrTitle"/>
          </p:nvPr>
        </p:nvSpPr>
        <p:spPr>
          <a:xfrm>
            <a:off x="1828800" y="1453896"/>
            <a:ext cx="7315200" cy="1501800"/>
          </a:xfrm>
          <a:prstGeom prst="rect">
            <a:avLst/>
          </a:prstGeom>
        </p:spPr>
        <p:txBody>
          <a:bodyPr spcFirstLastPara="1" wrap="square" lIns="91425" tIns="91425" rIns="91425" bIns="91425" anchor="ctr" anchorCtr="0">
            <a:noAutofit/>
          </a:bodyPr>
          <a:lstStyle>
            <a:lvl1pPr lvl="0" algn="ctr" rtl="0">
              <a:spcBef>
                <a:spcPts val="0"/>
              </a:spcBef>
              <a:spcAft>
                <a:spcPts val="0"/>
              </a:spcAft>
              <a:buClr>
                <a:srgbClr val="FFFFFF"/>
              </a:buClr>
              <a:buSzPts val="6000"/>
              <a:buFont typeface="Roboto Thin"/>
              <a:buNone/>
              <a:defRPr sz="6000" b="0">
                <a:solidFill>
                  <a:srgbClr val="FFFFFF"/>
                </a:solidFill>
                <a:latin typeface="Roboto Thin"/>
                <a:ea typeface="Roboto Thin"/>
                <a:cs typeface="Roboto Thin"/>
                <a:sym typeface="Roboto Thin"/>
              </a:defRPr>
            </a:lvl1pPr>
            <a:lvl2pPr lvl="1" algn="ctr" rtl="0">
              <a:spcBef>
                <a:spcPts val="0"/>
              </a:spcBef>
              <a:spcAft>
                <a:spcPts val="0"/>
              </a:spcAft>
              <a:buClr>
                <a:srgbClr val="FFFFFF"/>
              </a:buClr>
              <a:buSzPts val="3600"/>
              <a:buNone/>
              <a:defRPr sz="3600">
                <a:solidFill>
                  <a:srgbClr val="FFFFFF"/>
                </a:solidFill>
              </a:defRPr>
            </a:lvl2pPr>
            <a:lvl3pPr lvl="2" algn="ctr" rtl="0">
              <a:spcBef>
                <a:spcPts val="0"/>
              </a:spcBef>
              <a:spcAft>
                <a:spcPts val="0"/>
              </a:spcAft>
              <a:buClr>
                <a:srgbClr val="FFFFFF"/>
              </a:buClr>
              <a:buSzPts val="3600"/>
              <a:buNone/>
              <a:defRPr sz="3600">
                <a:solidFill>
                  <a:srgbClr val="FFFFFF"/>
                </a:solidFill>
              </a:defRPr>
            </a:lvl3pPr>
            <a:lvl4pPr lvl="3" algn="ctr" rtl="0">
              <a:spcBef>
                <a:spcPts val="0"/>
              </a:spcBef>
              <a:spcAft>
                <a:spcPts val="0"/>
              </a:spcAft>
              <a:buClr>
                <a:srgbClr val="FFFFFF"/>
              </a:buClr>
              <a:buSzPts val="3600"/>
              <a:buNone/>
              <a:defRPr sz="3600">
                <a:solidFill>
                  <a:srgbClr val="FFFFFF"/>
                </a:solidFill>
              </a:defRPr>
            </a:lvl4pPr>
            <a:lvl5pPr lvl="4" algn="ctr" rtl="0">
              <a:spcBef>
                <a:spcPts val="0"/>
              </a:spcBef>
              <a:spcAft>
                <a:spcPts val="0"/>
              </a:spcAft>
              <a:buClr>
                <a:srgbClr val="FFFFFF"/>
              </a:buClr>
              <a:buSzPts val="3600"/>
              <a:buNone/>
              <a:defRPr sz="3600">
                <a:solidFill>
                  <a:srgbClr val="FFFFFF"/>
                </a:solidFill>
              </a:defRPr>
            </a:lvl5pPr>
            <a:lvl6pPr lvl="5" algn="ctr" rtl="0">
              <a:spcBef>
                <a:spcPts val="0"/>
              </a:spcBef>
              <a:spcAft>
                <a:spcPts val="0"/>
              </a:spcAft>
              <a:buClr>
                <a:srgbClr val="FFFFFF"/>
              </a:buClr>
              <a:buSzPts val="3600"/>
              <a:buNone/>
              <a:defRPr sz="3600">
                <a:solidFill>
                  <a:srgbClr val="FFFFFF"/>
                </a:solidFill>
              </a:defRPr>
            </a:lvl6pPr>
            <a:lvl7pPr lvl="6" algn="ctr" rtl="0">
              <a:spcBef>
                <a:spcPts val="0"/>
              </a:spcBef>
              <a:spcAft>
                <a:spcPts val="0"/>
              </a:spcAft>
              <a:buClr>
                <a:srgbClr val="FFFFFF"/>
              </a:buClr>
              <a:buSzPts val="3600"/>
              <a:buNone/>
              <a:defRPr sz="3600">
                <a:solidFill>
                  <a:srgbClr val="FFFFFF"/>
                </a:solidFill>
              </a:defRPr>
            </a:lvl7pPr>
            <a:lvl8pPr lvl="7" algn="ctr" rtl="0">
              <a:spcBef>
                <a:spcPts val="0"/>
              </a:spcBef>
              <a:spcAft>
                <a:spcPts val="0"/>
              </a:spcAft>
              <a:buClr>
                <a:srgbClr val="FFFFFF"/>
              </a:buClr>
              <a:buSzPts val="3600"/>
              <a:buNone/>
              <a:defRPr sz="3600">
                <a:solidFill>
                  <a:srgbClr val="FFFFFF"/>
                </a:solidFill>
              </a:defRPr>
            </a:lvl8pPr>
            <a:lvl9pPr lvl="8" algn="ctr" rtl="0">
              <a:spcBef>
                <a:spcPts val="0"/>
              </a:spcBef>
              <a:spcAft>
                <a:spcPts val="0"/>
              </a:spcAft>
              <a:buClr>
                <a:srgbClr val="FFFFFF"/>
              </a:buClr>
              <a:buSzPts val="3600"/>
              <a:buNone/>
              <a:defRPr sz="3600">
                <a:solidFill>
                  <a:srgbClr val="FFFFFF"/>
                </a:solidFill>
              </a:defRPr>
            </a:lvl9pPr>
          </a:lstStyle>
          <a:p>
            <a:endParaRPr/>
          </a:p>
        </p:txBody>
      </p:sp>
      <p:sp>
        <p:nvSpPr>
          <p:cNvPr id="19" name="Google Shape;19;p3"/>
          <p:cNvSpPr txBox="1">
            <a:spLocks noGrp="1"/>
          </p:cNvSpPr>
          <p:nvPr>
            <p:ph type="subTitle" idx="1"/>
          </p:nvPr>
        </p:nvSpPr>
        <p:spPr>
          <a:xfrm>
            <a:off x="1828800" y="2953512"/>
            <a:ext cx="7315200" cy="685800"/>
          </a:xfrm>
          <a:prstGeom prst="rect">
            <a:avLst/>
          </a:prstGeom>
        </p:spPr>
        <p:txBody>
          <a:bodyPr spcFirstLastPara="1" wrap="square" lIns="91425" tIns="91425" rIns="91425" bIns="91425" anchor="ctr" anchorCtr="0">
            <a:noAutofit/>
          </a:bodyPr>
          <a:lstStyle>
            <a:lvl1pPr lvl="0" algn="ctr" rtl="0">
              <a:lnSpc>
                <a:spcPct val="100000"/>
              </a:lnSpc>
              <a:spcBef>
                <a:spcPts val="0"/>
              </a:spcBef>
              <a:spcAft>
                <a:spcPts val="0"/>
              </a:spcAft>
              <a:buClr>
                <a:srgbClr val="FFFFFF"/>
              </a:buClr>
              <a:buSzPts val="3000"/>
              <a:buFont typeface="Roboto Thin"/>
              <a:buNone/>
              <a:defRPr sz="3000">
                <a:solidFill>
                  <a:srgbClr val="FFFFFF"/>
                </a:solidFill>
                <a:latin typeface="Roboto Thin"/>
                <a:ea typeface="Roboto Thin"/>
                <a:cs typeface="Roboto Thin"/>
                <a:sym typeface="Roboto Thin"/>
              </a:defRPr>
            </a:lvl1pPr>
            <a:lvl2pPr lvl="1" algn="ctr" rtl="0">
              <a:lnSpc>
                <a:spcPct val="100000"/>
              </a:lnSpc>
              <a:spcBef>
                <a:spcPts val="0"/>
              </a:spcBef>
              <a:spcAft>
                <a:spcPts val="0"/>
              </a:spcAft>
              <a:buClr>
                <a:srgbClr val="FFFFFF"/>
              </a:buClr>
              <a:buSzPts val="3000"/>
              <a:buFont typeface="Roboto Thin"/>
              <a:buNone/>
              <a:defRPr sz="3000">
                <a:solidFill>
                  <a:srgbClr val="FFFFFF"/>
                </a:solidFill>
                <a:latin typeface="Roboto Thin"/>
                <a:ea typeface="Roboto Thin"/>
                <a:cs typeface="Roboto Thin"/>
                <a:sym typeface="Roboto Thin"/>
              </a:defRPr>
            </a:lvl2pPr>
            <a:lvl3pPr lvl="2" algn="ctr" rtl="0">
              <a:lnSpc>
                <a:spcPct val="100000"/>
              </a:lnSpc>
              <a:spcBef>
                <a:spcPts val="0"/>
              </a:spcBef>
              <a:spcAft>
                <a:spcPts val="0"/>
              </a:spcAft>
              <a:buClr>
                <a:srgbClr val="FFFFFF"/>
              </a:buClr>
              <a:buSzPts val="3000"/>
              <a:buFont typeface="Roboto Thin"/>
              <a:buNone/>
              <a:defRPr sz="3000">
                <a:solidFill>
                  <a:srgbClr val="FFFFFF"/>
                </a:solidFill>
                <a:latin typeface="Roboto Thin"/>
                <a:ea typeface="Roboto Thin"/>
                <a:cs typeface="Roboto Thin"/>
                <a:sym typeface="Roboto Thin"/>
              </a:defRPr>
            </a:lvl3pPr>
            <a:lvl4pPr lvl="3" algn="ctr" rtl="0">
              <a:lnSpc>
                <a:spcPct val="100000"/>
              </a:lnSpc>
              <a:spcBef>
                <a:spcPts val="0"/>
              </a:spcBef>
              <a:spcAft>
                <a:spcPts val="0"/>
              </a:spcAft>
              <a:buClr>
                <a:srgbClr val="FFFFFF"/>
              </a:buClr>
              <a:buSzPts val="3000"/>
              <a:buFont typeface="Roboto Thin"/>
              <a:buNone/>
              <a:defRPr sz="3000">
                <a:solidFill>
                  <a:srgbClr val="FFFFFF"/>
                </a:solidFill>
                <a:latin typeface="Roboto Thin"/>
                <a:ea typeface="Roboto Thin"/>
                <a:cs typeface="Roboto Thin"/>
                <a:sym typeface="Roboto Thin"/>
              </a:defRPr>
            </a:lvl4pPr>
            <a:lvl5pPr lvl="4" algn="ctr" rtl="0">
              <a:lnSpc>
                <a:spcPct val="100000"/>
              </a:lnSpc>
              <a:spcBef>
                <a:spcPts val="0"/>
              </a:spcBef>
              <a:spcAft>
                <a:spcPts val="0"/>
              </a:spcAft>
              <a:buClr>
                <a:srgbClr val="FFFFFF"/>
              </a:buClr>
              <a:buSzPts val="3000"/>
              <a:buFont typeface="Roboto Thin"/>
              <a:buNone/>
              <a:defRPr sz="3000">
                <a:solidFill>
                  <a:srgbClr val="FFFFFF"/>
                </a:solidFill>
                <a:latin typeface="Roboto Thin"/>
                <a:ea typeface="Roboto Thin"/>
                <a:cs typeface="Roboto Thin"/>
                <a:sym typeface="Roboto Thin"/>
              </a:defRPr>
            </a:lvl5pPr>
            <a:lvl6pPr lvl="5" algn="ctr" rtl="0">
              <a:lnSpc>
                <a:spcPct val="100000"/>
              </a:lnSpc>
              <a:spcBef>
                <a:spcPts val="0"/>
              </a:spcBef>
              <a:spcAft>
                <a:spcPts val="0"/>
              </a:spcAft>
              <a:buClr>
                <a:srgbClr val="FFFFFF"/>
              </a:buClr>
              <a:buSzPts val="3000"/>
              <a:buFont typeface="Roboto Thin"/>
              <a:buNone/>
              <a:defRPr sz="3000">
                <a:solidFill>
                  <a:srgbClr val="FFFFFF"/>
                </a:solidFill>
                <a:latin typeface="Roboto Thin"/>
                <a:ea typeface="Roboto Thin"/>
                <a:cs typeface="Roboto Thin"/>
                <a:sym typeface="Roboto Thin"/>
              </a:defRPr>
            </a:lvl6pPr>
            <a:lvl7pPr lvl="6" algn="ctr" rtl="0">
              <a:lnSpc>
                <a:spcPct val="100000"/>
              </a:lnSpc>
              <a:spcBef>
                <a:spcPts val="0"/>
              </a:spcBef>
              <a:spcAft>
                <a:spcPts val="0"/>
              </a:spcAft>
              <a:buClr>
                <a:srgbClr val="FFFFFF"/>
              </a:buClr>
              <a:buSzPts val="3000"/>
              <a:buFont typeface="Roboto Thin"/>
              <a:buNone/>
              <a:defRPr sz="3000">
                <a:solidFill>
                  <a:srgbClr val="FFFFFF"/>
                </a:solidFill>
                <a:latin typeface="Roboto Thin"/>
                <a:ea typeface="Roboto Thin"/>
                <a:cs typeface="Roboto Thin"/>
                <a:sym typeface="Roboto Thin"/>
              </a:defRPr>
            </a:lvl7pPr>
            <a:lvl8pPr lvl="7" algn="ctr" rtl="0">
              <a:lnSpc>
                <a:spcPct val="100000"/>
              </a:lnSpc>
              <a:spcBef>
                <a:spcPts val="0"/>
              </a:spcBef>
              <a:spcAft>
                <a:spcPts val="0"/>
              </a:spcAft>
              <a:buClr>
                <a:srgbClr val="FFFFFF"/>
              </a:buClr>
              <a:buSzPts val="3000"/>
              <a:buFont typeface="Roboto Thin"/>
              <a:buNone/>
              <a:defRPr sz="3000">
                <a:solidFill>
                  <a:srgbClr val="FFFFFF"/>
                </a:solidFill>
                <a:latin typeface="Roboto Thin"/>
                <a:ea typeface="Roboto Thin"/>
                <a:cs typeface="Roboto Thin"/>
                <a:sym typeface="Roboto Thin"/>
              </a:defRPr>
            </a:lvl8pPr>
            <a:lvl9pPr lvl="8" algn="ctr" rtl="0">
              <a:lnSpc>
                <a:spcPct val="100000"/>
              </a:lnSpc>
              <a:spcBef>
                <a:spcPts val="0"/>
              </a:spcBef>
              <a:spcAft>
                <a:spcPts val="0"/>
              </a:spcAft>
              <a:buClr>
                <a:srgbClr val="FFFFFF"/>
              </a:buClr>
              <a:buSzPts val="3000"/>
              <a:buFont typeface="Roboto Thin"/>
              <a:buNone/>
              <a:defRPr sz="3000">
                <a:solidFill>
                  <a:srgbClr val="FFFFFF"/>
                </a:solidFill>
                <a:latin typeface="Roboto Thin"/>
                <a:ea typeface="Roboto Thin"/>
                <a:cs typeface="Roboto Thin"/>
                <a:sym typeface="Roboto Thin"/>
              </a:defRPr>
            </a:lvl9pPr>
          </a:lstStyle>
          <a:p>
            <a:endParaRPr/>
          </a:p>
        </p:txBody>
      </p:sp>
      <p:sp>
        <p:nvSpPr>
          <p:cNvPr id="2" name="Rectangle 1">
            <a:extLst>
              <a:ext uri="{FF2B5EF4-FFF2-40B4-BE49-F238E27FC236}">
                <a16:creationId xmlns:a16="http://schemas.microsoft.com/office/drawing/2014/main" id="{ED2E902F-3793-054A-A49F-5F75EC799503}"/>
              </a:ext>
            </a:extLst>
          </p:cNvPr>
          <p:cNvSpPr/>
          <p:nvPr userDrawn="1"/>
        </p:nvSpPr>
        <p:spPr>
          <a:xfrm>
            <a:off x="0" y="4393870"/>
            <a:ext cx="9144000" cy="74963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0" name="Google Shape;20;p3"/>
          <p:cNvPicPr preferRelativeResize="0"/>
          <p:nvPr/>
        </p:nvPicPr>
        <p:blipFill>
          <a:blip r:embed="rId2">
            <a:alphaModFix/>
          </a:blip>
          <a:stretch>
            <a:fillRect/>
          </a:stretch>
        </p:blipFill>
        <p:spPr>
          <a:xfrm>
            <a:off x="7214616" y="4434840"/>
            <a:ext cx="1691640" cy="582676"/>
          </a:xfrm>
          <a:prstGeom prst="rect">
            <a:avLst/>
          </a:prstGeom>
          <a:noFill/>
          <a:ln>
            <a:noFill/>
          </a:ln>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Section Sub-Header">
  <p:cSld name="CUSTOM_1_2_1">
    <p:bg>
      <p:bgPr>
        <a:solidFill>
          <a:srgbClr val="666666"/>
        </a:solidFill>
        <a:effectLst/>
      </p:bgPr>
    </p:bg>
    <p:spTree>
      <p:nvGrpSpPr>
        <p:cNvPr id="1" name="Shape 21"/>
        <p:cNvGrpSpPr/>
        <p:nvPr/>
      </p:nvGrpSpPr>
      <p:grpSpPr>
        <a:xfrm>
          <a:off x="0" y="0"/>
          <a:ext cx="0" cy="0"/>
          <a:chOff x="0" y="0"/>
          <a:chExt cx="0" cy="0"/>
        </a:xfrm>
      </p:grpSpPr>
      <p:sp>
        <p:nvSpPr>
          <p:cNvPr id="22" name="Google Shape;22;p4"/>
          <p:cNvSpPr txBox="1">
            <a:spLocks noGrp="1"/>
          </p:cNvSpPr>
          <p:nvPr>
            <p:ph type="ctrTitle"/>
          </p:nvPr>
        </p:nvSpPr>
        <p:spPr>
          <a:xfrm>
            <a:off x="2286000" y="1104139"/>
            <a:ext cx="6400800" cy="15018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6000"/>
              <a:buFont typeface="Roboto Thin"/>
              <a:buNone/>
              <a:defRPr sz="6000" b="0">
                <a:latin typeface="Roboto Thin"/>
                <a:ea typeface="Roboto Thin"/>
                <a:cs typeface="Roboto Thin"/>
                <a:sym typeface="Roboto Thin"/>
              </a:defRPr>
            </a:lvl1pPr>
            <a:lvl2pPr lvl="1" algn="ctr" rtl="0">
              <a:spcBef>
                <a:spcPts val="0"/>
              </a:spcBef>
              <a:spcAft>
                <a:spcPts val="0"/>
              </a:spcAft>
              <a:buClr>
                <a:srgbClr val="434343"/>
              </a:buClr>
              <a:buSzPts val="3600"/>
              <a:buNone/>
              <a:defRPr sz="3600">
                <a:solidFill>
                  <a:srgbClr val="434343"/>
                </a:solidFill>
              </a:defRPr>
            </a:lvl2pPr>
            <a:lvl3pPr lvl="2" algn="ctr" rtl="0">
              <a:spcBef>
                <a:spcPts val="0"/>
              </a:spcBef>
              <a:spcAft>
                <a:spcPts val="0"/>
              </a:spcAft>
              <a:buClr>
                <a:srgbClr val="434343"/>
              </a:buClr>
              <a:buSzPts val="3600"/>
              <a:buNone/>
              <a:defRPr sz="3600">
                <a:solidFill>
                  <a:srgbClr val="434343"/>
                </a:solidFill>
              </a:defRPr>
            </a:lvl3pPr>
            <a:lvl4pPr lvl="3" algn="ctr" rtl="0">
              <a:spcBef>
                <a:spcPts val="0"/>
              </a:spcBef>
              <a:spcAft>
                <a:spcPts val="0"/>
              </a:spcAft>
              <a:buClr>
                <a:srgbClr val="434343"/>
              </a:buClr>
              <a:buSzPts val="3600"/>
              <a:buNone/>
              <a:defRPr sz="3600">
                <a:solidFill>
                  <a:srgbClr val="434343"/>
                </a:solidFill>
              </a:defRPr>
            </a:lvl4pPr>
            <a:lvl5pPr lvl="4" algn="ctr" rtl="0">
              <a:spcBef>
                <a:spcPts val="0"/>
              </a:spcBef>
              <a:spcAft>
                <a:spcPts val="0"/>
              </a:spcAft>
              <a:buClr>
                <a:srgbClr val="434343"/>
              </a:buClr>
              <a:buSzPts val="3600"/>
              <a:buNone/>
              <a:defRPr sz="3600">
                <a:solidFill>
                  <a:srgbClr val="434343"/>
                </a:solidFill>
              </a:defRPr>
            </a:lvl5pPr>
            <a:lvl6pPr lvl="5" algn="ctr" rtl="0">
              <a:spcBef>
                <a:spcPts val="0"/>
              </a:spcBef>
              <a:spcAft>
                <a:spcPts val="0"/>
              </a:spcAft>
              <a:buClr>
                <a:srgbClr val="434343"/>
              </a:buClr>
              <a:buSzPts val="3600"/>
              <a:buNone/>
              <a:defRPr sz="3600">
                <a:solidFill>
                  <a:srgbClr val="434343"/>
                </a:solidFill>
              </a:defRPr>
            </a:lvl6pPr>
            <a:lvl7pPr lvl="6" algn="ctr" rtl="0">
              <a:spcBef>
                <a:spcPts val="0"/>
              </a:spcBef>
              <a:spcAft>
                <a:spcPts val="0"/>
              </a:spcAft>
              <a:buClr>
                <a:srgbClr val="434343"/>
              </a:buClr>
              <a:buSzPts val="3600"/>
              <a:buNone/>
              <a:defRPr sz="3600">
                <a:solidFill>
                  <a:srgbClr val="434343"/>
                </a:solidFill>
              </a:defRPr>
            </a:lvl7pPr>
            <a:lvl8pPr lvl="7" algn="ctr" rtl="0">
              <a:spcBef>
                <a:spcPts val="0"/>
              </a:spcBef>
              <a:spcAft>
                <a:spcPts val="0"/>
              </a:spcAft>
              <a:buClr>
                <a:srgbClr val="434343"/>
              </a:buClr>
              <a:buSzPts val="3600"/>
              <a:buNone/>
              <a:defRPr sz="3600">
                <a:solidFill>
                  <a:srgbClr val="434343"/>
                </a:solidFill>
              </a:defRPr>
            </a:lvl8pPr>
            <a:lvl9pPr lvl="8" algn="ctr" rtl="0">
              <a:spcBef>
                <a:spcPts val="0"/>
              </a:spcBef>
              <a:spcAft>
                <a:spcPts val="0"/>
              </a:spcAft>
              <a:buClr>
                <a:srgbClr val="434343"/>
              </a:buClr>
              <a:buSzPts val="3600"/>
              <a:buNone/>
              <a:defRPr sz="3600">
                <a:solidFill>
                  <a:srgbClr val="434343"/>
                </a:solidFill>
              </a:defRPr>
            </a:lvl9pPr>
          </a:lstStyle>
          <a:p>
            <a:endParaRPr/>
          </a:p>
        </p:txBody>
      </p:sp>
      <p:sp>
        <p:nvSpPr>
          <p:cNvPr id="23" name="Google Shape;23;p4"/>
          <p:cNvSpPr txBox="1">
            <a:spLocks noGrp="1"/>
          </p:cNvSpPr>
          <p:nvPr>
            <p:ph type="subTitle" idx="1"/>
          </p:nvPr>
        </p:nvSpPr>
        <p:spPr>
          <a:xfrm>
            <a:off x="2286000" y="2503171"/>
            <a:ext cx="6400800" cy="685800"/>
          </a:xfrm>
          <a:prstGeom prst="rect">
            <a:avLst/>
          </a:prstGeom>
        </p:spPr>
        <p:txBody>
          <a:bodyPr spcFirstLastPara="1" wrap="square" lIns="91425" tIns="91425" rIns="91425" bIns="91425" anchor="ctr" anchorCtr="0">
            <a:noAutofit/>
          </a:bodyPr>
          <a:lstStyle>
            <a:lvl1pPr lvl="0" algn="ctr" rtl="0">
              <a:lnSpc>
                <a:spcPct val="100000"/>
              </a:lnSpc>
              <a:spcBef>
                <a:spcPts val="0"/>
              </a:spcBef>
              <a:spcAft>
                <a:spcPts val="0"/>
              </a:spcAft>
              <a:buSzPts val="3000"/>
              <a:buFont typeface="Roboto Thin"/>
              <a:buNone/>
              <a:defRPr sz="3000">
                <a:latin typeface="Roboto Thin"/>
                <a:ea typeface="Roboto Thin"/>
                <a:cs typeface="Roboto Thin"/>
                <a:sym typeface="Roboto Thin"/>
              </a:defRPr>
            </a:lvl1pPr>
            <a:lvl2pPr lvl="1" algn="ctr" rtl="0">
              <a:lnSpc>
                <a:spcPct val="100000"/>
              </a:lnSpc>
              <a:spcBef>
                <a:spcPts val="0"/>
              </a:spcBef>
              <a:spcAft>
                <a:spcPts val="0"/>
              </a:spcAft>
              <a:buSzPts val="3000"/>
              <a:buFont typeface="Roboto Thin"/>
              <a:buNone/>
              <a:defRPr sz="3000">
                <a:latin typeface="Roboto Thin"/>
                <a:ea typeface="Roboto Thin"/>
                <a:cs typeface="Roboto Thin"/>
                <a:sym typeface="Roboto Thin"/>
              </a:defRPr>
            </a:lvl2pPr>
            <a:lvl3pPr lvl="2" algn="ctr" rtl="0">
              <a:lnSpc>
                <a:spcPct val="100000"/>
              </a:lnSpc>
              <a:spcBef>
                <a:spcPts val="0"/>
              </a:spcBef>
              <a:spcAft>
                <a:spcPts val="0"/>
              </a:spcAft>
              <a:buSzPts val="3000"/>
              <a:buFont typeface="Roboto Thin"/>
              <a:buNone/>
              <a:defRPr sz="3000">
                <a:latin typeface="Roboto Thin"/>
                <a:ea typeface="Roboto Thin"/>
                <a:cs typeface="Roboto Thin"/>
                <a:sym typeface="Roboto Thin"/>
              </a:defRPr>
            </a:lvl3pPr>
            <a:lvl4pPr lvl="3" algn="ctr" rtl="0">
              <a:lnSpc>
                <a:spcPct val="100000"/>
              </a:lnSpc>
              <a:spcBef>
                <a:spcPts val="0"/>
              </a:spcBef>
              <a:spcAft>
                <a:spcPts val="0"/>
              </a:spcAft>
              <a:buSzPts val="3000"/>
              <a:buFont typeface="Roboto Thin"/>
              <a:buNone/>
              <a:defRPr sz="3000">
                <a:latin typeface="Roboto Thin"/>
                <a:ea typeface="Roboto Thin"/>
                <a:cs typeface="Roboto Thin"/>
                <a:sym typeface="Roboto Thin"/>
              </a:defRPr>
            </a:lvl4pPr>
            <a:lvl5pPr lvl="4" algn="ctr" rtl="0">
              <a:lnSpc>
                <a:spcPct val="100000"/>
              </a:lnSpc>
              <a:spcBef>
                <a:spcPts val="0"/>
              </a:spcBef>
              <a:spcAft>
                <a:spcPts val="0"/>
              </a:spcAft>
              <a:buSzPts val="3000"/>
              <a:buFont typeface="Roboto Thin"/>
              <a:buNone/>
              <a:defRPr sz="3000">
                <a:latin typeface="Roboto Thin"/>
                <a:ea typeface="Roboto Thin"/>
                <a:cs typeface="Roboto Thin"/>
                <a:sym typeface="Roboto Thin"/>
              </a:defRPr>
            </a:lvl5pPr>
            <a:lvl6pPr lvl="5" algn="ctr" rtl="0">
              <a:lnSpc>
                <a:spcPct val="100000"/>
              </a:lnSpc>
              <a:spcBef>
                <a:spcPts val="0"/>
              </a:spcBef>
              <a:spcAft>
                <a:spcPts val="0"/>
              </a:spcAft>
              <a:buSzPts val="3000"/>
              <a:buFont typeface="Roboto Thin"/>
              <a:buNone/>
              <a:defRPr sz="3000">
                <a:latin typeface="Roboto Thin"/>
                <a:ea typeface="Roboto Thin"/>
                <a:cs typeface="Roboto Thin"/>
                <a:sym typeface="Roboto Thin"/>
              </a:defRPr>
            </a:lvl6pPr>
            <a:lvl7pPr lvl="6" algn="ctr" rtl="0">
              <a:lnSpc>
                <a:spcPct val="100000"/>
              </a:lnSpc>
              <a:spcBef>
                <a:spcPts val="0"/>
              </a:spcBef>
              <a:spcAft>
                <a:spcPts val="0"/>
              </a:spcAft>
              <a:buSzPts val="3000"/>
              <a:buFont typeface="Roboto Thin"/>
              <a:buNone/>
              <a:defRPr sz="3000">
                <a:latin typeface="Roboto Thin"/>
                <a:ea typeface="Roboto Thin"/>
                <a:cs typeface="Roboto Thin"/>
                <a:sym typeface="Roboto Thin"/>
              </a:defRPr>
            </a:lvl7pPr>
            <a:lvl8pPr lvl="7" algn="ctr" rtl="0">
              <a:lnSpc>
                <a:spcPct val="100000"/>
              </a:lnSpc>
              <a:spcBef>
                <a:spcPts val="0"/>
              </a:spcBef>
              <a:spcAft>
                <a:spcPts val="0"/>
              </a:spcAft>
              <a:buSzPts val="3000"/>
              <a:buFont typeface="Roboto Thin"/>
              <a:buNone/>
              <a:defRPr sz="3000">
                <a:latin typeface="Roboto Thin"/>
                <a:ea typeface="Roboto Thin"/>
                <a:cs typeface="Roboto Thin"/>
                <a:sym typeface="Roboto Thin"/>
              </a:defRPr>
            </a:lvl8pPr>
            <a:lvl9pPr lvl="8" algn="ctr" rtl="0">
              <a:lnSpc>
                <a:spcPct val="100000"/>
              </a:lnSpc>
              <a:spcBef>
                <a:spcPts val="0"/>
              </a:spcBef>
              <a:spcAft>
                <a:spcPts val="0"/>
              </a:spcAft>
              <a:buSzPts val="3000"/>
              <a:buFont typeface="Roboto Thin"/>
              <a:buNone/>
              <a:defRPr sz="3000">
                <a:latin typeface="Roboto Thin"/>
                <a:ea typeface="Roboto Thin"/>
                <a:cs typeface="Roboto Thin"/>
                <a:sym typeface="Roboto Thin"/>
              </a:defRPr>
            </a:lvl9pPr>
          </a:lstStyle>
          <a:p>
            <a:endParaRPr/>
          </a:p>
        </p:txBody>
      </p:sp>
      <p:sp>
        <p:nvSpPr>
          <p:cNvPr id="24" name="Google Shape;24;p4"/>
          <p:cNvSpPr txBox="1">
            <a:spLocks noGrp="1"/>
          </p:cNvSpPr>
          <p:nvPr>
            <p:ph type="subTitle" idx="2"/>
          </p:nvPr>
        </p:nvSpPr>
        <p:spPr>
          <a:xfrm>
            <a:off x="3200400" y="3353563"/>
            <a:ext cx="5486400" cy="685800"/>
          </a:xfrm>
          <a:prstGeom prst="rect">
            <a:avLst/>
          </a:prstGeom>
        </p:spPr>
        <p:txBody>
          <a:bodyPr spcFirstLastPara="1" wrap="square" lIns="91425" tIns="91425" rIns="91425" bIns="91425" anchor="ctr" anchorCtr="0">
            <a:noAutofit/>
          </a:bodyPr>
          <a:lstStyle>
            <a:lvl1pPr lvl="0" algn="r" rtl="0">
              <a:lnSpc>
                <a:spcPct val="100000"/>
              </a:lnSpc>
              <a:spcBef>
                <a:spcPts val="0"/>
              </a:spcBef>
              <a:spcAft>
                <a:spcPts val="0"/>
              </a:spcAft>
              <a:buSzPts val="1000"/>
              <a:buFont typeface="Roboto Light"/>
              <a:buNone/>
              <a:defRPr>
                <a:latin typeface="Roboto Light"/>
                <a:ea typeface="Roboto Light"/>
                <a:cs typeface="Roboto Light"/>
                <a:sym typeface="Roboto Light"/>
              </a:defRPr>
            </a:lvl1pPr>
            <a:lvl2pPr lvl="1" algn="r" rtl="0">
              <a:lnSpc>
                <a:spcPct val="100000"/>
              </a:lnSpc>
              <a:spcBef>
                <a:spcPts val="0"/>
              </a:spcBef>
              <a:spcAft>
                <a:spcPts val="0"/>
              </a:spcAft>
              <a:buSzPts val="3000"/>
              <a:buFont typeface="Roboto Thin"/>
              <a:buNone/>
              <a:defRPr sz="3000">
                <a:latin typeface="Roboto Thin"/>
                <a:ea typeface="Roboto Thin"/>
                <a:cs typeface="Roboto Thin"/>
                <a:sym typeface="Roboto Thin"/>
              </a:defRPr>
            </a:lvl2pPr>
            <a:lvl3pPr lvl="2" algn="r" rtl="0">
              <a:lnSpc>
                <a:spcPct val="100000"/>
              </a:lnSpc>
              <a:spcBef>
                <a:spcPts val="0"/>
              </a:spcBef>
              <a:spcAft>
                <a:spcPts val="0"/>
              </a:spcAft>
              <a:buSzPts val="3000"/>
              <a:buFont typeface="Roboto Thin"/>
              <a:buNone/>
              <a:defRPr sz="3000">
                <a:latin typeface="Roboto Thin"/>
                <a:ea typeface="Roboto Thin"/>
                <a:cs typeface="Roboto Thin"/>
                <a:sym typeface="Roboto Thin"/>
              </a:defRPr>
            </a:lvl3pPr>
            <a:lvl4pPr lvl="3" algn="r" rtl="0">
              <a:lnSpc>
                <a:spcPct val="100000"/>
              </a:lnSpc>
              <a:spcBef>
                <a:spcPts val="0"/>
              </a:spcBef>
              <a:spcAft>
                <a:spcPts val="0"/>
              </a:spcAft>
              <a:buSzPts val="3000"/>
              <a:buFont typeface="Roboto Thin"/>
              <a:buNone/>
              <a:defRPr sz="3000">
                <a:latin typeface="Roboto Thin"/>
                <a:ea typeface="Roboto Thin"/>
                <a:cs typeface="Roboto Thin"/>
                <a:sym typeface="Roboto Thin"/>
              </a:defRPr>
            </a:lvl4pPr>
            <a:lvl5pPr lvl="4" algn="r" rtl="0">
              <a:lnSpc>
                <a:spcPct val="100000"/>
              </a:lnSpc>
              <a:spcBef>
                <a:spcPts val="0"/>
              </a:spcBef>
              <a:spcAft>
                <a:spcPts val="0"/>
              </a:spcAft>
              <a:buSzPts val="3000"/>
              <a:buFont typeface="Roboto Thin"/>
              <a:buNone/>
              <a:defRPr sz="3000">
                <a:latin typeface="Roboto Thin"/>
                <a:ea typeface="Roboto Thin"/>
                <a:cs typeface="Roboto Thin"/>
                <a:sym typeface="Roboto Thin"/>
              </a:defRPr>
            </a:lvl5pPr>
            <a:lvl6pPr lvl="5" algn="r" rtl="0">
              <a:lnSpc>
                <a:spcPct val="100000"/>
              </a:lnSpc>
              <a:spcBef>
                <a:spcPts val="0"/>
              </a:spcBef>
              <a:spcAft>
                <a:spcPts val="0"/>
              </a:spcAft>
              <a:buSzPts val="3000"/>
              <a:buFont typeface="Roboto Thin"/>
              <a:buNone/>
              <a:defRPr sz="3000">
                <a:latin typeface="Roboto Thin"/>
                <a:ea typeface="Roboto Thin"/>
                <a:cs typeface="Roboto Thin"/>
                <a:sym typeface="Roboto Thin"/>
              </a:defRPr>
            </a:lvl6pPr>
            <a:lvl7pPr lvl="6" algn="r" rtl="0">
              <a:lnSpc>
                <a:spcPct val="100000"/>
              </a:lnSpc>
              <a:spcBef>
                <a:spcPts val="0"/>
              </a:spcBef>
              <a:spcAft>
                <a:spcPts val="0"/>
              </a:spcAft>
              <a:buSzPts val="3000"/>
              <a:buFont typeface="Roboto Thin"/>
              <a:buNone/>
              <a:defRPr sz="3000">
                <a:latin typeface="Roboto Thin"/>
                <a:ea typeface="Roboto Thin"/>
                <a:cs typeface="Roboto Thin"/>
                <a:sym typeface="Roboto Thin"/>
              </a:defRPr>
            </a:lvl7pPr>
            <a:lvl8pPr lvl="7" algn="r" rtl="0">
              <a:lnSpc>
                <a:spcPct val="100000"/>
              </a:lnSpc>
              <a:spcBef>
                <a:spcPts val="0"/>
              </a:spcBef>
              <a:spcAft>
                <a:spcPts val="0"/>
              </a:spcAft>
              <a:buSzPts val="3000"/>
              <a:buFont typeface="Roboto Thin"/>
              <a:buNone/>
              <a:defRPr sz="3000">
                <a:latin typeface="Roboto Thin"/>
                <a:ea typeface="Roboto Thin"/>
                <a:cs typeface="Roboto Thin"/>
                <a:sym typeface="Roboto Thin"/>
              </a:defRPr>
            </a:lvl8pPr>
            <a:lvl9pPr lvl="8" algn="r" rtl="0">
              <a:lnSpc>
                <a:spcPct val="100000"/>
              </a:lnSpc>
              <a:spcBef>
                <a:spcPts val="0"/>
              </a:spcBef>
              <a:spcAft>
                <a:spcPts val="0"/>
              </a:spcAft>
              <a:buSzPts val="3000"/>
              <a:buFont typeface="Roboto Thin"/>
              <a:buNone/>
              <a:defRPr sz="3000">
                <a:latin typeface="Roboto Thin"/>
                <a:ea typeface="Roboto Thin"/>
                <a:cs typeface="Roboto Thin"/>
                <a:sym typeface="Roboto Thin"/>
              </a:defRPr>
            </a:lvl9pPr>
          </a:lstStyle>
          <a:p>
            <a:endParaRPr/>
          </a:p>
        </p:txBody>
      </p:sp>
      <p:sp>
        <p:nvSpPr>
          <p:cNvPr id="25" name="Google Shape;25;p4"/>
          <p:cNvSpPr txBox="1"/>
          <p:nvPr/>
        </p:nvSpPr>
        <p:spPr>
          <a:xfrm>
            <a:off x="-420624" y="749808"/>
            <a:ext cx="3383400" cy="51207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endParaRPr sz="40000">
              <a:solidFill>
                <a:srgbClr val="B7B7B7"/>
              </a:solidFill>
              <a:latin typeface="Roboto"/>
              <a:ea typeface="Roboto"/>
              <a:cs typeface="Roboto"/>
              <a:sym typeface="Roboto"/>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Default">
  <p:cSld name="CUSTOM_2_4">
    <p:spTree>
      <p:nvGrpSpPr>
        <p:cNvPr id="1" name="Shape 26"/>
        <p:cNvGrpSpPr/>
        <p:nvPr/>
      </p:nvGrpSpPr>
      <p:grpSpPr>
        <a:xfrm>
          <a:off x="0" y="0"/>
          <a:ext cx="0" cy="0"/>
          <a:chOff x="0" y="0"/>
          <a:chExt cx="0" cy="0"/>
        </a:xfrm>
      </p:grpSpPr>
      <p:sp>
        <p:nvSpPr>
          <p:cNvPr id="27" name="Google Shape;27;p5"/>
          <p:cNvSpPr/>
          <p:nvPr/>
        </p:nvSpPr>
        <p:spPr>
          <a:xfrm>
            <a:off x="0" y="0"/>
            <a:ext cx="9144000" cy="576000"/>
          </a:xfrm>
          <a:prstGeom prst="rect">
            <a:avLst/>
          </a:prstGeom>
          <a:solidFill>
            <a:srgbClr val="EC781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 name="Google Shape;28;p5"/>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a:endParaRPr/>
          </a:p>
        </p:txBody>
      </p:sp>
      <p:sp>
        <p:nvSpPr>
          <p:cNvPr id="29" name="Google Shape;29;p5"/>
          <p:cNvSpPr txBox="1">
            <a:spLocks noGrp="1"/>
          </p:cNvSpPr>
          <p:nvPr>
            <p:ph type="title" idx="2"/>
          </p:nvPr>
        </p:nvSpPr>
        <p:spPr>
          <a:xfrm>
            <a:off x="7068300" y="0"/>
            <a:ext cx="1984200" cy="572700"/>
          </a:xfrm>
          <a:prstGeom prst="rect">
            <a:avLst/>
          </a:prstGeom>
        </p:spPr>
        <p:txBody>
          <a:bodyPr spcFirstLastPara="1" wrap="square" lIns="91425" tIns="91425" rIns="91425" bIns="91425" anchor="b" anchorCtr="0">
            <a:noAutofit/>
          </a:bodyPr>
          <a:lstStyle>
            <a:lvl1pPr lvl="0" algn="r" rtl="0">
              <a:spcBef>
                <a:spcPts val="0"/>
              </a:spcBef>
              <a:spcAft>
                <a:spcPts val="0"/>
              </a:spcAft>
              <a:buNone/>
              <a:defRPr sz="1400"/>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a:endParaRPr/>
          </a:p>
        </p:txBody>
      </p:sp>
      <p:sp>
        <p:nvSpPr>
          <p:cNvPr id="30" name="Google Shape;30;p5"/>
          <p:cNvSpPr txBox="1">
            <a:spLocks noGrp="1"/>
          </p:cNvSpPr>
          <p:nvPr>
            <p:ph type="subTitle" idx="1"/>
          </p:nvPr>
        </p:nvSpPr>
        <p:spPr>
          <a:xfrm>
            <a:off x="182880" y="667512"/>
            <a:ext cx="5486400" cy="402300"/>
          </a:xfrm>
          <a:prstGeom prst="rect">
            <a:avLst/>
          </a:prstGeom>
        </p:spPr>
        <p:txBody>
          <a:bodyPr spcFirstLastPara="1" wrap="square" lIns="91425" tIns="91425" rIns="91425" bIns="91425" anchor="t" anchorCtr="0">
            <a:noAutofit/>
          </a:bodyPr>
          <a:lstStyle>
            <a:lvl1pPr lvl="0" rtl="0">
              <a:spcBef>
                <a:spcPts val="0"/>
              </a:spcBef>
              <a:spcAft>
                <a:spcPts val="0"/>
              </a:spcAft>
              <a:buNone/>
              <a:defRPr sz="1400" b="1"/>
            </a:lvl1pPr>
            <a:lvl2pPr lvl="1" rtl="0">
              <a:spcBef>
                <a:spcPts val="800"/>
              </a:spcBef>
              <a:spcAft>
                <a:spcPts val="0"/>
              </a:spcAft>
              <a:buNone/>
              <a:defRPr/>
            </a:lvl2pPr>
            <a:lvl3pPr lvl="2" rtl="0">
              <a:spcBef>
                <a:spcPts val="800"/>
              </a:spcBef>
              <a:spcAft>
                <a:spcPts val="0"/>
              </a:spcAft>
              <a:buNone/>
              <a:defRPr/>
            </a:lvl3pPr>
            <a:lvl4pPr lvl="3" rtl="0">
              <a:spcBef>
                <a:spcPts val="800"/>
              </a:spcBef>
              <a:spcAft>
                <a:spcPts val="0"/>
              </a:spcAft>
              <a:buNone/>
              <a:defRPr/>
            </a:lvl4pPr>
            <a:lvl5pPr lvl="4" rtl="0">
              <a:spcBef>
                <a:spcPts val="800"/>
              </a:spcBef>
              <a:spcAft>
                <a:spcPts val="0"/>
              </a:spcAft>
              <a:buNone/>
              <a:defRPr/>
            </a:lvl5pPr>
            <a:lvl6pPr lvl="5" rtl="0">
              <a:spcBef>
                <a:spcPts val="800"/>
              </a:spcBef>
              <a:spcAft>
                <a:spcPts val="0"/>
              </a:spcAft>
              <a:buNone/>
              <a:defRPr/>
            </a:lvl6pPr>
            <a:lvl7pPr lvl="6" rtl="0">
              <a:spcBef>
                <a:spcPts val="800"/>
              </a:spcBef>
              <a:spcAft>
                <a:spcPts val="0"/>
              </a:spcAft>
              <a:buNone/>
              <a:defRPr/>
            </a:lvl7pPr>
            <a:lvl8pPr lvl="7" rtl="0">
              <a:spcBef>
                <a:spcPts val="800"/>
              </a:spcBef>
              <a:spcAft>
                <a:spcPts val="0"/>
              </a:spcAft>
              <a:buNone/>
              <a:defRPr/>
            </a:lvl8pPr>
            <a:lvl9pPr lvl="8" rtl="0">
              <a:spcBef>
                <a:spcPts val="800"/>
              </a:spcBef>
              <a:spcAft>
                <a:spcPts val="800"/>
              </a:spcAft>
              <a:buNone/>
              <a:defRPr/>
            </a:lvl9pPr>
          </a:lstStyle>
          <a:p>
            <a:endParaRPr/>
          </a:p>
        </p:txBody>
      </p:sp>
      <p:sp>
        <p:nvSpPr>
          <p:cNvPr id="31" name="Google Shape;31;p5"/>
          <p:cNvSpPr txBox="1">
            <a:spLocks noGrp="1"/>
          </p:cNvSpPr>
          <p:nvPr>
            <p:ph type="body" idx="3"/>
          </p:nvPr>
        </p:nvSpPr>
        <p:spPr>
          <a:xfrm>
            <a:off x="182880" y="1069848"/>
            <a:ext cx="5486400" cy="3895200"/>
          </a:xfrm>
          <a:prstGeom prst="rect">
            <a:avLst/>
          </a:prstGeom>
        </p:spPr>
        <p:txBody>
          <a:bodyPr spcFirstLastPara="1" wrap="square" lIns="91425" tIns="91425" rIns="91425" bIns="91425" anchor="t" anchorCtr="0">
            <a:noAutofit/>
          </a:bodyPr>
          <a:lstStyle>
            <a:lvl1pPr marL="457200" lvl="0" indent="-292100" rtl="0">
              <a:spcBef>
                <a:spcPts val="0"/>
              </a:spcBef>
              <a:spcAft>
                <a:spcPts val="0"/>
              </a:spcAft>
              <a:buSzPts val="1000"/>
              <a:buChar char="●"/>
              <a:defRPr sz="1000"/>
            </a:lvl1pPr>
            <a:lvl2pPr marL="914400" lvl="1" indent="-292100" rtl="0">
              <a:spcBef>
                <a:spcPts val="800"/>
              </a:spcBef>
              <a:spcAft>
                <a:spcPts val="0"/>
              </a:spcAft>
              <a:buSzPts val="1000"/>
              <a:buChar char="○"/>
              <a:defRPr sz="1000"/>
            </a:lvl2pPr>
            <a:lvl3pPr marL="1371600" lvl="2" indent="-292100" rtl="0">
              <a:spcBef>
                <a:spcPts val="800"/>
              </a:spcBef>
              <a:spcAft>
                <a:spcPts val="0"/>
              </a:spcAft>
              <a:buSzPts val="1000"/>
              <a:buChar char="■"/>
              <a:defRPr sz="1000"/>
            </a:lvl3pPr>
            <a:lvl4pPr marL="1828800" lvl="3" indent="-292100" rtl="0">
              <a:spcBef>
                <a:spcPts val="800"/>
              </a:spcBef>
              <a:spcAft>
                <a:spcPts val="0"/>
              </a:spcAft>
              <a:buSzPts val="1000"/>
              <a:buChar char="●"/>
              <a:defRPr sz="1000"/>
            </a:lvl4pPr>
            <a:lvl5pPr marL="2286000" lvl="4" indent="-292100" rtl="0">
              <a:spcBef>
                <a:spcPts val="800"/>
              </a:spcBef>
              <a:spcAft>
                <a:spcPts val="0"/>
              </a:spcAft>
              <a:buSzPts val="1000"/>
              <a:buChar char="○"/>
              <a:defRPr sz="1000"/>
            </a:lvl5pPr>
            <a:lvl6pPr marL="2743200" lvl="5" indent="-292100" rtl="0">
              <a:spcBef>
                <a:spcPts val="800"/>
              </a:spcBef>
              <a:spcAft>
                <a:spcPts val="0"/>
              </a:spcAft>
              <a:buSzPts val="1000"/>
              <a:buChar char="■"/>
              <a:defRPr sz="1000"/>
            </a:lvl6pPr>
            <a:lvl7pPr marL="3200400" lvl="6" indent="-292100" rtl="0">
              <a:spcBef>
                <a:spcPts val="800"/>
              </a:spcBef>
              <a:spcAft>
                <a:spcPts val="0"/>
              </a:spcAft>
              <a:buSzPts val="1000"/>
              <a:buChar char="●"/>
              <a:defRPr/>
            </a:lvl7pPr>
            <a:lvl8pPr marL="3657600" lvl="7" indent="-292100" rtl="0">
              <a:spcBef>
                <a:spcPts val="800"/>
              </a:spcBef>
              <a:spcAft>
                <a:spcPts val="0"/>
              </a:spcAft>
              <a:buSzPts val="1000"/>
              <a:buChar char="○"/>
              <a:defRPr sz="1000"/>
            </a:lvl8pPr>
            <a:lvl9pPr marL="4114800" lvl="8" indent="-292100" rtl="0">
              <a:spcBef>
                <a:spcPts val="800"/>
              </a:spcBef>
              <a:spcAft>
                <a:spcPts val="800"/>
              </a:spcAft>
              <a:buSzPts val="1000"/>
              <a:buChar char="■"/>
              <a:defRPr sz="1000"/>
            </a:lvl9pPr>
          </a:lstStyle>
          <a:p>
            <a:endParaRPr/>
          </a:p>
        </p:txBody>
      </p:sp>
      <p:sp>
        <p:nvSpPr>
          <p:cNvPr id="32" name="Google Shape;32;p5"/>
          <p:cNvSpPr txBox="1">
            <a:spLocks noGrp="1"/>
          </p:cNvSpPr>
          <p:nvPr>
            <p:ph type="title" idx="4"/>
          </p:nvPr>
        </p:nvSpPr>
        <p:spPr>
          <a:xfrm>
            <a:off x="0" y="0"/>
            <a:ext cx="576000" cy="572700"/>
          </a:xfrm>
          <a:prstGeom prst="rect">
            <a:avLst/>
          </a:prstGeom>
        </p:spPr>
        <p:txBody>
          <a:bodyPr spcFirstLastPara="1" wrap="square" lIns="91425" tIns="91425" rIns="91425" bIns="91425" anchor="ctr" anchorCtr="0">
            <a:noAutofit/>
          </a:bodyPr>
          <a:lstStyle>
            <a:lvl1pPr lvl="0" algn="ctr" rtl="0">
              <a:spcBef>
                <a:spcPts val="0"/>
              </a:spcBef>
              <a:spcAft>
                <a:spcPts val="0"/>
              </a:spcAft>
              <a:buNone/>
              <a:defRPr sz="4800">
                <a:solidFill>
                  <a:schemeClr val="lt1"/>
                </a:solidFill>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ILO's">
  <p:cSld name="CUSTOM_2_3_1">
    <p:spTree>
      <p:nvGrpSpPr>
        <p:cNvPr id="1" name="Shape 33"/>
        <p:cNvGrpSpPr/>
        <p:nvPr/>
      </p:nvGrpSpPr>
      <p:grpSpPr>
        <a:xfrm>
          <a:off x="0" y="0"/>
          <a:ext cx="0" cy="0"/>
          <a:chOff x="0" y="0"/>
          <a:chExt cx="0" cy="0"/>
        </a:xfrm>
      </p:grpSpPr>
      <p:sp>
        <p:nvSpPr>
          <p:cNvPr id="34" name="Google Shape;34;p6"/>
          <p:cNvSpPr/>
          <p:nvPr/>
        </p:nvSpPr>
        <p:spPr>
          <a:xfrm>
            <a:off x="0" y="571460"/>
            <a:ext cx="9144000" cy="493800"/>
          </a:xfrm>
          <a:prstGeom prst="rect">
            <a:avLst/>
          </a:prstGeom>
          <a:solidFill>
            <a:srgbClr val="99999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 name="Google Shape;35;p6"/>
          <p:cNvSpPr/>
          <p:nvPr/>
        </p:nvSpPr>
        <p:spPr>
          <a:xfrm>
            <a:off x="0" y="0"/>
            <a:ext cx="9144000" cy="572700"/>
          </a:xfrm>
          <a:prstGeom prst="rect">
            <a:avLst/>
          </a:prstGeom>
          <a:solidFill>
            <a:srgbClr val="EC781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 name="Google Shape;36;p6"/>
          <p:cNvSpPr txBox="1">
            <a:spLocks noGrp="1"/>
          </p:cNvSpPr>
          <p:nvPr>
            <p:ph type="title"/>
          </p:nvPr>
        </p:nvSpPr>
        <p:spPr>
          <a:xfrm>
            <a:off x="68250" y="0"/>
            <a:ext cx="777300" cy="576000"/>
          </a:xfrm>
          <a:prstGeom prst="rect">
            <a:avLst/>
          </a:prstGeom>
        </p:spPr>
        <p:txBody>
          <a:bodyPr spcFirstLastPara="1" wrap="square" lIns="91425" tIns="91425" rIns="91425" bIns="91425" anchor="ctr" anchorCtr="0">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a:endParaRPr/>
          </a:p>
        </p:txBody>
      </p:sp>
      <p:sp>
        <p:nvSpPr>
          <p:cNvPr id="37" name="Google Shape;37;p6"/>
          <p:cNvSpPr txBox="1">
            <a:spLocks noGrp="1"/>
          </p:cNvSpPr>
          <p:nvPr>
            <p:ph type="title" idx="2"/>
          </p:nvPr>
        </p:nvSpPr>
        <p:spPr>
          <a:xfrm>
            <a:off x="7068300" y="0"/>
            <a:ext cx="1984200" cy="576000"/>
          </a:xfrm>
          <a:prstGeom prst="rect">
            <a:avLst/>
          </a:prstGeom>
        </p:spPr>
        <p:txBody>
          <a:bodyPr spcFirstLastPara="1" wrap="square" lIns="91425" tIns="91425" rIns="91425" bIns="91425" anchor="b" anchorCtr="0">
            <a:noAutofit/>
          </a:bodyPr>
          <a:lstStyle>
            <a:lvl1pPr lvl="0" algn="r" rtl="0">
              <a:spcBef>
                <a:spcPts val="0"/>
              </a:spcBef>
              <a:spcAft>
                <a:spcPts val="0"/>
              </a:spcAft>
              <a:buNone/>
              <a:defRPr sz="1400"/>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a:endParaRPr/>
          </a:p>
        </p:txBody>
      </p:sp>
      <p:sp>
        <p:nvSpPr>
          <p:cNvPr id="38" name="Google Shape;38;p6"/>
          <p:cNvSpPr txBox="1">
            <a:spLocks noGrp="1"/>
          </p:cNvSpPr>
          <p:nvPr>
            <p:ph type="body" idx="1"/>
          </p:nvPr>
        </p:nvSpPr>
        <p:spPr>
          <a:xfrm>
            <a:off x="182880" y="1069848"/>
            <a:ext cx="5486400" cy="3895200"/>
          </a:xfrm>
          <a:prstGeom prst="rect">
            <a:avLst/>
          </a:prstGeom>
        </p:spPr>
        <p:txBody>
          <a:bodyPr spcFirstLastPara="1" wrap="square" lIns="91425" tIns="91425" rIns="91425" bIns="91425" anchor="t" anchorCtr="0">
            <a:noAutofit/>
          </a:bodyPr>
          <a:lstStyle>
            <a:lvl1pPr marL="457200" lvl="0" indent="-292100" rtl="0">
              <a:spcBef>
                <a:spcPts val="0"/>
              </a:spcBef>
              <a:spcAft>
                <a:spcPts val="0"/>
              </a:spcAft>
              <a:buSzPts val="1000"/>
              <a:buChar char="●"/>
              <a:defRPr sz="1000"/>
            </a:lvl1pPr>
            <a:lvl2pPr marL="914400" lvl="1" indent="-292100" rtl="0">
              <a:spcBef>
                <a:spcPts val="800"/>
              </a:spcBef>
              <a:spcAft>
                <a:spcPts val="0"/>
              </a:spcAft>
              <a:buSzPts val="1000"/>
              <a:buChar char="○"/>
              <a:defRPr sz="1000"/>
            </a:lvl2pPr>
            <a:lvl3pPr marL="1371600" lvl="2" indent="-292100" rtl="0">
              <a:spcBef>
                <a:spcPts val="800"/>
              </a:spcBef>
              <a:spcAft>
                <a:spcPts val="0"/>
              </a:spcAft>
              <a:buSzPts val="1000"/>
              <a:buChar char="■"/>
              <a:defRPr sz="1000"/>
            </a:lvl3pPr>
            <a:lvl4pPr marL="1828800" lvl="3" indent="-292100" rtl="0">
              <a:spcBef>
                <a:spcPts val="800"/>
              </a:spcBef>
              <a:spcAft>
                <a:spcPts val="0"/>
              </a:spcAft>
              <a:buSzPts val="1000"/>
              <a:buChar char="●"/>
              <a:defRPr sz="1000"/>
            </a:lvl4pPr>
            <a:lvl5pPr marL="2286000" lvl="4" indent="-292100" rtl="0">
              <a:spcBef>
                <a:spcPts val="800"/>
              </a:spcBef>
              <a:spcAft>
                <a:spcPts val="0"/>
              </a:spcAft>
              <a:buSzPts val="1000"/>
              <a:buChar char="○"/>
              <a:defRPr sz="1000"/>
            </a:lvl5pPr>
            <a:lvl6pPr marL="2743200" lvl="5" indent="-292100" rtl="0">
              <a:spcBef>
                <a:spcPts val="800"/>
              </a:spcBef>
              <a:spcAft>
                <a:spcPts val="0"/>
              </a:spcAft>
              <a:buSzPts val="1000"/>
              <a:buChar char="■"/>
              <a:defRPr sz="1000"/>
            </a:lvl6pPr>
            <a:lvl7pPr marL="3200400" lvl="6" indent="-292100" rtl="0">
              <a:spcBef>
                <a:spcPts val="800"/>
              </a:spcBef>
              <a:spcAft>
                <a:spcPts val="0"/>
              </a:spcAft>
              <a:buSzPts val="1000"/>
              <a:buChar char="●"/>
              <a:defRPr/>
            </a:lvl7pPr>
            <a:lvl8pPr marL="3657600" lvl="7" indent="-292100" rtl="0">
              <a:spcBef>
                <a:spcPts val="800"/>
              </a:spcBef>
              <a:spcAft>
                <a:spcPts val="0"/>
              </a:spcAft>
              <a:buSzPts val="1000"/>
              <a:buChar char="○"/>
              <a:defRPr sz="1000"/>
            </a:lvl8pPr>
            <a:lvl9pPr marL="4114800" lvl="8" indent="-292100" rtl="0">
              <a:spcBef>
                <a:spcPts val="800"/>
              </a:spcBef>
              <a:spcAft>
                <a:spcPts val="800"/>
              </a:spcAft>
              <a:buSzPts val="1000"/>
              <a:buChar char="■"/>
              <a:defRPr sz="1000"/>
            </a:lvl9pPr>
          </a:lstStyle>
          <a:p>
            <a:endParaRPr/>
          </a:p>
        </p:txBody>
      </p:sp>
      <p:sp>
        <p:nvSpPr>
          <p:cNvPr id="39" name="Google Shape;39;p6"/>
          <p:cNvSpPr txBox="1">
            <a:spLocks noGrp="1"/>
          </p:cNvSpPr>
          <p:nvPr>
            <p:ph type="title" idx="3"/>
          </p:nvPr>
        </p:nvSpPr>
        <p:spPr>
          <a:xfrm>
            <a:off x="2049462" y="0"/>
            <a:ext cx="4206300" cy="576000"/>
          </a:xfrm>
          <a:prstGeom prst="rect">
            <a:avLst/>
          </a:prstGeom>
        </p:spPr>
        <p:txBody>
          <a:bodyPr spcFirstLastPara="1" wrap="square" lIns="91425" tIns="91425" rIns="91425" bIns="91425" anchor="ctr" anchorCtr="0">
            <a:noAutofit/>
          </a:bodyPr>
          <a:lstStyle>
            <a:lvl1pPr lvl="0" rtl="0">
              <a:spcBef>
                <a:spcPts val="0"/>
              </a:spcBef>
              <a:spcAft>
                <a:spcPts val="0"/>
              </a:spcAft>
              <a:buNone/>
              <a:defRPr sz="900" i="1"/>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a:endParaRPr/>
          </a:p>
        </p:txBody>
      </p:sp>
      <p:sp>
        <p:nvSpPr>
          <p:cNvPr id="40" name="Google Shape;40;p6"/>
          <p:cNvSpPr txBox="1">
            <a:spLocks noGrp="1"/>
          </p:cNvSpPr>
          <p:nvPr>
            <p:ph type="title" idx="4"/>
          </p:nvPr>
        </p:nvSpPr>
        <p:spPr>
          <a:xfrm>
            <a:off x="68250" y="576000"/>
            <a:ext cx="839700" cy="493800"/>
          </a:xfrm>
          <a:prstGeom prst="rect">
            <a:avLst/>
          </a:prstGeom>
        </p:spPr>
        <p:txBody>
          <a:bodyPr spcFirstLastPara="1" wrap="square" lIns="91425" tIns="91425" rIns="91425" bIns="91425" anchor="ctr" anchorCtr="0">
            <a:noAutofit/>
          </a:bodyPr>
          <a:lstStyle>
            <a:lvl1pPr lvl="0" rtl="0">
              <a:spcBef>
                <a:spcPts val="0"/>
              </a:spcBef>
              <a:spcAft>
                <a:spcPts val="0"/>
              </a:spcAft>
              <a:buNone/>
              <a:defRPr sz="3600">
                <a:solidFill>
                  <a:srgbClr val="FFFFFF"/>
                </a:solidFill>
              </a:defRPr>
            </a:lvl1pPr>
            <a:lvl2pPr lvl="1" rtl="0">
              <a:spcBef>
                <a:spcPts val="0"/>
              </a:spcBef>
              <a:spcAft>
                <a:spcPts val="0"/>
              </a:spcAft>
              <a:buNone/>
              <a:defRPr>
                <a:solidFill>
                  <a:srgbClr val="FFFFFF"/>
                </a:solidFill>
              </a:defRPr>
            </a:lvl2pPr>
            <a:lvl3pPr lvl="2" rtl="0">
              <a:spcBef>
                <a:spcPts val="0"/>
              </a:spcBef>
              <a:spcAft>
                <a:spcPts val="0"/>
              </a:spcAft>
              <a:buNone/>
              <a:defRPr>
                <a:solidFill>
                  <a:srgbClr val="FFFFFF"/>
                </a:solidFill>
              </a:defRPr>
            </a:lvl3pPr>
            <a:lvl4pPr lvl="3" rtl="0">
              <a:spcBef>
                <a:spcPts val="0"/>
              </a:spcBef>
              <a:spcAft>
                <a:spcPts val="0"/>
              </a:spcAft>
              <a:buNone/>
              <a:defRPr>
                <a:solidFill>
                  <a:srgbClr val="FFFFFF"/>
                </a:solidFill>
              </a:defRPr>
            </a:lvl4pPr>
            <a:lvl5pPr lvl="4" rtl="0">
              <a:spcBef>
                <a:spcPts val="0"/>
              </a:spcBef>
              <a:spcAft>
                <a:spcPts val="0"/>
              </a:spcAft>
              <a:buNone/>
              <a:defRPr>
                <a:solidFill>
                  <a:srgbClr val="FFFFFF"/>
                </a:solidFill>
              </a:defRPr>
            </a:lvl5pPr>
            <a:lvl6pPr lvl="5" rtl="0">
              <a:spcBef>
                <a:spcPts val="0"/>
              </a:spcBef>
              <a:spcAft>
                <a:spcPts val="0"/>
              </a:spcAft>
              <a:buNone/>
              <a:defRPr>
                <a:solidFill>
                  <a:srgbClr val="FFFFFF"/>
                </a:solidFill>
              </a:defRPr>
            </a:lvl6pPr>
            <a:lvl7pPr lvl="6" rtl="0">
              <a:spcBef>
                <a:spcPts val="0"/>
              </a:spcBef>
              <a:spcAft>
                <a:spcPts val="0"/>
              </a:spcAft>
              <a:buNone/>
              <a:defRPr>
                <a:solidFill>
                  <a:srgbClr val="FFFFFF"/>
                </a:solidFill>
              </a:defRPr>
            </a:lvl7pPr>
            <a:lvl8pPr lvl="7" rtl="0">
              <a:spcBef>
                <a:spcPts val="0"/>
              </a:spcBef>
              <a:spcAft>
                <a:spcPts val="0"/>
              </a:spcAft>
              <a:buNone/>
              <a:defRPr>
                <a:solidFill>
                  <a:srgbClr val="FFFFFF"/>
                </a:solidFill>
              </a:defRPr>
            </a:lvl8pPr>
            <a:lvl9pPr lvl="8" rtl="0">
              <a:spcBef>
                <a:spcPts val="0"/>
              </a:spcBef>
              <a:spcAft>
                <a:spcPts val="0"/>
              </a:spcAft>
              <a:buNone/>
              <a:defRPr>
                <a:solidFill>
                  <a:srgbClr val="FFFFFF"/>
                </a:solidFill>
              </a:defRPr>
            </a:lvl9pPr>
          </a:lstStyle>
          <a:p>
            <a:endParaRPr/>
          </a:p>
        </p:txBody>
      </p:sp>
      <p:sp>
        <p:nvSpPr>
          <p:cNvPr id="41" name="Google Shape;41;p6"/>
          <p:cNvSpPr txBox="1">
            <a:spLocks noGrp="1"/>
          </p:cNvSpPr>
          <p:nvPr>
            <p:ph type="title" idx="5"/>
          </p:nvPr>
        </p:nvSpPr>
        <p:spPr>
          <a:xfrm>
            <a:off x="845550" y="576000"/>
            <a:ext cx="7315200" cy="493800"/>
          </a:xfrm>
          <a:prstGeom prst="rect">
            <a:avLst/>
          </a:prstGeom>
        </p:spPr>
        <p:txBody>
          <a:bodyPr spcFirstLastPara="1" wrap="square" lIns="91425" tIns="91425" rIns="91425" bIns="91425" anchor="ctr" anchorCtr="0">
            <a:noAutofit/>
          </a:bodyPr>
          <a:lstStyle>
            <a:lvl1pPr lvl="0" rtl="0">
              <a:spcBef>
                <a:spcPts val="0"/>
              </a:spcBef>
              <a:spcAft>
                <a:spcPts val="0"/>
              </a:spcAft>
              <a:buNone/>
              <a:defRPr sz="900" i="1">
                <a:solidFill>
                  <a:srgbClr val="FFFFFF"/>
                </a:solidFill>
              </a:defRPr>
            </a:lvl1pPr>
            <a:lvl2pPr lvl="1" rtl="0">
              <a:spcBef>
                <a:spcPts val="0"/>
              </a:spcBef>
              <a:spcAft>
                <a:spcPts val="0"/>
              </a:spcAft>
              <a:buNone/>
              <a:defRPr>
                <a:solidFill>
                  <a:srgbClr val="FFFFFF"/>
                </a:solidFill>
              </a:defRPr>
            </a:lvl2pPr>
            <a:lvl3pPr lvl="2" rtl="0">
              <a:spcBef>
                <a:spcPts val="0"/>
              </a:spcBef>
              <a:spcAft>
                <a:spcPts val="0"/>
              </a:spcAft>
              <a:buNone/>
              <a:defRPr>
                <a:solidFill>
                  <a:srgbClr val="FFFFFF"/>
                </a:solidFill>
              </a:defRPr>
            </a:lvl3pPr>
            <a:lvl4pPr lvl="3" rtl="0">
              <a:spcBef>
                <a:spcPts val="0"/>
              </a:spcBef>
              <a:spcAft>
                <a:spcPts val="0"/>
              </a:spcAft>
              <a:buNone/>
              <a:defRPr>
                <a:solidFill>
                  <a:srgbClr val="FFFFFF"/>
                </a:solidFill>
              </a:defRPr>
            </a:lvl4pPr>
            <a:lvl5pPr lvl="4" rtl="0">
              <a:spcBef>
                <a:spcPts val="0"/>
              </a:spcBef>
              <a:spcAft>
                <a:spcPts val="0"/>
              </a:spcAft>
              <a:buNone/>
              <a:defRPr>
                <a:solidFill>
                  <a:srgbClr val="FFFFFF"/>
                </a:solidFill>
              </a:defRPr>
            </a:lvl5pPr>
            <a:lvl6pPr lvl="5" rtl="0">
              <a:spcBef>
                <a:spcPts val="0"/>
              </a:spcBef>
              <a:spcAft>
                <a:spcPts val="0"/>
              </a:spcAft>
              <a:buNone/>
              <a:defRPr>
                <a:solidFill>
                  <a:srgbClr val="FFFFFF"/>
                </a:solidFill>
              </a:defRPr>
            </a:lvl6pPr>
            <a:lvl7pPr lvl="6" rtl="0">
              <a:spcBef>
                <a:spcPts val="0"/>
              </a:spcBef>
              <a:spcAft>
                <a:spcPts val="0"/>
              </a:spcAft>
              <a:buNone/>
              <a:defRPr>
                <a:solidFill>
                  <a:srgbClr val="FFFFFF"/>
                </a:solidFill>
              </a:defRPr>
            </a:lvl7pPr>
            <a:lvl8pPr lvl="7" rtl="0">
              <a:spcBef>
                <a:spcPts val="0"/>
              </a:spcBef>
              <a:spcAft>
                <a:spcPts val="0"/>
              </a:spcAft>
              <a:buNone/>
              <a:defRPr>
                <a:solidFill>
                  <a:srgbClr val="FFFFFF"/>
                </a:solidFill>
              </a:defRPr>
            </a:lvl8pPr>
            <a:lvl9pPr lvl="8" rtl="0">
              <a:spcBef>
                <a:spcPts val="0"/>
              </a:spcBef>
              <a:spcAft>
                <a:spcPts val="0"/>
              </a:spcAft>
              <a:buNone/>
              <a:defRPr>
                <a:solidFill>
                  <a:srgbClr val="FFFFFF"/>
                </a:solidFill>
              </a:defRPr>
            </a:lvl9pPr>
          </a:lstStyle>
          <a:p>
            <a:endParaRPr/>
          </a:p>
        </p:txBody>
      </p:sp>
      <p:sp>
        <p:nvSpPr>
          <p:cNvPr id="42" name="Google Shape;42;p6"/>
          <p:cNvSpPr txBox="1">
            <a:spLocks noGrp="1"/>
          </p:cNvSpPr>
          <p:nvPr>
            <p:ph type="title" idx="6"/>
          </p:nvPr>
        </p:nvSpPr>
        <p:spPr>
          <a:xfrm>
            <a:off x="845550" y="0"/>
            <a:ext cx="1368600" cy="576000"/>
          </a:xfrm>
          <a:prstGeom prst="rect">
            <a:avLst/>
          </a:prstGeom>
        </p:spPr>
        <p:txBody>
          <a:bodyPr spcFirstLastPara="1" wrap="square" lIns="91425" tIns="91425" rIns="91425" bIns="91425" anchor="ctr" anchorCtr="0">
            <a:noAutofit/>
          </a:bodyPr>
          <a:lstStyle>
            <a:lvl1pPr lvl="0" rtl="0">
              <a:spcBef>
                <a:spcPts val="0"/>
              </a:spcBef>
              <a:spcAft>
                <a:spcPts val="0"/>
              </a:spcAft>
              <a:buNone/>
              <a:defRPr sz="1200"/>
            </a:lvl1pPr>
            <a:lvl2pPr lvl="1" rtl="0">
              <a:spcBef>
                <a:spcPts val="0"/>
              </a:spcBef>
              <a:spcAft>
                <a:spcPts val="0"/>
              </a:spcAft>
              <a:buNone/>
              <a:defRPr sz="900"/>
            </a:lvl2pPr>
            <a:lvl3pPr lvl="2" rtl="0">
              <a:spcBef>
                <a:spcPts val="0"/>
              </a:spcBef>
              <a:spcAft>
                <a:spcPts val="0"/>
              </a:spcAft>
              <a:buNone/>
              <a:defRPr sz="900"/>
            </a:lvl3pPr>
            <a:lvl4pPr lvl="3" rtl="0">
              <a:spcBef>
                <a:spcPts val="0"/>
              </a:spcBef>
              <a:spcAft>
                <a:spcPts val="0"/>
              </a:spcAft>
              <a:buNone/>
              <a:defRPr sz="900"/>
            </a:lvl4pPr>
            <a:lvl5pPr lvl="4" rtl="0">
              <a:spcBef>
                <a:spcPts val="0"/>
              </a:spcBef>
              <a:spcAft>
                <a:spcPts val="0"/>
              </a:spcAft>
              <a:buNone/>
              <a:defRPr sz="900"/>
            </a:lvl5pPr>
            <a:lvl6pPr lvl="5" rtl="0">
              <a:spcBef>
                <a:spcPts val="0"/>
              </a:spcBef>
              <a:spcAft>
                <a:spcPts val="0"/>
              </a:spcAft>
              <a:buNone/>
              <a:defRPr sz="900"/>
            </a:lvl6pPr>
            <a:lvl7pPr lvl="6" rtl="0">
              <a:spcBef>
                <a:spcPts val="0"/>
              </a:spcBef>
              <a:spcAft>
                <a:spcPts val="0"/>
              </a:spcAft>
              <a:buNone/>
              <a:defRPr sz="900"/>
            </a:lvl7pPr>
            <a:lvl8pPr lvl="7" rtl="0">
              <a:spcBef>
                <a:spcPts val="0"/>
              </a:spcBef>
              <a:spcAft>
                <a:spcPts val="0"/>
              </a:spcAft>
              <a:buNone/>
              <a:defRPr sz="900"/>
            </a:lvl8pPr>
            <a:lvl9pPr lvl="8" rtl="0">
              <a:spcBef>
                <a:spcPts val="0"/>
              </a:spcBef>
              <a:spcAft>
                <a:spcPts val="0"/>
              </a:spcAft>
              <a:buNone/>
              <a:defRPr sz="900"/>
            </a:lvl9pPr>
          </a:lstStyle>
          <a:p>
            <a:endParaRPr/>
          </a:p>
        </p:txBody>
      </p:sp>
      <p:sp>
        <p:nvSpPr>
          <p:cNvPr id="43" name="Google Shape;43;p6"/>
          <p:cNvSpPr txBox="1"/>
          <p:nvPr/>
        </p:nvSpPr>
        <p:spPr>
          <a:xfrm>
            <a:off x="5852160" y="1252728"/>
            <a:ext cx="3108900" cy="1828800"/>
          </a:xfrm>
          <a:prstGeom prst="rect">
            <a:avLst/>
          </a:prstGeom>
          <a:noFill/>
          <a:ln w="9525" cap="flat" cmpd="sng">
            <a:solidFill>
              <a:srgbClr val="CCCCCC"/>
            </a:solidFill>
            <a:prstDash val="dash"/>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solidFill>
                  <a:srgbClr val="CCCCCC"/>
                </a:solidFill>
                <a:latin typeface="Roboto"/>
                <a:ea typeface="Roboto"/>
                <a:cs typeface="Roboto"/>
                <a:sym typeface="Roboto"/>
              </a:rPr>
              <a:t>Room for Pictures</a:t>
            </a:r>
            <a:endParaRPr sz="1000">
              <a:solidFill>
                <a:srgbClr val="CCCCCC"/>
              </a:solidFill>
              <a:latin typeface="Roboto"/>
              <a:ea typeface="Roboto"/>
              <a:cs typeface="Roboto"/>
              <a:sym typeface="Roboto"/>
            </a:endParaRPr>
          </a:p>
        </p:txBody>
      </p:sp>
      <p:sp>
        <p:nvSpPr>
          <p:cNvPr id="44" name="Google Shape;44;p6"/>
          <p:cNvSpPr txBox="1"/>
          <p:nvPr/>
        </p:nvSpPr>
        <p:spPr>
          <a:xfrm>
            <a:off x="5852160" y="3136253"/>
            <a:ext cx="3108900" cy="1828800"/>
          </a:xfrm>
          <a:prstGeom prst="rect">
            <a:avLst/>
          </a:prstGeom>
          <a:noFill/>
          <a:ln w="9525" cap="flat" cmpd="sng">
            <a:solidFill>
              <a:srgbClr val="CCCCCC"/>
            </a:solidFill>
            <a:prstDash val="dash"/>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solidFill>
                  <a:srgbClr val="CCCCCC"/>
                </a:solidFill>
                <a:latin typeface="Roboto"/>
                <a:ea typeface="Roboto"/>
                <a:cs typeface="Roboto"/>
                <a:sym typeface="Roboto"/>
              </a:rPr>
              <a:t>Room for Pictures</a:t>
            </a:r>
            <a:endParaRPr sz="1000">
              <a:solidFill>
                <a:srgbClr val="CCCCCC"/>
              </a:solidFill>
              <a:latin typeface="Roboto"/>
              <a:ea typeface="Roboto"/>
              <a:cs typeface="Roboto"/>
              <a:sym typeface="Roboto"/>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Weeks">
  <p:cSld name="CUSTOM_2_2">
    <p:spTree>
      <p:nvGrpSpPr>
        <p:cNvPr id="1" name="Shape 45"/>
        <p:cNvGrpSpPr/>
        <p:nvPr/>
      </p:nvGrpSpPr>
      <p:grpSpPr>
        <a:xfrm>
          <a:off x="0" y="0"/>
          <a:ext cx="0" cy="0"/>
          <a:chOff x="0" y="0"/>
          <a:chExt cx="0" cy="0"/>
        </a:xfrm>
      </p:grpSpPr>
      <p:sp>
        <p:nvSpPr>
          <p:cNvPr id="46" name="Google Shape;46;p7"/>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lvl1pPr lvl="0" rtl="0">
              <a:spcBef>
                <a:spcPts val="0"/>
              </a:spcBef>
              <a:spcAft>
                <a:spcPts val="0"/>
              </a:spcAft>
              <a:buNone/>
              <a:defRPr sz="1400" b="1"/>
            </a:lvl1pPr>
            <a:lvl2pPr lvl="1" rtl="0">
              <a:spcBef>
                <a:spcPts val="800"/>
              </a:spcBef>
              <a:spcAft>
                <a:spcPts val="0"/>
              </a:spcAft>
              <a:buNone/>
              <a:defRPr/>
            </a:lvl2pPr>
            <a:lvl3pPr lvl="2" rtl="0">
              <a:spcBef>
                <a:spcPts val="800"/>
              </a:spcBef>
              <a:spcAft>
                <a:spcPts val="0"/>
              </a:spcAft>
              <a:buNone/>
              <a:defRPr/>
            </a:lvl3pPr>
            <a:lvl4pPr lvl="3" rtl="0">
              <a:spcBef>
                <a:spcPts val="800"/>
              </a:spcBef>
              <a:spcAft>
                <a:spcPts val="0"/>
              </a:spcAft>
              <a:buNone/>
              <a:defRPr/>
            </a:lvl4pPr>
            <a:lvl5pPr lvl="4" rtl="0">
              <a:spcBef>
                <a:spcPts val="800"/>
              </a:spcBef>
              <a:spcAft>
                <a:spcPts val="0"/>
              </a:spcAft>
              <a:buNone/>
              <a:defRPr/>
            </a:lvl5pPr>
            <a:lvl6pPr lvl="5" rtl="0">
              <a:spcBef>
                <a:spcPts val="800"/>
              </a:spcBef>
              <a:spcAft>
                <a:spcPts val="0"/>
              </a:spcAft>
              <a:buNone/>
              <a:defRPr/>
            </a:lvl6pPr>
            <a:lvl7pPr lvl="6" rtl="0">
              <a:spcBef>
                <a:spcPts val="800"/>
              </a:spcBef>
              <a:spcAft>
                <a:spcPts val="0"/>
              </a:spcAft>
              <a:buNone/>
              <a:defRPr/>
            </a:lvl7pPr>
            <a:lvl8pPr lvl="7" rtl="0">
              <a:spcBef>
                <a:spcPts val="800"/>
              </a:spcBef>
              <a:spcAft>
                <a:spcPts val="0"/>
              </a:spcAft>
              <a:buNone/>
              <a:defRPr/>
            </a:lvl8pPr>
            <a:lvl9pPr lvl="8" rtl="0">
              <a:spcBef>
                <a:spcPts val="800"/>
              </a:spcBef>
              <a:spcAft>
                <a:spcPts val="800"/>
              </a:spcAft>
              <a:buNone/>
              <a:defRPr/>
            </a:lvl9pPr>
          </a:lstStyle>
          <a:p>
            <a:endParaRPr/>
          </a:p>
        </p:txBody>
      </p:sp>
      <p:sp>
        <p:nvSpPr>
          <p:cNvPr id="47" name="Google Shape;47;p7"/>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lvl1pPr marL="457200" lvl="0" indent="-292100" rtl="0">
              <a:spcBef>
                <a:spcPts val="0"/>
              </a:spcBef>
              <a:spcAft>
                <a:spcPts val="0"/>
              </a:spcAft>
              <a:buSzPts val="1000"/>
              <a:buChar char="●"/>
              <a:defRPr/>
            </a:lvl1pPr>
            <a:lvl2pPr marL="914400" lvl="1" indent="-292100" rtl="0">
              <a:spcBef>
                <a:spcPts val="800"/>
              </a:spcBef>
              <a:spcAft>
                <a:spcPts val="0"/>
              </a:spcAft>
              <a:buSzPts val="1000"/>
              <a:buChar char="○"/>
              <a:defRPr/>
            </a:lvl2pPr>
            <a:lvl3pPr marL="1371600" lvl="2" indent="-292100" rtl="0">
              <a:spcBef>
                <a:spcPts val="800"/>
              </a:spcBef>
              <a:spcAft>
                <a:spcPts val="0"/>
              </a:spcAft>
              <a:buSzPts val="1000"/>
              <a:buChar char="■"/>
              <a:defRPr/>
            </a:lvl3pPr>
            <a:lvl4pPr marL="1828800" lvl="3" indent="-292100" rtl="0">
              <a:spcBef>
                <a:spcPts val="800"/>
              </a:spcBef>
              <a:spcAft>
                <a:spcPts val="0"/>
              </a:spcAft>
              <a:buSzPts val="1000"/>
              <a:buChar char="●"/>
              <a:defRPr/>
            </a:lvl4pPr>
            <a:lvl5pPr marL="2286000" lvl="4" indent="-292100" rtl="0">
              <a:spcBef>
                <a:spcPts val="800"/>
              </a:spcBef>
              <a:spcAft>
                <a:spcPts val="0"/>
              </a:spcAft>
              <a:buSzPts val="1000"/>
              <a:buChar char="○"/>
              <a:defRPr/>
            </a:lvl5pPr>
            <a:lvl6pPr marL="2743200" lvl="5" indent="-292100" rtl="0">
              <a:spcBef>
                <a:spcPts val="800"/>
              </a:spcBef>
              <a:spcAft>
                <a:spcPts val="0"/>
              </a:spcAft>
              <a:buSzPts val="1000"/>
              <a:buChar char="■"/>
              <a:defRPr/>
            </a:lvl6pPr>
            <a:lvl7pPr marL="3200400" lvl="6" indent="-292100" rtl="0">
              <a:spcBef>
                <a:spcPts val="800"/>
              </a:spcBef>
              <a:spcAft>
                <a:spcPts val="0"/>
              </a:spcAft>
              <a:buSzPts val="1000"/>
              <a:buChar char="●"/>
              <a:defRPr/>
            </a:lvl7pPr>
            <a:lvl8pPr marL="3657600" lvl="7" indent="-292100" rtl="0">
              <a:spcBef>
                <a:spcPts val="800"/>
              </a:spcBef>
              <a:spcAft>
                <a:spcPts val="0"/>
              </a:spcAft>
              <a:buSzPts val="1000"/>
              <a:buChar char="○"/>
              <a:defRPr/>
            </a:lvl8pPr>
            <a:lvl9pPr marL="4114800" lvl="8" indent="-292100" rtl="0">
              <a:spcBef>
                <a:spcPts val="800"/>
              </a:spcBef>
              <a:spcAft>
                <a:spcPts val="800"/>
              </a:spcAft>
              <a:buSzPts val="1000"/>
              <a:buChar char="■"/>
              <a:defRPr/>
            </a:lvl9pPr>
          </a:lstStyle>
          <a:p>
            <a:endParaRPr/>
          </a:p>
        </p:txBody>
      </p:sp>
      <p:sp>
        <p:nvSpPr>
          <p:cNvPr id="48" name="Google Shape;48;p7"/>
          <p:cNvSpPr txBox="1">
            <a:spLocks noGrp="1"/>
          </p:cNvSpPr>
          <p:nvPr>
            <p:ph type="body" idx="3"/>
          </p:nvPr>
        </p:nvSpPr>
        <p:spPr>
          <a:xfrm>
            <a:off x="4663450" y="1152698"/>
            <a:ext cx="4297800" cy="1625700"/>
          </a:xfrm>
          <a:prstGeom prst="rect">
            <a:avLst/>
          </a:prstGeom>
        </p:spPr>
        <p:txBody>
          <a:bodyPr spcFirstLastPara="1" wrap="square" lIns="91425" tIns="91425" rIns="91425" bIns="91425" anchor="t" anchorCtr="0">
            <a:noAutofit/>
          </a:bodyPr>
          <a:lstStyle>
            <a:lvl1pPr marL="457200" lvl="0" indent="-292100" rtl="0">
              <a:spcBef>
                <a:spcPts val="0"/>
              </a:spcBef>
              <a:spcAft>
                <a:spcPts val="0"/>
              </a:spcAft>
              <a:buSzPts val="1000"/>
              <a:buChar char="●"/>
              <a:defRPr/>
            </a:lvl1pPr>
            <a:lvl2pPr marL="914400" lvl="1" indent="-292100" rtl="0">
              <a:spcBef>
                <a:spcPts val="800"/>
              </a:spcBef>
              <a:spcAft>
                <a:spcPts val="0"/>
              </a:spcAft>
              <a:buSzPts val="1000"/>
              <a:buChar char="○"/>
              <a:defRPr/>
            </a:lvl2pPr>
            <a:lvl3pPr marL="1371600" lvl="2" indent="-292100" rtl="0">
              <a:spcBef>
                <a:spcPts val="800"/>
              </a:spcBef>
              <a:spcAft>
                <a:spcPts val="0"/>
              </a:spcAft>
              <a:buSzPts val="1000"/>
              <a:buChar char="■"/>
              <a:defRPr/>
            </a:lvl3pPr>
            <a:lvl4pPr marL="1828800" lvl="3" indent="-292100" rtl="0">
              <a:spcBef>
                <a:spcPts val="800"/>
              </a:spcBef>
              <a:spcAft>
                <a:spcPts val="0"/>
              </a:spcAft>
              <a:buSzPts val="1000"/>
              <a:buChar char="●"/>
              <a:defRPr/>
            </a:lvl4pPr>
            <a:lvl5pPr marL="2286000" lvl="4" indent="-292100" rtl="0">
              <a:spcBef>
                <a:spcPts val="800"/>
              </a:spcBef>
              <a:spcAft>
                <a:spcPts val="0"/>
              </a:spcAft>
              <a:buSzPts val="1000"/>
              <a:buChar char="○"/>
              <a:defRPr/>
            </a:lvl5pPr>
            <a:lvl6pPr marL="2743200" lvl="5" indent="-292100" rtl="0">
              <a:spcBef>
                <a:spcPts val="800"/>
              </a:spcBef>
              <a:spcAft>
                <a:spcPts val="0"/>
              </a:spcAft>
              <a:buSzPts val="1000"/>
              <a:buChar char="■"/>
              <a:defRPr/>
            </a:lvl6pPr>
            <a:lvl7pPr marL="3200400" lvl="6" indent="-292100" rtl="0">
              <a:spcBef>
                <a:spcPts val="800"/>
              </a:spcBef>
              <a:spcAft>
                <a:spcPts val="0"/>
              </a:spcAft>
              <a:buSzPts val="1000"/>
              <a:buChar char="●"/>
              <a:defRPr/>
            </a:lvl7pPr>
            <a:lvl8pPr marL="3657600" lvl="7" indent="-292100" rtl="0">
              <a:spcBef>
                <a:spcPts val="800"/>
              </a:spcBef>
              <a:spcAft>
                <a:spcPts val="0"/>
              </a:spcAft>
              <a:buSzPts val="1000"/>
              <a:buChar char="○"/>
              <a:defRPr/>
            </a:lvl8pPr>
            <a:lvl9pPr marL="4114800" lvl="8" indent="-292100" rtl="0">
              <a:spcBef>
                <a:spcPts val="800"/>
              </a:spcBef>
              <a:spcAft>
                <a:spcPts val="800"/>
              </a:spcAft>
              <a:buSzPts val="1000"/>
              <a:buChar char="■"/>
              <a:defRPr/>
            </a:lvl9pPr>
          </a:lstStyle>
          <a:p>
            <a:endParaRPr/>
          </a:p>
        </p:txBody>
      </p:sp>
      <p:sp>
        <p:nvSpPr>
          <p:cNvPr id="49" name="Google Shape;49;p7"/>
          <p:cNvSpPr txBox="1">
            <a:spLocks noGrp="1"/>
          </p:cNvSpPr>
          <p:nvPr>
            <p:ph type="subTitle" idx="4"/>
          </p:nvPr>
        </p:nvSpPr>
        <p:spPr>
          <a:xfrm>
            <a:off x="4663440" y="758952"/>
            <a:ext cx="4297800" cy="393900"/>
          </a:xfrm>
          <a:prstGeom prst="rect">
            <a:avLst/>
          </a:prstGeom>
        </p:spPr>
        <p:txBody>
          <a:bodyPr spcFirstLastPara="1" wrap="square" lIns="91425" tIns="91425" rIns="91425" bIns="91425" anchor="t" anchorCtr="0">
            <a:noAutofit/>
          </a:bodyPr>
          <a:lstStyle>
            <a:lvl1pPr lvl="0" rtl="0">
              <a:spcBef>
                <a:spcPts val="0"/>
              </a:spcBef>
              <a:spcAft>
                <a:spcPts val="0"/>
              </a:spcAft>
              <a:buNone/>
              <a:defRPr sz="1400" b="1"/>
            </a:lvl1pPr>
            <a:lvl2pPr lvl="1" rtl="0">
              <a:spcBef>
                <a:spcPts val="800"/>
              </a:spcBef>
              <a:spcAft>
                <a:spcPts val="0"/>
              </a:spcAft>
              <a:buNone/>
              <a:defRPr/>
            </a:lvl2pPr>
            <a:lvl3pPr lvl="2" rtl="0">
              <a:spcBef>
                <a:spcPts val="800"/>
              </a:spcBef>
              <a:spcAft>
                <a:spcPts val="0"/>
              </a:spcAft>
              <a:buNone/>
              <a:defRPr/>
            </a:lvl3pPr>
            <a:lvl4pPr lvl="3" rtl="0">
              <a:spcBef>
                <a:spcPts val="800"/>
              </a:spcBef>
              <a:spcAft>
                <a:spcPts val="0"/>
              </a:spcAft>
              <a:buNone/>
              <a:defRPr/>
            </a:lvl4pPr>
            <a:lvl5pPr lvl="4" rtl="0">
              <a:spcBef>
                <a:spcPts val="800"/>
              </a:spcBef>
              <a:spcAft>
                <a:spcPts val="0"/>
              </a:spcAft>
              <a:buNone/>
              <a:defRPr/>
            </a:lvl5pPr>
            <a:lvl6pPr lvl="5" rtl="0">
              <a:spcBef>
                <a:spcPts val="800"/>
              </a:spcBef>
              <a:spcAft>
                <a:spcPts val="0"/>
              </a:spcAft>
              <a:buNone/>
              <a:defRPr/>
            </a:lvl6pPr>
            <a:lvl7pPr lvl="6" rtl="0">
              <a:spcBef>
                <a:spcPts val="800"/>
              </a:spcBef>
              <a:spcAft>
                <a:spcPts val="0"/>
              </a:spcAft>
              <a:buNone/>
              <a:defRPr/>
            </a:lvl7pPr>
            <a:lvl8pPr lvl="7" rtl="0">
              <a:spcBef>
                <a:spcPts val="800"/>
              </a:spcBef>
              <a:spcAft>
                <a:spcPts val="0"/>
              </a:spcAft>
              <a:buNone/>
              <a:defRPr/>
            </a:lvl8pPr>
            <a:lvl9pPr lvl="8" rtl="0">
              <a:spcBef>
                <a:spcPts val="800"/>
              </a:spcBef>
              <a:spcAft>
                <a:spcPts val="800"/>
              </a:spcAft>
              <a:buNone/>
              <a:defRPr/>
            </a:lvl9pPr>
          </a:lstStyle>
          <a:p>
            <a:endParaRPr/>
          </a:p>
        </p:txBody>
      </p:sp>
      <p:sp>
        <p:nvSpPr>
          <p:cNvPr id="50" name="Google Shape;50;p7"/>
          <p:cNvSpPr/>
          <p:nvPr/>
        </p:nvSpPr>
        <p:spPr>
          <a:xfrm>
            <a:off x="0" y="0"/>
            <a:ext cx="9144000" cy="576000"/>
          </a:xfrm>
          <a:prstGeom prst="rect">
            <a:avLst/>
          </a:prstGeom>
          <a:solidFill>
            <a:srgbClr val="EC781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 name="Google Shape;51;p7"/>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a:endParaRPr/>
          </a:p>
        </p:txBody>
      </p:sp>
      <p:sp>
        <p:nvSpPr>
          <p:cNvPr id="52" name="Google Shape;52;p7"/>
          <p:cNvSpPr txBox="1">
            <a:spLocks noGrp="1"/>
          </p:cNvSpPr>
          <p:nvPr>
            <p:ph type="title" idx="5"/>
          </p:nvPr>
        </p:nvSpPr>
        <p:spPr>
          <a:xfrm>
            <a:off x="0" y="0"/>
            <a:ext cx="576000" cy="572700"/>
          </a:xfrm>
          <a:prstGeom prst="rect">
            <a:avLst/>
          </a:prstGeom>
        </p:spPr>
        <p:txBody>
          <a:bodyPr spcFirstLastPara="1" wrap="square" lIns="91425" tIns="91425" rIns="91425" bIns="91425" anchor="ctr" anchorCtr="0">
            <a:noAutofit/>
          </a:bodyPr>
          <a:lstStyle>
            <a:lvl1pPr lvl="0" algn="ctr" rtl="0">
              <a:spcBef>
                <a:spcPts val="0"/>
              </a:spcBef>
              <a:spcAft>
                <a:spcPts val="0"/>
              </a:spcAft>
              <a:buNone/>
              <a:defRPr sz="4800">
                <a:solidFill>
                  <a:schemeClr val="lt1"/>
                </a:solidFill>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a:endParaRPr/>
          </a:p>
        </p:txBody>
      </p:sp>
      <p:sp>
        <p:nvSpPr>
          <p:cNvPr id="53" name="Google Shape;53;p7"/>
          <p:cNvSpPr txBox="1">
            <a:spLocks noGrp="1"/>
          </p:cNvSpPr>
          <p:nvPr>
            <p:ph type="title" idx="6"/>
          </p:nvPr>
        </p:nvSpPr>
        <p:spPr>
          <a:xfrm>
            <a:off x="7068300" y="1650"/>
            <a:ext cx="1984200" cy="572700"/>
          </a:xfrm>
          <a:prstGeom prst="rect">
            <a:avLst/>
          </a:prstGeom>
        </p:spPr>
        <p:txBody>
          <a:bodyPr spcFirstLastPara="1" wrap="square" lIns="91425" tIns="91425" rIns="91425" bIns="91425" anchor="b" anchorCtr="0">
            <a:noAutofit/>
          </a:bodyPr>
          <a:lstStyle>
            <a:lvl1pPr lvl="0" algn="r" rtl="0">
              <a:spcBef>
                <a:spcPts val="0"/>
              </a:spcBef>
              <a:spcAft>
                <a:spcPts val="0"/>
              </a:spcAft>
              <a:buNone/>
              <a:defRPr sz="1400"/>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Feedback Slides">
  <p:cSld name="CUSTOM_2_2_1">
    <p:bg>
      <p:bgPr>
        <a:solidFill>
          <a:srgbClr val="134F5C"/>
        </a:solidFill>
        <a:effectLst/>
      </p:bgPr>
    </p:bg>
    <p:spTree>
      <p:nvGrpSpPr>
        <p:cNvPr id="1" name="Shape 65"/>
        <p:cNvGrpSpPr/>
        <p:nvPr/>
      </p:nvGrpSpPr>
      <p:grpSpPr>
        <a:xfrm>
          <a:off x="0" y="0"/>
          <a:ext cx="0" cy="0"/>
          <a:chOff x="0" y="0"/>
          <a:chExt cx="0" cy="0"/>
        </a:xfrm>
      </p:grpSpPr>
      <p:sp>
        <p:nvSpPr>
          <p:cNvPr id="66" name="Google Shape;66;p9"/>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lvl1pPr lvl="0" rtl="0">
              <a:spcBef>
                <a:spcPts val="0"/>
              </a:spcBef>
              <a:spcAft>
                <a:spcPts val="0"/>
              </a:spcAft>
              <a:buNone/>
              <a:defRPr sz="1400" b="1"/>
            </a:lvl1pPr>
            <a:lvl2pPr lvl="1" rtl="0">
              <a:spcBef>
                <a:spcPts val="800"/>
              </a:spcBef>
              <a:spcAft>
                <a:spcPts val="0"/>
              </a:spcAft>
              <a:buNone/>
              <a:defRPr/>
            </a:lvl2pPr>
            <a:lvl3pPr lvl="2" rtl="0">
              <a:spcBef>
                <a:spcPts val="800"/>
              </a:spcBef>
              <a:spcAft>
                <a:spcPts val="0"/>
              </a:spcAft>
              <a:buNone/>
              <a:defRPr/>
            </a:lvl3pPr>
            <a:lvl4pPr lvl="3" rtl="0">
              <a:spcBef>
                <a:spcPts val="800"/>
              </a:spcBef>
              <a:spcAft>
                <a:spcPts val="0"/>
              </a:spcAft>
              <a:buNone/>
              <a:defRPr/>
            </a:lvl4pPr>
            <a:lvl5pPr lvl="4" rtl="0">
              <a:spcBef>
                <a:spcPts val="800"/>
              </a:spcBef>
              <a:spcAft>
                <a:spcPts val="0"/>
              </a:spcAft>
              <a:buNone/>
              <a:defRPr/>
            </a:lvl5pPr>
            <a:lvl6pPr lvl="5" rtl="0">
              <a:spcBef>
                <a:spcPts val="800"/>
              </a:spcBef>
              <a:spcAft>
                <a:spcPts val="0"/>
              </a:spcAft>
              <a:buNone/>
              <a:defRPr/>
            </a:lvl6pPr>
            <a:lvl7pPr lvl="6" rtl="0">
              <a:spcBef>
                <a:spcPts val="800"/>
              </a:spcBef>
              <a:spcAft>
                <a:spcPts val="0"/>
              </a:spcAft>
              <a:buNone/>
              <a:defRPr/>
            </a:lvl7pPr>
            <a:lvl8pPr lvl="7" rtl="0">
              <a:spcBef>
                <a:spcPts val="800"/>
              </a:spcBef>
              <a:spcAft>
                <a:spcPts val="0"/>
              </a:spcAft>
              <a:buNone/>
              <a:defRPr/>
            </a:lvl8pPr>
            <a:lvl9pPr lvl="8" rtl="0">
              <a:spcBef>
                <a:spcPts val="800"/>
              </a:spcBef>
              <a:spcAft>
                <a:spcPts val="800"/>
              </a:spcAft>
              <a:buNone/>
              <a:defRPr/>
            </a:lvl9pPr>
          </a:lstStyle>
          <a:p>
            <a:endParaRPr/>
          </a:p>
        </p:txBody>
      </p:sp>
      <p:sp>
        <p:nvSpPr>
          <p:cNvPr id="67" name="Google Shape;67;p9"/>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lvl1pPr marL="457200" lvl="0" indent="-292100" rtl="0">
              <a:spcBef>
                <a:spcPts val="0"/>
              </a:spcBef>
              <a:spcAft>
                <a:spcPts val="0"/>
              </a:spcAft>
              <a:buSzPts val="1000"/>
              <a:buChar char="●"/>
              <a:defRPr/>
            </a:lvl1pPr>
            <a:lvl2pPr marL="914400" lvl="1" indent="-292100" rtl="0">
              <a:spcBef>
                <a:spcPts val="800"/>
              </a:spcBef>
              <a:spcAft>
                <a:spcPts val="0"/>
              </a:spcAft>
              <a:buSzPts val="1000"/>
              <a:buChar char="○"/>
              <a:defRPr/>
            </a:lvl2pPr>
            <a:lvl3pPr marL="1371600" lvl="2" indent="-292100" rtl="0">
              <a:spcBef>
                <a:spcPts val="800"/>
              </a:spcBef>
              <a:spcAft>
                <a:spcPts val="0"/>
              </a:spcAft>
              <a:buSzPts val="1000"/>
              <a:buChar char="■"/>
              <a:defRPr/>
            </a:lvl3pPr>
            <a:lvl4pPr marL="1828800" lvl="3" indent="-292100" rtl="0">
              <a:spcBef>
                <a:spcPts val="800"/>
              </a:spcBef>
              <a:spcAft>
                <a:spcPts val="0"/>
              </a:spcAft>
              <a:buSzPts val="1000"/>
              <a:buChar char="●"/>
              <a:defRPr/>
            </a:lvl4pPr>
            <a:lvl5pPr marL="2286000" lvl="4" indent="-292100" rtl="0">
              <a:spcBef>
                <a:spcPts val="800"/>
              </a:spcBef>
              <a:spcAft>
                <a:spcPts val="0"/>
              </a:spcAft>
              <a:buSzPts val="1000"/>
              <a:buChar char="○"/>
              <a:defRPr/>
            </a:lvl5pPr>
            <a:lvl6pPr marL="2743200" lvl="5" indent="-292100" rtl="0">
              <a:spcBef>
                <a:spcPts val="800"/>
              </a:spcBef>
              <a:spcAft>
                <a:spcPts val="0"/>
              </a:spcAft>
              <a:buSzPts val="1000"/>
              <a:buChar char="■"/>
              <a:defRPr/>
            </a:lvl6pPr>
            <a:lvl7pPr marL="3200400" lvl="6" indent="-292100" rtl="0">
              <a:spcBef>
                <a:spcPts val="800"/>
              </a:spcBef>
              <a:spcAft>
                <a:spcPts val="0"/>
              </a:spcAft>
              <a:buSzPts val="1000"/>
              <a:buChar char="●"/>
              <a:defRPr/>
            </a:lvl7pPr>
            <a:lvl8pPr marL="3657600" lvl="7" indent="-292100" rtl="0">
              <a:spcBef>
                <a:spcPts val="800"/>
              </a:spcBef>
              <a:spcAft>
                <a:spcPts val="0"/>
              </a:spcAft>
              <a:buSzPts val="1000"/>
              <a:buChar char="○"/>
              <a:defRPr/>
            </a:lvl8pPr>
            <a:lvl9pPr marL="4114800" lvl="8" indent="-292100" rtl="0">
              <a:spcBef>
                <a:spcPts val="800"/>
              </a:spcBef>
              <a:spcAft>
                <a:spcPts val="800"/>
              </a:spcAft>
              <a:buSzPts val="1000"/>
              <a:buChar char="■"/>
              <a:defRPr/>
            </a:lvl9pPr>
          </a:lstStyle>
          <a:p>
            <a:endParaRPr/>
          </a:p>
        </p:txBody>
      </p:sp>
      <p:sp>
        <p:nvSpPr>
          <p:cNvPr id="68" name="Google Shape;68;p9"/>
          <p:cNvSpPr/>
          <p:nvPr/>
        </p:nvSpPr>
        <p:spPr>
          <a:xfrm>
            <a:off x="0" y="0"/>
            <a:ext cx="9144000" cy="576000"/>
          </a:xfrm>
          <a:prstGeom prst="rect">
            <a:avLst/>
          </a:prstGeom>
          <a:solidFill>
            <a:srgbClr val="EC781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 name="Google Shape;69;p9"/>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a:endParaRPr/>
          </a:p>
        </p:txBody>
      </p:sp>
      <p:sp>
        <p:nvSpPr>
          <p:cNvPr id="70" name="Google Shape;70;p9"/>
          <p:cNvSpPr txBox="1">
            <a:spLocks noGrp="1"/>
          </p:cNvSpPr>
          <p:nvPr>
            <p:ph type="title" idx="3"/>
          </p:nvPr>
        </p:nvSpPr>
        <p:spPr>
          <a:xfrm>
            <a:off x="0" y="0"/>
            <a:ext cx="576000" cy="572700"/>
          </a:xfrm>
          <a:prstGeom prst="rect">
            <a:avLst/>
          </a:prstGeom>
        </p:spPr>
        <p:txBody>
          <a:bodyPr spcFirstLastPara="1" wrap="square" lIns="91425" tIns="91425" rIns="91425" bIns="91425" anchor="ctr" anchorCtr="0">
            <a:noAutofit/>
          </a:bodyPr>
          <a:lstStyle>
            <a:lvl1pPr lvl="0" algn="ctr" rtl="0">
              <a:spcBef>
                <a:spcPts val="0"/>
              </a:spcBef>
              <a:spcAft>
                <a:spcPts val="0"/>
              </a:spcAft>
              <a:buNone/>
              <a:defRPr sz="4800">
                <a:solidFill>
                  <a:schemeClr val="lt1"/>
                </a:solidFill>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a:endParaRPr/>
          </a:p>
        </p:txBody>
      </p:sp>
      <p:sp>
        <p:nvSpPr>
          <p:cNvPr id="71" name="Google Shape;71;p9"/>
          <p:cNvSpPr txBox="1">
            <a:spLocks noGrp="1"/>
          </p:cNvSpPr>
          <p:nvPr>
            <p:ph type="title" idx="4"/>
          </p:nvPr>
        </p:nvSpPr>
        <p:spPr>
          <a:xfrm>
            <a:off x="7068300" y="1650"/>
            <a:ext cx="1984200" cy="572700"/>
          </a:xfrm>
          <a:prstGeom prst="rect">
            <a:avLst/>
          </a:prstGeom>
        </p:spPr>
        <p:txBody>
          <a:bodyPr spcFirstLastPara="1" wrap="square" lIns="91425" tIns="91425" rIns="91425" bIns="91425" anchor="b" anchorCtr="0">
            <a:noAutofit/>
          </a:bodyPr>
          <a:lstStyle>
            <a:lvl1pPr lvl="0" algn="r" rtl="0">
              <a:spcBef>
                <a:spcPts val="0"/>
              </a:spcBef>
              <a:spcAft>
                <a:spcPts val="0"/>
              </a:spcAft>
              <a:buNone/>
              <a:defRPr sz="1400"/>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83"/>
        <p:cNvGrpSpPr/>
        <p:nvPr/>
      </p:nvGrpSpPr>
      <p:grpSpPr>
        <a:xfrm>
          <a:off x="0" y="0"/>
          <a:ext cx="0" cy="0"/>
          <a:chOff x="0" y="0"/>
          <a:chExt cx="0" cy="0"/>
        </a:xfrm>
      </p:grpSpPr>
      <p:sp>
        <p:nvSpPr>
          <p:cNvPr id="84" name="Google Shape;84;p11"/>
          <p:cNvSpPr/>
          <p:nvPr/>
        </p:nvSpPr>
        <p:spPr>
          <a:xfrm>
            <a:off x="3108960" y="-1200"/>
            <a:ext cx="6035100" cy="5143500"/>
          </a:xfrm>
          <a:prstGeom prst="rect">
            <a:avLst/>
          </a:prstGeom>
          <a:solidFill>
            <a:srgbClr val="99999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85" name="Google Shape;85;p11"/>
          <p:cNvSpPr txBox="1">
            <a:spLocks noGrp="1"/>
          </p:cNvSpPr>
          <p:nvPr>
            <p:ph type="title"/>
          </p:nvPr>
        </p:nvSpPr>
        <p:spPr>
          <a:xfrm>
            <a:off x="265500" y="308799"/>
            <a:ext cx="4045200" cy="15519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3000"/>
              <a:buNone/>
              <a:defRPr sz="3000"/>
            </a:lvl1pPr>
            <a:lvl2pPr lvl="1" algn="ctr" rtl="0">
              <a:spcBef>
                <a:spcPts val="0"/>
              </a:spcBef>
              <a:spcAft>
                <a:spcPts val="0"/>
              </a:spcAft>
              <a:buSzPts val="3800"/>
              <a:buNone/>
              <a:defRPr sz="3800"/>
            </a:lvl2pPr>
            <a:lvl3pPr lvl="2" algn="ctr" rtl="0">
              <a:spcBef>
                <a:spcPts val="0"/>
              </a:spcBef>
              <a:spcAft>
                <a:spcPts val="0"/>
              </a:spcAft>
              <a:buSzPts val="3800"/>
              <a:buNone/>
              <a:defRPr sz="3800"/>
            </a:lvl3pPr>
            <a:lvl4pPr lvl="3" algn="ctr" rtl="0">
              <a:spcBef>
                <a:spcPts val="0"/>
              </a:spcBef>
              <a:spcAft>
                <a:spcPts val="0"/>
              </a:spcAft>
              <a:buSzPts val="3800"/>
              <a:buNone/>
              <a:defRPr sz="3800"/>
            </a:lvl4pPr>
            <a:lvl5pPr lvl="4" algn="ctr" rtl="0">
              <a:spcBef>
                <a:spcPts val="0"/>
              </a:spcBef>
              <a:spcAft>
                <a:spcPts val="0"/>
              </a:spcAft>
              <a:buSzPts val="3800"/>
              <a:buNone/>
              <a:defRPr sz="3800"/>
            </a:lvl5pPr>
            <a:lvl6pPr lvl="5" algn="ctr" rtl="0">
              <a:spcBef>
                <a:spcPts val="0"/>
              </a:spcBef>
              <a:spcAft>
                <a:spcPts val="0"/>
              </a:spcAft>
              <a:buSzPts val="3800"/>
              <a:buNone/>
              <a:defRPr sz="3800"/>
            </a:lvl6pPr>
            <a:lvl7pPr lvl="6" algn="ctr" rtl="0">
              <a:spcBef>
                <a:spcPts val="0"/>
              </a:spcBef>
              <a:spcAft>
                <a:spcPts val="0"/>
              </a:spcAft>
              <a:buSzPts val="3800"/>
              <a:buNone/>
              <a:defRPr sz="3800"/>
            </a:lvl7pPr>
            <a:lvl8pPr lvl="7" algn="ctr" rtl="0">
              <a:spcBef>
                <a:spcPts val="0"/>
              </a:spcBef>
              <a:spcAft>
                <a:spcPts val="0"/>
              </a:spcAft>
              <a:buSzPts val="3800"/>
              <a:buNone/>
              <a:defRPr sz="3800"/>
            </a:lvl8pPr>
            <a:lvl9pPr lvl="8" algn="ctr" rtl="0">
              <a:spcBef>
                <a:spcPts val="0"/>
              </a:spcBef>
              <a:spcAft>
                <a:spcPts val="0"/>
              </a:spcAft>
              <a:buSzPts val="3800"/>
              <a:buNone/>
              <a:defRPr sz="3800"/>
            </a:lvl9pPr>
          </a:lstStyle>
          <a:p>
            <a:endParaRPr/>
          </a:p>
        </p:txBody>
      </p:sp>
      <p:sp>
        <p:nvSpPr>
          <p:cNvPr id="86" name="Google Shape;86;p11"/>
          <p:cNvSpPr txBox="1">
            <a:spLocks noGrp="1"/>
          </p:cNvSpPr>
          <p:nvPr>
            <p:ph type="subTitle" idx="1"/>
          </p:nvPr>
        </p:nvSpPr>
        <p:spPr>
          <a:xfrm>
            <a:off x="265500" y="1860700"/>
            <a:ext cx="4045200" cy="3012900"/>
          </a:xfrm>
          <a:prstGeom prst="rect">
            <a:avLst/>
          </a:prstGeom>
        </p:spPr>
        <p:txBody>
          <a:bodyPr spcFirstLastPara="1" wrap="square" lIns="91425" tIns="91425" rIns="91425" bIns="91425" anchor="ctr" anchorCtr="0">
            <a:noAutofit/>
          </a:bodyPr>
          <a:lstStyle>
            <a:lvl1pPr lvl="0" algn="ctr" rtl="0">
              <a:lnSpc>
                <a:spcPct val="100000"/>
              </a:lnSpc>
              <a:spcBef>
                <a:spcPts val="0"/>
              </a:spcBef>
              <a:spcAft>
                <a:spcPts val="0"/>
              </a:spcAft>
              <a:buSzPts val="1000"/>
              <a:buNone/>
              <a:defRPr/>
            </a:lvl1pPr>
            <a:lvl2pPr lvl="1" algn="ctr" rtl="0">
              <a:lnSpc>
                <a:spcPct val="100000"/>
              </a:lnSpc>
              <a:spcBef>
                <a:spcPts val="0"/>
              </a:spcBef>
              <a:spcAft>
                <a:spcPts val="0"/>
              </a:spcAft>
              <a:buSzPts val="1800"/>
              <a:buNone/>
              <a:defRPr sz="1800"/>
            </a:lvl2pPr>
            <a:lvl3pPr lvl="2" algn="ctr" rtl="0">
              <a:lnSpc>
                <a:spcPct val="100000"/>
              </a:lnSpc>
              <a:spcBef>
                <a:spcPts val="0"/>
              </a:spcBef>
              <a:spcAft>
                <a:spcPts val="0"/>
              </a:spcAft>
              <a:buSzPts val="1800"/>
              <a:buNone/>
              <a:defRPr sz="1800"/>
            </a:lvl3pPr>
            <a:lvl4pPr lvl="3" algn="ctr" rtl="0">
              <a:lnSpc>
                <a:spcPct val="100000"/>
              </a:lnSpc>
              <a:spcBef>
                <a:spcPts val="0"/>
              </a:spcBef>
              <a:spcAft>
                <a:spcPts val="0"/>
              </a:spcAft>
              <a:buSzPts val="1800"/>
              <a:buNone/>
              <a:defRPr sz="1800"/>
            </a:lvl4pPr>
            <a:lvl5pPr lvl="4" algn="ctr" rtl="0">
              <a:lnSpc>
                <a:spcPct val="100000"/>
              </a:lnSpc>
              <a:spcBef>
                <a:spcPts val="0"/>
              </a:spcBef>
              <a:spcAft>
                <a:spcPts val="0"/>
              </a:spcAft>
              <a:buSzPts val="1800"/>
              <a:buNone/>
              <a:defRPr sz="1800"/>
            </a:lvl5pPr>
            <a:lvl6pPr lvl="5" algn="ctr" rtl="0">
              <a:lnSpc>
                <a:spcPct val="100000"/>
              </a:lnSpc>
              <a:spcBef>
                <a:spcPts val="0"/>
              </a:spcBef>
              <a:spcAft>
                <a:spcPts val="0"/>
              </a:spcAft>
              <a:buSzPts val="1800"/>
              <a:buNone/>
              <a:defRPr sz="1800"/>
            </a:lvl6pPr>
            <a:lvl7pPr lvl="6" algn="ctr" rtl="0">
              <a:lnSpc>
                <a:spcPct val="100000"/>
              </a:lnSpc>
              <a:spcBef>
                <a:spcPts val="0"/>
              </a:spcBef>
              <a:spcAft>
                <a:spcPts val="0"/>
              </a:spcAft>
              <a:buSzPts val="1800"/>
              <a:buNone/>
              <a:defRPr sz="1800"/>
            </a:lvl7pPr>
            <a:lvl8pPr lvl="7" algn="ctr" rtl="0">
              <a:lnSpc>
                <a:spcPct val="100000"/>
              </a:lnSpc>
              <a:spcBef>
                <a:spcPts val="0"/>
              </a:spcBef>
              <a:spcAft>
                <a:spcPts val="0"/>
              </a:spcAft>
              <a:buSzPts val="1800"/>
              <a:buNone/>
              <a:defRPr sz="1800"/>
            </a:lvl8pPr>
            <a:lvl9pPr lvl="8" algn="ctr" rtl="0">
              <a:lnSpc>
                <a:spcPct val="100000"/>
              </a:lnSpc>
              <a:spcBef>
                <a:spcPts val="0"/>
              </a:spcBef>
              <a:spcAft>
                <a:spcPts val="0"/>
              </a:spcAft>
              <a:buSzPts val="1800"/>
              <a:buNone/>
              <a:defRPr sz="1800"/>
            </a:lvl9pPr>
          </a:lstStyle>
          <a:p>
            <a:endParaRPr/>
          </a:p>
        </p:txBody>
      </p:sp>
      <p:sp>
        <p:nvSpPr>
          <p:cNvPr id="87" name="Google Shape;87;p11"/>
          <p:cNvSpPr txBox="1">
            <a:spLocks noGrp="1"/>
          </p:cNvSpPr>
          <p:nvPr>
            <p:ph type="body" idx="2"/>
          </p:nvPr>
        </p:nvSpPr>
        <p:spPr>
          <a:xfrm>
            <a:off x="4939500" y="724200"/>
            <a:ext cx="3837000" cy="3695100"/>
          </a:xfrm>
          <a:prstGeom prst="rect">
            <a:avLst/>
          </a:prstGeom>
        </p:spPr>
        <p:txBody>
          <a:bodyPr spcFirstLastPara="1" wrap="square" lIns="91425" tIns="91425" rIns="91425" bIns="91425" anchor="ctr" anchorCtr="0">
            <a:noAutofit/>
          </a:bodyPr>
          <a:lstStyle>
            <a:lvl1pPr marL="457200" lvl="0" indent="-292100" rtl="0">
              <a:spcBef>
                <a:spcPts val="0"/>
              </a:spcBef>
              <a:spcAft>
                <a:spcPts val="0"/>
              </a:spcAft>
              <a:buClr>
                <a:schemeClr val="lt1"/>
              </a:buClr>
              <a:buSzPts val="1000"/>
              <a:buChar char="●"/>
              <a:defRPr>
                <a:solidFill>
                  <a:schemeClr val="lt1"/>
                </a:solidFill>
              </a:defRPr>
            </a:lvl1pPr>
            <a:lvl2pPr marL="914400" lvl="1" indent="-292100" rtl="0">
              <a:spcBef>
                <a:spcPts val="800"/>
              </a:spcBef>
              <a:spcAft>
                <a:spcPts val="0"/>
              </a:spcAft>
              <a:buClr>
                <a:schemeClr val="lt1"/>
              </a:buClr>
              <a:buSzPts val="1000"/>
              <a:buChar char="○"/>
              <a:defRPr>
                <a:solidFill>
                  <a:schemeClr val="lt1"/>
                </a:solidFill>
              </a:defRPr>
            </a:lvl2pPr>
            <a:lvl3pPr marL="1371600" lvl="2" indent="-292100" rtl="0">
              <a:spcBef>
                <a:spcPts val="800"/>
              </a:spcBef>
              <a:spcAft>
                <a:spcPts val="0"/>
              </a:spcAft>
              <a:buClr>
                <a:schemeClr val="lt1"/>
              </a:buClr>
              <a:buSzPts val="1000"/>
              <a:buChar char="■"/>
              <a:defRPr>
                <a:solidFill>
                  <a:schemeClr val="lt1"/>
                </a:solidFill>
              </a:defRPr>
            </a:lvl3pPr>
            <a:lvl4pPr marL="1828800" lvl="3" indent="-292100" rtl="0">
              <a:spcBef>
                <a:spcPts val="800"/>
              </a:spcBef>
              <a:spcAft>
                <a:spcPts val="0"/>
              </a:spcAft>
              <a:buClr>
                <a:schemeClr val="lt1"/>
              </a:buClr>
              <a:buSzPts val="1000"/>
              <a:buChar char="●"/>
              <a:defRPr>
                <a:solidFill>
                  <a:schemeClr val="lt1"/>
                </a:solidFill>
              </a:defRPr>
            </a:lvl4pPr>
            <a:lvl5pPr marL="2286000" lvl="4" indent="-292100" rtl="0">
              <a:spcBef>
                <a:spcPts val="800"/>
              </a:spcBef>
              <a:spcAft>
                <a:spcPts val="0"/>
              </a:spcAft>
              <a:buClr>
                <a:schemeClr val="lt1"/>
              </a:buClr>
              <a:buSzPts val="1000"/>
              <a:buChar char="○"/>
              <a:defRPr>
                <a:solidFill>
                  <a:schemeClr val="lt1"/>
                </a:solidFill>
              </a:defRPr>
            </a:lvl5pPr>
            <a:lvl6pPr marL="2743200" lvl="5" indent="-292100" rtl="0">
              <a:spcBef>
                <a:spcPts val="800"/>
              </a:spcBef>
              <a:spcAft>
                <a:spcPts val="0"/>
              </a:spcAft>
              <a:buClr>
                <a:schemeClr val="lt1"/>
              </a:buClr>
              <a:buSzPts val="1000"/>
              <a:buChar char="■"/>
              <a:defRPr>
                <a:solidFill>
                  <a:schemeClr val="lt1"/>
                </a:solidFill>
              </a:defRPr>
            </a:lvl6pPr>
            <a:lvl7pPr marL="3200400" lvl="6" indent="-292100" rtl="0">
              <a:spcBef>
                <a:spcPts val="800"/>
              </a:spcBef>
              <a:spcAft>
                <a:spcPts val="0"/>
              </a:spcAft>
              <a:buClr>
                <a:schemeClr val="lt1"/>
              </a:buClr>
              <a:buSzPts val="1000"/>
              <a:buChar char="●"/>
              <a:defRPr>
                <a:solidFill>
                  <a:schemeClr val="lt1"/>
                </a:solidFill>
              </a:defRPr>
            </a:lvl7pPr>
            <a:lvl8pPr marL="3657600" lvl="7" indent="-292100" rtl="0">
              <a:spcBef>
                <a:spcPts val="800"/>
              </a:spcBef>
              <a:spcAft>
                <a:spcPts val="0"/>
              </a:spcAft>
              <a:buClr>
                <a:schemeClr val="lt1"/>
              </a:buClr>
              <a:buSzPts val="1000"/>
              <a:buChar char="○"/>
              <a:defRPr>
                <a:solidFill>
                  <a:schemeClr val="lt1"/>
                </a:solidFill>
              </a:defRPr>
            </a:lvl8pPr>
            <a:lvl9pPr marL="4114800" lvl="8" indent="-292100" rtl="0">
              <a:spcBef>
                <a:spcPts val="800"/>
              </a:spcBef>
              <a:spcAft>
                <a:spcPts val="800"/>
              </a:spcAft>
              <a:buClr>
                <a:schemeClr val="lt1"/>
              </a:buClr>
              <a:buSzPts val="1000"/>
              <a:buChar char="■"/>
              <a:defRPr>
                <a:solidFill>
                  <a:schemeClr val="lt1"/>
                </a:solidFill>
              </a:defRPr>
            </a:lvl9pPr>
          </a:lstStyle>
          <a:p>
            <a:endParaRPr/>
          </a:p>
        </p:txBody>
      </p:sp>
      <p:sp>
        <p:nvSpPr>
          <p:cNvPr id="88" name="Google Shape;88;p11"/>
          <p:cNvSpPr txBox="1">
            <a:spLocks noGrp="1"/>
          </p:cNvSpPr>
          <p:nvPr>
            <p:ph type="sldNum" idx="12"/>
          </p:nvPr>
        </p:nvSpPr>
        <p:spPr>
          <a:xfrm>
            <a:off x="90450" y="4873575"/>
            <a:ext cx="548700" cy="269700"/>
          </a:xfrm>
          <a:prstGeom prst="rect">
            <a:avLst/>
          </a:prstGeom>
        </p:spPr>
        <p:txBody>
          <a:bodyPr spcFirstLastPara="1" wrap="square" lIns="91425" tIns="91425" rIns="91425" bIns="91425" anchor="ctr" anchorCtr="0">
            <a:noAutofit/>
          </a:bodyPr>
          <a:lstStyle>
            <a:lvl1pPr lvl="0" rtl="0">
              <a:buNone/>
              <a:defRPr>
                <a:solidFill>
                  <a:schemeClr val="lt1"/>
                </a:solidFill>
              </a:defRPr>
            </a:lvl1pPr>
            <a:lvl2pPr lvl="1" rtl="0">
              <a:buNone/>
              <a:defRPr>
                <a:solidFill>
                  <a:schemeClr val="lt1"/>
                </a:solidFill>
              </a:defRPr>
            </a:lvl2pPr>
            <a:lvl3pPr lvl="2" rtl="0">
              <a:buNone/>
              <a:defRPr>
                <a:solidFill>
                  <a:schemeClr val="lt1"/>
                </a:solidFill>
              </a:defRPr>
            </a:lvl3pPr>
            <a:lvl4pPr lvl="3" rtl="0">
              <a:buNone/>
              <a:defRPr>
                <a:solidFill>
                  <a:schemeClr val="lt1"/>
                </a:solidFill>
              </a:defRPr>
            </a:lvl4pPr>
            <a:lvl5pPr lvl="4" rtl="0">
              <a:buNone/>
              <a:defRPr>
                <a:solidFill>
                  <a:schemeClr val="lt1"/>
                </a:solidFill>
              </a:defRPr>
            </a:lvl5pPr>
            <a:lvl6pPr lvl="5" rtl="0">
              <a:buNone/>
              <a:defRPr>
                <a:solidFill>
                  <a:schemeClr val="lt1"/>
                </a:solidFill>
              </a:defRPr>
            </a:lvl6pPr>
            <a:lvl7pPr lvl="6" rtl="0">
              <a:buNone/>
              <a:defRPr>
                <a:solidFill>
                  <a:schemeClr val="lt1"/>
                </a:solidFill>
              </a:defRPr>
            </a:lvl7pPr>
            <a:lvl8pPr lvl="7" rtl="0">
              <a:buNone/>
              <a:defRPr>
                <a:solidFill>
                  <a:schemeClr val="lt1"/>
                </a:solidFill>
              </a:defRPr>
            </a:lvl8pPr>
            <a:lvl9pPr lvl="8" rtl="0">
              <a:buNone/>
              <a:defRPr>
                <a:solidFill>
                  <a:schemeClr val="lt1"/>
                </a:solidFil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9"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gameday">
    <p:bg>
      <p:bgPr>
        <a:solidFill>
          <a:srgbClr val="666666"/>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64025"/>
            <a:ext cx="8520600" cy="572700"/>
          </a:xfrm>
          <a:prstGeom prst="rect">
            <a:avLst/>
          </a:prstGeom>
          <a:noFill/>
          <a:ln>
            <a:noFill/>
          </a:ln>
        </p:spPr>
        <p:txBody>
          <a:bodyPr spcFirstLastPara="1" wrap="square" lIns="91425" tIns="91425" rIns="91425" bIns="91425" anchor="ctr" anchorCtr="0">
            <a:noAutofit/>
          </a:bodyPr>
          <a:lstStyle>
            <a:lvl1pPr lvl="0">
              <a:spcBef>
                <a:spcPts val="0"/>
              </a:spcBef>
              <a:spcAft>
                <a:spcPts val="0"/>
              </a:spcAft>
              <a:buClr>
                <a:srgbClr val="FFFFFF"/>
              </a:buClr>
              <a:buSzPts val="2000"/>
              <a:buFont typeface="Roboto Light"/>
              <a:buNone/>
              <a:defRPr sz="2000">
                <a:solidFill>
                  <a:srgbClr val="FFFFFF"/>
                </a:solidFill>
                <a:latin typeface="Roboto Light"/>
                <a:ea typeface="Roboto Light"/>
                <a:cs typeface="Roboto Light"/>
                <a:sym typeface="Roboto Light"/>
              </a:defRPr>
            </a:lvl1pPr>
            <a:lvl2pPr lvl="1">
              <a:spcBef>
                <a:spcPts val="0"/>
              </a:spcBef>
              <a:spcAft>
                <a:spcPts val="0"/>
              </a:spcAft>
              <a:buClr>
                <a:srgbClr val="EC781C"/>
              </a:buClr>
              <a:buSzPts val="2400"/>
              <a:buFont typeface="Alfa Slab One"/>
              <a:buNone/>
              <a:defRPr sz="2400">
                <a:solidFill>
                  <a:srgbClr val="EC781C"/>
                </a:solidFill>
                <a:latin typeface="Alfa Slab One"/>
                <a:ea typeface="Alfa Slab One"/>
                <a:cs typeface="Alfa Slab One"/>
                <a:sym typeface="Alfa Slab One"/>
              </a:defRPr>
            </a:lvl2pPr>
            <a:lvl3pPr lvl="2">
              <a:spcBef>
                <a:spcPts val="0"/>
              </a:spcBef>
              <a:spcAft>
                <a:spcPts val="0"/>
              </a:spcAft>
              <a:buClr>
                <a:srgbClr val="EC781C"/>
              </a:buClr>
              <a:buSzPts val="2400"/>
              <a:buFont typeface="Alfa Slab One"/>
              <a:buNone/>
              <a:defRPr sz="2400">
                <a:solidFill>
                  <a:srgbClr val="EC781C"/>
                </a:solidFill>
                <a:latin typeface="Alfa Slab One"/>
                <a:ea typeface="Alfa Slab One"/>
                <a:cs typeface="Alfa Slab One"/>
                <a:sym typeface="Alfa Slab One"/>
              </a:defRPr>
            </a:lvl3pPr>
            <a:lvl4pPr lvl="3">
              <a:spcBef>
                <a:spcPts val="0"/>
              </a:spcBef>
              <a:spcAft>
                <a:spcPts val="0"/>
              </a:spcAft>
              <a:buClr>
                <a:srgbClr val="EC781C"/>
              </a:buClr>
              <a:buSzPts val="2400"/>
              <a:buFont typeface="Alfa Slab One"/>
              <a:buNone/>
              <a:defRPr sz="2400">
                <a:solidFill>
                  <a:srgbClr val="EC781C"/>
                </a:solidFill>
                <a:latin typeface="Alfa Slab One"/>
                <a:ea typeface="Alfa Slab One"/>
                <a:cs typeface="Alfa Slab One"/>
                <a:sym typeface="Alfa Slab One"/>
              </a:defRPr>
            </a:lvl4pPr>
            <a:lvl5pPr lvl="4">
              <a:spcBef>
                <a:spcPts val="0"/>
              </a:spcBef>
              <a:spcAft>
                <a:spcPts val="0"/>
              </a:spcAft>
              <a:buClr>
                <a:srgbClr val="EC781C"/>
              </a:buClr>
              <a:buSzPts val="2400"/>
              <a:buFont typeface="Alfa Slab One"/>
              <a:buNone/>
              <a:defRPr sz="2400">
                <a:solidFill>
                  <a:srgbClr val="EC781C"/>
                </a:solidFill>
                <a:latin typeface="Alfa Slab One"/>
                <a:ea typeface="Alfa Slab One"/>
                <a:cs typeface="Alfa Slab One"/>
                <a:sym typeface="Alfa Slab One"/>
              </a:defRPr>
            </a:lvl5pPr>
            <a:lvl6pPr lvl="5">
              <a:spcBef>
                <a:spcPts val="0"/>
              </a:spcBef>
              <a:spcAft>
                <a:spcPts val="0"/>
              </a:spcAft>
              <a:buClr>
                <a:srgbClr val="EC781C"/>
              </a:buClr>
              <a:buSzPts val="2400"/>
              <a:buFont typeface="Alfa Slab One"/>
              <a:buNone/>
              <a:defRPr sz="2400">
                <a:solidFill>
                  <a:srgbClr val="EC781C"/>
                </a:solidFill>
                <a:latin typeface="Alfa Slab One"/>
                <a:ea typeface="Alfa Slab One"/>
                <a:cs typeface="Alfa Slab One"/>
                <a:sym typeface="Alfa Slab One"/>
              </a:defRPr>
            </a:lvl6pPr>
            <a:lvl7pPr lvl="6">
              <a:spcBef>
                <a:spcPts val="0"/>
              </a:spcBef>
              <a:spcAft>
                <a:spcPts val="0"/>
              </a:spcAft>
              <a:buClr>
                <a:srgbClr val="EC781C"/>
              </a:buClr>
              <a:buSzPts val="2400"/>
              <a:buFont typeface="Alfa Slab One"/>
              <a:buNone/>
              <a:defRPr sz="2400">
                <a:solidFill>
                  <a:srgbClr val="EC781C"/>
                </a:solidFill>
                <a:latin typeface="Alfa Slab One"/>
                <a:ea typeface="Alfa Slab One"/>
                <a:cs typeface="Alfa Slab One"/>
                <a:sym typeface="Alfa Slab One"/>
              </a:defRPr>
            </a:lvl7pPr>
            <a:lvl8pPr lvl="7">
              <a:spcBef>
                <a:spcPts val="0"/>
              </a:spcBef>
              <a:spcAft>
                <a:spcPts val="0"/>
              </a:spcAft>
              <a:buClr>
                <a:srgbClr val="EC781C"/>
              </a:buClr>
              <a:buSzPts val="2400"/>
              <a:buFont typeface="Alfa Slab One"/>
              <a:buNone/>
              <a:defRPr sz="2400">
                <a:solidFill>
                  <a:srgbClr val="EC781C"/>
                </a:solidFill>
                <a:latin typeface="Alfa Slab One"/>
                <a:ea typeface="Alfa Slab One"/>
                <a:cs typeface="Alfa Slab One"/>
                <a:sym typeface="Alfa Slab One"/>
              </a:defRPr>
            </a:lvl8pPr>
            <a:lvl9pPr lvl="8">
              <a:spcBef>
                <a:spcPts val="0"/>
              </a:spcBef>
              <a:spcAft>
                <a:spcPts val="0"/>
              </a:spcAft>
              <a:buClr>
                <a:srgbClr val="EC781C"/>
              </a:buClr>
              <a:buSzPts val="2400"/>
              <a:buFont typeface="Alfa Slab One"/>
              <a:buNone/>
              <a:defRPr sz="2400">
                <a:solidFill>
                  <a:srgbClr val="EC781C"/>
                </a:solidFill>
                <a:latin typeface="Alfa Slab One"/>
                <a:ea typeface="Alfa Slab One"/>
                <a:cs typeface="Alfa Slab One"/>
                <a:sym typeface="Alfa Slab One"/>
              </a:defRPr>
            </a:lvl9pPr>
          </a:lstStyle>
          <a:p>
            <a:endParaRPr/>
          </a:p>
        </p:txBody>
      </p:sp>
      <p:sp>
        <p:nvSpPr>
          <p:cNvPr id="7" name="Google Shape;7;p1"/>
          <p:cNvSpPr txBox="1">
            <a:spLocks noGrp="1"/>
          </p:cNvSpPr>
          <p:nvPr>
            <p:ph type="body" idx="1"/>
          </p:nvPr>
        </p:nvSpPr>
        <p:spPr>
          <a:xfrm>
            <a:off x="311700" y="636725"/>
            <a:ext cx="8520600" cy="3932100"/>
          </a:xfrm>
          <a:prstGeom prst="rect">
            <a:avLst/>
          </a:prstGeom>
          <a:noFill/>
          <a:ln>
            <a:noFill/>
          </a:ln>
        </p:spPr>
        <p:txBody>
          <a:bodyPr spcFirstLastPara="1" wrap="square" lIns="91425" tIns="91425" rIns="91425" bIns="91425" anchor="t" anchorCtr="0">
            <a:noAutofit/>
          </a:bodyPr>
          <a:lstStyle>
            <a:lvl1pPr marL="457200" lvl="0" indent="-292100">
              <a:lnSpc>
                <a:spcPct val="104000"/>
              </a:lnSpc>
              <a:spcBef>
                <a:spcPts val="0"/>
              </a:spcBef>
              <a:spcAft>
                <a:spcPts val="0"/>
              </a:spcAft>
              <a:buClr>
                <a:srgbClr val="FFFFFF"/>
              </a:buClr>
              <a:buSzPts val="1000"/>
              <a:buFont typeface="Roboto"/>
              <a:buChar char="●"/>
              <a:defRPr sz="1000">
                <a:solidFill>
                  <a:srgbClr val="FFFFFF"/>
                </a:solidFill>
                <a:latin typeface="Roboto"/>
                <a:ea typeface="Roboto"/>
                <a:cs typeface="Roboto"/>
                <a:sym typeface="Roboto"/>
              </a:defRPr>
            </a:lvl1pPr>
            <a:lvl2pPr marL="914400" lvl="1" indent="-292100">
              <a:lnSpc>
                <a:spcPct val="104000"/>
              </a:lnSpc>
              <a:spcBef>
                <a:spcPts val="800"/>
              </a:spcBef>
              <a:spcAft>
                <a:spcPts val="0"/>
              </a:spcAft>
              <a:buClr>
                <a:srgbClr val="FFFFFF"/>
              </a:buClr>
              <a:buSzPts val="1000"/>
              <a:buFont typeface="Roboto"/>
              <a:buChar char="○"/>
              <a:defRPr sz="1000" i="1">
                <a:solidFill>
                  <a:srgbClr val="FFFFFF"/>
                </a:solidFill>
                <a:latin typeface="Roboto"/>
                <a:ea typeface="Roboto"/>
                <a:cs typeface="Roboto"/>
                <a:sym typeface="Roboto"/>
              </a:defRPr>
            </a:lvl2pPr>
            <a:lvl3pPr marL="1371600" lvl="2" indent="-292100">
              <a:lnSpc>
                <a:spcPct val="104000"/>
              </a:lnSpc>
              <a:spcBef>
                <a:spcPts val="800"/>
              </a:spcBef>
              <a:spcAft>
                <a:spcPts val="0"/>
              </a:spcAft>
              <a:buClr>
                <a:srgbClr val="FFFFFF"/>
              </a:buClr>
              <a:buSzPts val="1000"/>
              <a:buFont typeface="Roboto"/>
              <a:buChar char="■"/>
              <a:defRPr sz="1000" u="sng">
                <a:solidFill>
                  <a:srgbClr val="FFFFFF"/>
                </a:solidFill>
                <a:latin typeface="Roboto"/>
                <a:ea typeface="Roboto"/>
                <a:cs typeface="Roboto"/>
                <a:sym typeface="Roboto"/>
              </a:defRPr>
            </a:lvl3pPr>
            <a:lvl4pPr marL="1828800" lvl="3" indent="-292100">
              <a:lnSpc>
                <a:spcPct val="104000"/>
              </a:lnSpc>
              <a:spcBef>
                <a:spcPts val="800"/>
              </a:spcBef>
              <a:spcAft>
                <a:spcPts val="0"/>
              </a:spcAft>
              <a:buClr>
                <a:srgbClr val="FFFFFF"/>
              </a:buClr>
              <a:buSzPts val="1000"/>
              <a:buFont typeface="Roboto"/>
              <a:buChar char="●"/>
              <a:defRPr sz="1000">
                <a:solidFill>
                  <a:srgbClr val="FFFFFF"/>
                </a:solidFill>
                <a:latin typeface="Roboto"/>
                <a:ea typeface="Roboto"/>
                <a:cs typeface="Roboto"/>
                <a:sym typeface="Roboto"/>
              </a:defRPr>
            </a:lvl4pPr>
            <a:lvl5pPr marL="2286000" lvl="4" indent="-292100">
              <a:lnSpc>
                <a:spcPct val="104000"/>
              </a:lnSpc>
              <a:spcBef>
                <a:spcPts val="800"/>
              </a:spcBef>
              <a:spcAft>
                <a:spcPts val="0"/>
              </a:spcAft>
              <a:buClr>
                <a:srgbClr val="FFFFFF"/>
              </a:buClr>
              <a:buSzPts val="1000"/>
              <a:buFont typeface="Roboto"/>
              <a:buChar char="○"/>
              <a:defRPr sz="1000" i="1">
                <a:solidFill>
                  <a:srgbClr val="FFFFFF"/>
                </a:solidFill>
                <a:latin typeface="Roboto"/>
                <a:ea typeface="Roboto"/>
                <a:cs typeface="Roboto"/>
                <a:sym typeface="Roboto"/>
              </a:defRPr>
            </a:lvl5pPr>
            <a:lvl6pPr marL="2743200" lvl="5" indent="-292100">
              <a:lnSpc>
                <a:spcPct val="104000"/>
              </a:lnSpc>
              <a:spcBef>
                <a:spcPts val="800"/>
              </a:spcBef>
              <a:spcAft>
                <a:spcPts val="0"/>
              </a:spcAft>
              <a:buClr>
                <a:srgbClr val="FFFFFF"/>
              </a:buClr>
              <a:buSzPts val="1000"/>
              <a:buFont typeface="Roboto"/>
              <a:buChar char="■"/>
              <a:defRPr sz="1000" u="sng">
                <a:solidFill>
                  <a:srgbClr val="FFFFFF"/>
                </a:solidFill>
                <a:latin typeface="Roboto"/>
                <a:ea typeface="Roboto"/>
                <a:cs typeface="Roboto"/>
                <a:sym typeface="Roboto"/>
              </a:defRPr>
            </a:lvl6pPr>
            <a:lvl7pPr marL="3200400" lvl="6" indent="-292100">
              <a:lnSpc>
                <a:spcPct val="104000"/>
              </a:lnSpc>
              <a:spcBef>
                <a:spcPts val="800"/>
              </a:spcBef>
              <a:spcAft>
                <a:spcPts val="0"/>
              </a:spcAft>
              <a:buClr>
                <a:srgbClr val="FFFFFF"/>
              </a:buClr>
              <a:buSzPts val="1000"/>
              <a:buFont typeface="Roboto"/>
              <a:buChar char="●"/>
              <a:defRPr sz="1000">
                <a:solidFill>
                  <a:srgbClr val="FFFFFF"/>
                </a:solidFill>
                <a:latin typeface="Roboto"/>
                <a:ea typeface="Roboto"/>
                <a:cs typeface="Roboto"/>
                <a:sym typeface="Roboto"/>
              </a:defRPr>
            </a:lvl7pPr>
            <a:lvl8pPr marL="3657600" lvl="7" indent="-292100">
              <a:lnSpc>
                <a:spcPct val="104000"/>
              </a:lnSpc>
              <a:spcBef>
                <a:spcPts val="800"/>
              </a:spcBef>
              <a:spcAft>
                <a:spcPts val="0"/>
              </a:spcAft>
              <a:buClr>
                <a:srgbClr val="FFFFFF"/>
              </a:buClr>
              <a:buSzPts val="1000"/>
              <a:buFont typeface="Roboto"/>
              <a:buChar char="○"/>
              <a:defRPr sz="1000" i="1">
                <a:solidFill>
                  <a:srgbClr val="FFFFFF"/>
                </a:solidFill>
                <a:latin typeface="Roboto"/>
                <a:ea typeface="Roboto"/>
                <a:cs typeface="Roboto"/>
                <a:sym typeface="Roboto"/>
              </a:defRPr>
            </a:lvl8pPr>
            <a:lvl9pPr marL="4114800" lvl="8" indent="-292100">
              <a:lnSpc>
                <a:spcPct val="104000"/>
              </a:lnSpc>
              <a:spcBef>
                <a:spcPts val="800"/>
              </a:spcBef>
              <a:spcAft>
                <a:spcPts val="800"/>
              </a:spcAft>
              <a:buClr>
                <a:srgbClr val="FFFFFF"/>
              </a:buClr>
              <a:buSzPts val="1000"/>
              <a:buFont typeface="Roboto"/>
              <a:buChar char="■"/>
              <a:defRPr sz="1000" u="sng">
                <a:solidFill>
                  <a:srgbClr val="FFFFFF"/>
                </a:solidFill>
                <a:latin typeface="Roboto"/>
                <a:ea typeface="Roboto"/>
                <a:cs typeface="Roboto"/>
                <a:sym typeface="Roboto"/>
              </a:defRPr>
            </a:lvl9pPr>
          </a:lstStyle>
          <a:p>
            <a:endParaRPr/>
          </a:p>
        </p:txBody>
      </p:sp>
      <p:sp>
        <p:nvSpPr>
          <p:cNvPr id="8" name="Google Shape;8;p1"/>
          <p:cNvSpPr txBox="1">
            <a:spLocks noGrp="1"/>
          </p:cNvSpPr>
          <p:nvPr>
            <p:ph type="sldNum" idx="12"/>
          </p:nvPr>
        </p:nvSpPr>
        <p:spPr>
          <a:xfrm>
            <a:off x="90450" y="4873575"/>
            <a:ext cx="548700" cy="269700"/>
          </a:xfrm>
          <a:prstGeom prst="rect">
            <a:avLst/>
          </a:prstGeom>
          <a:noFill/>
          <a:ln>
            <a:noFill/>
          </a:ln>
        </p:spPr>
        <p:txBody>
          <a:bodyPr spcFirstLastPara="1" wrap="square" lIns="91425" tIns="91425" rIns="91425" bIns="91425" anchor="ctr" anchorCtr="0">
            <a:noAutofit/>
          </a:bodyPr>
          <a:lstStyle>
            <a:lvl1pPr lvl="0" algn="r">
              <a:buNone/>
              <a:defRPr sz="1000">
                <a:solidFill>
                  <a:schemeClr val="dk2"/>
                </a:solidFill>
                <a:latin typeface="Proxima Nova"/>
                <a:ea typeface="Proxima Nova"/>
                <a:cs typeface="Proxima Nova"/>
                <a:sym typeface="Proxima Nova"/>
              </a:defRPr>
            </a:lvl1pPr>
            <a:lvl2pPr lvl="1" algn="r">
              <a:buNone/>
              <a:defRPr sz="1000">
                <a:solidFill>
                  <a:schemeClr val="dk2"/>
                </a:solidFill>
                <a:latin typeface="Proxima Nova"/>
                <a:ea typeface="Proxima Nova"/>
                <a:cs typeface="Proxima Nova"/>
                <a:sym typeface="Proxima Nova"/>
              </a:defRPr>
            </a:lvl2pPr>
            <a:lvl3pPr lvl="2" algn="r">
              <a:buNone/>
              <a:defRPr sz="1000">
                <a:solidFill>
                  <a:schemeClr val="dk2"/>
                </a:solidFill>
                <a:latin typeface="Proxima Nova"/>
                <a:ea typeface="Proxima Nova"/>
                <a:cs typeface="Proxima Nova"/>
                <a:sym typeface="Proxima Nova"/>
              </a:defRPr>
            </a:lvl3pPr>
            <a:lvl4pPr lvl="3" algn="r">
              <a:buNone/>
              <a:defRPr sz="1000">
                <a:solidFill>
                  <a:schemeClr val="dk2"/>
                </a:solidFill>
                <a:latin typeface="Proxima Nova"/>
                <a:ea typeface="Proxima Nova"/>
                <a:cs typeface="Proxima Nova"/>
                <a:sym typeface="Proxima Nova"/>
              </a:defRPr>
            </a:lvl4pPr>
            <a:lvl5pPr lvl="4" algn="r">
              <a:buNone/>
              <a:defRPr sz="1000">
                <a:solidFill>
                  <a:schemeClr val="dk2"/>
                </a:solidFill>
                <a:latin typeface="Proxima Nova"/>
                <a:ea typeface="Proxima Nova"/>
                <a:cs typeface="Proxima Nova"/>
                <a:sym typeface="Proxima Nova"/>
              </a:defRPr>
            </a:lvl5pPr>
            <a:lvl6pPr lvl="5" algn="r">
              <a:buNone/>
              <a:defRPr sz="1000">
                <a:solidFill>
                  <a:schemeClr val="dk2"/>
                </a:solidFill>
                <a:latin typeface="Proxima Nova"/>
                <a:ea typeface="Proxima Nova"/>
                <a:cs typeface="Proxima Nova"/>
                <a:sym typeface="Proxima Nova"/>
              </a:defRPr>
            </a:lvl6pPr>
            <a:lvl7pPr lvl="6" algn="r">
              <a:buNone/>
              <a:defRPr sz="1000">
                <a:solidFill>
                  <a:schemeClr val="dk2"/>
                </a:solidFill>
                <a:latin typeface="Proxima Nova"/>
                <a:ea typeface="Proxima Nova"/>
                <a:cs typeface="Proxima Nova"/>
                <a:sym typeface="Proxima Nova"/>
              </a:defRPr>
            </a:lvl7pPr>
            <a:lvl8pPr lvl="7" algn="r">
              <a:buNone/>
              <a:defRPr sz="1000">
                <a:solidFill>
                  <a:schemeClr val="dk2"/>
                </a:solidFill>
                <a:latin typeface="Proxima Nova"/>
                <a:ea typeface="Proxima Nova"/>
                <a:cs typeface="Proxima Nova"/>
                <a:sym typeface="Proxima Nova"/>
              </a:defRPr>
            </a:lvl8pPr>
            <a:lvl9pPr lvl="8" algn="r">
              <a:buNone/>
              <a:defRPr sz="1000">
                <a:solidFill>
                  <a:schemeClr val="dk2"/>
                </a:solidFill>
                <a:latin typeface="Proxima Nova"/>
                <a:ea typeface="Proxima Nova"/>
                <a:cs typeface="Proxima Nova"/>
                <a:sym typeface="Proxima Nova"/>
              </a:defRPr>
            </a:lvl9pPr>
          </a:lstStyle>
          <a:p>
            <a:pPr marL="0" lvl="0" indent="0" algn="r" rtl="0">
              <a:spcBef>
                <a:spcPts val="0"/>
              </a:spcBef>
              <a:spcAft>
                <a:spcPts val="0"/>
              </a:spcAft>
              <a:buNone/>
            </a:pPr>
            <a:fld id="{00000000-1234-1234-1234-123412341234}" type="slidenum">
              <a:rPr lang="en"/>
              <a:t>‹#›</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5" r:id="rId7"/>
    <p:sldLayoutId id="2147483657" r:id="rId8"/>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1.xml"/><Relationship Id="rId1" Type="http://schemas.openxmlformats.org/officeDocument/2006/relationships/slideLayout" Target="../slideLayouts/slideLayout8.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8.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4.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hyperlink" Target="https://github.com/VladislavStoimenov235030/Vladislav_Stoimenov_Graduation_Project_25_26.git" TargetMode="External"/><Relationship Id="rId2" Type="http://schemas.openxmlformats.org/officeDocument/2006/relationships/notesSlide" Target="../notesSlides/notesSlide8.xml"/><Relationship Id="rId1" Type="http://schemas.openxmlformats.org/officeDocument/2006/relationships/slideLayout" Target="../slideLayouts/slideLayout6.xml"/><Relationship Id="rId6" Type="http://schemas.openxmlformats.org/officeDocument/2006/relationships/hyperlink" Target="https://github.com/VladislavStoimenov235030/Vladislav_Stoimenov_Graduation_Project_25_26/blob/1dd517d4c198e0e7c256fdd5edfa65bfef27918c/thesis/Thesis_Vladislav_Stoimenov.pdf" TargetMode="External"/><Relationship Id="rId5" Type="http://schemas.openxmlformats.org/officeDocument/2006/relationships/hyperlink" Target="https://github.com/VladislavStoimenov235030/Vladislav_Stoimenov_Graduation_Project_25_26/blob/1dd517d4c198e0e7c256fdd5edfa65bfef27918c/thesis/thesis%20writing/thesis_template/references.bib" TargetMode="External"/><Relationship Id="rId4" Type="http://schemas.openxmlformats.org/officeDocument/2006/relationships/hyperlink" Target="https://github.com/VladislavStoimenov235030/Vladislav_Stoimenov_Graduation_Project_25_26/blob/1dd517d4c198e0e7c256fdd5edfa65bfef27918c/requirements.txt" TargetMode="External"/></Relationships>
</file>

<file path=ppt/slides/_rels/slide10.xml.rels><?xml version="1.0" encoding="UTF-8" standalone="yes"?>
<Relationships xmlns="http://schemas.openxmlformats.org/package/2006/relationships"><Relationship Id="rId3" Type="http://schemas.openxmlformats.org/officeDocument/2006/relationships/hyperlink" Target="https://edubuas.sharepoint.com/:p:/t/Generalstudyinformation-ADSAI/ERiYYoxNX-BKsOj2_KXbAMgBIAfpxKrSoA3D47Vyn14vOg?e=qQDTHp" TargetMode="External"/><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3" Type="http://schemas.openxmlformats.org/officeDocument/2006/relationships/hyperlink" Target="https://github.com/VladislavStoimenov235030/Vladislav_Stoimenov_Graduation_Project_25_26/tree/1dd517d4c198e0e7c256fdd5edfa65bfef27918c/data" TargetMode="External"/><Relationship Id="rId2" Type="http://schemas.openxmlformats.org/officeDocument/2006/relationships/notesSlide" Target="../notesSlides/notesSlide10.xml"/><Relationship Id="rId1" Type="http://schemas.openxmlformats.org/officeDocument/2006/relationships/slideLayout" Target="../slideLayouts/slideLayout6.xml"/><Relationship Id="rId5" Type="http://schemas.openxmlformats.org/officeDocument/2006/relationships/hyperlink" Target="https://github.com/VladislavStoimenov235030/Vladislav_Stoimenov_Graduation_Project_25_26/blob/1dd517d4c198e0e7c256fdd5edfa65bfef27918c/scripts/create_rdd2022_4classes_small.py" TargetMode="External"/><Relationship Id="rId4" Type="http://schemas.openxmlformats.org/officeDocument/2006/relationships/hyperlink" Target="https://github.com/VladislavStoimenov235030/Vladislav_Stoimenov_Graduation_Project_25_26/blob/1dd517d4c198e0e7c256fdd5edfa65bfef27918c/notebooks/01_explore_rdd2022.ipynb" TargetMode="Externa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3" Type="http://schemas.openxmlformats.org/officeDocument/2006/relationships/hyperlink" Target="https://github.com/VladislavStoimenov235030/Vladislav_Stoimenov_Graduation_Project_25_26/blob/1dd517d4c198e0e7c256fdd5edfa65bfef27918c/notebooks/03_first_yolo_training_sample_dataset.ipynb" TargetMode="External"/><Relationship Id="rId2" Type="http://schemas.openxmlformats.org/officeDocument/2006/relationships/notesSlide" Target="../notesSlides/notesSlide12.xml"/><Relationship Id="rId1" Type="http://schemas.openxmlformats.org/officeDocument/2006/relationships/slideLayout" Target="../slideLayouts/slideLayout6.xml"/><Relationship Id="rId5" Type="http://schemas.openxmlformats.org/officeDocument/2006/relationships/hyperlink" Target="https://github.com/VladislavStoimenov235030/Vladislav_Stoimenov_Graduation_Project_25_26/blob/99fa36ab76431c2be7275b69f5fcc5cb937224fb/product_architecture_plan.png" TargetMode="External"/><Relationship Id="rId4" Type="http://schemas.openxmlformats.org/officeDocument/2006/relationships/hyperlink" Target="https://github.com/VladislavStoimenov235030/Vladislav_Stoimenov_Graduation_Project_25_26/blob/1dd517d4c198e0e7c256fdd5edfa65bfef27918c/notebooks/07_fasterrcnn_small_dataset.ipynb" TargetMode="Externa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3" Type="http://schemas.openxmlformats.org/officeDocument/2006/relationships/hyperlink" Target="https://github.com/VladislavStoimenov235030/Vladislav_Stoimenov_Graduation_Project_25_26/blob/99fa36ab76431c2be7275b69f5fcc5cb937224fb/config/risk_weights.yaml" TargetMode="External"/><Relationship Id="rId7" Type="http://schemas.openxmlformats.org/officeDocument/2006/relationships/hyperlink" Target="https://github.com/VladislavStoimenov235030/Vladislav_Stoimenov_Graduation_Project_25_26/blob/1dd517d4c198e0e7c256fdd5edfa65bfef27918c/thesis/Thesis_Vladislav_Stoimenov.pdf" TargetMode="External"/><Relationship Id="rId2" Type="http://schemas.openxmlformats.org/officeDocument/2006/relationships/notesSlide" Target="../notesSlides/notesSlide14.xml"/><Relationship Id="rId1" Type="http://schemas.openxmlformats.org/officeDocument/2006/relationships/slideLayout" Target="../slideLayouts/slideLayout6.xml"/><Relationship Id="rId6" Type="http://schemas.openxmlformats.org/officeDocument/2006/relationships/hyperlink" Target="https://github.com/VladislavStoimenov235030/Vladislav_Stoimenov_Graduation_Project_25_26/tree/99fa36ab76431c2be7275b69f5fcc5cb937224fb/src/risk" TargetMode="External"/><Relationship Id="rId5" Type="http://schemas.openxmlformats.org/officeDocument/2006/relationships/hyperlink" Target="https://github.com/VladislavStoimenov235030/Vladislav_Stoimenov_Graduation_Project_25_26/blob/99fa36ab76431c2be7275b69f5fcc5cb937224fb/src/risk/observation_risk.py" TargetMode="External"/><Relationship Id="rId4" Type="http://schemas.openxmlformats.org/officeDocument/2006/relationships/hyperlink" Target="https://github.com/VladislavStoimenov235030/Vladislav_Stoimenov_Graduation_Project_25_26/blob/99fa36ab76431c2be7275b69f5fcc5cb937224fb/src/risk/scoring.py" TargetMode="Externa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3" Type="http://schemas.openxmlformats.org/officeDocument/2006/relationships/hyperlink" Target="https://github.com/VladislavStoimenov235030/Vladislav_Stoimenov_Graduation_Project_25_26/blob/99fa36ab76431c2be7275b69f5fcc5cb937224fb/src/geospatial/network.py" TargetMode="External"/><Relationship Id="rId7" Type="http://schemas.openxmlformats.org/officeDocument/2006/relationships/hyperlink" Target="https://github.com/VladislavStoimenov235030/Vladislav_Stoimenov_Graduation_Project_25_26/blob/99fa36ab76431c2be7275b69f5fcc5cb937224fb/config/risk_weights.yaml" TargetMode="External"/><Relationship Id="rId2" Type="http://schemas.openxmlformats.org/officeDocument/2006/relationships/notesSlide" Target="../notesSlides/notesSlide16.xml"/><Relationship Id="rId1" Type="http://schemas.openxmlformats.org/officeDocument/2006/relationships/slideLayout" Target="../slideLayouts/slideLayout6.xml"/><Relationship Id="rId6" Type="http://schemas.openxmlformats.org/officeDocument/2006/relationships/hyperlink" Target="https://github.com/VladislavStoimenov235030/Vladislav_Stoimenov_Graduation_Project_25_26/blob/99fa36ab76431c2be7275b69f5fcc5cb937224fb/src/routing/router.py" TargetMode="External"/><Relationship Id="rId5" Type="http://schemas.openxmlformats.org/officeDocument/2006/relationships/hyperlink" Target="https://github.com/VladislavStoimenov235030/Vladislav_Stoimenov_Graduation_Project_25_26/blob/99fa36ab76431c2be7275b69f5fcc5cb937224fb/src/risk/segment_aggregation.py" TargetMode="External"/><Relationship Id="rId4" Type="http://schemas.openxmlformats.org/officeDocument/2006/relationships/hyperlink" Target="https://github.com/VladislavStoimenov235030/Vladislav_Stoimenov_Graduation_Project_25_26/blob/99fa36ab76431c2be7275b69f5fcc5cb937224fb/src/geospatial/matching.py" TargetMode="Externa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8" Type="http://schemas.openxmlformats.org/officeDocument/2006/relationships/hyperlink" Target="https://github.com/VladislavStoimenov235030/Vladislav_Stoimenov_Graduation_Project_25_26/blob/99fa36ab76431c2be7275b69f5fcc5cb937224fb/pages/4_Safer_Route_Planner.py" TargetMode="External"/><Relationship Id="rId3" Type="http://schemas.openxmlformats.org/officeDocument/2006/relationships/hyperlink" Target="https://github.com/VladislavStoimenov235030/Vladislav_Stoimenov_Graduation_Project_25_26/blob/99fa36ab76431c2be7275b69f5fcc5cb937224fb/app.py" TargetMode="External"/><Relationship Id="rId7" Type="http://schemas.openxmlformats.org/officeDocument/2006/relationships/hyperlink" Target="https://github.com/VladislavStoimenov235030/Vladislav_Stoimenov_Graduation_Project_25_26/blob/99fa36ab76431c2be7275b69f5fcc5cb937224fb/pages/3_Damage_Map.py" TargetMode="External"/><Relationship Id="rId2" Type="http://schemas.openxmlformats.org/officeDocument/2006/relationships/notesSlide" Target="../notesSlides/notesSlide18.xml"/><Relationship Id="rId1" Type="http://schemas.openxmlformats.org/officeDocument/2006/relationships/slideLayout" Target="../slideLayouts/slideLayout6.xml"/><Relationship Id="rId6" Type="http://schemas.openxmlformats.org/officeDocument/2006/relationships/hyperlink" Target="https://github.com/VladislavStoimenov235030/Vladislav_Stoimenov_Graduation_Project_25_26/blob/99fa36ab76431c2be7275b69f5fcc5cb937224fb/pages/1_Dashboard.py" TargetMode="External"/><Relationship Id="rId5" Type="http://schemas.openxmlformats.org/officeDocument/2006/relationships/hyperlink" Target="https://github.com/VladislavStoimenov235030/Vladislav_Stoimenov_Graduation_Project_25_26/blob/99fa36ab76431c2be7275b69f5fcc5cb937224fb/src/app/database.py" TargetMode="External"/><Relationship Id="rId4" Type="http://schemas.openxmlformats.org/officeDocument/2006/relationships/hyperlink" Target="https://github.com/VladislavStoimenov235030/Vladislav_Stoimenov_Graduation_Project_25_26/blob/99fa36ab76431c2be7275b69f5fcc5cb937224fb/pages/2_Upload_and_Detect.py" TargetMode="Externa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3" Type="http://schemas.openxmlformats.org/officeDocument/2006/relationships/hyperlink" Target="https://github.com/VladislavStoimenov235030/Vladislav_Stoimenov_Graduation_Project_25_26/blob/99fa36ab76431c2be7275b69f5fcc5cb937224fb/notebooks/02_visual_inspection_rd2022.ipynb" TargetMode="External"/><Relationship Id="rId7" Type="http://schemas.openxmlformats.org/officeDocument/2006/relationships/hyperlink" Target="https://github.com/VladislavStoimenov235030/Vladislav_Stoimenov_Graduation_Project_25_26/tree/99fa36ab76431c2be7275b69f5fcc5cb937224fb/notebooks" TargetMode="External"/><Relationship Id="rId2" Type="http://schemas.openxmlformats.org/officeDocument/2006/relationships/notesSlide" Target="../notesSlides/notesSlide20.xml"/><Relationship Id="rId1" Type="http://schemas.openxmlformats.org/officeDocument/2006/relationships/slideLayout" Target="../slideLayouts/slideLayout6.xml"/><Relationship Id="rId6" Type="http://schemas.openxmlformats.org/officeDocument/2006/relationships/hyperlink" Target="https://github.com/VladislavStoimenov235030/Vladislav_Stoimenov_Graduation_Project_25_26/blob/99fa36ab76431c2be7275b69f5fcc5cb937224fb/notebooks/08_fasterrcnn_medium_dataset.ipynb" TargetMode="External"/><Relationship Id="rId5" Type="http://schemas.openxmlformats.org/officeDocument/2006/relationships/hyperlink" Target="https://github.com/VladislavStoimenov235030/Vladislav_Stoimenov_Graduation_Project_25_26/blob/99fa36ab76431c2be7275b69f5fcc5cb937224fb/notebooks/05_yolov8n_retrain_medium_dataset.ipynb" TargetMode="External"/><Relationship Id="rId4" Type="http://schemas.openxmlformats.org/officeDocument/2006/relationships/hyperlink" Target="https://github.com/VladislavStoimenov235030/Vladislav_Stoimenov_Graduation_Project_25_26/tree/1dd517d4c198e0e7c256fdd5edfa65bfef27918c/data" TargetMode="Externa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3" Type="http://schemas.openxmlformats.org/officeDocument/2006/relationships/hyperlink" Target="https://github.com/VladislavStoimenov235030/Vladislav_Stoimenov_Graduation_Project_25_26/blob/99fa36ab76431c2be7275b69f5fcc5cb937224fb/scripts/create_rdd2022_4classes_large.py" TargetMode="External"/><Relationship Id="rId2" Type="http://schemas.openxmlformats.org/officeDocument/2006/relationships/notesSlide" Target="../notesSlides/notesSlide22.xml"/><Relationship Id="rId1" Type="http://schemas.openxmlformats.org/officeDocument/2006/relationships/slideLayout" Target="../slideLayouts/slideLayout6.xml"/><Relationship Id="rId5" Type="http://schemas.openxmlformats.org/officeDocument/2006/relationships/hyperlink" Target="https://github.com/VladislavStoimenov235030/Vladislav_Stoimenov_Graduation_Project_25_26/blob/99fa36ab76431c2be7275b69f5fcc5cb937224fb/thesis/Thesis_Vladislav_Stoimenov.pdf" TargetMode="External"/><Relationship Id="rId4" Type="http://schemas.openxmlformats.org/officeDocument/2006/relationships/hyperlink" Target="https://github.com/VladislavStoimenov235030/Vladislav_Stoimenov_Graduation_Project_25_26/tree/1dd517d4c198e0e7c256fdd5edfa65bfef27918c/data" TargetMode="Externa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3" Type="http://schemas.openxmlformats.org/officeDocument/2006/relationships/hyperlink" Target="https://github.com/VladislavStoimenov235030/Vladislav_Stoimenov_Graduation_Project_25_26/blob/99fa36ab76431c2be7275b69f5fcc5cb937224fb/notebooks/09_yolov8n_large_dataset.ipynb" TargetMode="External"/><Relationship Id="rId2" Type="http://schemas.openxmlformats.org/officeDocument/2006/relationships/notesSlide" Target="../notesSlides/notesSlide24.xml"/><Relationship Id="rId1" Type="http://schemas.openxmlformats.org/officeDocument/2006/relationships/slideLayout" Target="../slideLayouts/slideLayout6.xml"/><Relationship Id="rId4" Type="http://schemas.openxmlformats.org/officeDocument/2006/relationships/hyperlink" Target="https://github.com/VladislavStoimenov235030/Vladislav_Stoimenov_Graduation_Project_25_26/blob/99fa36ab76431c2be7275b69f5fcc5cb937224fb/notebooks/10_fasterrcnn_large_dataset.ipynb" TargetMode="Externa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3" Type="http://schemas.openxmlformats.org/officeDocument/2006/relationships/hyperlink" Target="https://github.com/VladislavStoimenov235030/Vladislav_Stoimenov_Graduation_Project_25_26/blob/99fa36ab76431c2be7275b69f5fcc5cb937224fb/thesis/Thesis_Vladislav_Stoimenov.pdf" TargetMode="External"/><Relationship Id="rId2" Type="http://schemas.openxmlformats.org/officeDocument/2006/relationships/notesSlide" Target="../notesSlides/notesSlide26.xml"/><Relationship Id="rId1" Type="http://schemas.openxmlformats.org/officeDocument/2006/relationships/slideLayout" Target="../slideLayouts/slideLayout6.xml"/><Relationship Id="rId5" Type="http://schemas.openxmlformats.org/officeDocument/2006/relationships/hyperlink" Target="https://github.com/VladislavStoimenov235030/Vladislav_Stoimenov_Graduation_Project_25_26/blob/99fa36ab76431c2be7275b69f5fcc5cb937224fb/notebooks/10_fasterrcnn_large_dataset.ipynb" TargetMode="External"/><Relationship Id="rId4" Type="http://schemas.openxmlformats.org/officeDocument/2006/relationships/hyperlink" Target="https://github.com/VladislavStoimenov235030/Vladislav_Stoimenov_Graduation_Project_25_26/tree/99fa36ab76431c2be7275b69f5fcc5cb937224fb/outputs/reports" TargetMode="Externa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8.xml"/></Relationships>
</file>

<file path=ppt/slides/_rels/slide30.xml.rels><?xml version="1.0" encoding="UTF-8" standalone="yes"?>
<Relationships xmlns="http://schemas.openxmlformats.org/package/2006/relationships"><Relationship Id="rId3" Type="http://schemas.openxmlformats.org/officeDocument/2006/relationships/hyperlink" Target="https://github.com/VladislavStoimenov235030/Vladislav_Stoimenov_Graduation_Project_25_26/blob/99fa36ab76431c2be7275b69f5fcc5cb937224fb/thesis/Thesis_Vladislav_Stoimenov.pdf" TargetMode="External"/><Relationship Id="rId2" Type="http://schemas.openxmlformats.org/officeDocument/2006/relationships/notesSlide" Target="../notesSlides/notesSlide29.xml"/><Relationship Id="rId1" Type="http://schemas.openxmlformats.org/officeDocument/2006/relationships/slideLayout" Target="../slideLayouts/slideLayout6.xml"/><Relationship Id="rId6" Type="http://schemas.openxmlformats.org/officeDocument/2006/relationships/hyperlink" Target="https://github.com/VladislavStoimenov235030/Vladislav_Stoimenov_Graduation_Project_25_26/tree/99fa36ab76431c2be7275b69f5fcc5cb937224fb/data/manual/labels" TargetMode="External"/><Relationship Id="rId5" Type="http://schemas.openxmlformats.org/officeDocument/2006/relationships/hyperlink" Target="https://github.com/VladislavStoimenov235030/Vladislav_Stoimenov_Graduation_Project_25_26/tree/99fa36ab76431c2be7275b69f5fcc5cb937224fb/data/manual/images" TargetMode="External"/><Relationship Id="rId4" Type="http://schemas.openxmlformats.org/officeDocument/2006/relationships/hyperlink" Target="https://github.com/VladislavStoimenov235030/Vladislav_Stoimenov_Graduation_Project_25_26/tree/99fa36ab76431c2be7275b69f5fcc5cb937224fb/data/manual" TargetMode="Externa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8" Type="http://schemas.openxmlformats.org/officeDocument/2006/relationships/hyperlink" Target="https://github.com/VladislavStoimenov235030/Vladislav_Stoimenov_Graduation_Project_25_26/tree/99fa36ab76431c2be7275b69f5fcc5cb937224fb/models/fasterrcnn_sofia_finetune" TargetMode="External"/><Relationship Id="rId3" Type="http://schemas.openxmlformats.org/officeDocument/2006/relationships/hyperlink" Target="https://github.com/VladislavStoimenov235030/Vladislav_Stoimenov_Graduation_Project_25_26/tree/99fa36ab76431c2be7275b69f5fcc5cb937224fb/data/manual/labels" TargetMode="External"/><Relationship Id="rId7" Type="http://schemas.openxmlformats.org/officeDocument/2006/relationships/hyperlink" Target="https://github.com/VladislavStoimenov235030/Vladislav_Stoimenov_Graduation_Project_25_26/tree/99fa36ab76431c2be7275b69f5fcc5cb937224fb/models/yolov8n_sofia_finetune" TargetMode="External"/><Relationship Id="rId2" Type="http://schemas.openxmlformats.org/officeDocument/2006/relationships/notesSlide" Target="../notesSlides/notesSlide31.xml"/><Relationship Id="rId1" Type="http://schemas.openxmlformats.org/officeDocument/2006/relationships/slideLayout" Target="../slideLayouts/slideLayout6.xml"/><Relationship Id="rId6" Type="http://schemas.openxmlformats.org/officeDocument/2006/relationships/hyperlink" Target="https://github.com/VladislavStoimenov235030/Vladislav_Stoimenov_Graduation_Project_25_26/tree/99fa36ab76431c2be7275b69f5fcc5cb937224fb/notebooks" TargetMode="External"/><Relationship Id="rId5" Type="http://schemas.openxmlformats.org/officeDocument/2006/relationships/hyperlink" Target="https://github.com/VladislavStoimenov235030/Vladislav_Stoimenov_Graduation_Project_25_26/tree/99fa36ab76431c2be7275b69f5fcc5cb937224fb/outputs/reports" TargetMode="External"/><Relationship Id="rId4" Type="http://schemas.openxmlformats.org/officeDocument/2006/relationships/hyperlink" Target="https://github.com/VladislavStoimenov235030/Vladislav_Stoimenov_Graduation_Project_25_26/blob/99fa36ab76431c2be7275b69f5fcc5cb937224fb/thesis/Thesis_Vladislav_Stoimenov.pdf" TargetMode="Externa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3" Type="http://schemas.openxmlformats.org/officeDocument/2006/relationships/hyperlink" Target="https://github.com/VladislavStoimenov235030/Vladislav_Stoimenov_Graduation_Project_25_26/blob/99fa36ab76431c2be7275b69f5fcc5cb937224fb/config/app_config.yaml" TargetMode="External"/><Relationship Id="rId7" Type="http://schemas.openxmlformats.org/officeDocument/2006/relationships/hyperlink" Target="https://github.com/VladislavStoimenov235030/Vladislav_Stoimenov_Graduation_Project_25_26/blob/99fa36ab76431c2be7275b69f5fcc5cb937224fb/pages/1_Dashboard.py" TargetMode="External"/><Relationship Id="rId2" Type="http://schemas.openxmlformats.org/officeDocument/2006/relationships/notesSlide" Target="../notesSlides/notesSlide33.xml"/><Relationship Id="rId1" Type="http://schemas.openxmlformats.org/officeDocument/2006/relationships/slideLayout" Target="../slideLayouts/slideLayout6.xml"/><Relationship Id="rId6" Type="http://schemas.openxmlformats.org/officeDocument/2006/relationships/hyperlink" Target="https://github.com/VladislavStoimenov235030/Vladislav_Stoimenov_Graduation_Project_25_26/blob/99fa36ab76431c2be7275b69f5fcc5cb937224fb/src/app/database.py" TargetMode="External"/><Relationship Id="rId5" Type="http://schemas.openxmlformats.org/officeDocument/2006/relationships/hyperlink" Target="https://github.com/VladislavStoimenov235030/Vladislav_Stoimenov_Graduation_Project_25_26/blob/99fa36ab76431c2be7275b69f5fcc5cb937224fb/pages/4_Safer_Route_Planner.py" TargetMode="External"/><Relationship Id="rId4" Type="http://schemas.openxmlformats.org/officeDocument/2006/relationships/hyperlink" Target="https://github.com/VladislavStoimenov235030/Vladislav_Stoimenov_Graduation_Project_25_26/blob/99fa36ab76431c2be7275b69f5fcc5cb937224fb/pages/3_Damage_Map.py" TargetMode="Externa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3" Type="http://schemas.openxmlformats.org/officeDocument/2006/relationships/hyperlink" Target="https://github.com/VladislavStoimenov235030/Vladislav_Stoimenov_Graduation_Project_25_26/blob/99fa36ab76431c2be7275b69f5fcc5cb937224fb/thesis/Thesis_Vladislav_Stoimenov.pdf" TargetMode="External"/><Relationship Id="rId2" Type="http://schemas.openxmlformats.org/officeDocument/2006/relationships/notesSlide" Target="../notesSlides/notesSlide35.xml"/><Relationship Id="rId1" Type="http://schemas.openxmlformats.org/officeDocument/2006/relationships/slideLayout" Target="../slideLayouts/slideLayout6.xml"/><Relationship Id="rId6" Type="http://schemas.openxmlformats.org/officeDocument/2006/relationships/hyperlink" Target="https://github.com/VladislavStoimenov235030/Vladislav_Stoimenov_Graduation_Project_25_26/blob/99fa36ab76431c2be7275b69f5fcc5cb937224fb/outputs/geo/segment_risk.csv" TargetMode="External"/><Relationship Id="rId5" Type="http://schemas.openxmlformats.org/officeDocument/2006/relationships/hyperlink" Target="https://github.com/VladislavStoimenov235030/Vladislav_Stoimenov_Graduation_Project_25_26/blob/99fa36ab76431c2be7275b69f5fcc5cb937224fb/outputs/geo/route_comparison.json" TargetMode="External"/><Relationship Id="rId4" Type="http://schemas.openxmlformats.org/officeDocument/2006/relationships/hyperlink" Target="https://github.com/VladislavStoimenov235030/Vladislav_Stoimenov_Graduation_Project_25_26/tree/99fa36ab76431c2be7275b69f5fcc5cb937224fb/data/manual" TargetMode="Externa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8" Type="http://schemas.openxmlformats.org/officeDocument/2006/relationships/hyperlink" Target="https://github.com/VladislavStoimenov235030/Vladislav_Stoimenov_Graduation_Project_25_26/blob/99fa36ab76431c2be7275b69f5fcc5cb937224fb/scripts/evaluate_h2_risk_classification.py" TargetMode="External"/><Relationship Id="rId3" Type="http://schemas.openxmlformats.org/officeDocument/2006/relationships/hyperlink" Target="https://github.com/VladislavStoimenov235030/Vladislav_Stoimenov_Graduation_Project_25_26/blob/99fa36ab76431c2be7275b69f5fcc5cb937224fb/outputs/geo/segment_risk.csv" TargetMode="External"/><Relationship Id="rId7" Type="http://schemas.openxmlformats.org/officeDocument/2006/relationships/hyperlink" Target="https://github.com/VladislavStoimenov235030/Vladislav_Stoimenov_Graduation_Project_25_26/blob/99fa36ab76431c2be7275b69f5fcc5cb937224fb/outputs/reports/h2_confusion_matrix.png" TargetMode="External"/><Relationship Id="rId2" Type="http://schemas.openxmlformats.org/officeDocument/2006/relationships/notesSlide" Target="../notesSlides/notesSlide37.xml"/><Relationship Id="rId1" Type="http://schemas.openxmlformats.org/officeDocument/2006/relationships/slideLayout" Target="../slideLayouts/slideLayout6.xml"/><Relationship Id="rId6" Type="http://schemas.openxmlformats.org/officeDocument/2006/relationships/hyperlink" Target="https://github.com/VladislavStoimenov235030/Vladislav_Stoimenov_Graduation_Project_25_26/blob/99fa36ab76431c2be7275b69f5fcc5cb937224fb/scripts/evaluate_h4_heatmap_validation.py" TargetMode="External"/><Relationship Id="rId5" Type="http://schemas.openxmlformats.org/officeDocument/2006/relationships/hyperlink" Target="https://github.com/VladislavStoimenov235030/Vladislav_Stoimenov_Graduation_Project_25_26/blob/99fa36ab76431c2be7275b69f5fcc5cb937224fb/outputs/reports/h4_evaluation_results.csv" TargetMode="External"/><Relationship Id="rId4" Type="http://schemas.openxmlformats.org/officeDocument/2006/relationships/hyperlink" Target="https://github.com/VladislavStoimenov235030/Vladislav_Stoimenov_Graduation_Project_25_26/tree/99fa36ab76431c2be7275b69f5fcc5cb937224fb/outputs/reports" TargetMode="External"/><Relationship Id="rId9" Type="http://schemas.openxmlformats.org/officeDocument/2006/relationships/hyperlink" Target="https://github.com/VladislavStoimenov235030/Vladislav_Stoimenov_Graduation_Project_25_26/blob/99fa36ab76431c2be7275b69f5fcc5cb937224fb/thesis/Thesis_Vladislav_Stoimenov.pdf" TargetMode="Externa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3" Type="http://schemas.openxmlformats.org/officeDocument/2006/relationships/hyperlink" Target="https://github.com/VladislavStoimenov235030/Vladislav_Stoimenov_Graduation_Project_25_26/blob/99fa36ab76431c2be7275b69f5fcc5cb937224fb/thesis/Road_Guard_AI_Usability_Study_Responses_Qualitative_Results.csv" TargetMode="External"/><Relationship Id="rId2" Type="http://schemas.openxmlformats.org/officeDocument/2006/relationships/notesSlide" Target="../notesSlides/notesSlide39.xml"/><Relationship Id="rId1" Type="http://schemas.openxmlformats.org/officeDocument/2006/relationships/slideLayout" Target="../slideLayouts/slideLayout6.xml"/><Relationship Id="rId6" Type="http://schemas.openxmlformats.org/officeDocument/2006/relationships/hyperlink" Target="https://github.com/VladislavStoimenov235030/Vladislav_Stoimenov_Graduation_Project_25_26/blob/99fa36ab76431c2be7275b69f5fcc5cb937224fb/config/risk_weights.yaml" TargetMode="External"/><Relationship Id="rId5" Type="http://schemas.openxmlformats.org/officeDocument/2006/relationships/hyperlink" Target="https://github.com/VladislavStoimenov235030/Vladislav_Stoimenov_Graduation_Project_25_26/blob/99fa36ab76431c2be7275b69f5fcc5cb937224fb/pages/4_Safer_Route_Planner.py" TargetMode="External"/><Relationship Id="rId4" Type="http://schemas.openxmlformats.org/officeDocument/2006/relationships/hyperlink" Target="https://github.com/VladislavStoimenov235030/Vladislav_Stoimenov_Graduation_Project_25_26/blob/99fa36ab76431c2be7275b69f5fcc5cb937224fb/thesis/qualitative_thematic_analysis.md" TargetMode="Externa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3" Type="http://schemas.openxmlformats.org/officeDocument/2006/relationships/hyperlink" Target="https://github.com/VladislavStoimenov235030/Vladislav_Stoimenov_Graduation_Project_25_26/blob/99fa36ab76431c2be7275b69f5fcc5cb937224fb/thesis/Road_Guard_AI_Usability_Study_Responses_Qualitative_Results.csv" TargetMode="External"/><Relationship Id="rId7" Type="http://schemas.openxmlformats.org/officeDocument/2006/relationships/hyperlink" Target="https://github.com/VladislavStoimenov235030/Vladislav_Stoimenov_Graduation_Project_25_26/tree/99fa36ab76431c2be7275b69f5fcc5cb937224fb/thesis/screenshots" TargetMode="External"/><Relationship Id="rId2" Type="http://schemas.openxmlformats.org/officeDocument/2006/relationships/notesSlide" Target="../notesSlides/notesSlide41.xml"/><Relationship Id="rId1" Type="http://schemas.openxmlformats.org/officeDocument/2006/relationships/slideLayout" Target="../slideLayouts/slideLayout6.xml"/><Relationship Id="rId6" Type="http://schemas.openxmlformats.org/officeDocument/2006/relationships/hyperlink" Target="https://github.com/VladislavStoimenov235030/Vladislav_Stoimenov_Graduation_Project_25_26/tree/99fa36ab76431c2be7275b69f5fcc5cb937224fb/models/fasterrcnn_sofia_finetune" TargetMode="External"/><Relationship Id="rId5" Type="http://schemas.openxmlformats.org/officeDocument/2006/relationships/hyperlink" Target="https://github.com/VladislavStoimenov235030/Vladislav_Stoimenov_Graduation_Project_25_26/blob/99fa36ab76431c2be7275b69f5fcc5cb937224fb/thesis/qualitative_thematic_analysis.md" TargetMode="External"/><Relationship Id="rId4" Type="http://schemas.openxmlformats.org/officeDocument/2006/relationships/hyperlink" Target="https://github.com/VladislavStoimenov235030/Vladislav_Stoimenov_Graduation_Project_25_26/blob/99fa36ab76431c2be7275b69f5fcc5cb937224fb/scripts/analyze_qualitative_survey.py" TargetMode="Externa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3" Type="http://schemas.openxmlformats.org/officeDocument/2006/relationships/hyperlink" Target="https://github.com/VladislavStoimenov235030/Vladislav_Stoimenov_Graduation_Project_25_26/blob/99fa36ab76431c2be7275b69f5fcc5cb937224fb/thesis/Thesis_Vladislav_Stoimenov.pdf" TargetMode="External"/><Relationship Id="rId2" Type="http://schemas.openxmlformats.org/officeDocument/2006/relationships/notesSlide" Target="../notesSlides/notesSlide43.xml"/><Relationship Id="rId1" Type="http://schemas.openxmlformats.org/officeDocument/2006/relationships/slideLayout" Target="../slideLayouts/slideLayout6.xml"/><Relationship Id="rId4" Type="http://schemas.openxmlformats.org/officeDocument/2006/relationships/hyperlink" Target="https://github.com/VladislavStoimenov235030/Vladislav_Stoimenov_Graduation_Project_25_26/tree/99fa36ab76431c2be7275b69f5fcc5cb937224fb/thesis/figures" TargetMode="Externa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3" Type="http://schemas.openxmlformats.org/officeDocument/2006/relationships/hyperlink" Target="https://github.com/VladislavStoimenov235030/Vladislav_Stoimenov_Graduation_Project_25_26/blob/99fa36ab76431c2be7275b69f5fcc5cb937224fb/thesis/Thesis_Vladislav_Stoimenov.pdf" TargetMode="External"/><Relationship Id="rId2" Type="http://schemas.openxmlformats.org/officeDocument/2006/relationships/notesSlide" Target="../notesSlides/notesSlide45.xml"/><Relationship Id="rId1" Type="http://schemas.openxmlformats.org/officeDocument/2006/relationships/slideLayout" Target="../slideLayouts/slideLayout6.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3" Type="http://schemas.openxmlformats.org/officeDocument/2006/relationships/hyperlink" Target="https://github.com/VladislavStoimenov235030/Vladislav_Stoimenov_Graduation_Project_25_26/tree/99fa36ab76431c2be7275b69f5fcc5cb937224fb/thesis/evidencing" TargetMode="External"/><Relationship Id="rId2" Type="http://schemas.openxmlformats.org/officeDocument/2006/relationships/notesSlide" Target="../notesSlides/notesSlide47.xml"/><Relationship Id="rId1" Type="http://schemas.openxmlformats.org/officeDocument/2006/relationships/slideLayout" Target="../slideLayouts/slideLayout6.xml"/><Relationship Id="rId4" Type="http://schemas.openxmlformats.org/officeDocument/2006/relationships/hyperlink" Target="https://github.com/VladislavStoimenov235030/Vladislav_Stoimenov_Graduation_Project_25_26/blob/5f3c247fd8e1159743aec7175a9fdd4a10068d0e/thesis/evidencing/ADS&amp;AI%20Work%20Log%20Graduation%20Project.xlsx" TargetMode="Externa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8.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3.xml"/></Relationships>
</file>

<file path=ppt/slides/_rels/slide53.xml.rels><?xml version="1.0" encoding="UTF-8" standalone="yes"?>
<Relationships xmlns="http://schemas.openxmlformats.org/package/2006/relationships"><Relationship Id="rId3" Type="http://schemas.openxmlformats.org/officeDocument/2006/relationships/hyperlink" Target="https://github.com/VladislavStoimenov235030/Vladislav_Stoimenov_Graduation_Project_25_26/blob/5f3c247fd8e1159743aec7175a9fdd4a10068d0e/thesis/Thesis_Vladislav_Stoimenov.pdf" TargetMode="External"/><Relationship Id="rId7" Type="http://schemas.openxmlformats.org/officeDocument/2006/relationships/image" Target="../media/image5.png"/><Relationship Id="rId2" Type="http://schemas.openxmlformats.org/officeDocument/2006/relationships/notesSlide" Target="../notesSlides/notesSlide52.xml"/><Relationship Id="rId1" Type="http://schemas.openxmlformats.org/officeDocument/2006/relationships/slideLayout" Target="../slideLayouts/slideLayout5.xml"/><Relationship Id="rId6" Type="http://schemas.openxmlformats.org/officeDocument/2006/relationships/image" Target="../media/image4.png"/><Relationship Id="rId5" Type="http://schemas.openxmlformats.org/officeDocument/2006/relationships/hyperlink" Target="https://github.com/VladislavStoimenov235030/Vladislav_Stoimenov_Graduation_Project_25_26/blob/5f3c247fd8e1159743aec7175a9fdd4a10068d0e/thesis/map_risk_routing_explained.md" TargetMode="External"/><Relationship Id="rId4" Type="http://schemas.openxmlformats.org/officeDocument/2006/relationships/hyperlink" Target="https://github.com/VladislavStoimenov235030/Vladislav_Stoimenov_Graduation_Project_25_26/blob/5f3c247fd8e1159743aec7175a9fdd4a10068d0e/README.md" TargetMode="External"/></Relationships>
</file>

<file path=ppt/slides/_rels/slide54.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53.xml"/><Relationship Id="rId1" Type="http://schemas.openxmlformats.org/officeDocument/2006/relationships/slideLayout" Target="../slideLayouts/slideLayout5.xml"/><Relationship Id="rId4" Type="http://schemas.openxmlformats.org/officeDocument/2006/relationships/image" Target="../media/image7.png"/></Relationships>
</file>

<file path=ppt/slides/_rels/slide55.xml.rels><?xml version="1.0" encoding="UTF-8" standalone="yes"?>
<Relationships xmlns="http://schemas.openxmlformats.org/package/2006/relationships"><Relationship Id="rId8" Type="http://schemas.openxmlformats.org/officeDocument/2006/relationships/hyperlink" Target="https://github.com/VladislavStoimenov235030/Vladislav_Stoimenov_Graduation_Project_25_26/blob/5f3c247fd8e1159743aec7175a9fdd4a10068d0e/thesis/qualitative_thematic_analysis.md" TargetMode="External"/><Relationship Id="rId13" Type="http://schemas.openxmlformats.org/officeDocument/2006/relationships/hyperlink" Target="https://github.com/VladislavStoimenov235030/Vladislav_Stoimenov_Graduation_Project_25_26/blob/5f3c247fd8e1159743aec7175a9fdd4a10068d0e/notebooks/12_fasterrcnn_sofia_finetune.ipynb" TargetMode="External"/><Relationship Id="rId3" Type="http://schemas.openxmlformats.org/officeDocument/2006/relationships/hyperlink" Target="https://github.com/VladislavStoimenov235030/Vladislav_Stoimenov_Graduation_Project_25_26/blob/5f3c247fd8e1159743aec7175a9fdd4a10068d0e/notebooks/09_yolov8n_large_dataset.ipynb" TargetMode="External"/><Relationship Id="rId7" Type="http://schemas.openxmlformats.org/officeDocument/2006/relationships/hyperlink" Target="https://github.com/VladislavStoimenov235030/Vladislav_Stoimenov_Graduation_Project_25_26/blob/5f3c247fd8e1159743aec7175a9fdd4a10068d0e/thesis/Road_Guard_AI_Usability_Study_Responses_Qualitative_Results.csv" TargetMode="External"/><Relationship Id="rId12" Type="http://schemas.openxmlformats.org/officeDocument/2006/relationships/hyperlink" Target="https://github.com/VladislavStoimenov235030/Vladislav_Stoimenov_Graduation_Project_25_26/blob/5f3c247fd8e1159743aec7175a9fdd4a10068d0e/notebooks/11_yolov8n_sofia_finetune.ipynb" TargetMode="External"/><Relationship Id="rId17" Type="http://schemas.openxmlformats.org/officeDocument/2006/relationships/image" Target="../media/image9.png"/><Relationship Id="rId2" Type="http://schemas.openxmlformats.org/officeDocument/2006/relationships/notesSlide" Target="../notesSlides/notesSlide54.xml"/><Relationship Id="rId16" Type="http://schemas.openxmlformats.org/officeDocument/2006/relationships/image" Target="../media/image8.png"/><Relationship Id="rId1" Type="http://schemas.openxmlformats.org/officeDocument/2006/relationships/slideLayout" Target="../slideLayouts/slideLayout5.xml"/><Relationship Id="rId6" Type="http://schemas.openxmlformats.org/officeDocument/2006/relationships/hyperlink" Target="https://github.com/VladislavStoimenov235030/Vladislav_Stoimenov_Graduation_Project_25_26/blob/5f3c247fd8e1159743aec7175a9fdd4a10068d0e/src/routing/router.py" TargetMode="External"/><Relationship Id="rId11" Type="http://schemas.openxmlformats.org/officeDocument/2006/relationships/hyperlink" Target="https://github.com/VladislavStoimenov235030/Vladislav_Stoimenov_Graduation_Project_25_26/blob/5f3c247fd8e1159743aec7175a9fdd4a10068d0e/scripts/analyze_qualitative_survey.py" TargetMode="External"/><Relationship Id="rId5" Type="http://schemas.openxmlformats.org/officeDocument/2006/relationships/hyperlink" Target="https://github.com/VladislavStoimenov235030/Vladislav_Stoimenov_Graduation_Project_25_26/blob/5f3c247fd8e1159743aec7175a9fdd4a10068d0e/src/risk/scoring.py" TargetMode="External"/><Relationship Id="rId15" Type="http://schemas.openxmlformats.org/officeDocument/2006/relationships/hyperlink" Target="https://github.com/VladislavStoimenov235030/Vladislav_Stoimenov_Graduation_Project_25_26/blob/5f3c247fd8e1159743aec7175a9fdd4a10068d0e/thesis/Thesis_Vladislav_Stoimenov.pdf" TargetMode="External"/><Relationship Id="rId10" Type="http://schemas.openxmlformats.org/officeDocument/2006/relationships/hyperlink" Target="https://github.com/VladislavStoimenov235030/Vladislav_Stoimenov_Graduation_Project_25_26/blob/5f3c247fd8e1159743aec7175a9fdd4a10068d0e/notebooks/13_final_results_and_hypothesis_testing.ipynb" TargetMode="External"/><Relationship Id="rId4" Type="http://schemas.openxmlformats.org/officeDocument/2006/relationships/hyperlink" Target="https://github.com/VladislavStoimenov235030/Vladislav_Stoimenov_Graduation_Project_25_26/blob/5f3c247fd8e1159743aec7175a9fdd4a10068d0e/notebooks/10_fasterrcnn_large_dataset.ipynb" TargetMode="External"/><Relationship Id="rId9" Type="http://schemas.openxmlformats.org/officeDocument/2006/relationships/hyperlink" Target="https://github.com/VladislavStoimenov235030/Vladislav_Stoimenov_Graduation_Project_25_26/blob/5f3c247fd8e1159743aec7175a9fdd4a10068d0e/src/geospatial/matching.py" TargetMode="External"/><Relationship Id="rId14" Type="http://schemas.openxmlformats.org/officeDocument/2006/relationships/hyperlink" Target="https://github.com/VladislavStoimenov235030/Vladislav_Stoimenov_Graduation_Project_25_26/blob/5f3c247fd8e1159743aec7175a9fdd4a10068d0e/app.py" TargetMode="External"/></Relationships>
</file>

<file path=ppt/slides/_rels/slide56.xml.rels><?xml version="1.0" encoding="UTF-8" standalone="yes"?>
<Relationships xmlns="http://schemas.openxmlformats.org/package/2006/relationships"><Relationship Id="rId3" Type="http://schemas.openxmlformats.org/officeDocument/2006/relationships/hyperlink" Target="https://github.com/VladislavStoimenov235030/Vladislav_Stoimenov_Graduation_Project_25_26/blob/5f3c247fd8e1159743aec7175a9fdd4a10068d0e/thesis/Thesis_Vladislav_Stoimenov.pdf" TargetMode="External"/><Relationship Id="rId2" Type="http://schemas.openxmlformats.org/officeDocument/2006/relationships/notesSlide" Target="../notesSlides/notesSlide55.xml"/><Relationship Id="rId1" Type="http://schemas.openxmlformats.org/officeDocument/2006/relationships/slideLayout" Target="../slideLayouts/slideLayout5.xml"/><Relationship Id="rId6" Type="http://schemas.openxmlformats.org/officeDocument/2006/relationships/image" Target="../media/image10.png"/><Relationship Id="rId5" Type="http://schemas.openxmlformats.org/officeDocument/2006/relationships/hyperlink" Target="https://github.com/VladislavStoimenov235030/Vladislav_Stoimenov_Graduation_Project_25_26/blob/5f3c247fd8e1159743aec7175a9fdd4a10068d0e/thesis/model_training_results_and_discussion.md" TargetMode="External"/><Relationship Id="rId4" Type="http://schemas.openxmlformats.org/officeDocument/2006/relationships/hyperlink" Target="https://github.com/VladislavStoimenov235030/Vladislav_Stoimenov_Graduation_Project_25_26/blob/5f3c247fd8e1159743aec7175a9fdd4a10068d0e/config/app_config.yaml" TargetMode="External"/></Relationships>
</file>

<file path=ppt/slides/_rels/slide57.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56.xml"/><Relationship Id="rId1" Type="http://schemas.openxmlformats.org/officeDocument/2006/relationships/slideLayout" Target="../slideLayouts/slideLayout5.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3.xml"/></Relationships>
</file>

<file path=ppt/slides/_rels/slide59.xml.rels><?xml version="1.0" encoding="UTF-8" standalone="yes"?>
<Relationships xmlns="http://schemas.openxmlformats.org/package/2006/relationships"><Relationship Id="rId8" Type="http://schemas.openxmlformats.org/officeDocument/2006/relationships/hyperlink" Target="https://github.com/VladislavStoimenov235030/Vladislav_Stoimenov_Graduation_Project_25_26/blob/5f3c247fd8e1159743aec7175a9fdd4a10068d0e/scripts/evaluate_h4_heatmap_validation.py" TargetMode="External"/><Relationship Id="rId3" Type="http://schemas.openxmlformats.org/officeDocument/2006/relationships/hyperlink" Target="https://github.com/VladislavStoimenov235030/Vladislav_Stoimenov_Graduation_Project_25_26/blob/5f3c247fd8e1159743aec7175a9fdd4a10068d0e/thesis/screenshots/04_Damage_Map_page.png" TargetMode="External"/><Relationship Id="rId7" Type="http://schemas.openxmlformats.org/officeDocument/2006/relationships/hyperlink" Target="https://github.com/VladislavStoimenov235030/Vladislav_Stoimenov_Graduation_Project_25_26/blob/5f3c247fd8e1159743aec7175a9fdd4a10068d0e/notebooks/14_h3_sveta_troitsa_routing.ipynb" TargetMode="External"/><Relationship Id="rId2" Type="http://schemas.openxmlformats.org/officeDocument/2006/relationships/notesSlide" Target="../notesSlides/notesSlide58.xml"/><Relationship Id="rId1" Type="http://schemas.openxmlformats.org/officeDocument/2006/relationships/slideLayout" Target="../slideLayouts/slideLayout5.xml"/><Relationship Id="rId6" Type="http://schemas.openxmlformats.org/officeDocument/2006/relationships/hyperlink" Target="https://github.com/VladislavStoimenov235030/Vladislav_Stoimenov_Graduation_Project_25_26/blob/5f3c247fd8e1159743aec7175a9fdd4a10068d0e/thesis/qualitative_thematic_analysis.md" TargetMode="External"/><Relationship Id="rId11" Type="http://schemas.openxmlformats.org/officeDocument/2006/relationships/image" Target="../media/image11.png"/><Relationship Id="rId5" Type="http://schemas.openxmlformats.org/officeDocument/2006/relationships/hyperlink" Target="https://github.com/VladislavStoimenov235030/Vladislav_Stoimenov_Graduation_Project_25_26/blob/5f3c247fd8e1159743aec7175a9fdd4a10068d0e/thesis/Road_Guard_AI_Usability_Study_Responses_Qualitative_Results.csv" TargetMode="External"/><Relationship Id="rId10" Type="http://schemas.openxmlformats.org/officeDocument/2006/relationships/hyperlink" Target="https://github.com/VladislavStoimenov235030/Vladislav_Stoimenov_Graduation_Project_25_26/blob/5f3c247fd8e1159743aec7175a9fdd4a10068d0e/outputs/reports/h2_evaluation_results.csv" TargetMode="External"/><Relationship Id="rId4" Type="http://schemas.openxmlformats.org/officeDocument/2006/relationships/hyperlink" Target="https://github.com/VladislavStoimenov235030/Vladislav_Stoimenov_Graduation_Project_25_26/blob/5f3c247fd8e1159743aec7175a9fdd4a10068d0e/thesis/Thesis_Vladislav_Stoimenov.pdf" TargetMode="External"/><Relationship Id="rId9" Type="http://schemas.openxmlformats.org/officeDocument/2006/relationships/hyperlink" Target="https://github.com/VladislavStoimenov235030/Vladislav_Stoimenov_Graduation_Project_25_26/blob/5f3c247fd8e1159743aec7175a9fdd4a10068d0e/outputs/reports/h4_evaluation_results.csv" TargetMode="External"/></Relationships>
</file>

<file path=ppt/slides/_rels/slide60.xml.rels><?xml version="1.0" encoding="UTF-8" standalone="yes"?>
<Relationships xmlns="http://schemas.openxmlformats.org/package/2006/relationships"><Relationship Id="rId8" Type="http://schemas.openxmlformats.org/officeDocument/2006/relationships/hyperlink" Target="https://github.com/VladislavStoimenov235030/Vladislav_Stoimenov_Graduation_Project_25_26/blob/5f3c247fd8e1159743aec7175a9fdd4a10068d0e/thesis/Road_Guard_AI_Usability_Study_Responses_Qualitative_Results.csv" TargetMode="External"/><Relationship Id="rId3" Type="http://schemas.openxmlformats.org/officeDocument/2006/relationships/hyperlink" Target="https://github.com/VladislavStoimenov235030/Vladislav_Stoimenov_Graduation_Project_25_26/blob/5f3c247fd8e1159743aec7175a9fdd4a10068d0e/README.md" TargetMode="External"/><Relationship Id="rId7" Type="http://schemas.openxmlformats.org/officeDocument/2006/relationships/hyperlink" Target="https://github.com/VladislavStoimenov235030/Vladislav_Stoimenov_Graduation_Project_25_26/blob/5f3c247fd8e1159743aec7175a9fdd4a10068d0e/thesis/Thesis_Vladislav_Stoimenov.pdf" TargetMode="External"/><Relationship Id="rId2" Type="http://schemas.openxmlformats.org/officeDocument/2006/relationships/notesSlide" Target="../notesSlides/notesSlide59.xml"/><Relationship Id="rId1" Type="http://schemas.openxmlformats.org/officeDocument/2006/relationships/slideLayout" Target="../slideLayouts/slideLayout5.xml"/><Relationship Id="rId6" Type="http://schemas.openxmlformats.org/officeDocument/2006/relationships/hyperlink" Target="https://github.com/VladislavStoimenov235030/Vladislav_Stoimenov_Graduation_Project_25_26/blob/5f3c247fd8e1159743aec7175a9fdd4a10068d0e/app.py" TargetMode="External"/><Relationship Id="rId11" Type="http://schemas.openxmlformats.org/officeDocument/2006/relationships/image" Target="../media/image13.png"/><Relationship Id="rId5" Type="http://schemas.openxmlformats.org/officeDocument/2006/relationships/hyperlink" Target="https://github.com/VladislavStoimenov235030/Vladislav_Stoimenov_Graduation_Project_25_26/blob/5f3c247fd8e1159743aec7175a9fdd4a10068d0e/requirements.txt" TargetMode="External"/><Relationship Id="rId10" Type="http://schemas.openxmlformats.org/officeDocument/2006/relationships/image" Target="../media/image12.png"/><Relationship Id="rId4" Type="http://schemas.openxmlformats.org/officeDocument/2006/relationships/hyperlink" Target="https://github.com/VladislavStoimenov235030/Vladislav_Stoimenov_Graduation_Project_25_26/tree/5f3c247fd8e1159743aec7175a9fdd4a10068d0e/src" TargetMode="External"/><Relationship Id="rId9" Type="http://schemas.openxmlformats.org/officeDocument/2006/relationships/hyperlink" Target="https://github.com/VladislavStoimenov235030/Vladislav_Stoimenov_Graduation_Project_25_26/blob/5f3c247fd8e1159743aec7175a9fdd4a10068d0e/thesis/qualitative_thematic_analysis.md" TargetMode="External"/></Relationships>
</file>

<file path=ppt/slides/_rels/slide61.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3.xml"/></Relationships>
</file>

<file path=ppt/slides/_rels/slide62.xml.rels><?xml version="1.0" encoding="UTF-8" standalone="yes"?>
<Relationships xmlns="http://schemas.openxmlformats.org/package/2006/relationships"><Relationship Id="rId8" Type="http://schemas.openxmlformats.org/officeDocument/2006/relationships/hyperlink" Target="https://github.com/VladislavStoimenov235030/Vladislav_Stoimenov_Graduation_Project_25_26/blob/5f3c247fd8e1159743aec7175a9fdd4a10068d0e/notebooks/11_yolov8n_sofia_finetune.ipynb" TargetMode="External"/><Relationship Id="rId3" Type="http://schemas.openxmlformats.org/officeDocument/2006/relationships/hyperlink" Target="https://github.com/VladislavStoimenov235030/Vladislav_Stoimenov_Graduation_Project_25_26/blob/5f3c247fd8e1159743aec7175a9fdd4a10068d0e/thesis/evidencing/ADS%26AI%20Work%20Log%20Graduation%20Project.xlsx" TargetMode="External"/><Relationship Id="rId7" Type="http://schemas.openxmlformats.org/officeDocument/2006/relationships/hyperlink" Target="https://github.com/VladislavStoimenov235030/Vladislav_Stoimenov_Graduation_Project_25_26/blob/5f3c247fd8e1159743aec7175a9fdd4a10068d0e/notebooks/09_yolov8n_large_dataset.ipynb" TargetMode="External"/><Relationship Id="rId2" Type="http://schemas.openxmlformats.org/officeDocument/2006/relationships/notesSlide" Target="../notesSlides/notesSlide61.xml"/><Relationship Id="rId1" Type="http://schemas.openxmlformats.org/officeDocument/2006/relationships/slideLayout" Target="../slideLayouts/slideLayout5.xml"/><Relationship Id="rId6" Type="http://schemas.openxmlformats.org/officeDocument/2006/relationships/hyperlink" Target="https://github.com/VladislavStoimenov235030/Vladislav_Stoimenov_Graduation_Project_25_26/blob/5f3c247fd8e1159743aec7175a9fdd4a10068d0e/notebooks/05_yolov8n_retrain_medium_dataset.ipynb" TargetMode="External"/><Relationship Id="rId11" Type="http://schemas.openxmlformats.org/officeDocument/2006/relationships/image" Target="../media/image16.png"/><Relationship Id="rId5" Type="http://schemas.openxmlformats.org/officeDocument/2006/relationships/hyperlink" Target="https://github.com/VladislavStoimenov235030/Vladislav_Stoimenov_Graduation_Project_25_26/blob/5f3c247fd8e1159743aec7175a9fdd4a10068d0e/notebooks/03_first_yolo_training_sample_dataset.ipynb" TargetMode="External"/><Relationship Id="rId10" Type="http://schemas.openxmlformats.org/officeDocument/2006/relationships/image" Target="../media/image15.png"/><Relationship Id="rId4" Type="http://schemas.openxmlformats.org/officeDocument/2006/relationships/hyperlink" Target="https://github.com/VladislavStoimenov235030/Vladislav_Stoimenov_Graduation_Project_25_26/blob/5f3c247fd8e1159743aec7175a9fdd4a10068d0e/thesis/Thesis_Vladislav_Stoimenov.pdf" TargetMode="External"/><Relationship Id="rId9" Type="http://schemas.openxmlformats.org/officeDocument/2006/relationships/image" Target="../media/image14.png"/></Relationships>
</file>

<file path=ppt/slides/_rels/slide63.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62.xml"/><Relationship Id="rId1" Type="http://schemas.openxmlformats.org/officeDocument/2006/relationships/slideLayout" Target="../slideLayouts/slideLayout5.xml"/></Relationships>
</file>

<file path=ppt/slides/_rels/slide64.xml.rels><?xml version="1.0" encoding="UTF-8" standalone="yes"?>
<Relationships xmlns="http://schemas.openxmlformats.org/package/2006/relationships"><Relationship Id="rId3" Type="http://schemas.openxmlformats.org/officeDocument/2006/relationships/hyperlink" Target="https://github.com/VladislavStoimenov235030/Vladislav_Stoimenov_Graduation_Project_25_26/blob/5f3c247fd8e1159743aec7175a9fdd4a10068d0e/thesis/Thesis_Vladislav_Stoimenov.pdf" TargetMode="External"/><Relationship Id="rId2" Type="http://schemas.openxmlformats.org/officeDocument/2006/relationships/notesSlide" Target="../notesSlides/notesSlide63.xml"/><Relationship Id="rId1" Type="http://schemas.openxmlformats.org/officeDocument/2006/relationships/slideLayout" Target="../slideLayouts/slideLayout5.xml"/><Relationship Id="rId6" Type="http://schemas.openxmlformats.org/officeDocument/2006/relationships/image" Target="../media/image18.png"/><Relationship Id="rId5" Type="http://schemas.openxmlformats.org/officeDocument/2006/relationships/hyperlink" Target="https://github.com/VladislavStoimenov235030/Vladislav_Stoimenov_Graduation_Project_25_26/blob/5f3c247fd8e1159743aec7175a9fdd4a10068d0e/src/data/inspect_rdd2022.py" TargetMode="External"/><Relationship Id="rId4" Type="http://schemas.openxmlformats.org/officeDocument/2006/relationships/hyperlink" Target="https://github.com/VladislavStoimenov235030/Vladislav_Stoimenov_Graduation_Project_25_26/blob/5f3c247fd8e1159743aec7175a9fdd4a10068d0e/scripts/create_rdd2022_4classes_large.py#L1-L25" TargetMode="External"/></Relationships>
</file>

<file path=ppt/slides/_rels/slide65.xml.rels><?xml version="1.0" encoding="UTF-8" standalone="yes"?>
<Relationships xmlns="http://schemas.openxmlformats.org/package/2006/relationships"><Relationship Id="rId2" Type="http://schemas.openxmlformats.org/officeDocument/2006/relationships/notesSlide" Target="../notesSlides/notesSlide64.xml"/><Relationship Id="rId1" Type="http://schemas.openxmlformats.org/officeDocument/2006/relationships/slideLayout" Target="../slideLayouts/slideLayout3.xml"/></Relationships>
</file>

<file path=ppt/slides/_rels/slide66.xml.rels><?xml version="1.0" encoding="UTF-8" standalone="yes"?>
<Relationships xmlns="http://schemas.openxmlformats.org/package/2006/relationships"><Relationship Id="rId3" Type="http://schemas.openxmlformats.org/officeDocument/2006/relationships/hyperlink" Target="https://github.com/VladislavStoimenov235030/Vladislav_Stoimenov_Graduation_Project_25_26/blob/5f3c247fd8e1159743aec7175a9fdd4a10068d0e/thesis/Road_Guard_AI_Usability_Study_Responses_Qualitative_Results.csv" TargetMode="External"/><Relationship Id="rId7" Type="http://schemas.openxmlformats.org/officeDocument/2006/relationships/image" Target="../media/image20.png"/><Relationship Id="rId2" Type="http://schemas.openxmlformats.org/officeDocument/2006/relationships/notesSlide" Target="../notesSlides/notesSlide65.xml"/><Relationship Id="rId1" Type="http://schemas.openxmlformats.org/officeDocument/2006/relationships/slideLayout" Target="../slideLayouts/slideLayout5.xml"/><Relationship Id="rId6" Type="http://schemas.openxmlformats.org/officeDocument/2006/relationships/image" Target="../media/image19.png"/><Relationship Id="rId5" Type="http://schemas.openxmlformats.org/officeDocument/2006/relationships/hyperlink" Target="https://github.com/VladislavStoimenov235030/Vladislav_Stoimenov_Graduation_Project_25_26/blob/5f3c247fd8e1159743aec7175a9fdd4a10068d0e/thesis/Thesis_Vladislav_Stoimenov.pdf" TargetMode="External"/><Relationship Id="rId4" Type="http://schemas.openxmlformats.org/officeDocument/2006/relationships/hyperlink" Target="https://github.com/VladislavStoimenov235030/Vladislav_Stoimenov_Graduation_Project_25_26/blob/5f3c247fd8e1159743aec7175a9fdd4a10068d0e/thesis/qualitative_thematic_analysis.md" TargetMode="External"/></Relationships>
</file>

<file path=ppt/slides/_rels/slide67.xml.rels><?xml version="1.0" encoding="UTF-8" standalone="yes"?>
<Relationships xmlns="http://schemas.openxmlformats.org/package/2006/relationships"><Relationship Id="rId3" Type="http://schemas.openxmlformats.org/officeDocument/2006/relationships/hyperlink" Target="https://github.com/VladislavStoimenov235030/Vladislav_Stoimenov_Graduation_Project_25_26/blob/5f3c247fd8e1159743aec7175a9fdd4a10068d0e/thesis/Thesis_Vladislav_Stoimenov.pdf" TargetMode="External"/><Relationship Id="rId2" Type="http://schemas.openxmlformats.org/officeDocument/2006/relationships/notesSlide" Target="../notesSlides/notesSlide66.xml"/><Relationship Id="rId1" Type="http://schemas.openxmlformats.org/officeDocument/2006/relationships/slideLayout" Target="../slideLayouts/slideLayout5.xml"/><Relationship Id="rId5" Type="http://schemas.openxmlformats.org/officeDocument/2006/relationships/image" Target="../media/image22.png"/><Relationship Id="rId4" Type="http://schemas.openxmlformats.org/officeDocument/2006/relationships/image" Target="../media/image21.png"/></Relationships>
</file>

<file path=ppt/slides/_rels/slide68.xml.rels><?xml version="1.0" encoding="UTF-8" standalone="yes"?>
<Relationships xmlns="http://schemas.openxmlformats.org/package/2006/relationships"><Relationship Id="rId8" Type="http://schemas.openxmlformats.org/officeDocument/2006/relationships/image" Target="../media/image24.png"/><Relationship Id="rId3" Type="http://schemas.openxmlformats.org/officeDocument/2006/relationships/hyperlink" Target="https://github.com/VladislavStoimenov235030/Vladislav_Stoimenov_Graduation_Project_25_26/blob/5f3c247fd8e1159743aec7175a9fdd4a10068d0e/thesis/Thesis_Vladislav_Stoimenov.pdf" TargetMode="External"/><Relationship Id="rId7" Type="http://schemas.openxmlformats.org/officeDocument/2006/relationships/image" Target="../media/image23.png"/><Relationship Id="rId2" Type="http://schemas.openxmlformats.org/officeDocument/2006/relationships/notesSlide" Target="../notesSlides/notesSlide67.xml"/><Relationship Id="rId1" Type="http://schemas.openxmlformats.org/officeDocument/2006/relationships/slideLayout" Target="../slideLayouts/slideLayout5.xml"/><Relationship Id="rId6" Type="http://schemas.openxmlformats.org/officeDocument/2006/relationships/hyperlink" Target="https://github.com/VladislavStoimenov235030/Vladislav_Stoimenov_Graduation_Project_25_26/tree/5f3c247fd8e1159743aec7175a9fdd4a10068d0e/src" TargetMode="External"/><Relationship Id="rId5" Type="http://schemas.openxmlformats.org/officeDocument/2006/relationships/hyperlink" Target="https://github.com/VladislavStoimenov235030/Vladislav_Stoimenov_Graduation_Project_25_26/blob/5f3c247fd8e1159743aec7175a9fdd4a10068d0e/thesis/map_risk_routing_explained.md" TargetMode="External"/><Relationship Id="rId4" Type="http://schemas.openxmlformats.org/officeDocument/2006/relationships/hyperlink" Target="https://github.com/VladislavStoimenov235030/Vladislav_Stoimenov_Graduation_Project_25_26/blob/5f3c247fd8e1159743aec7175a9fdd4a10068d0e/README.md" TargetMode="External"/></Relationships>
</file>

<file path=ppt/slides/_rels/slide69.xml.rels><?xml version="1.0" encoding="UTF-8" standalone="yes"?>
<Relationships xmlns="http://schemas.openxmlformats.org/package/2006/relationships"><Relationship Id="rId2" Type="http://schemas.openxmlformats.org/officeDocument/2006/relationships/notesSlide" Target="../notesSlides/notesSlide68.xml"/><Relationship Id="rId1" Type="http://schemas.openxmlformats.org/officeDocument/2006/relationships/slideLayout" Target="../slideLayouts/slideLayout3.xml"/></Relationships>
</file>

<file path=ppt/slides/_rels/slide70.xml.rels><?xml version="1.0" encoding="UTF-8" standalone="yes"?>
<Relationships xmlns="http://schemas.openxmlformats.org/package/2006/relationships"><Relationship Id="rId8" Type="http://schemas.openxmlformats.org/officeDocument/2006/relationships/image" Target="../media/image25.png"/><Relationship Id="rId3" Type="http://schemas.openxmlformats.org/officeDocument/2006/relationships/hyperlink" Target="https://github.com/VladislavStoimenov235030/Vladislav_Stoimenov_Graduation_Project_25_26/blob/5f3c247fd8e1159743aec7175a9fdd4a10068d0e/thesis/Road_Guard_AI_Usability_Study_Responses_Qualitative_Results.csv" TargetMode="External"/><Relationship Id="rId7" Type="http://schemas.openxmlformats.org/officeDocument/2006/relationships/image" Target="../media/image19.png"/><Relationship Id="rId2" Type="http://schemas.openxmlformats.org/officeDocument/2006/relationships/notesSlide" Target="../notesSlides/notesSlide69.xml"/><Relationship Id="rId1" Type="http://schemas.openxmlformats.org/officeDocument/2006/relationships/slideLayout" Target="../slideLayouts/slideLayout5.xml"/><Relationship Id="rId6" Type="http://schemas.openxmlformats.org/officeDocument/2006/relationships/hyperlink" Target="https://github.com/VladislavStoimenov235030/Vladislav_Stoimenov_Graduation_Project_25_26/blob/5f3c247fd8e1159743aec7175a9fdd4a10068d0e/thesis/Thesis_Vladislav_Stoimenov.pdf" TargetMode="External"/><Relationship Id="rId5" Type="http://schemas.openxmlformats.org/officeDocument/2006/relationships/hyperlink" Target="https://github.com/VladislavStoimenov235030/Vladislav_Stoimenov_Graduation_Project_25_26/blob/5f3c247fd8e1159743aec7175a9fdd4a10068d0e/thesis/evidencing/ADS&amp;AI%20Work%20Log%20Graduation%20Project.xlsx" TargetMode="External"/><Relationship Id="rId4" Type="http://schemas.openxmlformats.org/officeDocument/2006/relationships/hyperlink" Target="https://github.com/VladislavStoimenov235030/Vladislav_Stoimenov_Graduation_Project_25_26/blob/5f3c247fd8e1159743aec7175a9fdd4a10068d0e/thesis/qualitative_thematic_analysis.md" TargetMode="External"/><Relationship Id="rId9" Type="http://schemas.openxmlformats.org/officeDocument/2006/relationships/image" Target="../media/image16.png"/></Relationships>
</file>

<file path=ppt/slides/_rels/slide71.xml.rels><?xml version="1.0" encoding="UTF-8" standalone="yes"?>
<Relationships xmlns="http://schemas.openxmlformats.org/package/2006/relationships"><Relationship Id="rId8" Type="http://schemas.openxmlformats.org/officeDocument/2006/relationships/image" Target="../media/image28.png"/><Relationship Id="rId3" Type="http://schemas.openxmlformats.org/officeDocument/2006/relationships/hyperlink" Target="https://github.com/VladislavStoimenov235030/Vladislav_Stoimenov_Graduation_Project_25_26/blob/5f3c247fd8e1159743aec7175a9fdd4a10068d0e/src/app/theme.py#L206-L228" TargetMode="External"/><Relationship Id="rId7" Type="http://schemas.openxmlformats.org/officeDocument/2006/relationships/image" Target="../media/image27.png"/><Relationship Id="rId2" Type="http://schemas.openxmlformats.org/officeDocument/2006/relationships/notesSlide" Target="../notesSlides/notesSlide70.xml"/><Relationship Id="rId1" Type="http://schemas.openxmlformats.org/officeDocument/2006/relationships/slideLayout" Target="../slideLayouts/slideLayout5.xml"/><Relationship Id="rId6" Type="http://schemas.openxmlformats.org/officeDocument/2006/relationships/image" Target="../media/image26.png"/><Relationship Id="rId5" Type="http://schemas.openxmlformats.org/officeDocument/2006/relationships/hyperlink" Target="https://github.com/VladislavStoimenov235030/Vladislav_Stoimenov_Graduation_Project_25_26/blob/5f3c247fd8e1159743aec7175a9fdd4a10068d0e/README.md" TargetMode="External"/><Relationship Id="rId4" Type="http://schemas.openxmlformats.org/officeDocument/2006/relationships/hyperlink" Target="https://github.com/VladislavStoimenov235030/Vladislav_Stoimenov_Graduation_Project_25_26/blob/5f3c247fd8e1159743aec7175a9fdd4a10068d0e/thesis/Thesis_Vladislav_Stoimenov.pdf" TargetMode="External"/></Relationships>
</file>

<file path=ppt/slides/_rels/slide72.xml.rels><?xml version="1.0" encoding="UTF-8" standalone="yes"?>
<Relationships xmlns="http://schemas.openxmlformats.org/package/2006/relationships"><Relationship Id="rId2" Type="http://schemas.openxmlformats.org/officeDocument/2006/relationships/notesSlide" Target="../notesSlides/notesSlide71.xml"/><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2" Type="http://schemas.openxmlformats.org/officeDocument/2006/relationships/notesSlide" Target="../notesSlides/notesSlide72.xml"/><Relationship Id="rId1" Type="http://schemas.openxmlformats.org/officeDocument/2006/relationships/slideLayout" Target="../slideLayouts/slideLayout4.xml"/></Relationships>
</file>

<file path=ppt/slides/_rels/slide74.xml.rels><?xml version="1.0" encoding="UTF-8" standalone="yes"?>
<Relationships xmlns="http://schemas.openxmlformats.org/package/2006/relationships"><Relationship Id="rId2" Type="http://schemas.openxmlformats.org/officeDocument/2006/relationships/notesSlide" Target="../notesSlides/notesSlide73.xml"/><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06CADD77-9632-5219-D3F3-7C407344BAFA}"/>
              </a:ext>
            </a:extLst>
          </p:cNvPr>
          <p:cNvSpPr/>
          <p:nvPr/>
        </p:nvSpPr>
        <p:spPr>
          <a:xfrm>
            <a:off x="1866900" y="4425950"/>
            <a:ext cx="3625850" cy="292100"/>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5" name="Google Shape;93;p12">
            <a:extLst>
              <a:ext uri="{FF2B5EF4-FFF2-40B4-BE49-F238E27FC236}">
                <a16:creationId xmlns:a16="http://schemas.microsoft.com/office/drawing/2014/main" id="{195C2A37-13A1-EB47-4FA0-6B54B87CD731}"/>
              </a:ext>
            </a:extLst>
          </p:cNvPr>
          <p:cNvSpPr txBox="1">
            <a:spLocks noGrp="1"/>
          </p:cNvSpPr>
          <p:nvPr>
            <p:ph type="ctrTitle"/>
          </p:nvPr>
        </p:nvSpPr>
        <p:spPr>
          <a:xfrm>
            <a:off x="3200399" y="542300"/>
            <a:ext cx="4937700" cy="32643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GB" dirty="0" err="1" smtClean="0">
                <a:solidFill>
                  <a:srgbClr val="FFFFFF"/>
                </a:solidFill>
                <a:latin typeface="Roboto"/>
                <a:ea typeface="Roboto"/>
                <a:cs typeface="Roboto"/>
                <a:sym typeface="Roboto"/>
              </a:rPr>
              <a:t>Vladislav</a:t>
            </a:r>
            <a:r>
              <a:rPr lang="en-GB" dirty="0" smtClean="0">
                <a:solidFill>
                  <a:srgbClr val="FFFFFF"/>
                </a:solidFill>
                <a:latin typeface="Roboto"/>
                <a:ea typeface="Roboto"/>
                <a:cs typeface="Roboto"/>
                <a:sym typeface="Roboto"/>
              </a:rPr>
              <a:t> Stoimenov</a:t>
            </a:r>
            <a:endParaRPr dirty="0">
              <a:solidFill>
                <a:srgbClr val="FFFFFF"/>
              </a:solidFill>
              <a:latin typeface="Roboto"/>
              <a:ea typeface="Roboto"/>
              <a:cs typeface="Roboto"/>
              <a:sym typeface="Roboto"/>
            </a:endParaRPr>
          </a:p>
          <a:p>
            <a:pPr marL="0" lvl="0" indent="0" algn="l" rtl="0">
              <a:spcBef>
                <a:spcPts val="0"/>
              </a:spcBef>
              <a:spcAft>
                <a:spcPts val="0"/>
              </a:spcAft>
              <a:buNone/>
            </a:pPr>
            <a:r>
              <a:rPr lang="en-GB" dirty="0" smtClean="0">
                <a:solidFill>
                  <a:srgbClr val="FFFFFF"/>
                </a:solidFill>
                <a:latin typeface="Roboto"/>
                <a:ea typeface="Roboto"/>
                <a:cs typeface="Roboto"/>
                <a:sym typeface="Roboto"/>
              </a:rPr>
              <a:t>235030</a:t>
            </a:r>
            <a:endParaRPr dirty="0">
              <a:solidFill>
                <a:srgbClr val="FFFFFF"/>
              </a:solidFill>
              <a:latin typeface="Roboto"/>
              <a:ea typeface="Roboto"/>
              <a:cs typeface="Roboto"/>
              <a:sym typeface="Roboto"/>
            </a:endParaRPr>
          </a:p>
          <a:p>
            <a:pPr marL="0" lvl="0" indent="0" algn="l" rtl="0">
              <a:spcBef>
                <a:spcPts val="0"/>
              </a:spcBef>
              <a:spcAft>
                <a:spcPts val="0"/>
              </a:spcAft>
              <a:buNone/>
            </a:pPr>
            <a:r>
              <a:rPr lang="en" dirty="0">
                <a:latin typeface="Roboto"/>
                <a:ea typeface="Roboto"/>
                <a:cs typeface="Roboto"/>
                <a:sym typeface="Roboto"/>
              </a:rPr>
              <a:t>Gradation Project</a:t>
            </a:r>
            <a:endParaRPr dirty="0">
              <a:solidFill>
                <a:srgbClr val="FFFFFF"/>
              </a:solidFill>
              <a:latin typeface="Roboto"/>
              <a:ea typeface="Roboto"/>
              <a:cs typeface="Roboto"/>
              <a:sym typeface="Roboto"/>
            </a:endParaRPr>
          </a:p>
        </p:txBody>
      </p:sp>
      <p:sp>
        <p:nvSpPr>
          <p:cNvPr id="6" name="Google Shape;94;p12" descr="Face" title="Face">
            <a:extLst>
              <a:ext uri="{FF2B5EF4-FFF2-40B4-BE49-F238E27FC236}">
                <a16:creationId xmlns:a16="http://schemas.microsoft.com/office/drawing/2014/main" id="{79517FC7-BDCA-09DE-9C15-375A87F020F6}"/>
              </a:ext>
            </a:extLst>
          </p:cNvPr>
          <p:cNvSpPr/>
          <p:nvPr/>
        </p:nvSpPr>
        <p:spPr>
          <a:xfrm>
            <a:off x="3749050" y="640075"/>
            <a:ext cx="1371600" cy="1371600"/>
          </a:xfrm>
          <a:prstGeom prst="rect">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t>[photo]</a:t>
            </a:r>
            <a:endParaRPr/>
          </a:p>
        </p:txBody>
      </p:sp>
      <p:sp>
        <p:nvSpPr>
          <p:cNvPr id="7" name="Google Shape;95;p12">
            <a:extLst>
              <a:ext uri="{FF2B5EF4-FFF2-40B4-BE49-F238E27FC236}">
                <a16:creationId xmlns:a16="http://schemas.microsoft.com/office/drawing/2014/main" id="{AD15C803-AE4E-6F80-8AA4-F0E44F2E66D0}"/>
              </a:ext>
            </a:extLst>
          </p:cNvPr>
          <p:cNvSpPr txBox="1">
            <a:spLocks noGrp="1"/>
          </p:cNvSpPr>
          <p:nvPr>
            <p:ph type="subTitle" idx="1"/>
          </p:nvPr>
        </p:nvSpPr>
        <p:spPr>
          <a:xfrm>
            <a:off x="548650" y="2718275"/>
            <a:ext cx="2011800" cy="1260000"/>
          </a:xfrm>
          <a:prstGeom prst="rect">
            <a:avLst/>
          </a:prstGeom>
        </p:spPr>
        <p:txBody>
          <a:bodyPr spcFirstLastPara="1" wrap="square" lIns="91425" tIns="91425" rIns="91425" bIns="91425" anchor="b" anchorCtr="0">
            <a:noAutofit/>
          </a:bodyPr>
          <a:lstStyle/>
          <a:p>
            <a:pPr marL="0" lvl="0" indent="0" algn="l" rtl="0">
              <a:lnSpc>
                <a:spcPct val="104000"/>
              </a:lnSpc>
              <a:spcBef>
                <a:spcPts val="0"/>
              </a:spcBef>
              <a:spcAft>
                <a:spcPts val="0"/>
              </a:spcAft>
              <a:buNone/>
            </a:pPr>
            <a:r>
              <a:rPr lang="en" sz="1800" dirty="0">
                <a:solidFill>
                  <a:srgbClr val="434343"/>
                </a:solidFill>
              </a:rPr>
              <a:t>Learning Log </a:t>
            </a:r>
            <a:endParaRPr sz="1800" dirty="0">
              <a:solidFill>
                <a:srgbClr val="434343"/>
              </a:solidFill>
            </a:endParaRPr>
          </a:p>
          <a:p>
            <a:pPr marL="0" lvl="0" indent="0" algn="l" rtl="0">
              <a:lnSpc>
                <a:spcPct val="104000"/>
              </a:lnSpc>
              <a:spcBef>
                <a:spcPts val="800"/>
              </a:spcBef>
              <a:spcAft>
                <a:spcPts val="800"/>
              </a:spcAft>
              <a:buNone/>
            </a:pPr>
            <a:r>
              <a:rPr lang="en" dirty="0">
                <a:solidFill>
                  <a:srgbClr val="434343"/>
                </a:solidFill>
              </a:rPr>
              <a:t>202</a:t>
            </a:r>
            <a:r>
              <a:rPr lang="en-GB" dirty="0">
                <a:solidFill>
                  <a:srgbClr val="434343"/>
                </a:solidFill>
              </a:rPr>
              <a:t>6- 2027</a:t>
            </a:r>
            <a:r>
              <a:rPr lang="en" dirty="0">
                <a:solidFill>
                  <a:srgbClr val="434343"/>
                </a:solidFill>
              </a:rPr>
              <a:t/>
            </a:r>
            <a:br>
              <a:rPr lang="en" dirty="0">
                <a:solidFill>
                  <a:srgbClr val="434343"/>
                </a:solidFill>
              </a:rPr>
            </a:br>
            <a:r>
              <a:rPr lang="en" dirty="0">
                <a:solidFill>
                  <a:srgbClr val="434343"/>
                </a:solidFill>
              </a:rPr>
              <a:t> </a:t>
            </a:r>
            <a:r>
              <a:rPr lang="en" sz="1800" dirty="0">
                <a:solidFill>
                  <a:srgbClr val="434343"/>
                </a:solidFill>
              </a:rPr>
              <a:t> </a:t>
            </a:r>
            <a:endParaRPr sz="1800" dirty="0">
              <a:solidFill>
                <a:srgbClr val="434343"/>
              </a:solidFill>
            </a:endParaRPr>
          </a:p>
        </p:txBody>
      </p:sp>
      <p:pic>
        <p:nvPicPr>
          <p:cNvPr id="2" name="Picture 1"/>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749050" y="542300"/>
            <a:ext cx="1371600" cy="1820707"/>
          </a:xfrm>
          <a:prstGeom prst="rect">
            <a:avLst/>
          </a:prstGeom>
        </p:spPr>
      </p:pic>
    </p:spTree>
    <p:extLst>
      <p:ext uri="{BB962C8B-B14F-4D97-AF65-F5344CB8AC3E}">
        <p14:creationId xmlns:p14="http://schemas.microsoft.com/office/powerpoint/2010/main" val="350539135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00"/>
        <p:cNvGrpSpPr/>
        <p:nvPr/>
      </p:nvGrpSpPr>
      <p:grpSpPr>
        <a:xfrm>
          <a:off x="0" y="0"/>
          <a:ext cx="0" cy="0"/>
          <a:chOff x="0" y="0"/>
          <a:chExt cx="0" cy="0"/>
        </a:xfrm>
      </p:grpSpPr>
      <p:sp>
        <p:nvSpPr>
          <p:cNvPr id="101" name="Google Shape;101;p13"/>
          <p:cNvSpPr txBox="1">
            <a:spLocks noGrp="1"/>
          </p:cNvSpPr>
          <p:nvPr>
            <p:ph type="title"/>
          </p:nvPr>
        </p:nvSpPr>
        <p:spPr>
          <a:xfrm>
            <a:off x="182880" y="2926080"/>
            <a:ext cx="2743200" cy="15519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How To Use</a:t>
            </a:r>
            <a:endParaRPr/>
          </a:p>
          <a:p>
            <a:pPr marL="0" lvl="0" indent="0" algn="ctr" rtl="0">
              <a:spcBef>
                <a:spcPts val="0"/>
              </a:spcBef>
              <a:spcAft>
                <a:spcPts val="0"/>
              </a:spcAft>
              <a:buNone/>
            </a:pPr>
            <a:r>
              <a:rPr lang="en"/>
              <a:t>This Template</a:t>
            </a:r>
            <a:endParaRPr/>
          </a:p>
        </p:txBody>
      </p:sp>
      <p:sp>
        <p:nvSpPr>
          <p:cNvPr id="102" name="Google Shape;102;p13"/>
          <p:cNvSpPr txBox="1">
            <a:spLocks noGrp="1"/>
          </p:cNvSpPr>
          <p:nvPr>
            <p:ph type="body" idx="2"/>
          </p:nvPr>
        </p:nvSpPr>
        <p:spPr>
          <a:xfrm>
            <a:off x="3383280" y="274320"/>
            <a:ext cx="5486400" cy="45993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dirty="0"/>
              <a:t>As a student at Breda University of Applied Sciences studying to become a professional, you are required to provide evidence that demonstrates your professional learning and growth during the block. This template is intended to provide you with a well-structured and organised format for doing this effectively. Keep in mind that certain competencies may require you to update your evidence every week, and others may have only be relevant during a particular week or two.</a:t>
            </a:r>
            <a:endParaRPr dirty="0"/>
          </a:p>
          <a:p>
            <a:pPr marL="0" lvl="0" indent="0" algn="l" rtl="0">
              <a:spcBef>
                <a:spcPts val="800"/>
              </a:spcBef>
              <a:spcAft>
                <a:spcPts val="0"/>
              </a:spcAft>
              <a:buNone/>
            </a:pPr>
            <a:endParaRPr dirty="0"/>
          </a:p>
          <a:p>
            <a:pPr marL="0" lvl="0" indent="0" algn="l" rtl="0">
              <a:spcBef>
                <a:spcPts val="800"/>
              </a:spcBef>
              <a:spcAft>
                <a:spcPts val="0"/>
              </a:spcAft>
              <a:buNone/>
            </a:pPr>
            <a:r>
              <a:rPr lang="en" dirty="0"/>
              <a:t>With the evidence you present here teachers should get a clear and comprehensive overview of your progress, how you’ve engaged with feedback, as well as your general attitude and performance as a student and as an aspiring professional developer.</a:t>
            </a:r>
            <a:endParaRPr dirty="0"/>
          </a:p>
          <a:p>
            <a:pPr marL="0" lvl="0" indent="0" algn="l" rtl="0">
              <a:spcBef>
                <a:spcPts val="800"/>
              </a:spcBef>
              <a:spcAft>
                <a:spcPts val="0"/>
              </a:spcAft>
              <a:buNone/>
            </a:pPr>
            <a:endParaRPr dirty="0"/>
          </a:p>
          <a:p>
            <a:pPr marL="0" lvl="0" indent="0" algn="l" rtl="0">
              <a:spcBef>
                <a:spcPts val="800"/>
              </a:spcBef>
              <a:spcAft>
                <a:spcPts val="0"/>
              </a:spcAft>
              <a:buNone/>
            </a:pPr>
            <a:r>
              <a:rPr lang="en" dirty="0"/>
              <a:t>Note that number and size of text boxes and how they are organized on each slide may be modified as needed. It is up to you to decide what layout is most effective for the content you are providing. You may also add slides if needed, but try to be as economical as possible, i.e. quality over quantity. Focus on the things that are the most significant and meaningful.</a:t>
            </a:r>
            <a:endParaRPr dirty="0"/>
          </a:p>
          <a:p>
            <a:pPr marL="0" lvl="0" indent="0" algn="l" rtl="0">
              <a:spcBef>
                <a:spcPts val="800"/>
              </a:spcBef>
              <a:spcAft>
                <a:spcPts val="0"/>
              </a:spcAft>
              <a:buNone/>
            </a:pPr>
            <a:endParaRPr dirty="0"/>
          </a:p>
          <a:p>
            <a:pPr marL="0" lvl="0" indent="0" algn="l" rtl="0">
              <a:spcBef>
                <a:spcPts val="800"/>
              </a:spcBef>
              <a:spcAft>
                <a:spcPts val="800"/>
              </a:spcAft>
              <a:buNone/>
            </a:pPr>
            <a:r>
              <a:rPr lang="en" dirty="0"/>
              <a:t>You are also free to stylise this template to improve the graphic design and visual appeal, but please remember its purpose: to provide evidence of your progress towards becoming a professional developer. Changes should only enhance and extend the information, and may never subtract. I.e. do not delete anything or change the order of things. If in doubt, seek approval from your teachers!</a:t>
            </a:r>
            <a:endParaRPr dirty="0"/>
          </a:p>
        </p:txBody>
      </p:sp>
      <p:pic>
        <p:nvPicPr>
          <p:cNvPr id="1026" name="Picture 2" descr="Artificial intelligence brain">
            <a:extLst>
              <a:ext uri="{FF2B5EF4-FFF2-40B4-BE49-F238E27FC236}">
                <a16:creationId xmlns:a16="http://schemas.microsoft.com/office/drawing/2014/main" id="{31E76062-B307-B28D-6D09-6AB7455F1C6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674" y="453863"/>
            <a:ext cx="3102126" cy="1615217"/>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07"/>
        <p:cNvGrpSpPr/>
        <p:nvPr/>
      </p:nvGrpSpPr>
      <p:grpSpPr>
        <a:xfrm>
          <a:off x="0" y="0"/>
          <a:ext cx="0" cy="0"/>
          <a:chOff x="0" y="0"/>
          <a:chExt cx="0" cy="0"/>
        </a:xfrm>
      </p:grpSpPr>
      <p:sp>
        <p:nvSpPr>
          <p:cNvPr id="108" name="Google Shape;108;p14"/>
          <p:cNvSpPr txBox="1">
            <a:spLocks noGrp="1"/>
          </p:cNvSpPr>
          <p:nvPr>
            <p:ph type="title"/>
          </p:nvPr>
        </p:nvSpPr>
        <p:spPr>
          <a:xfrm>
            <a:off x="274320" y="308799"/>
            <a:ext cx="2560200" cy="15519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dirty="0"/>
              <a:t>Learning Log</a:t>
            </a:r>
            <a:endParaRPr dirty="0"/>
          </a:p>
          <a:p>
            <a:pPr marL="0" lvl="0" indent="0" algn="ctr" rtl="0">
              <a:spcBef>
                <a:spcPts val="0"/>
              </a:spcBef>
              <a:spcAft>
                <a:spcPts val="0"/>
              </a:spcAft>
              <a:buNone/>
            </a:pPr>
            <a:r>
              <a:rPr lang="en" dirty="0"/>
              <a:t>Structure</a:t>
            </a:r>
            <a:endParaRPr dirty="0"/>
          </a:p>
        </p:txBody>
      </p:sp>
      <p:sp>
        <p:nvSpPr>
          <p:cNvPr id="109" name="Google Shape;109;p14"/>
          <p:cNvSpPr txBox="1">
            <a:spLocks noGrp="1"/>
          </p:cNvSpPr>
          <p:nvPr>
            <p:ph type="subTitle" idx="1"/>
          </p:nvPr>
        </p:nvSpPr>
        <p:spPr>
          <a:xfrm>
            <a:off x="274320" y="1860700"/>
            <a:ext cx="2560200" cy="30129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sz="1400" dirty="0"/>
              <a:t>Section A</a:t>
            </a:r>
            <a:endParaRPr sz="1400" dirty="0"/>
          </a:p>
          <a:p>
            <a:pPr marL="182880" lvl="0" indent="-180340" algn="l" rtl="0">
              <a:spcBef>
                <a:spcPts val="0"/>
              </a:spcBef>
              <a:spcAft>
                <a:spcPts val="0"/>
              </a:spcAft>
              <a:buSzPts val="1400"/>
              <a:buChar char="●"/>
            </a:pPr>
            <a:r>
              <a:rPr lang="en" sz="1400" dirty="0"/>
              <a:t>Starting this block</a:t>
            </a:r>
            <a:endParaRPr sz="1400" dirty="0"/>
          </a:p>
          <a:p>
            <a:pPr marL="182880" lvl="0" indent="-180340" algn="l" rtl="0">
              <a:spcBef>
                <a:spcPts val="0"/>
              </a:spcBef>
              <a:spcAft>
                <a:spcPts val="0"/>
              </a:spcAft>
              <a:buSzPts val="1400"/>
              <a:buChar char="●"/>
            </a:pPr>
            <a:r>
              <a:rPr lang="en" sz="1400" dirty="0"/>
              <a:t>Goals</a:t>
            </a:r>
            <a:endParaRPr sz="1400" dirty="0"/>
          </a:p>
          <a:p>
            <a:pPr marL="0" lvl="0" indent="0" algn="l" rtl="0">
              <a:spcBef>
                <a:spcPts val="0"/>
              </a:spcBef>
              <a:spcAft>
                <a:spcPts val="0"/>
              </a:spcAft>
              <a:buNone/>
            </a:pPr>
            <a:endParaRPr sz="1400" dirty="0"/>
          </a:p>
          <a:p>
            <a:pPr marL="0" lvl="0" indent="0" algn="l" rtl="0">
              <a:spcBef>
                <a:spcPts val="0"/>
              </a:spcBef>
              <a:spcAft>
                <a:spcPts val="0"/>
              </a:spcAft>
              <a:buNone/>
            </a:pPr>
            <a:r>
              <a:rPr lang="en" sz="1400" dirty="0"/>
              <a:t>Section B </a:t>
            </a:r>
            <a:endParaRPr sz="1400" dirty="0"/>
          </a:p>
          <a:p>
            <a:pPr marL="182880" lvl="0" indent="-180340" algn="l" rtl="0">
              <a:spcBef>
                <a:spcPts val="0"/>
              </a:spcBef>
              <a:spcAft>
                <a:spcPts val="0"/>
              </a:spcAft>
              <a:buSzPts val="1400"/>
              <a:buChar char="●"/>
            </a:pPr>
            <a:r>
              <a:rPr lang="en" sz="1400" dirty="0"/>
              <a:t>Week log section</a:t>
            </a:r>
            <a:endParaRPr sz="1400" dirty="0"/>
          </a:p>
          <a:p>
            <a:pPr marL="0" lvl="0" indent="0" algn="l" rtl="0">
              <a:spcBef>
                <a:spcPts val="0"/>
              </a:spcBef>
              <a:spcAft>
                <a:spcPts val="0"/>
              </a:spcAft>
              <a:buNone/>
            </a:pPr>
            <a:endParaRPr sz="1400" dirty="0"/>
          </a:p>
          <a:p>
            <a:pPr marL="0" lvl="0" indent="0" algn="l" rtl="0">
              <a:spcBef>
                <a:spcPts val="0"/>
              </a:spcBef>
              <a:spcAft>
                <a:spcPts val="0"/>
              </a:spcAft>
              <a:buNone/>
            </a:pPr>
            <a:r>
              <a:rPr lang="en" sz="1400" dirty="0"/>
              <a:t>Section C</a:t>
            </a:r>
            <a:endParaRPr sz="1400" dirty="0"/>
          </a:p>
          <a:p>
            <a:pPr marL="182880" lvl="0" indent="-180340" algn="l" rtl="0">
              <a:spcBef>
                <a:spcPts val="0"/>
              </a:spcBef>
              <a:spcAft>
                <a:spcPts val="0"/>
              </a:spcAft>
              <a:buSzPts val="1400"/>
              <a:buChar char="●"/>
            </a:pPr>
            <a:r>
              <a:rPr lang="en-GB" sz="1400" dirty="0"/>
              <a:t>ILO section</a:t>
            </a:r>
          </a:p>
          <a:p>
            <a:pPr marL="182880" lvl="0" indent="-180340" algn="l" rtl="0">
              <a:spcBef>
                <a:spcPts val="0"/>
              </a:spcBef>
              <a:spcAft>
                <a:spcPts val="0"/>
              </a:spcAft>
              <a:buSzPts val="1400"/>
              <a:buChar char="●"/>
            </a:pPr>
            <a:endParaRPr lang="en" sz="1400" dirty="0"/>
          </a:p>
          <a:p>
            <a:pPr marL="2540" lvl="0" indent="0" algn="l" rtl="0">
              <a:spcBef>
                <a:spcPts val="0"/>
              </a:spcBef>
              <a:spcAft>
                <a:spcPts val="0"/>
              </a:spcAft>
              <a:buSzPts val="1400"/>
            </a:pPr>
            <a:r>
              <a:rPr lang="en" sz="1400" dirty="0"/>
              <a:t>Section D</a:t>
            </a:r>
          </a:p>
          <a:p>
            <a:pPr marL="182880" lvl="0" indent="-180340" algn="l" rtl="0">
              <a:spcBef>
                <a:spcPts val="0"/>
              </a:spcBef>
              <a:spcAft>
                <a:spcPts val="0"/>
              </a:spcAft>
              <a:buSzPts val="1400"/>
              <a:buChar char="●"/>
            </a:pPr>
            <a:r>
              <a:rPr lang="en" sz="1400" dirty="0"/>
              <a:t>Block reflection</a:t>
            </a:r>
          </a:p>
          <a:p>
            <a:pPr marL="2540" lvl="0" indent="0" algn="l" rtl="0">
              <a:spcBef>
                <a:spcPts val="0"/>
              </a:spcBef>
              <a:spcAft>
                <a:spcPts val="0"/>
              </a:spcAft>
              <a:buSzPts val="1400"/>
            </a:pPr>
            <a:endParaRPr lang="en" sz="1400" dirty="0"/>
          </a:p>
        </p:txBody>
      </p:sp>
      <p:sp>
        <p:nvSpPr>
          <p:cNvPr id="110" name="Google Shape;110;p14"/>
          <p:cNvSpPr txBox="1">
            <a:spLocks noGrp="1"/>
          </p:cNvSpPr>
          <p:nvPr>
            <p:ph type="body" idx="2"/>
          </p:nvPr>
        </p:nvSpPr>
        <p:spPr>
          <a:xfrm>
            <a:off x="3383280" y="274320"/>
            <a:ext cx="5486400" cy="45993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sz="1200" b="1" u="sng" dirty="0"/>
              <a:t>Section A - My Plan		</a:t>
            </a:r>
            <a:r>
              <a:rPr lang="en" i="1" dirty="0"/>
              <a:t>Must be completed in </a:t>
            </a:r>
            <a:r>
              <a:rPr lang="en" i="1" u="sng" dirty="0"/>
              <a:t>week 1</a:t>
            </a:r>
            <a:endParaRPr i="1" u="sng" dirty="0"/>
          </a:p>
          <a:p>
            <a:pPr marL="0" lvl="0" indent="0" algn="l" rtl="0">
              <a:spcBef>
                <a:spcPts val="800"/>
              </a:spcBef>
              <a:spcAft>
                <a:spcPts val="0"/>
              </a:spcAft>
              <a:buNone/>
            </a:pPr>
            <a:r>
              <a:rPr lang="en" dirty="0"/>
              <a:t>Your plan describes your goals for the </a:t>
            </a:r>
            <a:r>
              <a:rPr lang="en-US" dirty="0"/>
              <a:t>graduation project</a:t>
            </a:r>
            <a:r>
              <a:rPr lang="en" dirty="0"/>
              <a:t>. Starting with where you are right now, where do you want to be at the end of the </a:t>
            </a:r>
            <a:r>
              <a:rPr lang="en-US" dirty="0"/>
              <a:t>graduation project</a:t>
            </a:r>
            <a:r>
              <a:rPr lang="en" dirty="0"/>
              <a:t>? I.e. what role(s) will you take responsibility for, and how will you demonstrate progress relevant to the ILOs for this </a:t>
            </a:r>
            <a:r>
              <a:rPr lang="en-US" dirty="0"/>
              <a:t>graduation project</a:t>
            </a:r>
            <a:r>
              <a:rPr lang="en" dirty="0"/>
              <a:t>? What tasks and deliverables are best aligned with your role and the project?</a:t>
            </a:r>
            <a:endParaRPr dirty="0"/>
          </a:p>
          <a:p>
            <a:pPr marL="0" lvl="0" indent="0" algn="l" rtl="0">
              <a:spcBef>
                <a:spcPts val="800"/>
              </a:spcBef>
              <a:spcAft>
                <a:spcPts val="0"/>
              </a:spcAft>
              <a:buNone/>
            </a:pPr>
            <a:r>
              <a:rPr lang="en" sz="1200" b="1" u="sng" dirty="0"/>
              <a:t>Section B - Weekly Log	</a:t>
            </a:r>
            <a:r>
              <a:rPr lang="en" i="1" dirty="0"/>
              <a:t>Must be updated </a:t>
            </a:r>
            <a:r>
              <a:rPr lang="en" i="1" u="sng" dirty="0"/>
              <a:t>every week</a:t>
            </a:r>
            <a:endParaRPr i="1" u="sng" dirty="0"/>
          </a:p>
          <a:p>
            <a:pPr marL="0" lvl="0" indent="0" algn="l" rtl="0">
              <a:spcBef>
                <a:spcPts val="800"/>
              </a:spcBef>
              <a:spcAft>
                <a:spcPts val="0"/>
              </a:spcAft>
              <a:buNone/>
            </a:pPr>
            <a:r>
              <a:rPr lang="en" dirty="0"/>
              <a:t>This is simply a log (journal) of what you do each week, and what you learn from it. It is your responsibility to update this regularly and frequently. Be sure to include working links to any specific evidence you are referencing (and make sure that you share your docs with the teaching team). Note: some of the required information may be captured in production documents such as your work log or peer reviews. </a:t>
            </a:r>
            <a:endParaRPr dirty="0"/>
          </a:p>
          <a:p>
            <a:pPr marL="0" lvl="0" indent="0" algn="l" rtl="0">
              <a:spcBef>
                <a:spcPts val="800"/>
              </a:spcBef>
              <a:spcAft>
                <a:spcPts val="0"/>
              </a:spcAft>
              <a:buNone/>
            </a:pPr>
            <a:r>
              <a:rPr lang="en" dirty="0"/>
              <a:t>In such cases, you simply need to provide links to those artifacts and may include any explanatory comment or reflection you feel is appropriate. </a:t>
            </a:r>
            <a:endParaRPr dirty="0"/>
          </a:p>
          <a:p>
            <a:pPr marL="0" lvl="0" indent="0" algn="l" rtl="0">
              <a:spcBef>
                <a:spcPts val="800"/>
              </a:spcBef>
              <a:spcAft>
                <a:spcPts val="0"/>
              </a:spcAft>
              <a:buNone/>
            </a:pPr>
            <a:r>
              <a:rPr lang="en" dirty="0"/>
              <a:t>(Some reflection is almost always a good idea as it provides the foundation for Section D.)</a:t>
            </a:r>
          </a:p>
          <a:p>
            <a:pPr marL="0" lvl="0" indent="0" algn="l" rtl="0">
              <a:spcBef>
                <a:spcPts val="800"/>
              </a:spcBef>
              <a:spcAft>
                <a:spcPts val="0"/>
              </a:spcAft>
              <a:buNone/>
            </a:pPr>
            <a:r>
              <a:rPr lang="en-US" sz="1200" b="1" u="sng" dirty="0"/>
              <a:t>Section B - ILO’s		</a:t>
            </a:r>
            <a:r>
              <a:rPr lang="en-US" i="1" dirty="0"/>
              <a:t>Must be completed in </a:t>
            </a:r>
            <a:r>
              <a:rPr lang="en-US" i="1" u="sng" dirty="0"/>
              <a:t>week 20</a:t>
            </a:r>
            <a:r>
              <a:rPr lang="en-US" i="1" dirty="0"/>
              <a:t> but should be updated </a:t>
            </a:r>
            <a:r>
              <a:rPr lang="en-US" i="1" u="sng" dirty="0"/>
              <a:t>regularly</a:t>
            </a:r>
          </a:p>
          <a:p>
            <a:pPr marL="0" lvl="0" indent="0" algn="l" rtl="0">
              <a:spcBef>
                <a:spcPts val="800"/>
              </a:spcBef>
              <a:spcAft>
                <a:spcPts val="0"/>
              </a:spcAft>
              <a:buNone/>
            </a:pPr>
            <a:r>
              <a:rPr lang="en-US" dirty="0"/>
              <a:t>This is where you link your evidence to each of the Intended Learning Outcomes of this graduation project.</a:t>
            </a:r>
            <a:endParaRPr dirty="0"/>
          </a:p>
          <a:p>
            <a:pPr marL="0" lvl="0" indent="0" algn="l" rtl="0">
              <a:spcBef>
                <a:spcPts val="800"/>
              </a:spcBef>
              <a:spcAft>
                <a:spcPts val="0"/>
              </a:spcAft>
              <a:buNone/>
            </a:pPr>
            <a:r>
              <a:rPr lang="en" sz="1200" b="1" u="sng" dirty="0"/>
              <a:t>Section C - Reflection	</a:t>
            </a:r>
            <a:r>
              <a:rPr lang="en" i="1" dirty="0"/>
              <a:t>Must be completed in </a:t>
            </a:r>
            <a:r>
              <a:rPr lang="en" i="1" u="sng" dirty="0"/>
              <a:t>week 20</a:t>
            </a:r>
            <a:endParaRPr i="1" u="sng" dirty="0"/>
          </a:p>
          <a:p>
            <a:pPr marL="0" lvl="0" indent="0" algn="l" rtl="0">
              <a:spcBef>
                <a:spcPts val="800"/>
              </a:spcBef>
              <a:spcAft>
                <a:spcPts val="800"/>
              </a:spcAft>
              <a:buNone/>
            </a:pPr>
            <a:r>
              <a:rPr lang="en" dirty="0"/>
              <a:t>Summative reflection on your progress during your </a:t>
            </a:r>
            <a:r>
              <a:rPr lang="en-US" dirty="0"/>
              <a:t>graduation project</a:t>
            </a:r>
            <a:r>
              <a:rPr lang="en" dirty="0"/>
              <a:t> including a critical assessment of everything you did and learned during the </a:t>
            </a:r>
            <a:r>
              <a:rPr lang="en-US" dirty="0"/>
              <a:t>graduation project</a:t>
            </a:r>
            <a:r>
              <a:rPr lang="en" dirty="0"/>
              <a:t>. This is a comprehensive review of everything recorded in Section B and C, evaluated against the goals and planning laid out in Section A.</a:t>
            </a:r>
            <a:endParaRPr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52"/>
        <p:cNvGrpSpPr/>
        <p:nvPr/>
      </p:nvGrpSpPr>
      <p:grpSpPr>
        <a:xfrm>
          <a:off x="0" y="0"/>
          <a:ext cx="0" cy="0"/>
          <a:chOff x="0" y="0"/>
          <a:chExt cx="0" cy="0"/>
        </a:xfrm>
      </p:grpSpPr>
      <p:sp>
        <p:nvSpPr>
          <p:cNvPr id="153" name="Google Shape;153;p19"/>
          <p:cNvSpPr txBox="1">
            <a:spLocks noGrp="1"/>
          </p:cNvSpPr>
          <p:nvPr>
            <p:ph type="ctrTitle"/>
          </p:nvPr>
        </p:nvSpPr>
        <p:spPr>
          <a:xfrm>
            <a:off x="1828800" y="1453896"/>
            <a:ext cx="7315200" cy="1501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sz="6000"/>
              <a:t>Section A</a:t>
            </a:r>
            <a:endParaRPr sz="6000"/>
          </a:p>
        </p:txBody>
      </p:sp>
      <p:sp>
        <p:nvSpPr>
          <p:cNvPr id="154" name="Google Shape;154;p19"/>
          <p:cNvSpPr txBox="1">
            <a:spLocks noGrp="1"/>
          </p:cNvSpPr>
          <p:nvPr>
            <p:ph type="subTitle" idx="1"/>
          </p:nvPr>
        </p:nvSpPr>
        <p:spPr>
          <a:xfrm>
            <a:off x="1828800" y="2953512"/>
            <a:ext cx="7315200" cy="685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sz="3000"/>
              <a:t>Goal Setting</a:t>
            </a:r>
            <a:endParaRPr lang="en-US" sz="3000"/>
          </a:p>
        </p:txBody>
      </p:sp>
      <p:sp>
        <p:nvSpPr>
          <p:cNvPr id="155" name="Google Shape;155;p19"/>
          <p:cNvSpPr txBox="1"/>
          <p:nvPr/>
        </p:nvSpPr>
        <p:spPr>
          <a:xfrm>
            <a:off x="-420624" y="754575"/>
            <a:ext cx="3383400" cy="51207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r>
              <a:rPr lang="en" sz="40000" dirty="0">
                <a:solidFill>
                  <a:srgbClr val="999999"/>
                </a:solidFill>
                <a:latin typeface="Roboto"/>
                <a:ea typeface="Roboto"/>
                <a:cs typeface="Roboto"/>
                <a:sym typeface="Roboto"/>
              </a:rPr>
              <a:t>A</a:t>
            </a:r>
            <a:endParaRPr sz="40000" dirty="0">
              <a:solidFill>
                <a:srgbClr val="999999"/>
              </a:solidFill>
              <a:latin typeface="Roboto"/>
              <a:ea typeface="Roboto"/>
              <a:cs typeface="Roboto"/>
              <a:sym typeface="Roboto"/>
            </a:endParaRPr>
          </a:p>
        </p:txBody>
      </p:sp>
      <p:sp>
        <p:nvSpPr>
          <p:cNvPr id="2" name="Rectangle: Rounded Corners 1">
            <a:extLst>
              <a:ext uri="{FF2B5EF4-FFF2-40B4-BE49-F238E27FC236}">
                <a16:creationId xmlns:a16="http://schemas.microsoft.com/office/drawing/2014/main" id="{4E84F48E-9152-454D-9754-FA0D0AD81F68}"/>
              </a:ext>
            </a:extLst>
          </p:cNvPr>
          <p:cNvSpPr/>
          <p:nvPr/>
        </p:nvSpPr>
        <p:spPr>
          <a:xfrm>
            <a:off x="2033752" y="404648"/>
            <a:ext cx="6232634" cy="730469"/>
          </a:xfrm>
          <a:prstGeom prst="round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en-GB" dirty="0">
                <a:effectLst/>
                <a:latin typeface="Open Sans" panose="020B0606030504020204" pitchFamily="34" charset="0"/>
                <a:ea typeface="Open Sans" panose="020B0606030504020204" pitchFamily="34" charset="0"/>
                <a:cs typeface="Times New Roman" panose="02020603050405020304" pitchFamily="18" charset="0"/>
              </a:rPr>
              <a:t>The student sets ambitious, S.M.A.R.T./ C.L.E.A.R goals in alignment with the project brief, their chosen role(s), content of the assessment rubric and their personal long-term goals</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31"/>
        <p:cNvGrpSpPr/>
        <p:nvPr/>
      </p:nvGrpSpPr>
      <p:grpSpPr>
        <a:xfrm>
          <a:off x="0" y="0"/>
          <a:ext cx="0" cy="0"/>
          <a:chOff x="0" y="0"/>
          <a:chExt cx="0" cy="0"/>
        </a:xfrm>
      </p:grpSpPr>
      <p:sp>
        <p:nvSpPr>
          <p:cNvPr id="132" name="Google Shape;132;p17"/>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What is my plan?</a:t>
            </a:r>
            <a:endParaRPr/>
          </a:p>
        </p:txBody>
      </p:sp>
      <p:sp>
        <p:nvSpPr>
          <p:cNvPr id="133" name="Google Shape;133;p17"/>
          <p:cNvSpPr txBox="1">
            <a:spLocks noGrp="1"/>
          </p:cNvSpPr>
          <p:nvPr>
            <p:ph type="title" idx="2"/>
          </p:nvPr>
        </p:nvSpPr>
        <p:spPr>
          <a:xfrm>
            <a:off x="7068300" y="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dirty="0"/>
              <a:t>1/2</a:t>
            </a:r>
            <a:endParaRPr dirty="0"/>
          </a:p>
        </p:txBody>
      </p:sp>
      <p:sp>
        <p:nvSpPr>
          <p:cNvPr id="134" name="Google Shape;134;p17"/>
          <p:cNvSpPr txBox="1">
            <a:spLocks noGrp="1"/>
          </p:cNvSpPr>
          <p:nvPr>
            <p:ph type="subTitle" idx="1"/>
          </p:nvPr>
        </p:nvSpPr>
        <p:spPr>
          <a:xfrm>
            <a:off x="182873" y="667500"/>
            <a:ext cx="8778300" cy="4023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dirty="0"/>
              <a:t>This is a short summary of what I will be responsible for during my graduation project: 										</a:t>
            </a:r>
            <a:endParaRPr dirty="0"/>
          </a:p>
        </p:txBody>
      </p:sp>
      <p:sp>
        <p:nvSpPr>
          <p:cNvPr id="135" name="Google Shape;135;p17"/>
          <p:cNvSpPr txBox="1">
            <a:spLocks noGrp="1"/>
          </p:cNvSpPr>
          <p:nvPr>
            <p:ph type="body" idx="3"/>
          </p:nvPr>
        </p:nvSpPr>
        <p:spPr>
          <a:xfrm>
            <a:off x="182880" y="1069848"/>
            <a:ext cx="5852100" cy="3895200"/>
          </a:xfrm>
          <a:prstGeom prst="rect">
            <a:avLst/>
          </a:prstGeom>
        </p:spPr>
        <p:txBody>
          <a:bodyPr spcFirstLastPara="1" wrap="square" lIns="91425" tIns="91425" rIns="91425" bIns="91425" anchor="t" anchorCtr="0">
            <a:noAutofit/>
          </a:bodyPr>
          <a:lstStyle/>
          <a:p>
            <a:pPr marL="0" lvl="0" indent="0" algn="just">
              <a:buNone/>
            </a:pPr>
            <a:r>
              <a:rPr lang="en-GB" dirty="0"/>
              <a:t>My graduation project, Road Guard AI, is an AI-based pipeline that detects road damage in street photographs, converts detections into an explainable risk score, matches that risk to the road network, and uses it for risk-aware route planning and maintenance prioritisation </a:t>
            </a:r>
            <a:r>
              <a:rPr lang="en-GB" dirty="0" smtClean="0"/>
              <a:t>- </a:t>
            </a:r>
            <a:r>
              <a:rPr lang="en-GB" dirty="0"/>
              <a:t>built and evaluated for a pilot area in Sofia, Bulgaria. As this is an individual project, I am responsible for the full pipeline end to end: collecting and preparing the training data, training and evaluating the two object detection models, designing the risk-scoring and routing logic, building and maintaining the </a:t>
            </a:r>
            <a:r>
              <a:rPr lang="en-GB" dirty="0" err="1"/>
              <a:t>Streamlit</a:t>
            </a:r>
            <a:r>
              <a:rPr lang="en-GB" dirty="0"/>
              <a:t> application and its database, carrying out the quantitative hypothesis testing (</a:t>
            </a:r>
            <a:r>
              <a:rPr lang="en-GB" dirty="0" smtClean="0"/>
              <a:t>H1-H4</a:t>
            </a:r>
            <a:r>
              <a:rPr lang="en-GB" dirty="0"/>
              <a:t>) and the qualitative usability study, and writing the complete thesis.</a:t>
            </a:r>
            <a:endParaRPr dirty="0" smtClean="0"/>
          </a:p>
          <a:p>
            <a:pPr marL="0" lvl="0" indent="0" algn="l" rtl="0">
              <a:spcBef>
                <a:spcPts val="800"/>
              </a:spcBef>
              <a:spcAft>
                <a:spcPts val="800"/>
              </a:spcAft>
              <a:buNone/>
            </a:pPr>
            <a:endParaRPr dirty="0"/>
          </a:p>
        </p:txBody>
      </p:sp>
      <p:sp>
        <p:nvSpPr>
          <p:cNvPr id="136" name="Google Shape;136;p17"/>
          <p:cNvSpPr txBox="1">
            <a:spLocks noGrp="1"/>
          </p:cNvSpPr>
          <p:nvPr>
            <p:ph type="title" idx="4"/>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A</a:t>
            </a:r>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21"/>
        <p:cNvGrpSpPr/>
        <p:nvPr/>
      </p:nvGrpSpPr>
      <p:grpSpPr>
        <a:xfrm>
          <a:off x="0" y="0"/>
          <a:ext cx="0" cy="0"/>
          <a:chOff x="0" y="0"/>
          <a:chExt cx="0" cy="0"/>
        </a:xfrm>
      </p:grpSpPr>
      <p:sp>
        <p:nvSpPr>
          <p:cNvPr id="122" name="Google Shape;122;p16"/>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Where am I starting?</a:t>
            </a:r>
            <a:endParaRPr/>
          </a:p>
        </p:txBody>
      </p:sp>
      <p:sp>
        <p:nvSpPr>
          <p:cNvPr id="123" name="Google Shape;123;p16"/>
          <p:cNvSpPr txBox="1">
            <a:spLocks noGrp="1"/>
          </p:cNvSpPr>
          <p:nvPr>
            <p:ph type="title" idx="2"/>
          </p:nvPr>
        </p:nvSpPr>
        <p:spPr>
          <a:xfrm>
            <a:off x="7068300" y="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sz="1400" dirty="0"/>
              <a:t>2/</a:t>
            </a:r>
            <a:r>
              <a:rPr lang="en" dirty="0"/>
              <a:t>2</a:t>
            </a:r>
            <a:endParaRPr sz="1400" dirty="0"/>
          </a:p>
        </p:txBody>
      </p:sp>
      <p:sp>
        <p:nvSpPr>
          <p:cNvPr id="124" name="Google Shape;124;p16"/>
          <p:cNvSpPr txBox="1">
            <a:spLocks noGrp="1"/>
          </p:cNvSpPr>
          <p:nvPr>
            <p:ph type="title" idx="4"/>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A</a:t>
            </a:r>
            <a:endParaRPr/>
          </a:p>
        </p:txBody>
      </p:sp>
      <p:sp>
        <p:nvSpPr>
          <p:cNvPr id="125" name="Google Shape;125;p16"/>
          <p:cNvSpPr txBox="1">
            <a:spLocks noGrp="1"/>
          </p:cNvSpPr>
          <p:nvPr>
            <p:ph type="subTitle" idx="1"/>
          </p:nvPr>
        </p:nvSpPr>
        <p:spPr>
          <a:xfrm>
            <a:off x="182820" y="667548"/>
            <a:ext cx="8778300" cy="4023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dirty="0"/>
              <a:t>These are qualities I bring to my graduation project: </a:t>
            </a:r>
            <a:endParaRPr lang="en" dirty="0" smtClean="0"/>
          </a:p>
          <a:p>
            <a:pPr marL="0" lvl="0" indent="0" algn="l" rtl="0">
              <a:spcBef>
                <a:spcPts val="0"/>
              </a:spcBef>
              <a:spcAft>
                <a:spcPts val="800"/>
              </a:spcAft>
              <a:buNone/>
            </a:pPr>
            <a:endParaRPr lang="en" dirty="0"/>
          </a:p>
          <a:p>
            <a:pPr marL="0" lvl="0" indent="0" algn="l" rtl="0">
              <a:spcBef>
                <a:spcPts val="0"/>
              </a:spcBef>
              <a:spcAft>
                <a:spcPts val="800"/>
              </a:spcAft>
              <a:buNone/>
            </a:pPr>
            <a:endParaRPr lang="en" dirty="0"/>
          </a:p>
          <a:p>
            <a:pPr marL="0" lvl="0" indent="0" algn="l" rtl="0">
              <a:spcBef>
                <a:spcPts val="0"/>
              </a:spcBef>
              <a:spcAft>
                <a:spcPts val="800"/>
              </a:spcAft>
              <a:buNone/>
            </a:pPr>
            <a:r>
              <a:rPr lang="en" dirty="0"/>
              <a:t>							</a:t>
            </a:r>
            <a:endParaRPr b="0" i="1" dirty="0"/>
          </a:p>
        </p:txBody>
      </p:sp>
      <p:sp>
        <p:nvSpPr>
          <p:cNvPr id="126" name="Google Shape;126;p16"/>
          <p:cNvSpPr txBox="1">
            <a:spLocks noGrp="1"/>
          </p:cNvSpPr>
          <p:nvPr>
            <p:ph type="body" idx="3"/>
          </p:nvPr>
        </p:nvSpPr>
        <p:spPr>
          <a:xfrm>
            <a:off x="182880" y="1069848"/>
            <a:ext cx="5852100" cy="3895200"/>
          </a:xfrm>
          <a:prstGeom prst="rect">
            <a:avLst/>
          </a:prstGeom>
        </p:spPr>
        <p:txBody>
          <a:bodyPr spcFirstLastPara="1" wrap="square" lIns="91425" tIns="91425" rIns="91425" bIns="91425" anchor="t" anchorCtr="0">
            <a:noAutofit/>
          </a:bodyPr>
          <a:lstStyle/>
          <a:p>
            <a:pPr marL="0" lvl="0" indent="0" algn="just">
              <a:buNone/>
            </a:pPr>
            <a:r>
              <a:rPr lang="en-GB" dirty="0"/>
              <a:t>I can code well in Python and I'm comfortable working with data. I know the basics of computer vision and object detection. I like to test my ideas properly instead of just assuming they're right. I pick up new tools quickly when a project needs them, like </a:t>
            </a:r>
            <a:r>
              <a:rPr lang="en-GB" dirty="0" err="1"/>
              <a:t>OSMnx</a:t>
            </a:r>
            <a:r>
              <a:rPr lang="en-GB" dirty="0"/>
              <a:t>, </a:t>
            </a:r>
            <a:r>
              <a:rPr lang="en-GB" dirty="0" err="1"/>
              <a:t>Streamlit</a:t>
            </a:r>
            <a:r>
              <a:rPr lang="en-GB" dirty="0"/>
              <a:t>, and CVAT. And I can take a project all the way from raw data to something that actually works and can be shown to people</a:t>
            </a:r>
            <a:r>
              <a:rPr lang="en-GB" dirty="0" smtClean="0"/>
              <a:t>.</a:t>
            </a:r>
          </a:p>
          <a:p>
            <a:pPr marL="0" lvl="0" indent="0" algn="just">
              <a:buNone/>
            </a:pPr>
            <a:endParaRPr lang="en-GB" dirty="0"/>
          </a:p>
          <a:p>
            <a:pPr marL="0" lvl="0" indent="0" algn="just">
              <a:buNone/>
            </a:pPr>
            <a:endParaRPr lang="en-GB" dirty="0" smtClean="0"/>
          </a:p>
          <a:p>
            <a:pPr marL="0" lvl="0" indent="0" algn="just">
              <a:buNone/>
            </a:pPr>
            <a:endParaRPr lang="en-GB" dirty="0"/>
          </a:p>
          <a:p>
            <a:pPr marL="0" lvl="0" indent="0" algn="just">
              <a:buNone/>
            </a:pPr>
            <a:endParaRPr lang="en-GB" dirty="0" smtClean="0"/>
          </a:p>
          <a:p>
            <a:pPr marL="0" lvl="0" indent="0" algn="just">
              <a:buNone/>
            </a:pPr>
            <a:endParaRPr lang="en-GB" dirty="0"/>
          </a:p>
          <a:p>
            <a:pPr marL="0" lvl="0" indent="0" algn="just">
              <a:buNone/>
            </a:pPr>
            <a:r>
              <a:rPr lang="en-GB" dirty="0"/>
              <a:t>I want to get better at statistics, so I choose the right test instead of just the one I already know. I want to improve how I design the user-facing side of an app, not just the logic behind it. I want to get better at academic writing, since a thesis is longer and more formal than what I'm used to. And I want to get better at explaining technical results to someone who isn't technical, like a city official who cares about the decision, not the method.</a:t>
            </a:r>
            <a:endParaRPr lang="en" dirty="0" smtClean="0"/>
          </a:p>
          <a:p>
            <a:pPr marL="0" lvl="0" indent="0" algn="just" rtl="0">
              <a:spcBef>
                <a:spcPts val="800"/>
              </a:spcBef>
              <a:spcAft>
                <a:spcPts val="800"/>
              </a:spcAft>
              <a:buNone/>
            </a:pPr>
            <a:endParaRPr lang="en" dirty="0" smtClean="0"/>
          </a:p>
          <a:p>
            <a:pPr marL="0" lvl="0" indent="0" algn="just" rtl="0">
              <a:spcBef>
                <a:spcPts val="800"/>
              </a:spcBef>
              <a:spcAft>
                <a:spcPts val="800"/>
              </a:spcAft>
              <a:buNone/>
            </a:pPr>
            <a:endParaRPr lang="en" dirty="0"/>
          </a:p>
          <a:p>
            <a:pPr marL="0" lvl="0" indent="0" algn="just" rtl="0">
              <a:spcBef>
                <a:spcPts val="800"/>
              </a:spcBef>
              <a:spcAft>
                <a:spcPts val="800"/>
              </a:spcAft>
              <a:buNone/>
            </a:pPr>
            <a:endParaRPr lang="en" dirty="0" smtClean="0"/>
          </a:p>
          <a:p>
            <a:pPr marL="0" lvl="0" indent="0" algn="just" rtl="0">
              <a:spcBef>
                <a:spcPts val="800"/>
              </a:spcBef>
              <a:spcAft>
                <a:spcPts val="800"/>
              </a:spcAft>
              <a:buNone/>
            </a:pPr>
            <a:endParaRPr dirty="0"/>
          </a:p>
        </p:txBody>
      </p:sp>
      <p:sp>
        <p:nvSpPr>
          <p:cNvPr id="2" name="Google Shape;125;p16">
            <a:extLst>
              <a:ext uri="{FF2B5EF4-FFF2-40B4-BE49-F238E27FC236}">
                <a16:creationId xmlns:a16="http://schemas.microsoft.com/office/drawing/2014/main" id="{F30A2A53-9DE6-7BEA-7FE8-7A8F29F575C6}"/>
              </a:ext>
            </a:extLst>
          </p:cNvPr>
          <p:cNvSpPr txBox="1">
            <a:spLocks/>
          </p:cNvSpPr>
          <p:nvPr/>
        </p:nvSpPr>
        <p:spPr>
          <a:xfrm>
            <a:off x="182820" y="2118000"/>
            <a:ext cx="8778300" cy="402300"/>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292100" algn="l" rtl="0">
              <a:lnSpc>
                <a:spcPct val="104000"/>
              </a:lnSpc>
              <a:spcBef>
                <a:spcPts val="0"/>
              </a:spcBef>
              <a:spcAft>
                <a:spcPts val="0"/>
              </a:spcAft>
              <a:buClr>
                <a:srgbClr val="FFFFFF"/>
              </a:buClr>
              <a:buSzPts val="1000"/>
              <a:buFont typeface="Roboto"/>
              <a:buNone/>
              <a:defRPr sz="1400" b="1" i="0" u="none" strike="noStrike" cap="none">
                <a:solidFill>
                  <a:srgbClr val="FFFFFF"/>
                </a:solidFill>
                <a:latin typeface="Roboto"/>
                <a:ea typeface="Roboto"/>
                <a:cs typeface="Roboto"/>
                <a:sym typeface="Roboto"/>
              </a:defRPr>
            </a:lvl1pPr>
            <a:lvl2pPr marL="914400" marR="0" lvl="1" indent="-292100" algn="l" rtl="0">
              <a:lnSpc>
                <a:spcPct val="104000"/>
              </a:lnSpc>
              <a:spcBef>
                <a:spcPts val="800"/>
              </a:spcBef>
              <a:spcAft>
                <a:spcPts val="0"/>
              </a:spcAft>
              <a:buClr>
                <a:srgbClr val="FFFFFF"/>
              </a:buClr>
              <a:buSzPts val="1000"/>
              <a:buFont typeface="Roboto"/>
              <a:buNone/>
              <a:defRPr sz="1000" b="0" i="1" u="none" strike="noStrike" cap="none">
                <a:solidFill>
                  <a:srgbClr val="FFFFFF"/>
                </a:solidFill>
                <a:latin typeface="Roboto"/>
                <a:ea typeface="Roboto"/>
                <a:cs typeface="Roboto"/>
                <a:sym typeface="Roboto"/>
              </a:defRPr>
            </a:lvl2pPr>
            <a:lvl3pPr marL="1371600" marR="0" lvl="2" indent="-292100" algn="l" rtl="0">
              <a:lnSpc>
                <a:spcPct val="104000"/>
              </a:lnSpc>
              <a:spcBef>
                <a:spcPts val="800"/>
              </a:spcBef>
              <a:spcAft>
                <a:spcPts val="0"/>
              </a:spcAft>
              <a:buClr>
                <a:srgbClr val="FFFFFF"/>
              </a:buClr>
              <a:buSzPts val="1000"/>
              <a:buFont typeface="Roboto"/>
              <a:buNone/>
              <a:defRPr sz="1000" b="0" i="0" u="sng" strike="noStrike" cap="none">
                <a:solidFill>
                  <a:srgbClr val="FFFFFF"/>
                </a:solidFill>
                <a:latin typeface="Roboto"/>
                <a:ea typeface="Roboto"/>
                <a:cs typeface="Roboto"/>
                <a:sym typeface="Roboto"/>
              </a:defRPr>
            </a:lvl3pPr>
            <a:lvl4pPr marL="1828800" marR="0" lvl="3" indent="-292100" algn="l" rtl="0">
              <a:lnSpc>
                <a:spcPct val="104000"/>
              </a:lnSpc>
              <a:spcBef>
                <a:spcPts val="800"/>
              </a:spcBef>
              <a:spcAft>
                <a:spcPts val="0"/>
              </a:spcAft>
              <a:buClr>
                <a:srgbClr val="FFFFFF"/>
              </a:buClr>
              <a:buSzPts val="1000"/>
              <a:buFont typeface="Roboto"/>
              <a:buNone/>
              <a:defRPr sz="1000" b="0" i="0" u="none" strike="noStrike" cap="none">
                <a:solidFill>
                  <a:srgbClr val="FFFFFF"/>
                </a:solidFill>
                <a:latin typeface="Roboto"/>
                <a:ea typeface="Roboto"/>
                <a:cs typeface="Roboto"/>
                <a:sym typeface="Roboto"/>
              </a:defRPr>
            </a:lvl4pPr>
            <a:lvl5pPr marL="2286000" marR="0" lvl="4" indent="-292100" algn="l" rtl="0">
              <a:lnSpc>
                <a:spcPct val="104000"/>
              </a:lnSpc>
              <a:spcBef>
                <a:spcPts val="800"/>
              </a:spcBef>
              <a:spcAft>
                <a:spcPts val="0"/>
              </a:spcAft>
              <a:buClr>
                <a:srgbClr val="FFFFFF"/>
              </a:buClr>
              <a:buSzPts val="1000"/>
              <a:buFont typeface="Roboto"/>
              <a:buNone/>
              <a:defRPr sz="1000" b="0" i="1" u="none" strike="noStrike" cap="none">
                <a:solidFill>
                  <a:srgbClr val="FFFFFF"/>
                </a:solidFill>
                <a:latin typeface="Roboto"/>
                <a:ea typeface="Roboto"/>
                <a:cs typeface="Roboto"/>
                <a:sym typeface="Roboto"/>
              </a:defRPr>
            </a:lvl5pPr>
            <a:lvl6pPr marL="2743200" marR="0" lvl="5" indent="-292100" algn="l" rtl="0">
              <a:lnSpc>
                <a:spcPct val="104000"/>
              </a:lnSpc>
              <a:spcBef>
                <a:spcPts val="800"/>
              </a:spcBef>
              <a:spcAft>
                <a:spcPts val="0"/>
              </a:spcAft>
              <a:buClr>
                <a:srgbClr val="FFFFFF"/>
              </a:buClr>
              <a:buSzPts val="1000"/>
              <a:buFont typeface="Roboto"/>
              <a:buNone/>
              <a:defRPr sz="1000" b="0" i="0" u="sng" strike="noStrike" cap="none">
                <a:solidFill>
                  <a:srgbClr val="FFFFFF"/>
                </a:solidFill>
                <a:latin typeface="Roboto"/>
                <a:ea typeface="Roboto"/>
                <a:cs typeface="Roboto"/>
                <a:sym typeface="Roboto"/>
              </a:defRPr>
            </a:lvl6pPr>
            <a:lvl7pPr marL="3200400" marR="0" lvl="6" indent="-292100" algn="l" rtl="0">
              <a:lnSpc>
                <a:spcPct val="104000"/>
              </a:lnSpc>
              <a:spcBef>
                <a:spcPts val="800"/>
              </a:spcBef>
              <a:spcAft>
                <a:spcPts val="0"/>
              </a:spcAft>
              <a:buClr>
                <a:srgbClr val="FFFFFF"/>
              </a:buClr>
              <a:buSzPts val="1000"/>
              <a:buFont typeface="Roboto"/>
              <a:buNone/>
              <a:defRPr sz="1000" b="0" i="0" u="none" strike="noStrike" cap="none">
                <a:solidFill>
                  <a:srgbClr val="FFFFFF"/>
                </a:solidFill>
                <a:latin typeface="Roboto"/>
                <a:ea typeface="Roboto"/>
                <a:cs typeface="Roboto"/>
                <a:sym typeface="Roboto"/>
              </a:defRPr>
            </a:lvl7pPr>
            <a:lvl8pPr marL="3657600" marR="0" lvl="7" indent="-292100" algn="l" rtl="0">
              <a:lnSpc>
                <a:spcPct val="104000"/>
              </a:lnSpc>
              <a:spcBef>
                <a:spcPts val="800"/>
              </a:spcBef>
              <a:spcAft>
                <a:spcPts val="0"/>
              </a:spcAft>
              <a:buClr>
                <a:srgbClr val="FFFFFF"/>
              </a:buClr>
              <a:buSzPts val="1000"/>
              <a:buFont typeface="Roboto"/>
              <a:buNone/>
              <a:defRPr sz="1000" b="0" i="1" u="none" strike="noStrike" cap="none">
                <a:solidFill>
                  <a:srgbClr val="FFFFFF"/>
                </a:solidFill>
                <a:latin typeface="Roboto"/>
                <a:ea typeface="Roboto"/>
                <a:cs typeface="Roboto"/>
                <a:sym typeface="Roboto"/>
              </a:defRPr>
            </a:lvl8pPr>
            <a:lvl9pPr marL="4114800" marR="0" lvl="8" indent="-292100" algn="l" rtl="0">
              <a:lnSpc>
                <a:spcPct val="104000"/>
              </a:lnSpc>
              <a:spcBef>
                <a:spcPts val="800"/>
              </a:spcBef>
              <a:spcAft>
                <a:spcPts val="800"/>
              </a:spcAft>
              <a:buClr>
                <a:srgbClr val="FFFFFF"/>
              </a:buClr>
              <a:buSzPts val="1000"/>
              <a:buFont typeface="Roboto"/>
              <a:buNone/>
              <a:defRPr sz="1000" b="0" i="0" u="sng" strike="noStrike" cap="none">
                <a:solidFill>
                  <a:srgbClr val="FFFFFF"/>
                </a:solidFill>
                <a:latin typeface="Roboto"/>
                <a:ea typeface="Roboto"/>
                <a:cs typeface="Roboto"/>
                <a:sym typeface="Roboto"/>
              </a:defRPr>
            </a:lvl9pPr>
          </a:lstStyle>
          <a:p>
            <a:pPr marL="0" indent="0">
              <a:spcAft>
                <a:spcPts val="800"/>
              </a:spcAft>
            </a:pPr>
            <a:r>
              <a:rPr lang="en-US" dirty="0"/>
              <a:t>These are qualities I would like to improve/learn more about during my graduation project: 						</a:t>
            </a:r>
            <a:endParaRPr lang="en-US" b="0" i="1"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42"/>
        <p:cNvGrpSpPr/>
        <p:nvPr/>
      </p:nvGrpSpPr>
      <p:grpSpPr>
        <a:xfrm>
          <a:off x="0" y="0"/>
          <a:ext cx="0" cy="0"/>
          <a:chOff x="0" y="0"/>
          <a:chExt cx="0" cy="0"/>
        </a:xfrm>
      </p:grpSpPr>
      <p:sp>
        <p:nvSpPr>
          <p:cNvPr id="143" name="Google Shape;143;p18"/>
          <p:cNvSpPr txBox="1">
            <a:spLocks noGrp="1"/>
          </p:cNvSpPr>
          <p:nvPr>
            <p:ph type="body" idx="3"/>
          </p:nvPr>
        </p:nvSpPr>
        <p:spPr>
          <a:xfrm>
            <a:off x="3108950" y="1069812"/>
            <a:ext cx="5852100" cy="38862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dirty="0"/>
              <a:t>...</a:t>
            </a:r>
            <a:endParaRPr dirty="0"/>
          </a:p>
          <a:p>
            <a:pPr marL="0" lvl="0" indent="0" algn="l" rtl="0">
              <a:spcBef>
                <a:spcPts val="800"/>
              </a:spcBef>
              <a:spcAft>
                <a:spcPts val="0"/>
              </a:spcAft>
              <a:buNone/>
            </a:pPr>
            <a:endParaRPr dirty="0"/>
          </a:p>
          <a:p>
            <a:pPr marL="0" lvl="0" indent="0" algn="l" rtl="0">
              <a:spcBef>
                <a:spcPts val="800"/>
              </a:spcBef>
              <a:spcAft>
                <a:spcPts val="0"/>
              </a:spcAft>
              <a:buNone/>
            </a:pPr>
            <a:r>
              <a:rPr lang="en" sz="1400" b="1" dirty="0"/>
              <a:t>Personal and professional development goals</a:t>
            </a:r>
            <a:endParaRPr sz="1400" b="1" dirty="0"/>
          </a:p>
          <a:p>
            <a:pPr marL="0" lvl="0" indent="0" algn="just" rtl="0">
              <a:spcBef>
                <a:spcPts val="800"/>
              </a:spcBef>
              <a:spcAft>
                <a:spcPts val="800"/>
              </a:spcAft>
              <a:buNone/>
            </a:pPr>
            <a:r>
              <a:rPr lang="en" dirty="0"/>
              <a:t>...</a:t>
            </a:r>
            <a:endParaRPr dirty="0"/>
          </a:p>
        </p:txBody>
      </p:sp>
      <p:sp>
        <p:nvSpPr>
          <p:cNvPr id="144" name="Google Shape;144;p18"/>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What are my goals?</a:t>
            </a:r>
            <a:endParaRPr/>
          </a:p>
        </p:txBody>
      </p:sp>
      <p:sp>
        <p:nvSpPr>
          <p:cNvPr id="145" name="Google Shape;145;p18"/>
          <p:cNvSpPr txBox="1">
            <a:spLocks noGrp="1"/>
          </p:cNvSpPr>
          <p:nvPr>
            <p:ph type="title" idx="2"/>
          </p:nvPr>
        </p:nvSpPr>
        <p:spPr>
          <a:xfrm>
            <a:off x="7068300" y="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1/1</a:t>
            </a:r>
            <a:endParaRPr/>
          </a:p>
        </p:txBody>
      </p:sp>
      <p:sp>
        <p:nvSpPr>
          <p:cNvPr id="146" name="Google Shape;146;p18"/>
          <p:cNvSpPr txBox="1">
            <a:spLocks noGrp="1"/>
          </p:cNvSpPr>
          <p:nvPr>
            <p:ph type="subTitle" idx="1"/>
          </p:nvPr>
        </p:nvSpPr>
        <p:spPr>
          <a:xfrm>
            <a:off x="3108960" y="667512"/>
            <a:ext cx="5852100" cy="4023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dirty="0"/>
              <a:t>The roles I am taking responsibility for</a:t>
            </a:r>
            <a:r>
              <a:rPr lang="en" b="0" i="1" dirty="0"/>
              <a:t> (if multiple add in percentages)</a:t>
            </a:r>
            <a:endParaRPr b="0" i="1" dirty="0"/>
          </a:p>
        </p:txBody>
      </p:sp>
      <p:sp>
        <p:nvSpPr>
          <p:cNvPr id="147" name="Google Shape;147;p18"/>
          <p:cNvSpPr txBox="1">
            <a:spLocks noGrp="1"/>
          </p:cNvSpPr>
          <p:nvPr>
            <p:ph type="title" idx="4"/>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A</a:t>
            </a:r>
            <a:endParaRPr/>
          </a:p>
        </p:txBody>
      </p:sp>
      <p:graphicFrame>
        <p:nvGraphicFramePr>
          <p:cNvPr id="148" name="Google Shape;148;p18"/>
          <p:cNvGraphicFramePr/>
          <p:nvPr/>
        </p:nvGraphicFramePr>
        <p:xfrm>
          <a:off x="182880" y="658368"/>
          <a:ext cx="2740000" cy="4297700"/>
        </p:xfrm>
        <a:graphic>
          <a:graphicData uri="http://schemas.openxmlformats.org/drawingml/2006/table">
            <a:tbl>
              <a:tblPr>
                <a:noFill/>
                <a:tableStyleId>{764D4AE7-FFBC-431D-9275-528F30A785D3}</a:tableStyleId>
              </a:tblPr>
              <a:tblGrid>
                <a:gridCol w="587150">
                  <a:extLst>
                    <a:ext uri="{9D8B030D-6E8A-4147-A177-3AD203B41FA5}">
                      <a16:colId xmlns:a16="http://schemas.microsoft.com/office/drawing/2014/main" val="20000"/>
                    </a:ext>
                  </a:extLst>
                </a:gridCol>
                <a:gridCol w="2152850">
                  <a:extLst>
                    <a:ext uri="{9D8B030D-6E8A-4147-A177-3AD203B41FA5}">
                      <a16:colId xmlns:a16="http://schemas.microsoft.com/office/drawing/2014/main" val="20001"/>
                    </a:ext>
                  </a:extLst>
                </a:gridCol>
              </a:tblGrid>
              <a:tr h="586050">
                <a:tc>
                  <a:txBody>
                    <a:bodyPr/>
                    <a:lstStyle/>
                    <a:p>
                      <a:pPr marL="0" lvl="0" indent="0" algn="ctr" rtl="0">
                        <a:lnSpc>
                          <a:spcPct val="115000"/>
                        </a:lnSpc>
                        <a:spcBef>
                          <a:spcPts val="0"/>
                        </a:spcBef>
                        <a:spcAft>
                          <a:spcPts val="0"/>
                        </a:spcAft>
                        <a:buNone/>
                      </a:pPr>
                      <a:r>
                        <a:rPr lang="en" sz="2400" b="1">
                          <a:solidFill>
                            <a:srgbClr val="FFFFFF"/>
                          </a:solidFill>
                          <a:latin typeface="Roboto"/>
                          <a:ea typeface="Roboto"/>
                          <a:cs typeface="Roboto"/>
                          <a:sym typeface="Roboto"/>
                        </a:rPr>
                        <a:t>S</a:t>
                      </a:r>
                      <a:endParaRPr sz="2400" b="1">
                        <a:solidFill>
                          <a:srgbClr val="FFFFFF"/>
                        </a:solidFill>
                        <a:latin typeface="Roboto"/>
                        <a:ea typeface="Roboto"/>
                        <a:cs typeface="Roboto"/>
                        <a:sym typeface="Roboto"/>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CC4125"/>
                    </a:solidFill>
                  </a:tcPr>
                </a:tc>
                <a:tc>
                  <a:txBody>
                    <a:bodyPr/>
                    <a:lstStyle/>
                    <a:p>
                      <a:pPr marL="0" lvl="0" indent="0" algn="l" rtl="0">
                        <a:lnSpc>
                          <a:spcPct val="115000"/>
                        </a:lnSpc>
                        <a:spcBef>
                          <a:spcPts val="0"/>
                        </a:spcBef>
                        <a:spcAft>
                          <a:spcPts val="0"/>
                        </a:spcAft>
                        <a:buNone/>
                      </a:pPr>
                      <a:r>
                        <a:rPr lang="en" sz="600" b="1">
                          <a:latin typeface="Roboto"/>
                          <a:ea typeface="Roboto"/>
                          <a:cs typeface="Roboto"/>
                          <a:sym typeface="Roboto"/>
                        </a:rPr>
                        <a:t>Specific:</a:t>
                      </a:r>
                      <a:r>
                        <a:rPr lang="en" sz="600">
                          <a:latin typeface="Roboto"/>
                          <a:ea typeface="Roboto"/>
                          <a:cs typeface="Roboto"/>
                          <a:sym typeface="Roboto"/>
                        </a:rPr>
                        <a:t> Be specific when determining your goal. The more specific the better. Putting a real figure to your goal helps make it measurable. When specific and measurable your subconscious mind cannot override your goals, they become achievable.</a:t>
                      </a:r>
                      <a:endParaRPr sz="600">
                        <a:latin typeface="Roboto"/>
                        <a:ea typeface="Roboto"/>
                        <a:cs typeface="Roboto"/>
                        <a:sym typeface="Roboto"/>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F3F3F3"/>
                    </a:solidFill>
                  </a:tcPr>
                </a:tc>
                <a:extLst>
                  <a:ext uri="{0D108BD9-81ED-4DB2-BD59-A6C34878D82A}">
                    <a16:rowId xmlns:a16="http://schemas.microsoft.com/office/drawing/2014/main" val="10000"/>
                  </a:ext>
                </a:extLst>
              </a:tr>
              <a:tr h="586050">
                <a:tc>
                  <a:txBody>
                    <a:bodyPr/>
                    <a:lstStyle/>
                    <a:p>
                      <a:pPr marL="0" lvl="0" indent="0" algn="ctr" rtl="0">
                        <a:lnSpc>
                          <a:spcPct val="115000"/>
                        </a:lnSpc>
                        <a:spcBef>
                          <a:spcPts val="0"/>
                        </a:spcBef>
                        <a:spcAft>
                          <a:spcPts val="0"/>
                        </a:spcAft>
                        <a:buNone/>
                      </a:pPr>
                      <a:r>
                        <a:rPr lang="en" sz="2400" b="1">
                          <a:solidFill>
                            <a:srgbClr val="FFFFFF"/>
                          </a:solidFill>
                          <a:latin typeface="Roboto"/>
                          <a:ea typeface="Roboto"/>
                          <a:cs typeface="Roboto"/>
                          <a:sym typeface="Roboto"/>
                        </a:rPr>
                        <a:t>M</a:t>
                      </a:r>
                      <a:endParaRPr sz="2400" b="1">
                        <a:solidFill>
                          <a:srgbClr val="FFFFFF"/>
                        </a:solidFill>
                        <a:latin typeface="Roboto"/>
                        <a:ea typeface="Roboto"/>
                        <a:cs typeface="Roboto"/>
                        <a:sym typeface="Roboto"/>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E06666"/>
                    </a:solidFill>
                  </a:tcPr>
                </a:tc>
                <a:tc>
                  <a:txBody>
                    <a:bodyPr/>
                    <a:lstStyle/>
                    <a:p>
                      <a:pPr marL="0" lvl="0" indent="0" algn="l" rtl="0">
                        <a:lnSpc>
                          <a:spcPct val="115000"/>
                        </a:lnSpc>
                        <a:spcBef>
                          <a:spcPts val="0"/>
                        </a:spcBef>
                        <a:spcAft>
                          <a:spcPts val="0"/>
                        </a:spcAft>
                        <a:buNone/>
                      </a:pPr>
                      <a:r>
                        <a:rPr lang="en" sz="600" b="1">
                          <a:latin typeface="Roboto"/>
                          <a:ea typeface="Roboto"/>
                          <a:cs typeface="Roboto"/>
                          <a:sym typeface="Roboto"/>
                        </a:rPr>
                        <a:t>Meaningful:</a:t>
                      </a:r>
                      <a:r>
                        <a:rPr lang="en" sz="600">
                          <a:latin typeface="Roboto"/>
                          <a:ea typeface="Roboto"/>
                          <a:cs typeface="Roboto"/>
                          <a:sym typeface="Roboto"/>
                        </a:rPr>
                        <a:t> This is the WHY of your goal setting. When your specific goal has enough meaning for you, you will do whatever it takes to achieve it. When your goal is meaningful the more profound and life altering the results are.</a:t>
                      </a:r>
                      <a:endParaRPr sz="600">
                        <a:latin typeface="Roboto"/>
                        <a:ea typeface="Roboto"/>
                        <a:cs typeface="Roboto"/>
                        <a:sym typeface="Roboto"/>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F3F3F3"/>
                    </a:solidFill>
                  </a:tcPr>
                </a:tc>
                <a:extLst>
                  <a:ext uri="{0D108BD9-81ED-4DB2-BD59-A6C34878D82A}">
                    <a16:rowId xmlns:a16="http://schemas.microsoft.com/office/drawing/2014/main" val="10001"/>
                  </a:ext>
                </a:extLst>
              </a:tr>
              <a:tr h="586050">
                <a:tc>
                  <a:txBody>
                    <a:bodyPr/>
                    <a:lstStyle/>
                    <a:p>
                      <a:pPr marL="0" lvl="0" indent="0" algn="ctr" rtl="0">
                        <a:lnSpc>
                          <a:spcPct val="115000"/>
                        </a:lnSpc>
                        <a:spcBef>
                          <a:spcPts val="0"/>
                        </a:spcBef>
                        <a:spcAft>
                          <a:spcPts val="0"/>
                        </a:spcAft>
                        <a:buNone/>
                      </a:pPr>
                      <a:r>
                        <a:rPr lang="en" sz="2400" b="1">
                          <a:solidFill>
                            <a:srgbClr val="FFFFFF"/>
                          </a:solidFill>
                          <a:latin typeface="Roboto"/>
                          <a:ea typeface="Roboto"/>
                          <a:cs typeface="Roboto"/>
                          <a:sym typeface="Roboto"/>
                        </a:rPr>
                        <a:t>A</a:t>
                      </a:r>
                      <a:endParaRPr sz="2400" b="1">
                        <a:solidFill>
                          <a:srgbClr val="FFFFFF"/>
                        </a:solidFill>
                        <a:latin typeface="Roboto"/>
                        <a:ea typeface="Roboto"/>
                        <a:cs typeface="Roboto"/>
                        <a:sym typeface="Roboto"/>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F6B26B"/>
                    </a:solidFill>
                  </a:tcPr>
                </a:tc>
                <a:tc>
                  <a:txBody>
                    <a:bodyPr/>
                    <a:lstStyle/>
                    <a:p>
                      <a:pPr marL="0" lvl="0" indent="0" algn="l" rtl="0">
                        <a:lnSpc>
                          <a:spcPct val="115000"/>
                        </a:lnSpc>
                        <a:spcBef>
                          <a:spcPts val="0"/>
                        </a:spcBef>
                        <a:spcAft>
                          <a:spcPts val="0"/>
                        </a:spcAft>
                        <a:buNone/>
                      </a:pPr>
                      <a:r>
                        <a:rPr lang="en" sz="600" b="1">
                          <a:latin typeface="Roboto"/>
                          <a:ea typeface="Roboto"/>
                          <a:cs typeface="Roboto"/>
                          <a:sym typeface="Roboto"/>
                        </a:rPr>
                        <a:t>Achievable:</a:t>
                      </a:r>
                      <a:r>
                        <a:rPr lang="en" sz="600">
                          <a:latin typeface="Roboto"/>
                          <a:ea typeface="Roboto"/>
                          <a:cs typeface="Roboto"/>
                          <a:sym typeface="Roboto"/>
                        </a:rPr>
                        <a:t> Choosing realistic and short-term goals helps them be more achievable. Long-term goals can be larger and take more time to achieve. Planning smaller short-term goals as steps to larger long-term goals assists in achieving them.</a:t>
                      </a:r>
                      <a:endParaRPr sz="600">
                        <a:latin typeface="Roboto"/>
                        <a:ea typeface="Roboto"/>
                        <a:cs typeface="Roboto"/>
                        <a:sym typeface="Roboto"/>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F3F3F3"/>
                    </a:solidFill>
                  </a:tcPr>
                </a:tc>
                <a:extLst>
                  <a:ext uri="{0D108BD9-81ED-4DB2-BD59-A6C34878D82A}">
                    <a16:rowId xmlns:a16="http://schemas.microsoft.com/office/drawing/2014/main" val="10002"/>
                  </a:ext>
                </a:extLst>
              </a:tr>
              <a:tr h="586050">
                <a:tc>
                  <a:txBody>
                    <a:bodyPr/>
                    <a:lstStyle/>
                    <a:p>
                      <a:pPr marL="0" lvl="0" indent="0" algn="ctr" rtl="0">
                        <a:lnSpc>
                          <a:spcPct val="115000"/>
                        </a:lnSpc>
                        <a:spcBef>
                          <a:spcPts val="0"/>
                        </a:spcBef>
                        <a:spcAft>
                          <a:spcPts val="0"/>
                        </a:spcAft>
                        <a:buNone/>
                      </a:pPr>
                      <a:r>
                        <a:rPr lang="en" sz="2400" b="1">
                          <a:solidFill>
                            <a:srgbClr val="FFFFFF"/>
                          </a:solidFill>
                          <a:latin typeface="Roboto"/>
                          <a:ea typeface="Roboto"/>
                          <a:cs typeface="Roboto"/>
                          <a:sym typeface="Roboto"/>
                        </a:rPr>
                        <a:t>R</a:t>
                      </a:r>
                      <a:endParaRPr sz="2400" b="1">
                        <a:solidFill>
                          <a:srgbClr val="FFFFFF"/>
                        </a:solidFill>
                        <a:latin typeface="Roboto"/>
                        <a:ea typeface="Roboto"/>
                        <a:cs typeface="Roboto"/>
                        <a:sym typeface="Roboto"/>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FFD966"/>
                    </a:solidFill>
                  </a:tcPr>
                </a:tc>
                <a:tc>
                  <a:txBody>
                    <a:bodyPr/>
                    <a:lstStyle/>
                    <a:p>
                      <a:pPr marL="0" lvl="0" indent="0" algn="l" rtl="0">
                        <a:lnSpc>
                          <a:spcPct val="115000"/>
                        </a:lnSpc>
                        <a:spcBef>
                          <a:spcPts val="0"/>
                        </a:spcBef>
                        <a:spcAft>
                          <a:spcPts val="0"/>
                        </a:spcAft>
                        <a:buNone/>
                      </a:pPr>
                      <a:r>
                        <a:rPr lang="en" sz="600" b="1">
                          <a:latin typeface="Roboto"/>
                          <a:ea typeface="Roboto"/>
                          <a:cs typeface="Roboto"/>
                          <a:sym typeface="Roboto"/>
                        </a:rPr>
                        <a:t>Relevant:</a:t>
                      </a:r>
                      <a:r>
                        <a:rPr lang="en" sz="600">
                          <a:latin typeface="Roboto"/>
                          <a:ea typeface="Roboto"/>
                          <a:cs typeface="Roboto"/>
                          <a:sym typeface="Roboto"/>
                        </a:rPr>
                        <a:t> Each goal you set must be in line with your core values and in harmony with what YOU want out of life. Contradictions in values and goals leads to frustration and loss of motivation. Designing your goals with the expectation of your personal success.</a:t>
                      </a:r>
                      <a:endParaRPr sz="600">
                        <a:latin typeface="Roboto"/>
                        <a:ea typeface="Roboto"/>
                        <a:cs typeface="Roboto"/>
                        <a:sym typeface="Roboto"/>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F3F3F3"/>
                    </a:solidFill>
                  </a:tcPr>
                </a:tc>
                <a:extLst>
                  <a:ext uri="{0D108BD9-81ED-4DB2-BD59-A6C34878D82A}">
                    <a16:rowId xmlns:a16="http://schemas.microsoft.com/office/drawing/2014/main" val="10003"/>
                  </a:ext>
                </a:extLst>
              </a:tr>
              <a:tr h="586050">
                <a:tc>
                  <a:txBody>
                    <a:bodyPr/>
                    <a:lstStyle/>
                    <a:p>
                      <a:pPr marL="0" lvl="0" indent="0" algn="ctr" rtl="0">
                        <a:lnSpc>
                          <a:spcPct val="115000"/>
                        </a:lnSpc>
                        <a:spcBef>
                          <a:spcPts val="0"/>
                        </a:spcBef>
                        <a:spcAft>
                          <a:spcPts val="0"/>
                        </a:spcAft>
                        <a:buNone/>
                      </a:pPr>
                      <a:r>
                        <a:rPr lang="en" sz="2400" b="1">
                          <a:solidFill>
                            <a:srgbClr val="FFFFFF"/>
                          </a:solidFill>
                          <a:latin typeface="Roboto"/>
                          <a:ea typeface="Roboto"/>
                          <a:cs typeface="Roboto"/>
                          <a:sym typeface="Roboto"/>
                        </a:rPr>
                        <a:t>T</a:t>
                      </a:r>
                      <a:endParaRPr sz="2400" b="1">
                        <a:solidFill>
                          <a:srgbClr val="FFFFFF"/>
                        </a:solidFill>
                        <a:latin typeface="Roboto"/>
                        <a:ea typeface="Roboto"/>
                        <a:cs typeface="Roboto"/>
                        <a:sym typeface="Roboto"/>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93C47D"/>
                    </a:solidFill>
                  </a:tcPr>
                </a:tc>
                <a:tc>
                  <a:txBody>
                    <a:bodyPr/>
                    <a:lstStyle/>
                    <a:p>
                      <a:pPr marL="0" lvl="0" indent="0" algn="l" rtl="0">
                        <a:lnSpc>
                          <a:spcPct val="115000"/>
                        </a:lnSpc>
                        <a:spcBef>
                          <a:spcPts val="0"/>
                        </a:spcBef>
                        <a:spcAft>
                          <a:spcPts val="0"/>
                        </a:spcAft>
                        <a:buNone/>
                      </a:pPr>
                      <a:r>
                        <a:rPr lang="en" sz="600" b="1">
                          <a:latin typeface="Roboto"/>
                          <a:ea typeface="Roboto"/>
                          <a:cs typeface="Roboto"/>
                          <a:sym typeface="Roboto"/>
                        </a:rPr>
                        <a:t>Time-Bound:</a:t>
                      </a:r>
                      <a:r>
                        <a:rPr lang="en" sz="600">
                          <a:latin typeface="Roboto"/>
                          <a:ea typeface="Roboto"/>
                          <a:cs typeface="Roboto"/>
                          <a:sym typeface="Roboto"/>
                        </a:rPr>
                        <a:t> Setting a time limit on achieving a goal makes it measurable. When a goal is measurable you can SEE your progress and support your motivation and commitment. Giving your goal a time limit assists you in holding yourself accountable to its completion.</a:t>
                      </a:r>
                      <a:endParaRPr sz="600">
                        <a:latin typeface="Roboto"/>
                        <a:ea typeface="Roboto"/>
                        <a:cs typeface="Roboto"/>
                        <a:sym typeface="Roboto"/>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F3F3F3"/>
                    </a:solidFill>
                  </a:tcPr>
                </a:tc>
                <a:extLst>
                  <a:ext uri="{0D108BD9-81ED-4DB2-BD59-A6C34878D82A}">
                    <a16:rowId xmlns:a16="http://schemas.microsoft.com/office/drawing/2014/main" val="10004"/>
                  </a:ext>
                </a:extLst>
              </a:tr>
              <a:tr h="683725">
                <a:tc>
                  <a:txBody>
                    <a:bodyPr/>
                    <a:lstStyle/>
                    <a:p>
                      <a:pPr marL="0" lvl="0" indent="0" algn="ctr" rtl="0">
                        <a:lnSpc>
                          <a:spcPct val="115000"/>
                        </a:lnSpc>
                        <a:spcBef>
                          <a:spcPts val="0"/>
                        </a:spcBef>
                        <a:spcAft>
                          <a:spcPts val="0"/>
                        </a:spcAft>
                        <a:buNone/>
                      </a:pPr>
                      <a:r>
                        <a:rPr lang="en" sz="2400" b="1">
                          <a:solidFill>
                            <a:srgbClr val="FFFFFF"/>
                          </a:solidFill>
                          <a:latin typeface="Roboto"/>
                          <a:ea typeface="Roboto"/>
                          <a:cs typeface="Roboto"/>
                          <a:sym typeface="Roboto"/>
                        </a:rPr>
                        <a:t>E</a:t>
                      </a:r>
                      <a:endParaRPr sz="2400" b="1">
                        <a:solidFill>
                          <a:srgbClr val="FFFFFF"/>
                        </a:solidFill>
                        <a:latin typeface="Roboto"/>
                        <a:ea typeface="Roboto"/>
                        <a:cs typeface="Roboto"/>
                        <a:sym typeface="Roboto"/>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76A5AF"/>
                    </a:solidFill>
                  </a:tcPr>
                </a:tc>
                <a:tc>
                  <a:txBody>
                    <a:bodyPr/>
                    <a:lstStyle/>
                    <a:p>
                      <a:pPr marL="0" lvl="0" indent="0" algn="l" rtl="0">
                        <a:lnSpc>
                          <a:spcPct val="115000"/>
                        </a:lnSpc>
                        <a:spcBef>
                          <a:spcPts val="0"/>
                        </a:spcBef>
                        <a:spcAft>
                          <a:spcPts val="0"/>
                        </a:spcAft>
                        <a:buNone/>
                      </a:pPr>
                      <a:r>
                        <a:rPr lang="en" sz="600" b="1">
                          <a:latin typeface="Roboto"/>
                          <a:ea typeface="Roboto"/>
                          <a:cs typeface="Roboto"/>
                          <a:sym typeface="Roboto"/>
                        </a:rPr>
                        <a:t>Evaluate:</a:t>
                      </a:r>
                      <a:r>
                        <a:rPr lang="en" sz="600">
                          <a:latin typeface="Roboto"/>
                          <a:ea typeface="Roboto"/>
                          <a:cs typeface="Roboto"/>
                          <a:sym typeface="Roboto"/>
                        </a:rPr>
                        <a:t> By evaluating your goals on a regular basis you will be much more likely to achieve them. It is easy to forget about long-term goals if they are not revisited from time to time. This also helps you assess if the goal you are working on remains in line with your core values and helps you measure your progress.</a:t>
                      </a:r>
                      <a:endParaRPr sz="600">
                        <a:latin typeface="Roboto"/>
                        <a:ea typeface="Roboto"/>
                        <a:cs typeface="Roboto"/>
                        <a:sym typeface="Roboto"/>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F3F3F3"/>
                    </a:solidFill>
                  </a:tcPr>
                </a:tc>
                <a:extLst>
                  <a:ext uri="{0D108BD9-81ED-4DB2-BD59-A6C34878D82A}">
                    <a16:rowId xmlns:a16="http://schemas.microsoft.com/office/drawing/2014/main" val="10005"/>
                  </a:ext>
                </a:extLst>
              </a:tr>
              <a:tr h="683725">
                <a:tc>
                  <a:txBody>
                    <a:bodyPr/>
                    <a:lstStyle/>
                    <a:p>
                      <a:pPr marL="0" lvl="0" indent="0" algn="ctr" rtl="0">
                        <a:lnSpc>
                          <a:spcPct val="115000"/>
                        </a:lnSpc>
                        <a:spcBef>
                          <a:spcPts val="0"/>
                        </a:spcBef>
                        <a:spcAft>
                          <a:spcPts val="0"/>
                        </a:spcAft>
                        <a:buNone/>
                      </a:pPr>
                      <a:r>
                        <a:rPr lang="en" sz="2400" b="1">
                          <a:solidFill>
                            <a:srgbClr val="FFFFFF"/>
                          </a:solidFill>
                          <a:latin typeface="Roboto"/>
                          <a:ea typeface="Roboto"/>
                          <a:cs typeface="Roboto"/>
                          <a:sym typeface="Roboto"/>
                        </a:rPr>
                        <a:t>R</a:t>
                      </a:r>
                      <a:endParaRPr sz="2400" b="1">
                        <a:solidFill>
                          <a:srgbClr val="FFFFFF"/>
                        </a:solidFill>
                        <a:latin typeface="Roboto"/>
                        <a:ea typeface="Roboto"/>
                        <a:cs typeface="Roboto"/>
                        <a:sym typeface="Roboto"/>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6D9EEB"/>
                    </a:solidFill>
                  </a:tcPr>
                </a:tc>
                <a:tc>
                  <a:txBody>
                    <a:bodyPr/>
                    <a:lstStyle/>
                    <a:p>
                      <a:pPr marL="0" lvl="0" indent="0" algn="l" rtl="0">
                        <a:lnSpc>
                          <a:spcPct val="115000"/>
                        </a:lnSpc>
                        <a:spcBef>
                          <a:spcPts val="0"/>
                        </a:spcBef>
                        <a:spcAft>
                          <a:spcPts val="0"/>
                        </a:spcAft>
                        <a:buNone/>
                      </a:pPr>
                      <a:r>
                        <a:rPr lang="en" sz="600" b="1">
                          <a:latin typeface="Roboto"/>
                          <a:ea typeface="Roboto"/>
                          <a:cs typeface="Roboto"/>
                          <a:sym typeface="Roboto"/>
                        </a:rPr>
                        <a:t>Readjust:</a:t>
                      </a:r>
                      <a:r>
                        <a:rPr lang="en" sz="600">
                          <a:latin typeface="Roboto"/>
                          <a:ea typeface="Roboto"/>
                          <a:cs typeface="Roboto"/>
                          <a:sym typeface="Roboto"/>
                        </a:rPr>
                        <a:t> Readjustments occur when goals are determined, through re-evaluation, to be misaligned with your values or long-term goals. This is especially helpful when you have been unable to achieve a goal in the time limits you set. This gives you the opportunity to modify your approach and increase your chances of success.</a:t>
                      </a:r>
                      <a:endParaRPr sz="600">
                        <a:latin typeface="Roboto"/>
                        <a:ea typeface="Roboto"/>
                        <a:cs typeface="Roboto"/>
                        <a:sym typeface="Roboto"/>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F3F3F3"/>
                    </a:solidFill>
                  </a:tcPr>
                </a:tc>
                <a:extLst>
                  <a:ext uri="{0D108BD9-81ED-4DB2-BD59-A6C34878D82A}">
                    <a16:rowId xmlns:a16="http://schemas.microsoft.com/office/drawing/2014/main" val="10006"/>
                  </a:ext>
                </a:extLst>
              </a:tr>
            </a:tbl>
          </a:graphicData>
        </a:graphic>
      </p:graphicFrame>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52"/>
        <p:cNvGrpSpPr/>
        <p:nvPr/>
      </p:nvGrpSpPr>
      <p:grpSpPr>
        <a:xfrm>
          <a:off x="0" y="0"/>
          <a:ext cx="0" cy="0"/>
          <a:chOff x="0" y="0"/>
          <a:chExt cx="0" cy="0"/>
        </a:xfrm>
      </p:grpSpPr>
      <p:sp>
        <p:nvSpPr>
          <p:cNvPr id="153" name="Google Shape;153;p19"/>
          <p:cNvSpPr txBox="1">
            <a:spLocks noGrp="1"/>
          </p:cNvSpPr>
          <p:nvPr>
            <p:ph type="ctrTitle"/>
          </p:nvPr>
        </p:nvSpPr>
        <p:spPr>
          <a:xfrm>
            <a:off x="1828800" y="1453896"/>
            <a:ext cx="7315200" cy="1501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sz="6000"/>
              <a:t>Section </a:t>
            </a:r>
            <a:r>
              <a:rPr lang="en"/>
              <a:t>B</a:t>
            </a:r>
            <a:endParaRPr sz="6000"/>
          </a:p>
        </p:txBody>
      </p:sp>
      <p:sp>
        <p:nvSpPr>
          <p:cNvPr id="154" name="Google Shape;154;p19"/>
          <p:cNvSpPr txBox="1">
            <a:spLocks noGrp="1"/>
          </p:cNvSpPr>
          <p:nvPr>
            <p:ph type="subTitle" idx="1"/>
          </p:nvPr>
        </p:nvSpPr>
        <p:spPr>
          <a:xfrm>
            <a:off x="1828800" y="2953512"/>
            <a:ext cx="7315200" cy="685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Progress Log</a:t>
            </a:r>
            <a:endParaRPr lang="en-US" sz="3000"/>
          </a:p>
        </p:txBody>
      </p:sp>
      <p:sp>
        <p:nvSpPr>
          <p:cNvPr id="155" name="Google Shape;155;p19"/>
          <p:cNvSpPr txBox="1"/>
          <p:nvPr/>
        </p:nvSpPr>
        <p:spPr>
          <a:xfrm>
            <a:off x="-420624" y="754575"/>
            <a:ext cx="3383400" cy="51207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r>
              <a:rPr lang="en" sz="40000">
                <a:solidFill>
                  <a:srgbClr val="999999"/>
                </a:solidFill>
                <a:latin typeface="Roboto"/>
                <a:ea typeface="Roboto"/>
                <a:cs typeface="Roboto"/>
                <a:sym typeface="Roboto"/>
              </a:rPr>
              <a:t>B</a:t>
            </a:r>
            <a:endParaRPr sz="40000">
              <a:solidFill>
                <a:srgbClr val="999999"/>
              </a:solidFill>
              <a:latin typeface="Roboto"/>
              <a:ea typeface="Roboto"/>
              <a:cs typeface="Roboto"/>
              <a:sym typeface="Roboto"/>
            </a:endParaRPr>
          </a:p>
        </p:txBody>
      </p:sp>
    </p:spTree>
    <p:extLst>
      <p:ext uri="{BB962C8B-B14F-4D97-AF65-F5344CB8AC3E}">
        <p14:creationId xmlns:p14="http://schemas.microsoft.com/office/powerpoint/2010/main" val="5307218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59"/>
        <p:cNvGrpSpPr/>
        <p:nvPr/>
      </p:nvGrpSpPr>
      <p:grpSpPr>
        <a:xfrm>
          <a:off x="0" y="0"/>
          <a:ext cx="0" cy="0"/>
          <a:chOff x="0" y="0"/>
          <a:chExt cx="0" cy="0"/>
        </a:xfrm>
      </p:grpSpPr>
      <p:sp>
        <p:nvSpPr>
          <p:cNvPr id="160" name="Google Shape;160;p20"/>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r>
              <a:rPr lang="en" dirty="0"/>
              <a:t>Week 1 - Log</a:t>
            </a:r>
            <a:endParaRPr lang="en-US" dirty="0"/>
          </a:p>
        </p:txBody>
      </p:sp>
      <p:sp>
        <p:nvSpPr>
          <p:cNvPr id="161" name="Google Shape;161;p20"/>
          <p:cNvSpPr txBox="1">
            <a:spLocks noGrp="1"/>
          </p:cNvSpPr>
          <p:nvPr>
            <p:ph type="subTitle" idx="4"/>
          </p:nvPr>
        </p:nvSpPr>
        <p:spPr>
          <a:xfrm>
            <a:off x="4663440" y="758952"/>
            <a:ext cx="42978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Reflection</a:t>
            </a:r>
            <a:endParaRPr/>
          </a:p>
        </p:txBody>
      </p:sp>
      <p:sp>
        <p:nvSpPr>
          <p:cNvPr id="162" name="Google Shape;162;p20"/>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What did you do?</a:t>
            </a:r>
            <a:endParaRPr/>
          </a:p>
        </p:txBody>
      </p:sp>
      <p:sp>
        <p:nvSpPr>
          <p:cNvPr id="163" name="Google Shape;163;p20"/>
          <p:cNvSpPr txBox="1">
            <a:spLocks noGrp="1"/>
          </p:cNvSpPr>
          <p:nvPr>
            <p:ph type="body" idx="2"/>
          </p:nvPr>
        </p:nvSpPr>
        <p:spPr>
          <a:xfrm>
            <a:off x="186167" y="1152698"/>
            <a:ext cx="4294500" cy="38124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dirty="0"/>
              <a:t>What goal(s) did you set for this week</a:t>
            </a:r>
            <a:r>
              <a:rPr lang="en" dirty="0" smtClean="0"/>
              <a:t>?</a:t>
            </a:r>
          </a:p>
          <a:p>
            <a:pPr marL="27940" lvl="0" indent="0">
              <a:buNone/>
            </a:pPr>
            <a:r>
              <a:rPr lang="en-GB" dirty="0" smtClean="0"/>
              <a:t>Set </a:t>
            </a:r>
            <a:r>
              <a:rPr lang="en-GB" dirty="0"/>
              <a:t>up the repo/environment, read the core literature, and lock in early architecture and risk-scoring decisions</a:t>
            </a:r>
            <a:r>
              <a:rPr lang="en-GB" dirty="0" smtClean="0"/>
              <a:t>.</a:t>
            </a:r>
          </a:p>
          <a:p>
            <a:pPr marL="27940" lvl="0" indent="0">
              <a:buNone/>
            </a:pPr>
            <a:endParaRPr dirty="0"/>
          </a:p>
          <a:p>
            <a:pPr marL="182880" lvl="0" indent="-154940" algn="l" rtl="0">
              <a:spcBef>
                <a:spcPts val="0"/>
              </a:spcBef>
              <a:spcAft>
                <a:spcPts val="0"/>
              </a:spcAft>
              <a:buSzPts val="1000"/>
              <a:buChar char="●"/>
            </a:pPr>
            <a:r>
              <a:rPr lang="en" dirty="0"/>
              <a:t>What have you actually been able to do? </a:t>
            </a:r>
            <a:endParaRPr lang="en" dirty="0" smtClean="0"/>
          </a:p>
          <a:p>
            <a:pPr marL="27940" lvl="0" indent="0">
              <a:buNone/>
            </a:pPr>
            <a:r>
              <a:rPr lang="en-GB" dirty="0"/>
              <a:t>set up repo, Python/CUDA environment; read YOLO/Faster R-CNN/RDD2022/CRDDC and </a:t>
            </a:r>
            <a:r>
              <a:rPr lang="en-GB" dirty="0" err="1"/>
              <a:t>OSMnx</a:t>
            </a:r>
            <a:r>
              <a:rPr lang="en-GB" dirty="0"/>
              <a:t>/routing/PCI literature; decided YOLOv8n vs Faster R-CNN as the two architectures, rule-based risk scoring, finalised H1–H4</a:t>
            </a:r>
            <a:r>
              <a:rPr lang="en-GB" dirty="0" smtClean="0"/>
              <a:t>.</a:t>
            </a:r>
          </a:p>
          <a:p>
            <a:pPr marL="27940" lvl="0" indent="0">
              <a:buNone/>
            </a:pPr>
            <a:endParaRPr dirty="0"/>
          </a:p>
          <a:p>
            <a:pPr marL="182880" lvl="0" indent="-154940" algn="l" rtl="0">
              <a:spcBef>
                <a:spcPts val="0"/>
              </a:spcBef>
              <a:spcAft>
                <a:spcPts val="0"/>
              </a:spcAft>
              <a:buSzPts val="1000"/>
              <a:buChar char="●"/>
            </a:pPr>
            <a:r>
              <a:rPr lang="en" dirty="0"/>
              <a:t>Showcase what tasks you have been working on this week and provide evidence for it</a:t>
            </a:r>
            <a:r>
              <a:rPr lang="en" dirty="0" smtClean="0"/>
              <a:t>.</a:t>
            </a:r>
          </a:p>
          <a:p>
            <a:pPr marL="27940" lvl="0" indent="0" algn="l" rtl="0">
              <a:spcBef>
                <a:spcPts val="0"/>
              </a:spcBef>
              <a:spcAft>
                <a:spcPts val="0"/>
              </a:spcAft>
              <a:buSzPts val="1000"/>
              <a:buNone/>
            </a:pPr>
            <a:endParaRPr lang="en" dirty="0" smtClean="0"/>
          </a:p>
          <a:p>
            <a:pPr marL="27940" lvl="0" indent="0" algn="l" rtl="0">
              <a:spcBef>
                <a:spcPts val="0"/>
              </a:spcBef>
              <a:spcAft>
                <a:spcPts val="0"/>
              </a:spcAft>
              <a:buSzPts val="1000"/>
              <a:buNone/>
            </a:pPr>
            <a:endParaRPr lang="en" dirty="0"/>
          </a:p>
          <a:p>
            <a:pPr marL="27940" lvl="0" indent="0" algn="l" rtl="0">
              <a:spcBef>
                <a:spcPts val="0"/>
              </a:spcBef>
              <a:spcAft>
                <a:spcPts val="0"/>
              </a:spcAft>
              <a:buSzPts val="1000"/>
              <a:buNone/>
            </a:pPr>
            <a:endParaRPr lang="en" dirty="0" smtClean="0"/>
          </a:p>
          <a:p>
            <a:pPr marL="27940" lvl="0" indent="0" algn="l" rtl="0">
              <a:spcBef>
                <a:spcPts val="0"/>
              </a:spcBef>
              <a:spcAft>
                <a:spcPts val="0"/>
              </a:spcAft>
              <a:buSzPts val="1000"/>
              <a:buNone/>
            </a:pPr>
            <a:endParaRPr lang="en" dirty="0"/>
          </a:p>
          <a:p>
            <a:pPr marL="27940" lvl="0" indent="0" algn="l" rtl="0">
              <a:spcBef>
                <a:spcPts val="0"/>
              </a:spcBef>
              <a:spcAft>
                <a:spcPts val="0"/>
              </a:spcAft>
              <a:buSzPts val="1000"/>
              <a:buNone/>
            </a:pPr>
            <a:endParaRPr lang="en" dirty="0"/>
          </a:p>
        </p:txBody>
      </p:sp>
      <p:sp>
        <p:nvSpPr>
          <p:cNvPr id="164" name="Google Shape;164;p20"/>
          <p:cNvSpPr txBox="1">
            <a:spLocks noGrp="1"/>
          </p:cNvSpPr>
          <p:nvPr>
            <p:ph type="body" idx="3"/>
          </p:nvPr>
        </p:nvSpPr>
        <p:spPr>
          <a:xfrm>
            <a:off x="4663450" y="1152698"/>
            <a:ext cx="4297800" cy="16257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dirty="0"/>
              <a:t>How did the week go? </a:t>
            </a:r>
            <a:endParaRPr lang="en" dirty="0" smtClean="0"/>
          </a:p>
          <a:p>
            <a:pPr marL="27940" lvl="0" indent="0">
              <a:buNone/>
            </a:pPr>
            <a:r>
              <a:rPr lang="en-GB" dirty="0"/>
              <a:t>G</a:t>
            </a:r>
            <a:r>
              <a:rPr lang="en-GB" dirty="0" smtClean="0"/>
              <a:t>ood </a:t>
            </a:r>
            <a:r>
              <a:rPr lang="en-GB" dirty="0"/>
              <a:t>start, clear foundation</a:t>
            </a:r>
            <a:r>
              <a:rPr lang="en-GB" dirty="0" smtClean="0"/>
              <a:t>.</a:t>
            </a:r>
          </a:p>
          <a:p>
            <a:pPr marL="27940" lvl="0" indent="0">
              <a:buNone/>
            </a:pPr>
            <a:endParaRPr dirty="0"/>
          </a:p>
          <a:p>
            <a:pPr marL="182880" lvl="0" indent="-154940" algn="l" rtl="0">
              <a:spcBef>
                <a:spcPts val="0"/>
              </a:spcBef>
              <a:spcAft>
                <a:spcPts val="0"/>
              </a:spcAft>
              <a:buSzPts val="1000"/>
              <a:buChar char="●"/>
            </a:pPr>
            <a:r>
              <a:rPr lang="en" dirty="0"/>
              <a:t>What went well? </a:t>
            </a:r>
            <a:endParaRPr lang="en" dirty="0" smtClean="0"/>
          </a:p>
          <a:p>
            <a:pPr marL="27940" lvl="0" indent="0">
              <a:buNone/>
            </a:pPr>
            <a:r>
              <a:rPr lang="en-GB" dirty="0"/>
              <a:t>L</a:t>
            </a:r>
            <a:r>
              <a:rPr lang="en-GB" dirty="0" smtClean="0"/>
              <a:t>iterature </a:t>
            </a:r>
            <a:r>
              <a:rPr lang="en-GB" dirty="0"/>
              <a:t>converged quickly on the architecture and risk-scoring choices</a:t>
            </a:r>
            <a:r>
              <a:rPr lang="en-GB" dirty="0" smtClean="0"/>
              <a:t>.</a:t>
            </a:r>
          </a:p>
          <a:p>
            <a:pPr marL="27940" lvl="0" indent="0">
              <a:buNone/>
            </a:pPr>
            <a:endParaRPr dirty="0"/>
          </a:p>
          <a:p>
            <a:pPr marL="182880" lvl="0" indent="-154940" algn="l" rtl="0">
              <a:spcBef>
                <a:spcPts val="0"/>
              </a:spcBef>
              <a:spcAft>
                <a:spcPts val="0"/>
              </a:spcAft>
              <a:buSzPts val="1000"/>
              <a:buChar char="●"/>
            </a:pPr>
            <a:r>
              <a:rPr lang="en" dirty="0"/>
              <a:t>What didn’t go so well? </a:t>
            </a:r>
            <a:endParaRPr lang="en" dirty="0" smtClean="0"/>
          </a:p>
          <a:p>
            <a:pPr marL="27940" lvl="0" indent="0">
              <a:buNone/>
            </a:pPr>
            <a:r>
              <a:rPr lang="en-GB" dirty="0"/>
              <a:t>CUDA/driver setup took a bit longer than planned</a:t>
            </a:r>
            <a:r>
              <a:rPr lang="en-GB" dirty="0" smtClean="0"/>
              <a:t>.</a:t>
            </a:r>
          </a:p>
          <a:p>
            <a:pPr marL="27940" lvl="0" indent="0">
              <a:buNone/>
            </a:pPr>
            <a:endParaRPr dirty="0"/>
          </a:p>
          <a:p>
            <a:pPr marL="182880" lvl="0" indent="-154940" algn="l" rtl="0">
              <a:spcBef>
                <a:spcPts val="0"/>
              </a:spcBef>
              <a:spcAft>
                <a:spcPts val="0"/>
              </a:spcAft>
              <a:buSzPts val="1000"/>
              <a:buChar char="●"/>
            </a:pPr>
            <a:r>
              <a:rPr lang="en" dirty="0"/>
              <a:t>What did you learn? </a:t>
            </a:r>
            <a:endParaRPr lang="en" dirty="0" smtClean="0"/>
          </a:p>
          <a:p>
            <a:pPr marL="27940" lvl="0" indent="0">
              <a:buNone/>
            </a:pPr>
            <a:r>
              <a:rPr lang="en-GB" dirty="0" smtClean="0"/>
              <a:t>The </a:t>
            </a:r>
            <a:r>
              <a:rPr lang="en-GB" dirty="0"/>
              <a:t>one-stage/two-stage trade-off literature, and why rule-based scoring is easier to justify than a learned one</a:t>
            </a:r>
            <a:r>
              <a:rPr lang="en-GB" dirty="0" smtClean="0"/>
              <a:t>.</a:t>
            </a:r>
          </a:p>
          <a:p>
            <a:pPr marL="27940" lvl="0" indent="0">
              <a:buNone/>
            </a:pPr>
            <a:endParaRPr dirty="0"/>
          </a:p>
          <a:p>
            <a:pPr marL="182880" lvl="0" indent="-154940" algn="l" rtl="0">
              <a:spcBef>
                <a:spcPts val="0"/>
              </a:spcBef>
              <a:spcAft>
                <a:spcPts val="0"/>
              </a:spcAft>
              <a:buSzPts val="1000"/>
              <a:buChar char="●"/>
            </a:pPr>
            <a:r>
              <a:rPr lang="en" dirty="0"/>
              <a:t>What could be added as an Action point looking forward to next week</a:t>
            </a:r>
            <a:r>
              <a:rPr lang="en" dirty="0" smtClean="0"/>
              <a:t>?</a:t>
            </a:r>
          </a:p>
          <a:p>
            <a:pPr marL="27940" lvl="0" indent="0">
              <a:buNone/>
            </a:pPr>
            <a:r>
              <a:rPr lang="en" dirty="0" smtClean="0"/>
              <a:t>Action point for the next week is to start </a:t>
            </a:r>
            <a:r>
              <a:rPr lang="en-GB" dirty="0"/>
              <a:t>RDD2022 exploration and the small </a:t>
            </a:r>
            <a:r>
              <a:rPr lang="en-GB" dirty="0" smtClean="0"/>
              <a:t>dataset.</a:t>
            </a:r>
            <a:endParaRPr dirty="0"/>
          </a:p>
        </p:txBody>
      </p:sp>
      <p:sp>
        <p:nvSpPr>
          <p:cNvPr id="165" name="Google Shape;165;p20"/>
          <p:cNvSpPr txBox="1">
            <a:spLocks noGrp="1"/>
          </p:cNvSpPr>
          <p:nvPr>
            <p:ph type="title" idx="6"/>
          </p:nvPr>
        </p:nvSpPr>
        <p:spPr>
          <a:xfrm>
            <a:off x="7068300" y="165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dirty="0"/>
              <a:t>1/2</a:t>
            </a:r>
            <a:endParaRPr dirty="0"/>
          </a:p>
        </p:txBody>
      </p:sp>
      <p:sp>
        <p:nvSpPr>
          <p:cNvPr id="166" name="Google Shape;166;p20"/>
          <p:cNvSpPr txBox="1">
            <a:spLocks noGrp="1"/>
          </p:cNvSpPr>
          <p:nvPr>
            <p:ph type="title" idx="5"/>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1</a:t>
            </a:r>
            <a:endParaRPr/>
          </a:p>
        </p:txBody>
      </p:sp>
      <p:sp>
        <p:nvSpPr>
          <p:cNvPr id="167" name="Google Shape;167;p20"/>
          <p:cNvSpPr/>
          <p:nvPr/>
        </p:nvSpPr>
        <p:spPr>
          <a:xfrm>
            <a:off x="0" y="576072"/>
            <a:ext cx="9144000" cy="91500"/>
          </a:xfrm>
          <a:prstGeom prst="rect">
            <a:avLst/>
          </a:prstGeom>
          <a:solidFill>
            <a:srgbClr val="66666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aphicFrame>
        <p:nvGraphicFramePr>
          <p:cNvPr id="3" name="Table 2"/>
          <p:cNvGraphicFramePr>
            <a:graphicFrameLocks noGrp="1"/>
          </p:cNvGraphicFramePr>
          <p:nvPr>
            <p:extLst>
              <p:ext uri="{D42A27DB-BD31-4B8C-83A1-F6EECF244321}">
                <p14:modId xmlns:p14="http://schemas.microsoft.com/office/powerpoint/2010/main" val="2103711854"/>
              </p:ext>
            </p:extLst>
          </p:nvPr>
        </p:nvGraphicFramePr>
        <p:xfrm>
          <a:off x="344557" y="3677478"/>
          <a:ext cx="1231900" cy="809625"/>
        </p:xfrm>
        <a:graphic>
          <a:graphicData uri="http://schemas.openxmlformats.org/drawingml/2006/table">
            <a:tbl>
              <a:tblPr>
                <a:tableStyleId>{764D4AE7-FFBC-431D-9275-528F30A785D3}</a:tableStyleId>
              </a:tblPr>
              <a:tblGrid>
                <a:gridCol w="1231900">
                  <a:extLst>
                    <a:ext uri="{9D8B030D-6E8A-4147-A177-3AD203B41FA5}">
                      <a16:colId xmlns:a16="http://schemas.microsoft.com/office/drawing/2014/main" val="431691437"/>
                    </a:ext>
                  </a:extLst>
                </a:gridCol>
              </a:tblGrid>
              <a:tr h="161925">
                <a:tc>
                  <a:txBody>
                    <a:bodyPr/>
                    <a:lstStyle/>
                    <a:p>
                      <a:pPr algn="l" fontAlgn="b"/>
                      <a:r>
                        <a:rPr lang="en-GB" sz="1000" u="sng" strike="noStrike" dirty="0">
                          <a:effectLst/>
                          <a:hlinkClick r:id="rId3"/>
                        </a:rPr>
                        <a:t>repo root</a:t>
                      </a:r>
                      <a:endParaRPr lang="en-GB" sz="1000" b="0" i="0" u="sng" strike="noStrike" dirty="0">
                        <a:solidFill>
                          <a:srgbClr val="0563C1"/>
                        </a:solidFill>
                        <a:effectLst/>
                        <a:latin typeface="Arial" panose="020B0604020202020204" pitchFamily="34" charset="0"/>
                      </a:endParaRPr>
                    </a:p>
                  </a:txBody>
                  <a:tcPr marL="9525" marR="9525" marT="9525" marB="0" anchor="b"/>
                </a:tc>
                <a:extLst>
                  <a:ext uri="{0D108BD9-81ED-4DB2-BD59-A6C34878D82A}">
                    <a16:rowId xmlns:a16="http://schemas.microsoft.com/office/drawing/2014/main" val="1191797150"/>
                  </a:ext>
                </a:extLst>
              </a:tr>
              <a:tr h="161925">
                <a:tc>
                  <a:txBody>
                    <a:bodyPr/>
                    <a:lstStyle/>
                    <a:p>
                      <a:pPr algn="l" fontAlgn="b"/>
                      <a:r>
                        <a:rPr lang="en-GB" sz="1000" u="sng" strike="noStrike">
                          <a:effectLst/>
                          <a:hlinkClick r:id="rId4"/>
                        </a:rPr>
                        <a:t>requirements.txt</a:t>
                      </a:r>
                      <a:endParaRPr lang="en-GB" sz="1000" b="0" i="0" u="sng" strike="noStrike">
                        <a:solidFill>
                          <a:srgbClr val="0563C1"/>
                        </a:solidFill>
                        <a:effectLst/>
                        <a:latin typeface="Arial" panose="020B0604020202020204" pitchFamily="34" charset="0"/>
                      </a:endParaRPr>
                    </a:p>
                  </a:txBody>
                  <a:tcPr marL="9525" marR="9525" marT="9525" marB="0" anchor="b"/>
                </a:tc>
                <a:extLst>
                  <a:ext uri="{0D108BD9-81ED-4DB2-BD59-A6C34878D82A}">
                    <a16:rowId xmlns:a16="http://schemas.microsoft.com/office/drawing/2014/main" val="902013584"/>
                  </a:ext>
                </a:extLst>
              </a:tr>
              <a:tr h="161925">
                <a:tc>
                  <a:txBody>
                    <a:bodyPr/>
                    <a:lstStyle/>
                    <a:p>
                      <a:pPr algn="l" fontAlgn="b"/>
                      <a:r>
                        <a:rPr lang="en-GB" sz="1000" u="sng" strike="noStrike">
                          <a:effectLst/>
                          <a:hlinkClick r:id="rId5"/>
                        </a:rPr>
                        <a:t>references.bib</a:t>
                      </a:r>
                      <a:endParaRPr lang="en-GB" sz="1000" b="0" i="0" u="sng" strike="noStrike">
                        <a:solidFill>
                          <a:srgbClr val="0563C1"/>
                        </a:solidFill>
                        <a:effectLst/>
                        <a:latin typeface="Arial" panose="020B0604020202020204" pitchFamily="34" charset="0"/>
                      </a:endParaRPr>
                    </a:p>
                  </a:txBody>
                  <a:tcPr marL="9525" marR="9525" marT="9525" marB="0" anchor="b"/>
                </a:tc>
                <a:extLst>
                  <a:ext uri="{0D108BD9-81ED-4DB2-BD59-A6C34878D82A}">
                    <a16:rowId xmlns:a16="http://schemas.microsoft.com/office/drawing/2014/main" val="248491065"/>
                  </a:ext>
                </a:extLst>
              </a:tr>
              <a:tr h="161925">
                <a:tc>
                  <a:txBody>
                    <a:bodyPr/>
                    <a:lstStyle/>
                    <a:p>
                      <a:pPr algn="l" fontAlgn="b"/>
                      <a:r>
                        <a:rPr lang="en-GB" sz="1000" u="sng" strike="noStrike" dirty="0" err="1">
                          <a:effectLst/>
                          <a:hlinkClick r:id="rId5"/>
                        </a:rPr>
                        <a:t>references.bib</a:t>
                      </a:r>
                      <a:endParaRPr lang="en-GB" sz="1000" b="0" i="0" u="sng" strike="noStrike" dirty="0">
                        <a:solidFill>
                          <a:srgbClr val="0563C1"/>
                        </a:solidFill>
                        <a:effectLst/>
                        <a:latin typeface="Arial" panose="020B0604020202020204" pitchFamily="34" charset="0"/>
                      </a:endParaRPr>
                    </a:p>
                  </a:txBody>
                  <a:tcPr marL="9525" marR="9525" marT="9525" marB="0" anchor="b"/>
                </a:tc>
                <a:extLst>
                  <a:ext uri="{0D108BD9-81ED-4DB2-BD59-A6C34878D82A}">
                    <a16:rowId xmlns:a16="http://schemas.microsoft.com/office/drawing/2014/main" val="846664293"/>
                  </a:ext>
                </a:extLst>
              </a:tr>
              <a:tr h="161925">
                <a:tc>
                  <a:txBody>
                    <a:bodyPr/>
                    <a:lstStyle/>
                    <a:p>
                      <a:pPr algn="l" fontAlgn="b"/>
                      <a:r>
                        <a:rPr lang="en-GB" sz="1000" u="sng" strike="noStrike" dirty="0">
                          <a:effectLst/>
                          <a:hlinkClick r:id="rId6"/>
                        </a:rPr>
                        <a:t>thesis 3.2</a:t>
                      </a:r>
                      <a:endParaRPr lang="en-GB" sz="1000" b="0" i="0" u="sng" strike="noStrike" dirty="0">
                        <a:solidFill>
                          <a:srgbClr val="0563C1"/>
                        </a:solidFill>
                        <a:effectLst/>
                        <a:latin typeface="Arial" panose="020B0604020202020204" pitchFamily="34" charset="0"/>
                      </a:endParaRPr>
                    </a:p>
                  </a:txBody>
                  <a:tcPr marL="9525" marR="9525" marT="9525" marB="0" anchor="b"/>
                </a:tc>
                <a:extLst>
                  <a:ext uri="{0D108BD9-81ED-4DB2-BD59-A6C34878D82A}">
                    <a16:rowId xmlns:a16="http://schemas.microsoft.com/office/drawing/2014/main" val="691526948"/>
                  </a:ext>
                </a:extLst>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71"/>
        <p:cNvGrpSpPr/>
        <p:nvPr/>
      </p:nvGrpSpPr>
      <p:grpSpPr>
        <a:xfrm>
          <a:off x="0" y="0"/>
          <a:ext cx="0" cy="0"/>
          <a:chOff x="0" y="0"/>
          <a:chExt cx="0" cy="0"/>
        </a:xfrm>
      </p:grpSpPr>
      <p:sp>
        <p:nvSpPr>
          <p:cNvPr id="172" name="Google Shape;172;p21"/>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dirty="0"/>
              <a:t>Week 1 - Feedback</a:t>
            </a:r>
            <a:endParaRPr dirty="0"/>
          </a:p>
        </p:txBody>
      </p:sp>
      <p:sp>
        <p:nvSpPr>
          <p:cNvPr id="173" name="Google Shape;173;p21"/>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dirty="0"/>
              <a:t>manager, colleague, or team member feedback</a:t>
            </a:r>
            <a:endParaRPr dirty="0"/>
          </a:p>
        </p:txBody>
      </p:sp>
      <p:sp>
        <p:nvSpPr>
          <p:cNvPr id="174" name="Google Shape;174;p21"/>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p>
            <a:pPr marL="182880" lvl="0" indent="-154940"/>
            <a:r>
              <a:rPr lang="en-GB" b="1" dirty="0"/>
              <a:t>D</a:t>
            </a:r>
            <a:r>
              <a:rPr lang="en" b="1" dirty="0"/>
              <a:t>ate</a:t>
            </a:r>
            <a:r>
              <a:rPr lang="en" b="1" dirty="0" smtClean="0"/>
              <a:t>: </a:t>
            </a:r>
            <a:r>
              <a:rPr lang="en-GB" dirty="0"/>
              <a:t>17/04/2026</a:t>
            </a:r>
            <a:endParaRPr lang="en" b="1" dirty="0"/>
          </a:p>
          <a:p>
            <a:pPr marL="182880" lvl="0" indent="-154940"/>
            <a:r>
              <a:rPr lang="en" b="1" dirty="0"/>
              <a:t>Feedback from</a:t>
            </a:r>
            <a:r>
              <a:rPr lang="en" b="1" dirty="0" smtClean="0"/>
              <a:t>: </a:t>
            </a:r>
            <a:r>
              <a:rPr lang="en-GB" dirty="0"/>
              <a:t>Karna </a:t>
            </a:r>
            <a:r>
              <a:rPr lang="en-GB" dirty="0" err="1"/>
              <a:t>Rewatkar</a:t>
            </a:r>
            <a:r>
              <a:rPr lang="en-GB" dirty="0"/>
              <a:t> (</a:t>
            </a:r>
            <a:r>
              <a:rPr lang="en-GB" dirty="0" err="1"/>
              <a:t>BUas</a:t>
            </a:r>
            <a:r>
              <a:rPr lang="en-GB" dirty="0"/>
              <a:t> Supervisor)</a:t>
            </a:r>
            <a:endParaRPr lang="en" b="1" dirty="0"/>
          </a:p>
          <a:p>
            <a:pPr marL="182880" lvl="0" indent="-154940"/>
            <a:r>
              <a:rPr lang="en" b="1" dirty="0"/>
              <a:t>Feedback</a:t>
            </a:r>
            <a:r>
              <a:rPr lang="en" b="1" dirty="0" smtClean="0"/>
              <a:t>: </a:t>
            </a:r>
            <a:r>
              <a:rPr lang="en-GB" dirty="0"/>
              <a:t>Everything is off to a solid start. The choice between YOLOv8n and Faster R-CNN is well reasoned, and going with a rule-based rather than learned risk score is the right call for something a municipality would need to trust and audit. Good that H1-H4 were pinned down this early </a:t>
            </a:r>
            <a:r>
              <a:rPr lang="en-GB" dirty="0" smtClean="0"/>
              <a:t>- </a:t>
            </a:r>
            <a:r>
              <a:rPr lang="en-GB" dirty="0"/>
              <a:t>it gives the rest of the project fixed targets to work against.</a:t>
            </a:r>
          </a:p>
          <a:p>
            <a:pPr marL="182880" lvl="0" indent="-154940" algn="l" rtl="0">
              <a:spcBef>
                <a:spcPts val="0"/>
              </a:spcBef>
              <a:spcAft>
                <a:spcPts val="0"/>
              </a:spcAft>
              <a:buSzPts val="1000"/>
              <a:buChar char="●"/>
            </a:pPr>
            <a:endParaRPr lang="en" b="1" dirty="0"/>
          </a:p>
          <a:p>
            <a:pPr marL="182880" lvl="0" indent="-154940"/>
            <a:r>
              <a:rPr lang="en" b="1" dirty="0"/>
              <a:t>Related to what task: </a:t>
            </a:r>
            <a:r>
              <a:rPr lang="en-GB" dirty="0" smtClean="0"/>
              <a:t>Architecture </a:t>
            </a:r>
            <a:r>
              <a:rPr lang="en-GB" dirty="0"/>
              <a:t>decision and risk-scoring approach</a:t>
            </a:r>
            <a:endParaRPr lang="en" dirty="0"/>
          </a:p>
          <a:p>
            <a:pPr marL="182880" lvl="0" indent="-154940"/>
            <a:r>
              <a:rPr lang="en" b="1" dirty="0"/>
              <a:t>Response/action coming forward from this: </a:t>
            </a:r>
            <a:r>
              <a:rPr lang="en-GB" dirty="0" smtClean="0"/>
              <a:t>Proceed </a:t>
            </a:r>
            <a:r>
              <a:rPr lang="en-GB" dirty="0"/>
              <a:t>to dataset exploration and the first small-scale dataset build.</a:t>
            </a:r>
            <a:endParaRPr lang="en" dirty="0" smtClean="0"/>
          </a:p>
        </p:txBody>
      </p:sp>
      <p:sp>
        <p:nvSpPr>
          <p:cNvPr id="175" name="Google Shape;175;p21"/>
          <p:cNvSpPr txBox="1">
            <a:spLocks noGrp="1"/>
          </p:cNvSpPr>
          <p:nvPr>
            <p:ph type="title" idx="4"/>
          </p:nvPr>
        </p:nvSpPr>
        <p:spPr>
          <a:xfrm>
            <a:off x="7068300" y="165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2/2</a:t>
            </a:r>
            <a:endParaRPr/>
          </a:p>
        </p:txBody>
      </p:sp>
      <p:sp>
        <p:nvSpPr>
          <p:cNvPr id="176" name="Google Shape;176;p21"/>
          <p:cNvSpPr txBox="1">
            <a:spLocks noGrp="1"/>
          </p:cNvSpPr>
          <p:nvPr>
            <p:ph type="title" idx="3"/>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dirty="0"/>
              <a:t>1</a:t>
            </a:r>
            <a:endParaRPr dirty="0"/>
          </a:p>
        </p:txBody>
      </p:sp>
      <p:sp>
        <p:nvSpPr>
          <p:cNvPr id="2" name="TextBox 1">
            <a:extLst>
              <a:ext uri="{FF2B5EF4-FFF2-40B4-BE49-F238E27FC236}">
                <a16:creationId xmlns:a16="http://schemas.microsoft.com/office/drawing/2014/main" id="{7D431F1F-F634-7FA5-06F3-E9A2BA1F45DE}"/>
              </a:ext>
            </a:extLst>
          </p:cNvPr>
          <p:cNvSpPr txBox="1"/>
          <p:nvPr/>
        </p:nvSpPr>
        <p:spPr>
          <a:xfrm>
            <a:off x="6464538" y="4711181"/>
            <a:ext cx="2496587" cy="253916"/>
          </a:xfrm>
          <a:prstGeom prst="rect">
            <a:avLst/>
          </a:prstGeom>
          <a:solidFill>
            <a:schemeClr val="bg1"/>
          </a:solidFill>
        </p:spPr>
        <p:txBody>
          <a:bodyPr rot="0" spcFirstLastPara="0" vert="horz" wrap="square" lIns="91440" tIns="45720" rIns="91440" bIns="45720" numCol="1" spcCol="0" rtlCol="0" fromWordArt="0" anchor="t" anchorCtr="0" forceAA="0" compatLnSpc="1">
            <a:prstTxWarp prst="textNoShape">
              <a:avLst/>
            </a:prstTxWarp>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r>
              <a:rPr lang="en-US" sz="1050" dirty="0">
                <a:hlinkClick r:id="rId3"/>
              </a:rPr>
              <a:t>Click for feedback delivery techniques!</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59"/>
        <p:cNvGrpSpPr/>
        <p:nvPr/>
      </p:nvGrpSpPr>
      <p:grpSpPr>
        <a:xfrm>
          <a:off x="0" y="0"/>
          <a:ext cx="0" cy="0"/>
          <a:chOff x="0" y="0"/>
          <a:chExt cx="0" cy="0"/>
        </a:xfrm>
      </p:grpSpPr>
      <p:sp>
        <p:nvSpPr>
          <p:cNvPr id="160" name="Google Shape;160;p20"/>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r>
              <a:rPr lang="en" dirty="0"/>
              <a:t>Week 2 - Log</a:t>
            </a:r>
            <a:endParaRPr lang="en-US" dirty="0"/>
          </a:p>
        </p:txBody>
      </p:sp>
      <p:sp>
        <p:nvSpPr>
          <p:cNvPr id="161" name="Google Shape;161;p20"/>
          <p:cNvSpPr txBox="1">
            <a:spLocks noGrp="1"/>
          </p:cNvSpPr>
          <p:nvPr>
            <p:ph type="subTitle" idx="4"/>
          </p:nvPr>
        </p:nvSpPr>
        <p:spPr>
          <a:xfrm>
            <a:off x="4663440" y="758952"/>
            <a:ext cx="42978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Reflection</a:t>
            </a:r>
            <a:endParaRPr/>
          </a:p>
        </p:txBody>
      </p:sp>
      <p:sp>
        <p:nvSpPr>
          <p:cNvPr id="162" name="Google Shape;162;p20"/>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What did you do?</a:t>
            </a:r>
            <a:endParaRPr/>
          </a:p>
        </p:txBody>
      </p:sp>
      <p:sp>
        <p:nvSpPr>
          <p:cNvPr id="163" name="Google Shape;163;p20"/>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dirty="0"/>
              <a:t>What goal(s) did you set for this week</a:t>
            </a:r>
            <a:r>
              <a:rPr lang="en" dirty="0" smtClean="0"/>
              <a:t>?</a:t>
            </a:r>
          </a:p>
          <a:p>
            <a:pPr marL="27940" lvl="0" indent="0">
              <a:buNone/>
            </a:pPr>
            <a:r>
              <a:rPr lang="en-GB" dirty="0"/>
              <a:t>E</a:t>
            </a:r>
            <a:r>
              <a:rPr lang="en-GB" dirty="0" smtClean="0"/>
              <a:t>xplore </a:t>
            </a:r>
            <a:r>
              <a:rPr lang="en-GB" dirty="0"/>
              <a:t>RDD2022, decide which classes to keep, build the small dataset</a:t>
            </a:r>
            <a:r>
              <a:rPr lang="en-GB" dirty="0" smtClean="0"/>
              <a:t>.</a:t>
            </a:r>
          </a:p>
          <a:p>
            <a:pPr marL="27940" lvl="0" indent="0">
              <a:buNone/>
            </a:pPr>
            <a:endParaRPr dirty="0"/>
          </a:p>
          <a:p>
            <a:pPr marL="182880" lvl="0" indent="-154940" algn="l" rtl="0">
              <a:spcBef>
                <a:spcPts val="0"/>
              </a:spcBef>
              <a:spcAft>
                <a:spcPts val="0"/>
              </a:spcAft>
              <a:buSzPts val="1000"/>
              <a:buChar char="●"/>
            </a:pPr>
            <a:r>
              <a:rPr lang="en" dirty="0"/>
              <a:t>What have you actually been able to do? </a:t>
            </a:r>
            <a:endParaRPr lang="en" dirty="0" smtClean="0"/>
          </a:p>
          <a:p>
            <a:pPr marL="27940" lvl="0" indent="0">
              <a:buNone/>
            </a:pPr>
            <a:r>
              <a:rPr lang="en-GB" dirty="0" smtClean="0"/>
              <a:t>Downloaded/Explored </a:t>
            </a:r>
            <a:r>
              <a:rPr lang="en-GB" dirty="0"/>
              <a:t>RDD2022; decided to keep 4 classes, filter the 5th; wrote the annotation conversion script; built the small dataset (277/60/60) and verified it; researched CVAT; planned the app's page structure</a:t>
            </a:r>
            <a:r>
              <a:rPr lang="en-GB" dirty="0" smtClean="0"/>
              <a:t>.</a:t>
            </a:r>
          </a:p>
          <a:p>
            <a:pPr marL="27940" lvl="0" indent="0">
              <a:buNone/>
            </a:pPr>
            <a:endParaRPr dirty="0"/>
          </a:p>
          <a:p>
            <a:pPr marL="182880" lvl="0" indent="-154940" algn="l" rtl="0">
              <a:spcBef>
                <a:spcPts val="0"/>
              </a:spcBef>
              <a:spcAft>
                <a:spcPts val="0"/>
              </a:spcAft>
              <a:buSzPts val="1000"/>
              <a:buChar char="●"/>
            </a:pPr>
            <a:r>
              <a:rPr lang="en" dirty="0"/>
              <a:t>Showcase what tasks you have been working on this week and provide evidence for it</a:t>
            </a:r>
            <a:r>
              <a:rPr lang="en" dirty="0" smtClean="0"/>
              <a:t>.</a:t>
            </a:r>
          </a:p>
          <a:p>
            <a:pPr marL="27940" lvl="0" indent="0" algn="l" rtl="0">
              <a:spcBef>
                <a:spcPts val="0"/>
              </a:spcBef>
              <a:spcAft>
                <a:spcPts val="0"/>
              </a:spcAft>
              <a:buSzPts val="1000"/>
              <a:buNone/>
            </a:pPr>
            <a:endParaRPr lang="en" dirty="0"/>
          </a:p>
        </p:txBody>
      </p:sp>
      <p:sp>
        <p:nvSpPr>
          <p:cNvPr id="164" name="Google Shape;164;p20"/>
          <p:cNvSpPr txBox="1">
            <a:spLocks noGrp="1"/>
          </p:cNvSpPr>
          <p:nvPr>
            <p:ph type="body" idx="3"/>
          </p:nvPr>
        </p:nvSpPr>
        <p:spPr>
          <a:xfrm>
            <a:off x="4663450" y="1152698"/>
            <a:ext cx="4297800" cy="1625700"/>
          </a:xfrm>
          <a:prstGeom prst="rect">
            <a:avLst/>
          </a:prstGeom>
        </p:spPr>
        <p:txBody>
          <a:bodyPr spcFirstLastPara="1" wrap="square" lIns="91425" tIns="91425" rIns="91425" bIns="91425" anchor="t" anchorCtr="0">
            <a:noAutofit/>
          </a:bodyPr>
          <a:lstStyle/>
          <a:p>
            <a:pPr marL="182880" lvl="0" indent="-154940"/>
            <a:r>
              <a:rPr lang="en" dirty="0"/>
              <a:t>How did the week </a:t>
            </a:r>
            <a:r>
              <a:rPr lang="en" dirty="0" smtClean="0"/>
              <a:t>go?</a:t>
            </a:r>
          </a:p>
          <a:p>
            <a:pPr marL="27940" lvl="0" indent="0">
              <a:buNone/>
            </a:pPr>
            <a:r>
              <a:rPr lang="en" dirty="0" smtClean="0"/>
              <a:t>It was a </a:t>
            </a:r>
            <a:r>
              <a:rPr lang="en-GB" dirty="0" smtClean="0"/>
              <a:t>productive </a:t>
            </a:r>
            <a:r>
              <a:rPr lang="en-GB" dirty="0"/>
              <a:t>exploration week</a:t>
            </a:r>
            <a:r>
              <a:rPr lang="en-GB" dirty="0" smtClean="0"/>
              <a:t>.</a:t>
            </a:r>
          </a:p>
          <a:p>
            <a:pPr marL="27940" lvl="0" indent="0">
              <a:buNone/>
            </a:pPr>
            <a:endParaRPr dirty="0"/>
          </a:p>
          <a:p>
            <a:pPr marL="182880" lvl="0" indent="-154940" algn="l" rtl="0">
              <a:spcBef>
                <a:spcPts val="0"/>
              </a:spcBef>
              <a:spcAft>
                <a:spcPts val="0"/>
              </a:spcAft>
              <a:buSzPts val="1000"/>
              <a:buChar char="●"/>
            </a:pPr>
            <a:r>
              <a:rPr lang="en" dirty="0"/>
              <a:t>What went well? </a:t>
            </a:r>
            <a:endParaRPr lang="en" dirty="0" smtClean="0"/>
          </a:p>
          <a:p>
            <a:pPr marL="27940" lvl="0" indent="0">
              <a:buNone/>
            </a:pPr>
            <a:r>
              <a:rPr lang="en-GB" dirty="0"/>
              <a:t>RDD2022's structure was well documented, so conversion was straightforward</a:t>
            </a:r>
            <a:r>
              <a:rPr lang="en-GB" dirty="0" smtClean="0"/>
              <a:t>.</a:t>
            </a:r>
          </a:p>
          <a:p>
            <a:pPr marL="27940" lvl="0" indent="0">
              <a:buNone/>
            </a:pPr>
            <a:endParaRPr dirty="0"/>
          </a:p>
          <a:p>
            <a:pPr marL="182880" lvl="0" indent="-154940" algn="l" rtl="0">
              <a:spcBef>
                <a:spcPts val="0"/>
              </a:spcBef>
              <a:spcAft>
                <a:spcPts val="0"/>
              </a:spcAft>
              <a:buSzPts val="1000"/>
              <a:buChar char="●"/>
            </a:pPr>
            <a:r>
              <a:rPr lang="en" dirty="0"/>
              <a:t>What didn’t go so well? </a:t>
            </a:r>
            <a:endParaRPr lang="en" dirty="0" smtClean="0"/>
          </a:p>
          <a:p>
            <a:pPr marL="27940" lvl="0" indent="0">
              <a:buNone/>
            </a:pPr>
            <a:r>
              <a:rPr lang="en-GB" dirty="0"/>
              <a:t>T</a:t>
            </a:r>
            <a:r>
              <a:rPr lang="en-GB" dirty="0" smtClean="0"/>
              <a:t>he </a:t>
            </a:r>
            <a:r>
              <a:rPr lang="en-GB" dirty="0"/>
              <a:t>raw folder structure needed more </a:t>
            </a:r>
            <a:r>
              <a:rPr lang="en-GB" dirty="0" smtClean="0"/>
              <a:t>clean-up </a:t>
            </a:r>
            <a:r>
              <a:rPr lang="en-GB" dirty="0"/>
              <a:t>than expected</a:t>
            </a:r>
            <a:r>
              <a:rPr lang="en-GB" dirty="0" smtClean="0"/>
              <a:t>.</a:t>
            </a:r>
          </a:p>
          <a:p>
            <a:pPr marL="27940" lvl="0" indent="0">
              <a:buNone/>
            </a:pPr>
            <a:endParaRPr dirty="0"/>
          </a:p>
          <a:p>
            <a:pPr marL="182880" lvl="0" indent="-154940" algn="l" rtl="0">
              <a:spcBef>
                <a:spcPts val="0"/>
              </a:spcBef>
              <a:spcAft>
                <a:spcPts val="0"/>
              </a:spcAft>
              <a:buSzPts val="1000"/>
              <a:buChar char="●"/>
            </a:pPr>
            <a:r>
              <a:rPr lang="en" dirty="0"/>
              <a:t>What did you learn? </a:t>
            </a:r>
            <a:endParaRPr lang="en" dirty="0" smtClean="0"/>
          </a:p>
          <a:p>
            <a:pPr marL="27940" lvl="0" indent="0">
              <a:buNone/>
            </a:pPr>
            <a:r>
              <a:rPr lang="en-GB" dirty="0" smtClean="0"/>
              <a:t>How </a:t>
            </a:r>
            <a:r>
              <a:rPr lang="en-GB" dirty="0"/>
              <a:t>skewed RDD2022's country/class distribution is </a:t>
            </a:r>
            <a:r>
              <a:rPr lang="en-GB" dirty="0" smtClean="0"/>
              <a:t>- </a:t>
            </a:r>
            <a:r>
              <a:rPr lang="en-GB" dirty="0"/>
              <a:t>relevant for later balancing</a:t>
            </a:r>
            <a:r>
              <a:rPr lang="en-GB" dirty="0" smtClean="0"/>
              <a:t>.</a:t>
            </a:r>
          </a:p>
          <a:p>
            <a:pPr marL="27940" lvl="0" indent="0">
              <a:buNone/>
            </a:pPr>
            <a:endParaRPr dirty="0"/>
          </a:p>
          <a:p>
            <a:pPr marL="182880" lvl="0" indent="-154940" algn="l" rtl="0">
              <a:spcBef>
                <a:spcPts val="0"/>
              </a:spcBef>
              <a:spcAft>
                <a:spcPts val="0"/>
              </a:spcAft>
              <a:buSzPts val="1000"/>
              <a:buChar char="●"/>
            </a:pPr>
            <a:r>
              <a:rPr lang="en" dirty="0"/>
              <a:t>What could be added as an Action point looking forward to next week</a:t>
            </a:r>
            <a:r>
              <a:rPr lang="en" dirty="0" smtClean="0"/>
              <a:t>?</a:t>
            </a:r>
          </a:p>
          <a:p>
            <a:pPr marL="27940" lvl="0" indent="0" algn="l" rtl="0">
              <a:spcBef>
                <a:spcPts val="0"/>
              </a:spcBef>
              <a:spcAft>
                <a:spcPts val="0"/>
              </a:spcAft>
              <a:buSzPts val="1000"/>
              <a:buNone/>
            </a:pPr>
            <a:r>
              <a:rPr lang="en" dirty="0" smtClean="0"/>
              <a:t>Action point for the next wekk is to train the first models on the small dataset.</a:t>
            </a:r>
          </a:p>
          <a:p>
            <a:pPr marL="27940" lvl="0" indent="0" algn="l" rtl="0">
              <a:spcBef>
                <a:spcPts val="0"/>
              </a:spcBef>
              <a:spcAft>
                <a:spcPts val="0"/>
              </a:spcAft>
              <a:buSzPts val="1000"/>
              <a:buNone/>
            </a:pPr>
            <a:endParaRPr dirty="0"/>
          </a:p>
        </p:txBody>
      </p:sp>
      <p:sp>
        <p:nvSpPr>
          <p:cNvPr id="165" name="Google Shape;165;p20"/>
          <p:cNvSpPr txBox="1">
            <a:spLocks noGrp="1"/>
          </p:cNvSpPr>
          <p:nvPr>
            <p:ph type="title" idx="6"/>
          </p:nvPr>
        </p:nvSpPr>
        <p:spPr>
          <a:xfrm>
            <a:off x="7068300" y="165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dirty="0"/>
              <a:t>1/2</a:t>
            </a:r>
            <a:endParaRPr dirty="0"/>
          </a:p>
        </p:txBody>
      </p:sp>
      <p:sp>
        <p:nvSpPr>
          <p:cNvPr id="166" name="Google Shape;166;p20"/>
          <p:cNvSpPr txBox="1">
            <a:spLocks noGrp="1"/>
          </p:cNvSpPr>
          <p:nvPr>
            <p:ph type="title" idx="5"/>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dirty="0"/>
              <a:t>2</a:t>
            </a:r>
            <a:endParaRPr dirty="0"/>
          </a:p>
        </p:txBody>
      </p:sp>
      <p:sp>
        <p:nvSpPr>
          <p:cNvPr id="167" name="Google Shape;167;p20"/>
          <p:cNvSpPr/>
          <p:nvPr/>
        </p:nvSpPr>
        <p:spPr>
          <a:xfrm>
            <a:off x="0" y="576072"/>
            <a:ext cx="9144000" cy="91500"/>
          </a:xfrm>
          <a:prstGeom prst="rect">
            <a:avLst/>
          </a:prstGeom>
          <a:solidFill>
            <a:srgbClr val="66666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aphicFrame>
        <p:nvGraphicFramePr>
          <p:cNvPr id="2" name="Table 1"/>
          <p:cNvGraphicFramePr>
            <a:graphicFrameLocks noGrp="1"/>
          </p:cNvGraphicFramePr>
          <p:nvPr>
            <p:extLst>
              <p:ext uri="{D42A27DB-BD31-4B8C-83A1-F6EECF244321}">
                <p14:modId xmlns:p14="http://schemas.microsoft.com/office/powerpoint/2010/main" val="3873338517"/>
              </p:ext>
            </p:extLst>
          </p:nvPr>
        </p:nvGraphicFramePr>
        <p:xfrm>
          <a:off x="384313" y="3525078"/>
          <a:ext cx="1702904" cy="638175"/>
        </p:xfrm>
        <a:graphic>
          <a:graphicData uri="http://schemas.openxmlformats.org/drawingml/2006/table">
            <a:tbl>
              <a:tblPr>
                <a:tableStyleId>{764D4AE7-FFBC-431D-9275-528F30A785D3}</a:tableStyleId>
              </a:tblPr>
              <a:tblGrid>
                <a:gridCol w="1702904">
                  <a:extLst>
                    <a:ext uri="{9D8B030D-6E8A-4147-A177-3AD203B41FA5}">
                      <a16:colId xmlns:a16="http://schemas.microsoft.com/office/drawing/2014/main" val="2647405054"/>
                    </a:ext>
                  </a:extLst>
                </a:gridCol>
              </a:tblGrid>
              <a:tr h="161925">
                <a:tc>
                  <a:txBody>
                    <a:bodyPr/>
                    <a:lstStyle/>
                    <a:p>
                      <a:pPr algn="l" fontAlgn="b"/>
                      <a:r>
                        <a:rPr lang="en-GB" sz="1000" u="sng" strike="noStrike" dirty="0">
                          <a:effectLst/>
                          <a:hlinkClick r:id="rId3"/>
                        </a:rPr>
                        <a:t>data</a:t>
                      </a:r>
                      <a:endParaRPr lang="en-GB" sz="1000" b="0" i="0" u="sng" strike="noStrike" dirty="0">
                        <a:solidFill>
                          <a:srgbClr val="0563C1"/>
                        </a:solidFill>
                        <a:effectLst/>
                        <a:latin typeface="Arial" panose="020B0604020202020204" pitchFamily="34" charset="0"/>
                      </a:endParaRPr>
                    </a:p>
                  </a:txBody>
                  <a:tcPr marL="9525" marR="9525" marT="9525" marB="0" anchor="b"/>
                </a:tc>
                <a:extLst>
                  <a:ext uri="{0D108BD9-81ED-4DB2-BD59-A6C34878D82A}">
                    <a16:rowId xmlns:a16="http://schemas.microsoft.com/office/drawing/2014/main" val="2532099476"/>
                  </a:ext>
                </a:extLst>
              </a:tr>
              <a:tr h="161925">
                <a:tc>
                  <a:txBody>
                    <a:bodyPr/>
                    <a:lstStyle/>
                    <a:p>
                      <a:pPr algn="l" fontAlgn="b"/>
                      <a:r>
                        <a:rPr lang="en-GB" sz="1000" u="sng" strike="noStrike" dirty="0">
                          <a:effectLst/>
                          <a:hlinkClick r:id="rId4"/>
                        </a:rPr>
                        <a:t>visual dataset inspection notebook</a:t>
                      </a:r>
                      <a:endParaRPr lang="en-GB" sz="1000" b="0" i="0" u="sng" strike="noStrike" dirty="0">
                        <a:solidFill>
                          <a:srgbClr val="0563C1"/>
                        </a:solidFill>
                        <a:effectLst/>
                        <a:latin typeface="Arial" panose="020B0604020202020204" pitchFamily="34" charset="0"/>
                      </a:endParaRPr>
                    </a:p>
                  </a:txBody>
                  <a:tcPr marL="9525" marR="9525" marT="9525" marB="0" anchor="b"/>
                </a:tc>
                <a:extLst>
                  <a:ext uri="{0D108BD9-81ED-4DB2-BD59-A6C34878D82A}">
                    <a16:rowId xmlns:a16="http://schemas.microsoft.com/office/drawing/2014/main" val="673156909"/>
                  </a:ext>
                </a:extLst>
              </a:tr>
              <a:tr h="161925">
                <a:tc>
                  <a:txBody>
                    <a:bodyPr/>
                    <a:lstStyle/>
                    <a:p>
                      <a:pPr algn="l" fontAlgn="b"/>
                      <a:r>
                        <a:rPr lang="en-GB" sz="1000" u="sng" strike="noStrike" dirty="0">
                          <a:effectLst/>
                          <a:hlinkClick r:id="rId5"/>
                        </a:rPr>
                        <a:t>scripts/</a:t>
                      </a:r>
                      <a:endParaRPr lang="en-GB" sz="1000" b="0" i="0" u="sng" strike="noStrike" dirty="0">
                        <a:solidFill>
                          <a:srgbClr val="0563C1"/>
                        </a:solidFill>
                        <a:effectLst/>
                        <a:latin typeface="Arial" panose="020B0604020202020204" pitchFamily="34" charset="0"/>
                      </a:endParaRPr>
                    </a:p>
                  </a:txBody>
                  <a:tcPr marL="9525" marR="9525" marT="9525" marB="0" anchor="b"/>
                </a:tc>
                <a:extLst>
                  <a:ext uri="{0D108BD9-81ED-4DB2-BD59-A6C34878D82A}">
                    <a16:rowId xmlns:a16="http://schemas.microsoft.com/office/drawing/2014/main" val="2135732429"/>
                  </a:ext>
                </a:extLst>
              </a:tr>
            </a:tbl>
          </a:graphicData>
        </a:graphic>
      </p:graphicFrame>
    </p:spTree>
    <p:extLst>
      <p:ext uri="{BB962C8B-B14F-4D97-AF65-F5344CB8AC3E}">
        <p14:creationId xmlns:p14="http://schemas.microsoft.com/office/powerpoint/2010/main" val="372961346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71"/>
        <p:cNvGrpSpPr/>
        <p:nvPr/>
      </p:nvGrpSpPr>
      <p:grpSpPr>
        <a:xfrm>
          <a:off x="0" y="0"/>
          <a:ext cx="0" cy="0"/>
          <a:chOff x="0" y="0"/>
          <a:chExt cx="0" cy="0"/>
        </a:xfrm>
      </p:grpSpPr>
      <p:sp>
        <p:nvSpPr>
          <p:cNvPr id="172" name="Google Shape;172;p21"/>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dirty="0"/>
              <a:t>Week 2 - Feedback</a:t>
            </a:r>
            <a:endParaRPr dirty="0"/>
          </a:p>
        </p:txBody>
      </p:sp>
      <p:sp>
        <p:nvSpPr>
          <p:cNvPr id="173" name="Google Shape;173;p21"/>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dirty="0"/>
              <a:t>manager, colleague, or team member feedback</a:t>
            </a:r>
            <a:endParaRPr dirty="0"/>
          </a:p>
        </p:txBody>
      </p:sp>
      <p:sp>
        <p:nvSpPr>
          <p:cNvPr id="174" name="Google Shape;174;p21"/>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p>
            <a:pPr marL="182880" lvl="0" indent="-154940"/>
            <a:r>
              <a:rPr lang="en-GB" b="1" dirty="0"/>
              <a:t>D</a:t>
            </a:r>
            <a:r>
              <a:rPr lang="en" b="1" dirty="0"/>
              <a:t>ate: </a:t>
            </a:r>
            <a:r>
              <a:rPr lang="en" dirty="0"/>
              <a:t>22/04/2026</a:t>
            </a:r>
          </a:p>
          <a:p>
            <a:pPr marL="182880" lvl="0" indent="-154940" algn="l" rtl="0">
              <a:spcBef>
                <a:spcPts val="0"/>
              </a:spcBef>
              <a:spcAft>
                <a:spcPts val="0"/>
              </a:spcAft>
              <a:buSzPts val="1000"/>
              <a:buChar char="●"/>
            </a:pPr>
            <a:r>
              <a:rPr lang="en" b="1" dirty="0"/>
              <a:t>Feedback from</a:t>
            </a:r>
            <a:r>
              <a:rPr lang="en" b="1" dirty="0" smtClean="0"/>
              <a:t>: </a:t>
            </a:r>
            <a:r>
              <a:rPr lang="en" dirty="0" smtClean="0"/>
              <a:t>Karna Rewatkar (Supervisor)</a:t>
            </a:r>
            <a:endParaRPr lang="en" dirty="0"/>
          </a:p>
          <a:p>
            <a:pPr marL="182880" lvl="0" indent="-154940"/>
            <a:r>
              <a:rPr lang="en" b="1" dirty="0"/>
              <a:t>Feedback</a:t>
            </a:r>
            <a:r>
              <a:rPr lang="en" b="1" dirty="0" smtClean="0"/>
              <a:t>: </a:t>
            </a:r>
            <a:r>
              <a:rPr lang="en-GB" dirty="0"/>
              <a:t>It's a smart move to validate the pipeline on a small dataset before scaling up rather than jumping straight to the full RDD2022 set. The decision to keep only four damage classes looks sensible given the risk-scoring model you described. Just make sure that reasoning is written down somewhere now, while it's still fresh, so you're not reconstructing it later for the thesis</a:t>
            </a:r>
            <a:r>
              <a:rPr lang="en-GB" dirty="0" smtClean="0"/>
              <a:t>.</a:t>
            </a:r>
          </a:p>
          <a:p>
            <a:pPr marL="182880" lvl="0" indent="-154940"/>
            <a:endParaRPr lang="en" dirty="0"/>
          </a:p>
          <a:p>
            <a:pPr marL="182880" lvl="0" indent="-154940"/>
            <a:r>
              <a:rPr lang="en" b="1" dirty="0"/>
              <a:t>Related to what task: </a:t>
            </a:r>
            <a:r>
              <a:rPr lang="en-GB" dirty="0" smtClean="0"/>
              <a:t>Small </a:t>
            </a:r>
            <a:r>
              <a:rPr lang="en-GB" dirty="0"/>
              <a:t>dataset build and 4-class filtering decision.</a:t>
            </a:r>
            <a:endParaRPr lang="en" dirty="0"/>
          </a:p>
          <a:p>
            <a:pPr marL="182880" lvl="0" indent="-154940"/>
            <a:r>
              <a:rPr lang="en" b="1" dirty="0"/>
              <a:t>Response/action coming forward from this: </a:t>
            </a:r>
            <a:r>
              <a:rPr lang="en-GB" dirty="0" smtClean="0"/>
              <a:t>Documented </a:t>
            </a:r>
            <a:r>
              <a:rPr lang="en-GB" dirty="0"/>
              <a:t>the decision in the dataset-construction notes.</a:t>
            </a:r>
          </a:p>
          <a:p>
            <a:pPr marL="182880" lvl="0" indent="-154940" algn="l" rtl="0">
              <a:spcBef>
                <a:spcPts val="0"/>
              </a:spcBef>
              <a:spcAft>
                <a:spcPts val="0"/>
              </a:spcAft>
              <a:buSzPts val="1000"/>
              <a:buChar char="●"/>
            </a:pPr>
            <a:endParaRPr lang="en" b="1" dirty="0"/>
          </a:p>
        </p:txBody>
      </p:sp>
      <p:sp>
        <p:nvSpPr>
          <p:cNvPr id="175" name="Google Shape;175;p21"/>
          <p:cNvSpPr txBox="1">
            <a:spLocks noGrp="1"/>
          </p:cNvSpPr>
          <p:nvPr>
            <p:ph type="title" idx="4"/>
          </p:nvPr>
        </p:nvSpPr>
        <p:spPr>
          <a:xfrm>
            <a:off x="7068300" y="165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2/2</a:t>
            </a:r>
            <a:endParaRPr/>
          </a:p>
        </p:txBody>
      </p:sp>
      <p:sp>
        <p:nvSpPr>
          <p:cNvPr id="176" name="Google Shape;176;p21"/>
          <p:cNvSpPr txBox="1">
            <a:spLocks noGrp="1"/>
          </p:cNvSpPr>
          <p:nvPr>
            <p:ph type="title" idx="3"/>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dirty="0"/>
              <a:t>2</a:t>
            </a:r>
            <a:endParaRPr dirty="0"/>
          </a:p>
        </p:txBody>
      </p:sp>
    </p:spTree>
    <p:extLst>
      <p:ext uri="{BB962C8B-B14F-4D97-AF65-F5344CB8AC3E}">
        <p14:creationId xmlns:p14="http://schemas.microsoft.com/office/powerpoint/2010/main" val="225755808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59"/>
        <p:cNvGrpSpPr/>
        <p:nvPr/>
      </p:nvGrpSpPr>
      <p:grpSpPr>
        <a:xfrm>
          <a:off x="0" y="0"/>
          <a:ext cx="0" cy="0"/>
          <a:chOff x="0" y="0"/>
          <a:chExt cx="0" cy="0"/>
        </a:xfrm>
      </p:grpSpPr>
      <p:sp>
        <p:nvSpPr>
          <p:cNvPr id="160" name="Google Shape;160;p20"/>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r>
              <a:rPr lang="en" dirty="0"/>
              <a:t>Week 3 - Log</a:t>
            </a:r>
            <a:endParaRPr lang="en-US" dirty="0"/>
          </a:p>
        </p:txBody>
      </p:sp>
      <p:sp>
        <p:nvSpPr>
          <p:cNvPr id="161" name="Google Shape;161;p20"/>
          <p:cNvSpPr txBox="1">
            <a:spLocks noGrp="1"/>
          </p:cNvSpPr>
          <p:nvPr>
            <p:ph type="subTitle" idx="4"/>
          </p:nvPr>
        </p:nvSpPr>
        <p:spPr>
          <a:xfrm>
            <a:off x="4663440" y="758952"/>
            <a:ext cx="42978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Reflection</a:t>
            </a:r>
            <a:endParaRPr/>
          </a:p>
        </p:txBody>
      </p:sp>
      <p:sp>
        <p:nvSpPr>
          <p:cNvPr id="162" name="Google Shape;162;p20"/>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What did you do?</a:t>
            </a:r>
            <a:endParaRPr/>
          </a:p>
        </p:txBody>
      </p:sp>
      <p:sp>
        <p:nvSpPr>
          <p:cNvPr id="163" name="Google Shape;163;p20"/>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dirty="0"/>
              <a:t>What goal(s) did you set for this week</a:t>
            </a:r>
            <a:r>
              <a:rPr lang="en" dirty="0" smtClean="0"/>
              <a:t>?</a:t>
            </a:r>
          </a:p>
          <a:p>
            <a:pPr marL="27940" lvl="0" indent="0">
              <a:buNone/>
            </a:pPr>
            <a:r>
              <a:rPr lang="en" dirty="0" smtClean="0"/>
              <a:t>Goals for this weeks are to </a:t>
            </a:r>
            <a:r>
              <a:rPr lang="en-GB" dirty="0"/>
              <a:t>train the first models on the small </a:t>
            </a:r>
            <a:r>
              <a:rPr lang="en-GB" dirty="0" smtClean="0"/>
              <a:t>dataset and start </a:t>
            </a:r>
            <a:r>
              <a:rPr lang="en-GB" dirty="0"/>
              <a:t>researching the geospatial/app layers</a:t>
            </a:r>
            <a:r>
              <a:rPr lang="en-GB" dirty="0" smtClean="0"/>
              <a:t>.</a:t>
            </a:r>
          </a:p>
          <a:p>
            <a:pPr marL="27940" lvl="0" indent="0">
              <a:buNone/>
            </a:pPr>
            <a:endParaRPr dirty="0"/>
          </a:p>
          <a:p>
            <a:pPr marL="182880" lvl="0" indent="-154940" algn="l" rtl="0">
              <a:spcBef>
                <a:spcPts val="0"/>
              </a:spcBef>
              <a:spcAft>
                <a:spcPts val="0"/>
              </a:spcAft>
              <a:buSzPts val="1000"/>
              <a:buChar char="●"/>
            </a:pPr>
            <a:r>
              <a:rPr lang="en" dirty="0"/>
              <a:t>What have you actually been able to do? </a:t>
            </a:r>
            <a:endParaRPr lang="en" dirty="0" smtClean="0"/>
          </a:p>
          <a:p>
            <a:pPr marL="27940" lvl="0" indent="0">
              <a:buNone/>
            </a:pPr>
            <a:r>
              <a:rPr lang="en-GB" dirty="0"/>
              <a:t>W</a:t>
            </a:r>
            <a:r>
              <a:rPr lang="en-GB" dirty="0" smtClean="0"/>
              <a:t>rote </a:t>
            </a:r>
            <a:r>
              <a:rPr lang="en-GB" dirty="0"/>
              <a:t>both training </a:t>
            </a:r>
            <a:r>
              <a:rPr lang="en-GB" dirty="0" err="1"/>
              <a:t>configs</a:t>
            </a:r>
            <a:r>
              <a:rPr lang="en-GB" dirty="0"/>
              <a:t>, fixed an early Faster R-CNN memory error, trained and evaluated both models; researched </a:t>
            </a:r>
            <a:r>
              <a:rPr lang="en-GB" dirty="0" err="1"/>
              <a:t>OSMnx</a:t>
            </a:r>
            <a:r>
              <a:rPr lang="en-GB" dirty="0"/>
              <a:t>/Folium; drafted the pipeline diagram</a:t>
            </a:r>
            <a:r>
              <a:rPr lang="en-GB" dirty="0" smtClean="0"/>
              <a:t>.</a:t>
            </a:r>
          </a:p>
          <a:p>
            <a:pPr marL="27940" lvl="0" indent="0">
              <a:buNone/>
            </a:pPr>
            <a:endParaRPr dirty="0"/>
          </a:p>
          <a:p>
            <a:pPr marL="182880" lvl="0" indent="-154940" algn="l" rtl="0">
              <a:spcBef>
                <a:spcPts val="0"/>
              </a:spcBef>
              <a:spcAft>
                <a:spcPts val="0"/>
              </a:spcAft>
              <a:buSzPts val="1000"/>
              <a:buChar char="●"/>
            </a:pPr>
            <a:r>
              <a:rPr lang="en" dirty="0"/>
              <a:t>Showcase what tasks you have been working on this week and provide evidence for </a:t>
            </a:r>
            <a:r>
              <a:rPr lang="en" dirty="0" smtClean="0"/>
              <a:t>it.</a:t>
            </a:r>
          </a:p>
          <a:p>
            <a:pPr marL="27940" lvl="0" indent="0" algn="l" rtl="0">
              <a:spcBef>
                <a:spcPts val="0"/>
              </a:spcBef>
              <a:spcAft>
                <a:spcPts val="0"/>
              </a:spcAft>
              <a:buSzPts val="1000"/>
              <a:buNone/>
            </a:pPr>
            <a:endParaRPr lang="en" dirty="0" smtClean="0"/>
          </a:p>
          <a:p>
            <a:pPr marL="27940" lvl="0" indent="0" algn="l" rtl="0">
              <a:spcBef>
                <a:spcPts val="0"/>
              </a:spcBef>
              <a:spcAft>
                <a:spcPts val="0"/>
              </a:spcAft>
              <a:buSzPts val="1000"/>
              <a:buNone/>
            </a:pPr>
            <a:endParaRPr lang="en" dirty="0"/>
          </a:p>
          <a:p>
            <a:pPr marL="27940" lvl="0" indent="0">
              <a:buNone/>
            </a:pPr>
            <a:r>
              <a:rPr lang="en-GB" u="sng" dirty="0">
                <a:hlinkClick r:id="rId3"/>
              </a:rPr>
              <a:t>first YOLO training</a:t>
            </a:r>
            <a:r>
              <a:rPr lang="en-GB" dirty="0"/>
              <a:t> </a:t>
            </a:r>
            <a:endParaRPr lang="en-GB" dirty="0" smtClean="0"/>
          </a:p>
          <a:p>
            <a:pPr marL="27940" lvl="0" indent="0">
              <a:buNone/>
            </a:pPr>
            <a:endParaRPr lang="en-GB" dirty="0"/>
          </a:p>
          <a:p>
            <a:pPr marL="27940" lvl="0" indent="0">
              <a:buNone/>
            </a:pPr>
            <a:r>
              <a:rPr lang="en-GB" u="sng" dirty="0">
                <a:hlinkClick r:id="rId4"/>
              </a:rPr>
              <a:t>first </a:t>
            </a:r>
            <a:r>
              <a:rPr lang="en-GB" u="sng" dirty="0" err="1">
                <a:hlinkClick r:id="rId4"/>
              </a:rPr>
              <a:t>FasteRNN</a:t>
            </a:r>
            <a:r>
              <a:rPr lang="en-GB" u="sng" dirty="0">
                <a:hlinkClick r:id="rId4"/>
              </a:rPr>
              <a:t> training</a:t>
            </a:r>
            <a:r>
              <a:rPr lang="en-GB" dirty="0"/>
              <a:t> </a:t>
            </a:r>
            <a:endParaRPr lang="en-GB" dirty="0" smtClean="0"/>
          </a:p>
          <a:p>
            <a:pPr marL="27940" lvl="0" indent="0">
              <a:buNone/>
            </a:pPr>
            <a:endParaRPr lang="en-GB" dirty="0"/>
          </a:p>
          <a:p>
            <a:pPr marL="27940" lvl="0" indent="0">
              <a:buNone/>
            </a:pPr>
            <a:r>
              <a:rPr lang="en-GB" u="sng" dirty="0">
                <a:hlinkClick r:id="rId5"/>
              </a:rPr>
              <a:t>Product architecture plan</a:t>
            </a:r>
            <a:r>
              <a:rPr lang="en-GB" dirty="0"/>
              <a:t> </a:t>
            </a:r>
            <a:endParaRPr lang="en" dirty="0" smtClean="0"/>
          </a:p>
        </p:txBody>
      </p:sp>
      <p:sp>
        <p:nvSpPr>
          <p:cNvPr id="164" name="Google Shape;164;p20"/>
          <p:cNvSpPr txBox="1">
            <a:spLocks noGrp="1"/>
          </p:cNvSpPr>
          <p:nvPr>
            <p:ph type="body" idx="3"/>
          </p:nvPr>
        </p:nvSpPr>
        <p:spPr>
          <a:xfrm>
            <a:off x="4663450" y="1152698"/>
            <a:ext cx="4297800" cy="16257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dirty="0"/>
              <a:t>How did the week go? </a:t>
            </a:r>
          </a:p>
          <a:p>
            <a:pPr marL="27940" lvl="0" indent="0">
              <a:buNone/>
            </a:pPr>
            <a:r>
              <a:rPr lang="en" dirty="0" smtClean="0"/>
              <a:t>The week was </a:t>
            </a:r>
            <a:r>
              <a:rPr lang="en-GB" dirty="0"/>
              <a:t>encouraging, both models trained successfully</a:t>
            </a:r>
            <a:r>
              <a:rPr lang="en-GB" dirty="0" smtClean="0"/>
              <a:t>.</a:t>
            </a:r>
          </a:p>
          <a:p>
            <a:pPr marL="27940" lvl="0" indent="0">
              <a:buNone/>
            </a:pPr>
            <a:endParaRPr dirty="0"/>
          </a:p>
          <a:p>
            <a:pPr marL="182880" lvl="0" indent="-154940" algn="l" rtl="0">
              <a:spcBef>
                <a:spcPts val="0"/>
              </a:spcBef>
              <a:spcAft>
                <a:spcPts val="0"/>
              </a:spcAft>
              <a:buSzPts val="1000"/>
              <a:buChar char="●"/>
            </a:pPr>
            <a:r>
              <a:rPr lang="en" dirty="0"/>
              <a:t>What went well? </a:t>
            </a:r>
            <a:endParaRPr lang="en" dirty="0" smtClean="0"/>
          </a:p>
          <a:p>
            <a:pPr marL="27940" lvl="0" indent="0">
              <a:buNone/>
            </a:pPr>
            <a:r>
              <a:rPr lang="en-GB" dirty="0"/>
              <a:t>YOLOv8n trained cleanly with sane (if low) small-dataset numbers</a:t>
            </a:r>
            <a:r>
              <a:rPr lang="en-GB" dirty="0" smtClean="0"/>
              <a:t>.</a:t>
            </a:r>
          </a:p>
          <a:p>
            <a:pPr marL="27940" lvl="0" indent="0">
              <a:buNone/>
            </a:pPr>
            <a:endParaRPr dirty="0"/>
          </a:p>
          <a:p>
            <a:pPr marL="182880" lvl="0" indent="-154940" algn="l" rtl="0">
              <a:spcBef>
                <a:spcPts val="0"/>
              </a:spcBef>
              <a:spcAft>
                <a:spcPts val="0"/>
              </a:spcAft>
              <a:buSzPts val="1000"/>
              <a:buChar char="●"/>
            </a:pPr>
            <a:r>
              <a:rPr lang="en" dirty="0"/>
              <a:t>What didn’t go so well? </a:t>
            </a:r>
            <a:endParaRPr lang="en" dirty="0" smtClean="0"/>
          </a:p>
          <a:p>
            <a:pPr marL="27940" lvl="0" indent="0">
              <a:buNone/>
            </a:pPr>
            <a:r>
              <a:rPr lang="en-GB" dirty="0"/>
              <a:t>Faster R-CNN needed gradient accumulation and mixed precision to fit an 8GB GPU</a:t>
            </a:r>
            <a:r>
              <a:rPr lang="en-GB" dirty="0" smtClean="0"/>
              <a:t>.</a:t>
            </a:r>
          </a:p>
          <a:p>
            <a:pPr marL="27940" lvl="0" indent="0">
              <a:buNone/>
            </a:pPr>
            <a:endParaRPr dirty="0"/>
          </a:p>
          <a:p>
            <a:pPr marL="182880" lvl="0" indent="-154940" algn="l" rtl="0">
              <a:spcBef>
                <a:spcPts val="0"/>
              </a:spcBef>
              <a:spcAft>
                <a:spcPts val="0"/>
              </a:spcAft>
              <a:buSzPts val="1000"/>
              <a:buChar char="●"/>
            </a:pPr>
            <a:r>
              <a:rPr lang="en" dirty="0"/>
              <a:t>What did you learn? </a:t>
            </a:r>
            <a:endParaRPr lang="en" dirty="0" smtClean="0"/>
          </a:p>
          <a:p>
            <a:pPr marL="27940" lvl="0" indent="0">
              <a:buNone/>
            </a:pPr>
            <a:r>
              <a:rPr lang="en-GB" dirty="0"/>
              <a:t>H</a:t>
            </a:r>
            <a:r>
              <a:rPr lang="en-GB" dirty="0" smtClean="0"/>
              <a:t>ow </a:t>
            </a:r>
            <a:r>
              <a:rPr lang="en-GB" dirty="0"/>
              <a:t>to tune batch size/accumulation/mixed precision for a memory-constrained two-stage detector</a:t>
            </a:r>
            <a:r>
              <a:rPr lang="en-GB" dirty="0" smtClean="0"/>
              <a:t>.</a:t>
            </a:r>
          </a:p>
          <a:p>
            <a:pPr marL="27940" lvl="0" indent="0">
              <a:buNone/>
            </a:pPr>
            <a:endParaRPr dirty="0"/>
          </a:p>
          <a:p>
            <a:pPr marL="182880" lvl="0" indent="-154940" algn="l" rtl="0">
              <a:spcBef>
                <a:spcPts val="0"/>
              </a:spcBef>
              <a:spcAft>
                <a:spcPts val="0"/>
              </a:spcAft>
              <a:buSzPts val="1000"/>
              <a:buChar char="●"/>
            </a:pPr>
            <a:r>
              <a:rPr lang="en" dirty="0"/>
              <a:t>What could be added as an Action point looking forward to next week</a:t>
            </a:r>
            <a:r>
              <a:rPr lang="en" dirty="0" smtClean="0"/>
              <a:t>?</a:t>
            </a:r>
          </a:p>
          <a:p>
            <a:pPr marL="27940" lvl="0" indent="0">
              <a:buNone/>
            </a:pPr>
            <a:r>
              <a:rPr lang="en" dirty="0" smtClean="0"/>
              <a:t>Action point for the next week is to </a:t>
            </a:r>
            <a:r>
              <a:rPr lang="en-GB" dirty="0"/>
              <a:t>design and implement the risk-scoring model.</a:t>
            </a:r>
            <a:endParaRPr dirty="0"/>
          </a:p>
        </p:txBody>
      </p:sp>
      <p:sp>
        <p:nvSpPr>
          <p:cNvPr id="165" name="Google Shape;165;p20"/>
          <p:cNvSpPr txBox="1">
            <a:spLocks noGrp="1"/>
          </p:cNvSpPr>
          <p:nvPr>
            <p:ph type="title" idx="6"/>
          </p:nvPr>
        </p:nvSpPr>
        <p:spPr>
          <a:xfrm>
            <a:off x="7068300" y="165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dirty="0"/>
              <a:t>1/2</a:t>
            </a:r>
            <a:endParaRPr dirty="0"/>
          </a:p>
        </p:txBody>
      </p:sp>
      <p:sp>
        <p:nvSpPr>
          <p:cNvPr id="166" name="Google Shape;166;p20"/>
          <p:cNvSpPr txBox="1">
            <a:spLocks noGrp="1"/>
          </p:cNvSpPr>
          <p:nvPr>
            <p:ph type="title" idx="5"/>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dirty="0"/>
              <a:t>3</a:t>
            </a:r>
            <a:endParaRPr dirty="0"/>
          </a:p>
        </p:txBody>
      </p:sp>
      <p:sp>
        <p:nvSpPr>
          <p:cNvPr id="167" name="Google Shape;167;p20"/>
          <p:cNvSpPr/>
          <p:nvPr/>
        </p:nvSpPr>
        <p:spPr>
          <a:xfrm>
            <a:off x="0" y="576072"/>
            <a:ext cx="9144000" cy="91500"/>
          </a:xfrm>
          <a:prstGeom prst="rect">
            <a:avLst/>
          </a:prstGeom>
          <a:solidFill>
            <a:srgbClr val="66666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43898901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71"/>
        <p:cNvGrpSpPr/>
        <p:nvPr/>
      </p:nvGrpSpPr>
      <p:grpSpPr>
        <a:xfrm>
          <a:off x="0" y="0"/>
          <a:ext cx="0" cy="0"/>
          <a:chOff x="0" y="0"/>
          <a:chExt cx="0" cy="0"/>
        </a:xfrm>
      </p:grpSpPr>
      <p:sp>
        <p:nvSpPr>
          <p:cNvPr id="172" name="Google Shape;172;p21"/>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dirty="0"/>
              <a:t>Week 3 - Feedback</a:t>
            </a:r>
            <a:endParaRPr dirty="0"/>
          </a:p>
        </p:txBody>
      </p:sp>
      <p:sp>
        <p:nvSpPr>
          <p:cNvPr id="173" name="Google Shape;173;p21"/>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dirty="0"/>
              <a:t>manager, colleague, or team member feedback</a:t>
            </a:r>
            <a:endParaRPr dirty="0"/>
          </a:p>
        </p:txBody>
      </p:sp>
      <p:sp>
        <p:nvSpPr>
          <p:cNvPr id="174" name="Google Shape;174;p21"/>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p>
            <a:pPr marL="182880" lvl="0" indent="-154940"/>
            <a:r>
              <a:rPr lang="en-GB" b="1" dirty="0"/>
              <a:t>D</a:t>
            </a:r>
            <a:r>
              <a:rPr lang="en" b="1" dirty="0"/>
              <a:t>ate: </a:t>
            </a:r>
            <a:r>
              <a:rPr lang="en" dirty="0"/>
              <a:t>29/04/2026</a:t>
            </a:r>
          </a:p>
          <a:p>
            <a:pPr marL="182880" lvl="0" indent="-154940"/>
            <a:r>
              <a:rPr lang="en" b="1" dirty="0"/>
              <a:t>Feedback from</a:t>
            </a:r>
            <a:r>
              <a:rPr lang="en" b="1" dirty="0" smtClean="0"/>
              <a:t>: </a:t>
            </a:r>
            <a:r>
              <a:rPr lang="en-GB" dirty="0"/>
              <a:t>Karna </a:t>
            </a:r>
            <a:r>
              <a:rPr lang="en-GB" dirty="0" err="1"/>
              <a:t>Rewatkar</a:t>
            </a:r>
            <a:r>
              <a:rPr lang="en-GB" dirty="0"/>
              <a:t> (Supervisor)</a:t>
            </a:r>
            <a:endParaRPr lang="en" dirty="0"/>
          </a:p>
          <a:p>
            <a:pPr marL="182880" lvl="0" indent="-154940"/>
            <a:r>
              <a:rPr lang="en" b="1" dirty="0"/>
              <a:t>Feedback</a:t>
            </a:r>
            <a:r>
              <a:rPr lang="en" b="1" dirty="0" smtClean="0"/>
              <a:t>: </a:t>
            </a:r>
            <a:r>
              <a:rPr lang="en-GB" dirty="0"/>
              <a:t>Everything is off to a solid start. The choice between YOLOv8n and Faster R-CNN is well reasoned, and going with a rule-based rather than learned risk score is the right call for something a municipality would need to trust and audit. Good that H1-H4 were pinned down this early </a:t>
            </a:r>
            <a:r>
              <a:rPr lang="en-GB" dirty="0" smtClean="0"/>
              <a:t>- </a:t>
            </a:r>
            <a:r>
              <a:rPr lang="en-GB" dirty="0"/>
              <a:t>it gives the rest of the project fixed targets to work against.</a:t>
            </a:r>
            <a:endParaRPr lang="en" dirty="0"/>
          </a:p>
          <a:p>
            <a:pPr marL="182880" lvl="0" indent="-154940"/>
            <a:r>
              <a:rPr lang="en" b="1" dirty="0"/>
              <a:t>Related to what task: </a:t>
            </a:r>
            <a:r>
              <a:rPr lang="en-GB" dirty="0" smtClean="0"/>
              <a:t>Architecture </a:t>
            </a:r>
            <a:r>
              <a:rPr lang="en-GB" dirty="0"/>
              <a:t>decision and risk-scoring approach</a:t>
            </a:r>
            <a:endParaRPr lang="en" dirty="0"/>
          </a:p>
          <a:p>
            <a:pPr marL="182880" lvl="0" indent="-154940"/>
            <a:r>
              <a:rPr lang="en" b="1" dirty="0"/>
              <a:t>Response/action coming forward from this: </a:t>
            </a:r>
            <a:r>
              <a:rPr lang="en-GB" dirty="0" smtClean="0"/>
              <a:t>Proceed </a:t>
            </a:r>
            <a:r>
              <a:rPr lang="en-GB" dirty="0"/>
              <a:t>to dataset exploration and the first small-scale dataset build.</a:t>
            </a:r>
            <a:endParaRPr lang="en" dirty="0"/>
          </a:p>
        </p:txBody>
      </p:sp>
      <p:sp>
        <p:nvSpPr>
          <p:cNvPr id="175" name="Google Shape;175;p21"/>
          <p:cNvSpPr txBox="1">
            <a:spLocks noGrp="1"/>
          </p:cNvSpPr>
          <p:nvPr>
            <p:ph type="title" idx="4"/>
          </p:nvPr>
        </p:nvSpPr>
        <p:spPr>
          <a:xfrm>
            <a:off x="7068300" y="165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2/2</a:t>
            </a:r>
            <a:endParaRPr/>
          </a:p>
        </p:txBody>
      </p:sp>
      <p:sp>
        <p:nvSpPr>
          <p:cNvPr id="176" name="Google Shape;176;p21"/>
          <p:cNvSpPr txBox="1">
            <a:spLocks noGrp="1"/>
          </p:cNvSpPr>
          <p:nvPr>
            <p:ph type="title" idx="3"/>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dirty="0"/>
              <a:t>3</a:t>
            </a:r>
            <a:endParaRPr dirty="0"/>
          </a:p>
        </p:txBody>
      </p:sp>
    </p:spTree>
    <p:extLst>
      <p:ext uri="{BB962C8B-B14F-4D97-AF65-F5344CB8AC3E}">
        <p14:creationId xmlns:p14="http://schemas.microsoft.com/office/powerpoint/2010/main" val="309876003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159"/>
        <p:cNvGrpSpPr/>
        <p:nvPr/>
      </p:nvGrpSpPr>
      <p:grpSpPr>
        <a:xfrm>
          <a:off x="0" y="0"/>
          <a:ext cx="0" cy="0"/>
          <a:chOff x="0" y="0"/>
          <a:chExt cx="0" cy="0"/>
        </a:xfrm>
      </p:grpSpPr>
      <p:sp>
        <p:nvSpPr>
          <p:cNvPr id="160" name="Google Shape;160;p20"/>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r>
              <a:rPr lang="en" dirty="0"/>
              <a:t>Week 4 - Log</a:t>
            </a:r>
            <a:endParaRPr lang="en-US" dirty="0"/>
          </a:p>
        </p:txBody>
      </p:sp>
      <p:sp>
        <p:nvSpPr>
          <p:cNvPr id="161" name="Google Shape;161;p20"/>
          <p:cNvSpPr txBox="1">
            <a:spLocks noGrp="1"/>
          </p:cNvSpPr>
          <p:nvPr>
            <p:ph type="subTitle" idx="4"/>
          </p:nvPr>
        </p:nvSpPr>
        <p:spPr>
          <a:xfrm>
            <a:off x="4663440" y="758952"/>
            <a:ext cx="42978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Reflection</a:t>
            </a:r>
            <a:endParaRPr/>
          </a:p>
        </p:txBody>
      </p:sp>
      <p:sp>
        <p:nvSpPr>
          <p:cNvPr id="162" name="Google Shape;162;p20"/>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What did you do?</a:t>
            </a:r>
            <a:endParaRPr/>
          </a:p>
        </p:txBody>
      </p:sp>
      <p:sp>
        <p:nvSpPr>
          <p:cNvPr id="163" name="Google Shape;163;p20"/>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dirty="0"/>
              <a:t>What goal(s) did you set for this week</a:t>
            </a:r>
            <a:r>
              <a:rPr lang="en" dirty="0" smtClean="0"/>
              <a:t>?</a:t>
            </a:r>
          </a:p>
          <a:p>
            <a:pPr marL="27940" lvl="0" indent="0">
              <a:buNone/>
            </a:pPr>
            <a:r>
              <a:rPr lang="en" dirty="0" smtClean="0"/>
              <a:t>Goal for the week is to </a:t>
            </a:r>
            <a:r>
              <a:rPr lang="en-GB" dirty="0"/>
              <a:t>design and implement the risk-scoring model</a:t>
            </a:r>
            <a:r>
              <a:rPr lang="en-GB" dirty="0" smtClean="0"/>
              <a:t>.</a:t>
            </a:r>
          </a:p>
          <a:p>
            <a:pPr marL="27940" lvl="0" indent="0">
              <a:buNone/>
            </a:pPr>
            <a:endParaRPr dirty="0"/>
          </a:p>
          <a:p>
            <a:pPr marL="182880" lvl="0" indent="-154940" algn="l" rtl="0">
              <a:spcBef>
                <a:spcPts val="0"/>
              </a:spcBef>
              <a:spcAft>
                <a:spcPts val="0"/>
              </a:spcAft>
              <a:buSzPts val="1000"/>
              <a:buChar char="●"/>
            </a:pPr>
            <a:r>
              <a:rPr lang="en" dirty="0"/>
              <a:t>What have you actually been able to do? </a:t>
            </a:r>
            <a:endParaRPr lang="en" dirty="0" smtClean="0"/>
          </a:p>
          <a:p>
            <a:pPr marL="27940" lvl="0" indent="0">
              <a:buNone/>
            </a:pPr>
            <a:r>
              <a:rPr lang="en-GB" dirty="0"/>
              <a:t>designed the per-detection formula, confidence multiplier, and </a:t>
            </a:r>
            <a:r>
              <a:rPr lang="en-GB" dirty="0" err="1"/>
              <a:t>max+damped-rest</a:t>
            </a:r>
            <a:r>
              <a:rPr lang="en-GB" dirty="0"/>
              <a:t> combination rule; decided to exclude </a:t>
            </a:r>
            <a:r>
              <a:rPr lang="en-GB" dirty="0" err="1"/>
              <a:t>bbox</a:t>
            </a:r>
            <a:r>
              <a:rPr lang="en-GB" dirty="0"/>
              <a:t> size from severity; implemented and unit-tested the code</a:t>
            </a:r>
            <a:r>
              <a:rPr lang="en-GB" dirty="0" smtClean="0"/>
              <a:t>.</a:t>
            </a:r>
          </a:p>
          <a:p>
            <a:pPr marL="27940" lvl="0" indent="0">
              <a:buNone/>
            </a:pPr>
            <a:endParaRPr dirty="0"/>
          </a:p>
          <a:p>
            <a:pPr marL="182880" lvl="0" indent="-154940" algn="l" rtl="0">
              <a:spcBef>
                <a:spcPts val="0"/>
              </a:spcBef>
              <a:spcAft>
                <a:spcPts val="0"/>
              </a:spcAft>
              <a:buSzPts val="1000"/>
              <a:buChar char="●"/>
            </a:pPr>
            <a:r>
              <a:rPr lang="en" dirty="0"/>
              <a:t>Showcase what tasks you have been working on this week and provide evidence for it</a:t>
            </a:r>
            <a:r>
              <a:rPr lang="en" dirty="0" smtClean="0"/>
              <a:t>.</a:t>
            </a:r>
          </a:p>
          <a:p>
            <a:pPr marL="182880" lvl="0" indent="-154940" algn="l" rtl="0">
              <a:spcBef>
                <a:spcPts val="0"/>
              </a:spcBef>
              <a:spcAft>
                <a:spcPts val="0"/>
              </a:spcAft>
              <a:buSzPts val="1000"/>
              <a:buChar char="●"/>
            </a:pPr>
            <a:endParaRPr lang="en" dirty="0"/>
          </a:p>
          <a:p>
            <a:pPr marL="182880" lvl="0" indent="-154940" algn="l" rtl="0">
              <a:spcBef>
                <a:spcPts val="0"/>
              </a:spcBef>
              <a:spcAft>
                <a:spcPts val="0"/>
              </a:spcAft>
              <a:buSzPts val="1000"/>
              <a:buChar char="●"/>
            </a:pPr>
            <a:endParaRPr lang="en" dirty="0" smtClean="0"/>
          </a:p>
          <a:p>
            <a:pPr marL="27940" lvl="0" indent="0">
              <a:buNone/>
            </a:pPr>
            <a:r>
              <a:rPr lang="en-GB" u="sng" dirty="0" err="1">
                <a:hlinkClick r:id="rId3"/>
              </a:rPr>
              <a:t>config</a:t>
            </a:r>
            <a:r>
              <a:rPr lang="en-GB" u="sng" dirty="0">
                <a:hlinkClick r:id="rId3"/>
              </a:rPr>
              <a:t>/</a:t>
            </a:r>
            <a:r>
              <a:rPr lang="en-GB" u="sng" dirty="0" err="1">
                <a:hlinkClick r:id="rId3"/>
              </a:rPr>
              <a:t>risk_weights.yaml</a:t>
            </a:r>
            <a:r>
              <a:rPr lang="en-GB" dirty="0"/>
              <a:t> </a:t>
            </a:r>
            <a:endParaRPr lang="en-GB" dirty="0" smtClean="0"/>
          </a:p>
          <a:p>
            <a:pPr marL="27940" lvl="0" indent="0">
              <a:buNone/>
            </a:pPr>
            <a:endParaRPr lang="en-GB" dirty="0"/>
          </a:p>
          <a:p>
            <a:pPr marL="27940" lvl="0" indent="0">
              <a:buNone/>
            </a:pPr>
            <a:r>
              <a:rPr lang="en-GB" u="sng" dirty="0">
                <a:hlinkClick r:id="rId4"/>
              </a:rPr>
              <a:t>src/risk/scoring.py</a:t>
            </a:r>
            <a:r>
              <a:rPr lang="en-GB" dirty="0"/>
              <a:t> </a:t>
            </a:r>
            <a:endParaRPr lang="en-GB" dirty="0" smtClean="0"/>
          </a:p>
          <a:p>
            <a:pPr marL="27940" lvl="0" indent="0">
              <a:buNone/>
            </a:pPr>
            <a:endParaRPr lang="en-GB" dirty="0"/>
          </a:p>
          <a:p>
            <a:pPr marL="27940" lvl="0" indent="0">
              <a:buNone/>
            </a:pPr>
            <a:r>
              <a:rPr lang="en-GB" u="sng" dirty="0">
                <a:hlinkClick r:id="rId5"/>
              </a:rPr>
              <a:t>src/risk/observation_risk.py</a:t>
            </a:r>
            <a:r>
              <a:rPr lang="en-GB" dirty="0"/>
              <a:t> </a:t>
            </a:r>
            <a:endParaRPr lang="en-GB" dirty="0" smtClean="0"/>
          </a:p>
          <a:p>
            <a:pPr marL="27940" lvl="0" indent="0">
              <a:buNone/>
            </a:pPr>
            <a:endParaRPr lang="en-GB" dirty="0" smtClean="0"/>
          </a:p>
          <a:p>
            <a:pPr marL="27940" lvl="0" indent="0">
              <a:buNone/>
            </a:pPr>
            <a:r>
              <a:rPr lang="en-GB" u="sng" dirty="0" err="1">
                <a:hlinkClick r:id="rId6"/>
              </a:rPr>
              <a:t>src</a:t>
            </a:r>
            <a:r>
              <a:rPr lang="en-GB" u="sng" dirty="0">
                <a:hlinkClick r:id="rId6"/>
              </a:rPr>
              <a:t>/risk/</a:t>
            </a:r>
            <a:r>
              <a:rPr lang="en-GB" dirty="0"/>
              <a:t> </a:t>
            </a:r>
            <a:endParaRPr lang="en-GB" dirty="0" smtClean="0"/>
          </a:p>
          <a:p>
            <a:pPr marL="27940" lvl="0" indent="0">
              <a:buNone/>
            </a:pPr>
            <a:endParaRPr lang="en-GB" dirty="0"/>
          </a:p>
          <a:p>
            <a:pPr marL="27940" lvl="0" indent="0">
              <a:buNone/>
            </a:pPr>
            <a:r>
              <a:rPr lang="en-GB" u="sng" dirty="0">
                <a:hlinkClick r:id="rId7"/>
              </a:rPr>
              <a:t>thesis 3.3</a:t>
            </a:r>
            <a:r>
              <a:rPr lang="en-GB" dirty="0"/>
              <a:t> </a:t>
            </a:r>
          </a:p>
        </p:txBody>
      </p:sp>
      <p:sp>
        <p:nvSpPr>
          <p:cNvPr id="164" name="Google Shape;164;p20"/>
          <p:cNvSpPr txBox="1">
            <a:spLocks noGrp="1"/>
          </p:cNvSpPr>
          <p:nvPr>
            <p:ph type="body" idx="3"/>
          </p:nvPr>
        </p:nvSpPr>
        <p:spPr>
          <a:xfrm>
            <a:off x="4663450" y="1152698"/>
            <a:ext cx="4297800" cy="16257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dirty="0"/>
              <a:t>How did the week go? </a:t>
            </a:r>
          </a:p>
          <a:p>
            <a:pPr marL="27940" lvl="0" indent="0" algn="l" rtl="0">
              <a:spcBef>
                <a:spcPts val="0"/>
              </a:spcBef>
              <a:spcAft>
                <a:spcPts val="0"/>
              </a:spcAft>
              <a:buSzPts val="1000"/>
              <a:buNone/>
            </a:pPr>
            <a:r>
              <a:rPr lang="en" dirty="0" smtClean="0"/>
              <a:t>The week went smooth. The design took longer than implementation</a:t>
            </a:r>
          </a:p>
          <a:p>
            <a:pPr marL="27940" lvl="0" indent="0" algn="l" rtl="0">
              <a:spcBef>
                <a:spcPts val="0"/>
              </a:spcBef>
              <a:spcAft>
                <a:spcPts val="0"/>
              </a:spcAft>
              <a:buSzPts val="1000"/>
              <a:buNone/>
            </a:pPr>
            <a:endParaRPr dirty="0"/>
          </a:p>
          <a:p>
            <a:pPr marL="182880" lvl="0" indent="-154940" algn="l" rtl="0">
              <a:spcBef>
                <a:spcPts val="0"/>
              </a:spcBef>
              <a:spcAft>
                <a:spcPts val="0"/>
              </a:spcAft>
              <a:buSzPts val="1000"/>
              <a:buChar char="●"/>
            </a:pPr>
            <a:r>
              <a:rPr lang="en" dirty="0"/>
              <a:t>What went well? </a:t>
            </a:r>
            <a:endParaRPr lang="en" dirty="0" smtClean="0"/>
          </a:p>
          <a:p>
            <a:pPr marL="27940" lvl="0" indent="0">
              <a:buNone/>
            </a:pPr>
            <a:r>
              <a:rPr lang="en-GB" dirty="0"/>
              <a:t>T</a:t>
            </a:r>
            <a:r>
              <a:rPr lang="en-GB" dirty="0" smtClean="0"/>
              <a:t>he </a:t>
            </a:r>
            <a:r>
              <a:rPr lang="en-GB" dirty="0"/>
              <a:t>three design criteria (worst dominates, extra counts, confidence nudges) resolved disagreements about the formula quickly</a:t>
            </a:r>
            <a:r>
              <a:rPr lang="en-GB" dirty="0" smtClean="0"/>
              <a:t>.</a:t>
            </a:r>
          </a:p>
          <a:p>
            <a:pPr marL="27940" lvl="0" indent="0">
              <a:buNone/>
            </a:pPr>
            <a:endParaRPr dirty="0"/>
          </a:p>
          <a:p>
            <a:pPr marL="182880" lvl="0" indent="-154940" algn="l" rtl="0">
              <a:spcBef>
                <a:spcPts val="0"/>
              </a:spcBef>
              <a:spcAft>
                <a:spcPts val="0"/>
              </a:spcAft>
              <a:buSzPts val="1000"/>
              <a:buChar char="●"/>
            </a:pPr>
            <a:r>
              <a:rPr lang="en" dirty="0"/>
              <a:t>What didn’t go so well? </a:t>
            </a:r>
            <a:endParaRPr lang="en" dirty="0" smtClean="0"/>
          </a:p>
          <a:p>
            <a:pPr marL="27940" lvl="0" indent="0">
              <a:buNone/>
            </a:pPr>
            <a:r>
              <a:rPr lang="en-GB" dirty="0"/>
              <a:t>J</a:t>
            </a:r>
            <a:r>
              <a:rPr lang="en-GB" dirty="0" smtClean="0"/>
              <a:t>ustifying </a:t>
            </a:r>
            <a:r>
              <a:rPr lang="en-GB" dirty="0"/>
              <a:t>the </a:t>
            </a:r>
            <a:r>
              <a:rPr lang="en-GB" dirty="0" err="1"/>
              <a:t>bbox</a:t>
            </a:r>
            <a:r>
              <a:rPr lang="en-GB" dirty="0"/>
              <a:t>-size exclusion needed care since it departs from H2's original wording</a:t>
            </a:r>
            <a:r>
              <a:rPr lang="en-GB" dirty="0" smtClean="0"/>
              <a:t>.</a:t>
            </a:r>
          </a:p>
          <a:p>
            <a:pPr marL="27940" lvl="0" indent="0">
              <a:buNone/>
            </a:pPr>
            <a:endParaRPr dirty="0"/>
          </a:p>
          <a:p>
            <a:pPr marL="182880" lvl="0" indent="-154940" algn="l" rtl="0">
              <a:spcBef>
                <a:spcPts val="0"/>
              </a:spcBef>
              <a:spcAft>
                <a:spcPts val="0"/>
              </a:spcAft>
              <a:buSzPts val="1000"/>
              <a:buChar char="●"/>
            </a:pPr>
            <a:r>
              <a:rPr lang="en" dirty="0"/>
              <a:t>What did you learn? </a:t>
            </a:r>
            <a:endParaRPr lang="en" dirty="0" smtClean="0"/>
          </a:p>
          <a:p>
            <a:pPr marL="27940" lvl="0" indent="0">
              <a:buNone/>
            </a:pPr>
            <a:r>
              <a:rPr lang="en-GB" dirty="0" smtClean="0"/>
              <a:t>Learnt why </a:t>
            </a:r>
            <a:r>
              <a:rPr lang="en-GB" dirty="0" err="1"/>
              <a:t>bbox</a:t>
            </a:r>
            <a:r>
              <a:rPr lang="en-GB" dirty="0"/>
              <a:t> size is a poor severity proxy in a 2D photo</a:t>
            </a:r>
            <a:r>
              <a:rPr lang="en-GB" dirty="0" smtClean="0"/>
              <a:t>.</a:t>
            </a:r>
          </a:p>
          <a:p>
            <a:pPr marL="27940" lvl="0" indent="0">
              <a:buNone/>
            </a:pPr>
            <a:endParaRPr dirty="0"/>
          </a:p>
          <a:p>
            <a:pPr marL="182880" lvl="0" indent="-154940" algn="l" rtl="0">
              <a:spcBef>
                <a:spcPts val="0"/>
              </a:spcBef>
              <a:spcAft>
                <a:spcPts val="0"/>
              </a:spcAft>
              <a:buSzPts val="1000"/>
              <a:buChar char="●"/>
            </a:pPr>
            <a:r>
              <a:rPr lang="en" dirty="0"/>
              <a:t>What could be added as an Action point looking forward to next week</a:t>
            </a:r>
            <a:r>
              <a:rPr lang="en" dirty="0" smtClean="0"/>
              <a:t>?</a:t>
            </a:r>
          </a:p>
          <a:p>
            <a:pPr marL="27940" lvl="0" indent="0">
              <a:buNone/>
            </a:pPr>
            <a:r>
              <a:rPr lang="en" dirty="0" smtClean="0"/>
              <a:t>Action point for the next week is to </a:t>
            </a:r>
            <a:r>
              <a:rPr lang="en-GB" dirty="0"/>
              <a:t>build geospatial matching and routing.</a:t>
            </a:r>
            <a:endParaRPr dirty="0"/>
          </a:p>
        </p:txBody>
      </p:sp>
      <p:sp>
        <p:nvSpPr>
          <p:cNvPr id="165" name="Google Shape;165;p20"/>
          <p:cNvSpPr txBox="1">
            <a:spLocks noGrp="1"/>
          </p:cNvSpPr>
          <p:nvPr>
            <p:ph type="title" idx="6"/>
          </p:nvPr>
        </p:nvSpPr>
        <p:spPr>
          <a:xfrm>
            <a:off x="7068300" y="165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dirty="0"/>
              <a:t>1/2</a:t>
            </a:r>
            <a:endParaRPr dirty="0"/>
          </a:p>
        </p:txBody>
      </p:sp>
      <p:sp>
        <p:nvSpPr>
          <p:cNvPr id="166" name="Google Shape;166;p20"/>
          <p:cNvSpPr txBox="1">
            <a:spLocks noGrp="1"/>
          </p:cNvSpPr>
          <p:nvPr>
            <p:ph type="title" idx="5"/>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dirty="0"/>
              <a:t>4</a:t>
            </a:r>
            <a:endParaRPr dirty="0"/>
          </a:p>
        </p:txBody>
      </p:sp>
      <p:sp>
        <p:nvSpPr>
          <p:cNvPr id="167" name="Google Shape;167;p20"/>
          <p:cNvSpPr/>
          <p:nvPr/>
        </p:nvSpPr>
        <p:spPr>
          <a:xfrm>
            <a:off x="0" y="576072"/>
            <a:ext cx="9144000" cy="91500"/>
          </a:xfrm>
          <a:prstGeom prst="rect">
            <a:avLst/>
          </a:prstGeom>
          <a:solidFill>
            <a:srgbClr val="66666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5758883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171"/>
        <p:cNvGrpSpPr/>
        <p:nvPr/>
      </p:nvGrpSpPr>
      <p:grpSpPr>
        <a:xfrm>
          <a:off x="0" y="0"/>
          <a:ext cx="0" cy="0"/>
          <a:chOff x="0" y="0"/>
          <a:chExt cx="0" cy="0"/>
        </a:xfrm>
      </p:grpSpPr>
      <p:sp>
        <p:nvSpPr>
          <p:cNvPr id="172" name="Google Shape;172;p21"/>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dirty="0"/>
              <a:t>Week 4 - Feedback</a:t>
            </a:r>
            <a:endParaRPr dirty="0"/>
          </a:p>
        </p:txBody>
      </p:sp>
      <p:sp>
        <p:nvSpPr>
          <p:cNvPr id="173" name="Google Shape;173;p21"/>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dirty="0"/>
              <a:t>manager, colleague, or team member feedback</a:t>
            </a:r>
            <a:endParaRPr dirty="0"/>
          </a:p>
        </p:txBody>
      </p:sp>
      <p:sp>
        <p:nvSpPr>
          <p:cNvPr id="174" name="Google Shape;174;p21"/>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p>
            <a:pPr marL="182880" lvl="0" indent="-154940"/>
            <a:r>
              <a:rPr lang="en-GB" b="1" dirty="0"/>
              <a:t>D</a:t>
            </a:r>
            <a:r>
              <a:rPr lang="en" b="1" dirty="0"/>
              <a:t>ate: </a:t>
            </a:r>
            <a:r>
              <a:rPr lang="en" dirty="0"/>
              <a:t>08/05/2026</a:t>
            </a:r>
          </a:p>
          <a:p>
            <a:pPr marL="182880" lvl="0" indent="-154940" algn="l" rtl="0">
              <a:spcBef>
                <a:spcPts val="0"/>
              </a:spcBef>
              <a:spcAft>
                <a:spcPts val="0"/>
              </a:spcAft>
              <a:buSzPts val="1000"/>
              <a:buChar char="●"/>
            </a:pPr>
            <a:r>
              <a:rPr lang="en" b="1" dirty="0"/>
              <a:t>Feedback from</a:t>
            </a:r>
            <a:r>
              <a:rPr lang="en" b="1" dirty="0" smtClean="0"/>
              <a:t>: </a:t>
            </a:r>
            <a:r>
              <a:rPr lang="en" dirty="0" smtClean="0"/>
              <a:t>Karna Rewtkar (Supervisor)</a:t>
            </a:r>
            <a:endParaRPr lang="en" b="1" dirty="0"/>
          </a:p>
          <a:p>
            <a:pPr marL="182880" lvl="0" indent="-154940"/>
            <a:r>
              <a:rPr lang="en" b="1" dirty="0"/>
              <a:t>Feedback</a:t>
            </a:r>
            <a:r>
              <a:rPr lang="en" b="1" dirty="0" smtClean="0"/>
              <a:t>: </a:t>
            </a:r>
            <a:r>
              <a:rPr lang="en" dirty="0" smtClean="0"/>
              <a:t>T</a:t>
            </a:r>
            <a:r>
              <a:rPr lang="en-GB" dirty="0" smtClean="0"/>
              <a:t>he </a:t>
            </a:r>
            <a:r>
              <a:rPr lang="en-GB" dirty="0"/>
              <a:t>risk-scoring design is clear and the three criteria you used to compare it against alternatives is a good way to justify the formula rather than just asserting it. Excluding bounding-box size is a reasonable engineering decision, but since it changes what H2 originally proposed, it needs to be flagged explicitly and early in the thesis rather than mentioned in passing. Otherwise this looks like a strong piece of design work.</a:t>
            </a:r>
            <a:endParaRPr lang="en" dirty="0"/>
          </a:p>
          <a:p>
            <a:pPr marL="182880" lvl="0" indent="-154940"/>
            <a:r>
              <a:rPr lang="en" b="1" dirty="0"/>
              <a:t>Related to what task: </a:t>
            </a:r>
            <a:r>
              <a:rPr lang="en-GB" dirty="0" smtClean="0"/>
              <a:t>Risk-scoring </a:t>
            </a:r>
            <a:r>
              <a:rPr lang="en-GB" dirty="0"/>
              <a:t>formula design.</a:t>
            </a:r>
            <a:endParaRPr lang="en" dirty="0"/>
          </a:p>
          <a:p>
            <a:pPr marL="182880" lvl="0" indent="-154940"/>
            <a:r>
              <a:rPr lang="en" b="1" dirty="0"/>
              <a:t>Response/action coming forward from this: </a:t>
            </a:r>
            <a:r>
              <a:rPr lang="en-GB" dirty="0" smtClean="0"/>
              <a:t>Added </a:t>
            </a:r>
            <a:r>
              <a:rPr lang="en-GB" dirty="0"/>
              <a:t>an explicit statement of the deviation to the Methodology section.</a:t>
            </a:r>
            <a:endParaRPr lang="en" dirty="0"/>
          </a:p>
        </p:txBody>
      </p:sp>
      <p:sp>
        <p:nvSpPr>
          <p:cNvPr id="175" name="Google Shape;175;p21"/>
          <p:cNvSpPr txBox="1">
            <a:spLocks noGrp="1"/>
          </p:cNvSpPr>
          <p:nvPr>
            <p:ph type="title" idx="4"/>
          </p:nvPr>
        </p:nvSpPr>
        <p:spPr>
          <a:xfrm>
            <a:off x="7068300" y="165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2/2</a:t>
            </a:r>
            <a:endParaRPr/>
          </a:p>
        </p:txBody>
      </p:sp>
      <p:sp>
        <p:nvSpPr>
          <p:cNvPr id="176" name="Google Shape;176;p21"/>
          <p:cNvSpPr txBox="1">
            <a:spLocks noGrp="1"/>
          </p:cNvSpPr>
          <p:nvPr>
            <p:ph type="title" idx="3"/>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dirty="0"/>
              <a:t>4</a:t>
            </a:r>
            <a:endParaRPr dirty="0"/>
          </a:p>
        </p:txBody>
      </p:sp>
    </p:spTree>
    <p:extLst>
      <p:ext uri="{BB962C8B-B14F-4D97-AF65-F5344CB8AC3E}">
        <p14:creationId xmlns:p14="http://schemas.microsoft.com/office/powerpoint/2010/main" val="397383986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159"/>
        <p:cNvGrpSpPr/>
        <p:nvPr/>
      </p:nvGrpSpPr>
      <p:grpSpPr>
        <a:xfrm>
          <a:off x="0" y="0"/>
          <a:ext cx="0" cy="0"/>
          <a:chOff x="0" y="0"/>
          <a:chExt cx="0" cy="0"/>
        </a:xfrm>
      </p:grpSpPr>
      <p:sp>
        <p:nvSpPr>
          <p:cNvPr id="160" name="Google Shape;160;p20"/>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r>
              <a:rPr lang="en" dirty="0"/>
              <a:t>Week 5 - Log</a:t>
            </a:r>
            <a:endParaRPr lang="en-US" dirty="0"/>
          </a:p>
        </p:txBody>
      </p:sp>
      <p:sp>
        <p:nvSpPr>
          <p:cNvPr id="161" name="Google Shape;161;p20"/>
          <p:cNvSpPr txBox="1">
            <a:spLocks noGrp="1"/>
          </p:cNvSpPr>
          <p:nvPr>
            <p:ph type="subTitle" idx="4"/>
          </p:nvPr>
        </p:nvSpPr>
        <p:spPr>
          <a:xfrm>
            <a:off x="4663440" y="758952"/>
            <a:ext cx="42978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Reflection</a:t>
            </a:r>
            <a:endParaRPr/>
          </a:p>
        </p:txBody>
      </p:sp>
      <p:sp>
        <p:nvSpPr>
          <p:cNvPr id="162" name="Google Shape;162;p20"/>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What did you do?</a:t>
            </a:r>
            <a:endParaRPr/>
          </a:p>
        </p:txBody>
      </p:sp>
      <p:sp>
        <p:nvSpPr>
          <p:cNvPr id="163" name="Google Shape;163;p20"/>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dirty="0"/>
              <a:t>What goal(s) did you set for this week</a:t>
            </a:r>
            <a:r>
              <a:rPr lang="en" dirty="0" smtClean="0"/>
              <a:t>?</a:t>
            </a:r>
          </a:p>
          <a:p>
            <a:pPr marL="27940" lvl="0" indent="0">
              <a:buNone/>
            </a:pPr>
            <a:r>
              <a:rPr lang="en" dirty="0" smtClean="0"/>
              <a:t>The goal for this week is to </a:t>
            </a:r>
            <a:r>
              <a:rPr lang="en-GB" dirty="0"/>
              <a:t>build minimal geospatial matching and routing to prove the full chain works</a:t>
            </a:r>
            <a:r>
              <a:rPr lang="en-GB" dirty="0" smtClean="0"/>
              <a:t>.</a:t>
            </a:r>
          </a:p>
          <a:p>
            <a:pPr marL="27940" lvl="0" indent="0">
              <a:buNone/>
            </a:pPr>
            <a:endParaRPr dirty="0"/>
          </a:p>
          <a:p>
            <a:pPr marL="182880" lvl="0" indent="-154940" algn="l" rtl="0">
              <a:spcBef>
                <a:spcPts val="0"/>
              </a:spcBef>
              <a:spcAft>
                <a:spcPts val="0"/>
              </a:spcAft>
              <a:buSzPts val="1000"/>
              <a:buChar char="●"/>
            </a:pPr>
            <a:r>
              <a:rPr lang="en" dirty="0"/>
              <a:t>What have you actually been able to do? </a:t>
            </a:r>
            <a:endParaRPr lang="en" dirty="0" smtClean="0"/>
          </a:p>
          <a:p>
            <a:pPr marL="27940" lvl="0" indent="0">
              <a:buNone/>
            </a:pPr>
            <a:r>
              <a:rPr lang="en-GB" dirty="0"/>
              <a:t>S</a:t>
            </a:r>
            <a:r>
              <a:rPr lang="en-GB" dirty="0" smtClean="0"/>
              <a:t>et </a:t>
            </a:r>
            <a:r>
              <a:rPr lang="en-GB" dirty="0"/>
              <a:t>up and cached the Sofia OSM graph; implemented GPS-to-edge matching, segment-level risk aggregation, and the routing cost; confirmed the full chain end to end at script level; rough alpha calibration</a:t>
            </a:r>
            <a:r>
              <a:rPr lang="en-GB" dirty="0" smtClean="0"/>
              <a:t>.</a:t>
            </a:r>
          </a:p>
          <a:p>
            <a:pPr marL="27940" lvl="0" indent="0">
              <a:buNone/>
            </a:pPr>
            <a:endParaRPr dirty="0"/>
          </a:p>
          <a:p>
            <a:pPr marL="182880" lvl="0" indent="-154940" algn="l" rtl="0">
              <a:spcBef>
                <a:spcPts val="0"/>
              </a:spcBef>
              <a:spcAft>
                <a:spcPts val="0"/>
              </a:spcAft>
              <a:buSzPts val="1000"/>
              <a:buChar char="●"/>
            </a:pPr>
            <a:r>
              <a:rPr lang="en" dirty="0"/>
              <a:t>Showcase what tasks you have been working on this week and provide evidence for it</a:t>
            </a:r>
            <a:r>
              <a:rPr lang="en" dirty="0" smtClean="0"/>
              <a:t>.</a:t>
            </a:r>
          </a:p>
          <a:p>
            <a:pPr marL="27940" lvl="0" indent="0" algn="l" rtl="0">
              <a:spcBef>
                <a:spcPts val="0"/>
              </a:spcBef>
              <a:spcAft>
                <a:spcPts val="0"/>
              </a:spcAft>
              <a:buSzPts val="1000"/>
              <a:buNone/>
            </a:pPr>
            <a:endParaRPr lang="en" dirty="0"/>
          </a:p>
          <a:p>
            <a:pPr marL="27940" lvl="0" indent="0">
              <a:buNone/>
            </a:pPr>
            <a:r>
              <a:rPr lang="en-GB" u="sng" dirty="0">
                <a:hlinkClick r:id="rId3"/>
              </a:rPr>
              <a:t>src/geospatial/network.py</a:t>
            </a:r>
            <a:r>
              <a:rPr lang="en-GB" dirty="0"/>
              <a:t> </a:t>
            </a:r>
            <a:endParaRPr lang="en-GB" dirty="0" smtClean="0"/>
          </a:p>
          <a:p>
            <a:pPr marL="27940" lvl="0" indent="0">
              <a:buNone/>
            </a:pPr>
            <a:endParaRPr lang="en-GB" dirty="0"/>
          </a:p>
          <a:p>
            <a:pPr marL="27940" lvl="0" indent="0">
              <a:buNone/>
            </a:pPr>
            <a:r>
              <a:rPr lang="en-GB" u="sng" dirty="0">
                <a:hlinkClick r:id="rId4"/>
              </a:rPr>
              <a:t>src/geospatial/matching.py</a:t>
            </a:r>
            <a:r>
              <a:rPr lang="en-GB" dirty="0"/>
              <a:t> </a:t>
            </a:r>
            <a:endParaRPr lang="en-GB" dirty="0" smtClean="0"/>
          </a:p>
          <a:p>
            <a:pPr marL="27940" lvl="0" indent="0">
              <a:buNone/>
            </a:pPr>
            <a:endParaRPr lang="en-GB" dirty="0"/>
          </a:p>
          <a:p>
            <a:pPr marL="27940" lvl="0" indent="0">
              <a:buNone/>
            </a:pPr>
            <a:r>
              <a:rPr lang="en-GB" u="sng" dirty="0">
                <a:hlinkClick r:id="rId5"/>
              </a:rPr>
              <a:t>src/risk/segment_aggregation.py</a:t>
            </a:r>
            <a:r>
              <a:rPr lang="en-GB" dirty="0"/>
              <a:t> </a:t>
            </a:r>
            <a:endParaRPr lang="en-GB" dirty="0" smtClean="0"/>
          </a:p>
          <a:p>
            <a:pPr marL="27940" lvl="0" indent="0">
              <a:buNone/>
            </a:pPr>
            <a:endParaRPr lang="en-GB" dirty="0"/>
          </a:p>
          <a:p>
            <a:pPr marL="27940" lvl="0" indent="0">
              <a:buNone/>
            </a:pPr>
            <a:r>
              <a:rPr lang="en-GB" u="sng" dirty="0">
                <a:hlinkClick r:id="rId6"/>
              </a:rPr>
              <a:t>src/routing/router.py</a:t>
            </a:r>
            <a:r>
              <a:rPr lang="en-GB" dirty="0"/>
              <a:t> </a:t>
            </a:r>
            <a:endParaRPr lang="en-GB" dirty="0" smtClean="0"/>
          </a:p>
          <a:p>
            <a:pPr marL="27940" lvl="0" indent="0">
              <a:buNone/>
            </a:pPr>
            <a:endParaRPr lang="en-GB" dirty="0"/>
          </a:p>
          <a:p>
            <a:pPr marL="27940" lvl="0" indent="0">
              <a:buNone/>
            </a:pPr>
            <a:r>
              <a:rPr lang="en-GB" u="sng" dirty="0" err="1">
                <a:hlinkClick r:id="rId7"/>
              </a:rPr>
              <a:t>config</a:t>
            </a:r>
            <a:r>
              <a:rPr lang="en-GB" u="sng" dirty="0">
                <a:hlinkClick r:id="rId7"/>
              </a:rPr>
              <a:t>/</a:t>
            </a:r>
            <a:r>
              <a:rPr lang="en-GB" u="sng" dirty="0" err="1">
                <a:hlinkClick r:id="rId7"/>
              </a:rPr>
              <a:t>risk_weights.yaml</a:t>
            </a:r>
            <a:r>
              <a:rPr lang="en-GB" dirty="0"/>
              <a:t> </a:t>
            </a:r>
          </a:p>
          <a:p>
            <a:pPr marL="27940" lvl="0" indent="0">
              <a:buNone/>
            </a:pPr>
            <a:endParaRPr dirty="0"/>
          </a:p>
        </p:txBody>
      </p:sp>
      <p:sp>
        <p:nvSpPr>
          <p:cNvPr id="164" name="Google Shape;164;p20"/>
          <p:cNvSpPr txBox="1">
            <a:spLocks noGrp="1"/>
          </p:cNvSpPr>
          <p:nvPr>
            <p:ph type="body" idx="3"/>
          </p:nvPr>
        </p:nvSpPr>
        <p:spPr>
          <a:xfrm>
            <a:off x="4663450" y="1152698"/>
            <a:ext cx="4297800" cy="16257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dirty="0"/>
              <a:t>How did the week go? </a:t>
            </a:r>
            <a:endParaRPr lang="en" dirty="0" smtClean="0"/>
          </a:p>
          <a:p>
            <a:pPr marL="27940" lvl="0" indent="0" algn="l" rtl="0">
              <a:spcBef>
                <a:spcPts val="0"/>
              </a:spcBef>
              <a:spcAft>
                <a:spcPts val="0"/>
              </a:spcAft>
              <a:buSzPts val="1000"/>
              <a:buNone/>
            </a:pPr>
            <a:r>
              <a:rPr lang="en" dirty="0" smtClean="0"/>
              <a:t>The week went well, did the last piece before the app.</a:t>
            </a:r>
          </a:p>
          <a:p>
            <a:pPr marL="27940" lvl="0" indent="0" algn="l" rtl="0">
              <a:spcBef>
                <a:spcPts val="0"/>
              </a:spcBef>
              <a:spcAft>
                <a:spcPts val="0"/>
              </a:spcAft>
              <a:buSzPts val="1000"/>
              <a:buNone/>
            </a:pPr>
            <a:endParaRPr dirty="0"/>
          </a:p>
          <a:p>
            <a:pPr marL="182880" lvl="0" indent="-154940" algn="l" rtl="0">
              <a:spcBef>
                <a:spcPts val="0"/>
              </a:spcBef>
              <a:spcAft>
                <a:spcPts val="0"/>
              </a:spcAft>
              <a:buSzPts val="1000"/>
              <a:buChar char="●"/>
            </a:pPr>
            <a:r>
              <a:rPr lang="en" dirty="0"/>
              <a:t>What went well? </a:t>
            </a:r>
            <a:endParaRPr lang="en" dirty="0" smtClean="0"/>
          </a:p>
          <a:p>
            <a:pPr marL="27940" lvl="0" indent="0">
              <a:buNone/>
            </a:pPr>
            <a:r>
              <a:rPr lang="en-GB" dirty="0"/>
              <a:t>T</a:t>
            </a:r>
            <a:r>
              <a:rPr lang="en-GB" dirty="0" smtClean="0"/>
              <a:t>he </a:t>
            </a:r>
            <a:r>
              <a:rPr lang="en-GB" dirty="0"/>
              <a:t>chain worked end to end on the first proper attempt once the matching threshold was tuned</a:t>
            </a:r>
            <a:r>
              <a:rPr lang="en-GB" dirty="0" smtClean="0"/>
              <a:t>.</a:t>
            </a:r>
          </a:p>
          <a:p>
            <a:pPr marL="27940" lvl="0" indent="0">
              <a:buNone/>
            </a:pPr>
            <a:endParaRPr lang="en-GB" dirty="0" smtClean="0"/>
          </a:p>
          <a:p>
            <a:pPr marL="182880" lvl="0" indent="-154940" algn="l" rtl="0">
              <a:spcBef>
                <a:spcPts val="0"/>
              </a:spcBef>
              <a:spcAft>
                <a:spcPts val="0"/>
              </a:spcAft>
              <a:buSzPts val="1000"/>
              <a:buChar char="●"/>
            </a:pPr>
            <a:r>
              <a:rPr lang="en" dirty="0" smtClean="0"/>
              <a:t>What </a:t>
            </a:r>
            <a:r>
              <a:rPr lang="en" dirty="0"/>
              <a:t>didn’t go so well? </a:t>
            </a:r>
            <a:endParaRPr lang="en" dirty="0" smtClean="0"/>
          </a:p>
          <a:p>
            <a:pPr marL="27940" lvl="0" indent="0">
              <a:buNone/>
            </a:pPr>
            <a:r>
              <a:rPr lang="en-GB" dirty="0"/>
              <a:t>T</a:t>
            </a:r>
            <a:r>
              <a:rPr lang="en-GB" dirty="0" smtClean="0"/>
              <a:t>he </a:t>
            </a:r>
            <a:r>
              <a:rPr lang="en-GB" dirty="0"/>
              <a:t>OSM graph download was slow and needed local caching</a:t>
            </a:r>
            <a:r>
              <a:rPr lang="en-GB" dirty="0" smtClean="0"/>
              <a:t>.</a:t>
            </a:r>
          </a:p>
          <a:p>
            <a:pPr marL="27940" lvl="0" indent="0">
              <a:buNone/>
            </a:pPr>
            <a:endParaRPr dirty="0"/>
          </a:p>
          <a:p>
            <a:pPr marL="182880" lvl="0" indent="-154940" algn="l" rtl="0">
              <a:spcBef>
                <a:spcPts val="0"/>
              </a:spcBef>
              <a:spcAft>
                <a:spcPts val="0"/>
              </a:spcAft>
              <a:buSzPts val="1000"/>
              <a:buChar char="●"/>
            </a:pPr>
            <a:r>
              <a:rPr lang="en" dirty="0"/>
              <a:t>What did you learn</a:t>
            </a:r>
            <a:r>
              <a:rPr lang="en" dirty="0" smtClean="0"/>
              <a:t>?</a:t>
            </a:r>
          </a:p>
          <a:p>
            <a:pPr marL="27940" lvl="0" indent="0">
              <a:buNone/>
            </a:pPr>
            <a:r>
              <a:rPr lang="en" dirty="0" smtClean="0"/>
              <a:t>I learnt </a:t>
            </a:r>
            <a:r>
              <a:rPr lang="en-GB" dirty="0"/>
              <a:t>how to match noisy GPS to the right edge, and why a distance threshold matters</a:t>
            </a:r>
            <a:r>
              <a:rPr lang="en-GB" dirty="0" smtClean="0"/>
              <a:t>.</a:t>
            </a:r>
          </a:p>
          <a:p>
            <a:pPr marL="27940" lvl="0" indent="0">
              <a:buNone/>
            </a:pPr>
            <a:r>
              <a:rPr lang="en" dirty="0" smtClean="0"/>
              <a:t> </a:t>
            </a:r>
            <a:endParaRPr dirty="0"/>
          </a:p>
          <a:p>
            <a:pPr marL="182880" lvl="0" indent="-154940" algn="l" rtl="0">
              <a:spcBef>
                <a:spcPts val="0"/>
              </a:spcBef>
              <a:spcAft>
                <a:spcPts val="0"/>
              </a:spcAft>
              <a:buSzPts val="1000"/>
              <a:buChar char="●"/>
            </a:pPr>
            <a:r>
              <a:rPr lang="en" dirty="0"/>
              <a:t>What could be added as an Action point looking forward to next week</a:t>
            </a:r>
            <a:r>
              <a:rPr lang="en" dirty="0" smtClean="0"/>
              <a:t>?</a:t>
            </a:r>
          </a:p>
          <a:p>
            <a:pPr marL="27940" lvl="0" indent="0">
              <a:buNone/>
            </a:pPr>
            <a:r>
              <a:rPr lang="en" dirty="0" smtClean="0"/>
              <a:t>As an Action Point for the next week is to </a:t>
            </a:r>
            <a:r>
              <a:rPr lang="en-GB" dirty="0"/>
              <a:t>build the first </a:t>
            </a:r>
            <a:r>
              <a:rPr lang="en-GB" dirty="0" err="1"/>
              <a:t>Streamlit</a:t>
            </a:r>
            <a:r>
              <a:rPr lang="en-GB" dirty="0"/>
              <a:t> app</a:t>
            </a:r>
            <a:endParaRPr dirty="0"/>
          </a:p>
        </p:txBody>
      </p:sp>
      <p:sp>
        <p:nvSpPr>
          <p:cNvPr id="165" name="Google Shape;165;p20"/>
          <p:cNvSpPr txBox="1">
            <a:spLocks noGrp="1"/>
          </p:cNvSpPr>
          <p:nvPr>
            <p:ph type="title" idx="6"/>
          </p:nvPr>
        </p:nvSpPr>
        <p:spPr>
          <a:xfrm>
            <a:off x="7068300" y="165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dirty="0"/>
              <a:t>1/2</a:t>
            </a:r>
            <a:endParaRPr dirty="0"/>
          </a:p>
        </p:txBody>
      </p:sp>
      <p:sp>
        <p:nvSpPr>
          <p:cNvPr id="166" name="Google Shape;166;p20"/>
          <p:cNvSpPr txBox="1">
            <a:spLocks noGrp="1"/>
          </p:cNvSpPr>
          <p:nvPr>
            <p:ph type="title" idx="5"/>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dirty="0"/>
              <a:t>5</a:t>
            </a:r>
            <a:endParaRPr dirty="0"/>
          </a:p>
        </p:txBody>
      </p:sp>
      <p:sp>
        <p:nvSpPr>
          <p:cNvPr id="167" name="Google Shape;167;p20"/>
          <p:cNvSpPr/>
          <p:nvPr/>
        </p:nvSpPr>
        <p:spPr>
          <a:xfrm>
            <a:off x="0" y="576072"/>
            <a:ext cx="9144000" cy="91500"/>
          </a:xfrm>
          <a:prstGeom prst="rect">
            <a:avLst/>
          </a:prstGeom>
          <a:solidFill>
            <a:srgbClr val="66666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50395639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171"/>
        <p:cNvGrpSpPr/>
        <p:nvPr/>
      </p:nvGrpSpPr>
      <p:grpSpPr>
        <a:xfrm>
          <a:off x="0" y="0"/>
          <a:ext cx="0" cy="0"/>
          <a:chOff x="0" y="0"/>
          <a:chExt cx="0" cy="0"/>
        </a:xfrm>
      </p:grpSpPr>
      <p:sp>
        <p:nvSpPr>
          <p:cNvPr id="172" name="Google Shape;172;p21"/>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dirty="0"/>
              <a:t>Week 5 - Feedback</a:t>
            </a:r>
            <a:endParaRPr dirty="0"/>
          </a:p>
        </p:txBody>
      </p:sp>
      <p:sp>
        <p:nvSpPr>
          <p:cNvPr id="173" name="Google Shape;173;p21"/>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dirty="0"/>
              <a:t>manager, colleague, or team member feedback</a:t>
            </a:r>
            <a:endParaRPr dirty="0"/>
          </a:p>
        </p:txBody>
      </p:sp>
      <p:sp>
        <p:nvSpPr>
          <p:cNvPr id="174" name="Google Shape;174;p21"/>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p>
            <a:pPr marL="182880" lvl="0" indent="-154940"/>
            <a:r>
              <a:rPr lang="en-GB" b="1" dirty="0"/>
              <a:t>D</a:t>
            </a:r>
            <a:r>
              <a:rPr lang="en" b="1" dirty="0"/>
              <a:t>ate: </a:t>
            </a:r>
            <a:r>
              <a:rPr lang="en" dirty="0"/>
              <a:t>13/05/2026</a:t>
            </a:r>
          </a:p>
          <a:p>
            <a:pPr marL="182880" lvl="0" indent="-154940" algn="l" rtl="0">
              <a:spcBef>
                <a:spcPts val="0"/>
              </a:spcBef>
              <a:spcAft>
                <a:spcPts val="0"/>
              </a:spcAft>
              <a:buSzPts val="1000"/>
              <a:buChar char="●"/>
            </a:pPr>
            <a:r>
              <a:rPr lang="en" b="1" dirty="0"/>
              <a:t>Feedback from</a:t>
            </a:r>
            <a:r>
              <a:rPr lang="en" b="1" dirty="0" smtClean="0"/>
              <a:t>: </a:t>
            </a:r>
            <a:r>
              <a:rPr lang="en" dirty="0" smtClean="0"/>
              <a:t>Karna Rewatkar (Supervisor)</a:t>
            </a:r>
            <a:endParaRPr lang="en" dirty="0"/>
          </a:p>
          <a:p>
            <a:pPr marL="182880" lvl="0" indent="-154940"/>
            <a:r>
              <a:rPr lang="en" b="1" dirty="0"/>
              <a:t>Feedback</a:t>
            </a:r>
            <a:r>
              <a:rPr lang="en" b="1" dirty="0" smtClean="0"/>
              <a:t>: </a:t>
            </a:r>
            <a:r>
              <a:rPr lang="en-GB" dirty="0"/>
              <a:t>Proving the whole chain works at script level before building any UI around it is the right order of operations </a:t>
            </a:r>
            <a:r>
              <a:rPr lang="en-GB" dirty="0" smtClean="0"/>
              <a:t>- </a:t>
            </a:r>
            <a:r>
              <a:rPr lang="en-GB" dirty="0"/>
              <a:t>it means any bugs you find later in the app will be UI bugs, not pipeline bugs. The GPS-matching threshold choice makes sense given how noisy phone GPS can be. Good progress for a week that was mostly plumbing work.</a:t>
            </a:r>
            <a:endParaRPr lang="en" dirty="0"/>
          </a:p>
          <a:p>
            <a:pPr marL="182880" lvl="0" indent="-154940"/>
            <a:r>
              <a:rPr lang="en" b="1" dirty="0"/>
              <a:t>Related to what task: </a:t>
            </a:r>
            <a:r>
              <a:rPr lang="en-GB" dirty="0"/>
              <a:t>end-to-end pipeline test</a:t>
            </a:r>
            <a:endParaRPr lang="en" dirty="0"/>
          </a:p>
          <a:p>
            <a:pPr marL="182880" lvl="0" indent="-154940"/>
            <a:r>
              <a:rPr lang="en" b="1" dirty="0"/>
              <a:t>Response/action coming forward from this: </a:t>
            </a:r>
            <a:r>
              <a:rPr lang="en-GB" dirty="0"/>
              <a:t>kept the script-level test as a regression check for later.</a:t>
            </a:r>
          </a:p>
          <a:p>
            <a:pPr marL="182880" lvl="0" indent="-154940" algn="l" rtl="0">
              <a:spcBef>
                <a:spcPts val="0"/>
              </a:spcBef>
              <a:spcAft>
                <a:spcPts val="0"/>
              </a:spcAft>
              <a:buSzPts val="1000"/>
              <a:buChar char="●"/>
            </a:pPr>
            <a:endParaRPr lang="en" b="1" dirty="0"/>
          </a:p>
        </p:txBody>
      </p:sp>
      <p:sp>
        <p:nvSpPr>
          <p:cNvPr id="175" name="Google Shape;175;p21"/>
          <p:cNvSpPr txBox="1">
            <a:spLocks noGrp="1"/>
          </p:cNvSpPr>
          <p:nvPr>
            <p:ph type="title" idx="4"/>
          </p:nvPr>
        </p:nvSpPr>
        <p:spPr>
          <a:xfrm>
            <a:off x="7068300" y="165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2/2</a:t>
            </a:r>
            <a:endParaRPr/>
          </a:p>
        </p:txBody>
      </p:sp>
      <p:sp>
        <p:nvSpPr>
          <p:cNvPr id="176" name="Google Shape;176;p21"/>
          <p:cNvSpPr txBox="1">
            <a:spLocks noGrp="1"/>
          </p:cNvSpPr>
          <p:nvPr>
            <p:ph type="title" idx="3"/>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dirty="0"/>
              <a:t>5</a:t>
            </a:r>
            <a:endParaRPr dirty="0"/>
          </a:p>
        </p:txBody>
      </p:sp>
    </p:spTree>
    <p:extLst>
      <p:ext uri="{BB962C8B-B14F-4D97-AF65-F5344CB8AC3E}">
        <p14:creationId xmlns:p14="http://schemas.microsoft.com/office/powerpoint/2010/main" val="251348491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159"/>
        <p:cNvGrpSpPr/>
        <p:nvPr/>
      </p:nvGrpSpPr>
      <p:grpSpPr>
        <a:xfrm>
          <a:off x="0" y="0"/>
          <a:ext cx="0" cy="0"/>
          <a:chOff x="0" y="0"/>
          <a:chExt cx="0" cy="0"/>
        </a:xfrm>
      </p:grpSpPr>
      <p:sp>
        <p:nvSpPr>
          <p:cNvPr id="160" name="Google Shape;160;p20"/>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r>
              <a:rPr lang="en" dirty="0"/>
              <a:t>Week 6 - Log</a:t>
            </a:r>
            <a:endParaRPr lang="en-US" dirty="0"/>
          </a:p>
        </p:txBody>
      </p:sp>
      <p:sp>
        <p:nvSpPr>
          <p:cNvPr id="161" name="Google Shape;161;p20"/>
          <p:cNvSpPr txBox="1">
            <a:spLocks noGrp="1"/>
          </p:cNvSpPr>
          <p:nvPr>
            <p:ph type="subTitle" idx="4"/>
          </p:nvPr>
        </p:nvSpPr>
        <p:spPr>
          <a:xfrm>
            <a:off x="4663440" y="758952"/>
            <a:ext cx="42978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Reflection</a:t>
            </a:r>
            <a:endParaRPr/>
          </a:p>
        </p:txBody>
      </p:sp>
      <p:sp>
        <p:nvSpPr>
          <p:cNvPr id="162" name="Google Shape;162;p20"/>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What did you do?</a:t>
            </a:r>
            <a:endParaRPr/>
          </a:p>
        </p:txBody>
      </p:sp>
      <p:sp>
        <p:nvSpPr>
          <p:cNvPr id="163" name="Google Shape;163;p20"/>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dirty="0"/>
              <a:t>What goal(s) did you set for this week</a:t>
            </a:r>
            <a:r>
              <a:rPr lang="en" dirty="0" smtClean="0"/>
              <a:t>?</a:t>
            </a:r>
          </a:p>
          <a:p>
            <a:pPr marL="27940" lvl="0" indent="0">
              <a:buNone/>
            </a:pPr>
            <a:r>
              <a:rPr lang="en" dirty="0" smtClean="0"/>
              <a:t>The goals for this week are to </a:t>
            </a:r>
            <a:r>
              <a:rPr lang="en-GB" dirty="0"/>
              <a:t>build the first </a:t>
            </a:r>
            <a:r>
              <a:rPr lang="en-GB" dirty="0" err="1"/>
              <a:t>Streamlit</a:t>
            </a:r>
            <a:r>
              <a:rPr lang="en-GB" dirty="0"/>
              <a:t> app, wiring detection, risk, mapping and routing together </a:t>
            </a:r>
            <a:r>
              <a:rPr lang="en-GB" dirty="0" smtClean="0"/>
              <a:t>- </a:t>
            </a:r>
            <a:r>
              <a:rPr lang="en-GB" dirty="0"/>
              <a:t>working pipeline milestone</a:t>
            </a:r>
            <a:r>
              <a:rPr lang="en-GB" dirty="0" smtClean="0"/>
              <a:t>.</a:t>
            </a:r>
          </a:p>
          <a:p>
            <a:pPr marL="27940" lvl="0" indent="0">
              <a:buNone/>
            </a:pPr>
            <a:endParaRPr dirty="0"/>
          </a:p>
          <a:p>
            <a:pPr marL="182880" lvl="0" indent="-154940" algn="l" rtl="0">
              <a:spcBef>
                <a:spcPts val="0"/>
              </a:spcBef>
              <a:spcAft>
                <a:spcPts val="0"/>
              </a:spcAft>
              <a:buSzPts val="1000"/>
              <a:buChar char="●"/>
            </a:pPr>
            <a:r>
              <a:rPr lang="en" dirty="0"/>
              <a:t>What have you actually been able to do? </a:t>
            </a:r>
            <a:endParaRPr lang="en" dirty="0" smtClean="0"/>
          </a:p>
          <a:p>
            <a:pPr marL="27940" lvl="0" indent="0">
              <a:buNone/>
            </a:pPr>
            <a:r>
              <a:rPr lang="en-GB" dirty="0"/>
              <a:t>B</a:t>
            </a:r>
            <a:r>
              <a:rPr lang="en-GB" dirty="0" smtClean="0"/>
              <a:t>uilt </a:t>
            </a:r>
            <a:r>
              <a:rPr lang="en-GB" dirty="0"/>
              <a:t>the app skeleton, Upload and Detect page, SQLite schema, basic Dashboard/Damage Map/Safer Route Planner pages; ran a full walkthrough and fixed the bugs it found</a:t>
            </a:r>
            <a:r>
              <a:rPr lang="en-GB" dirty="0" smtClean="0"/>
              <a:t>.</a:t>
            </a:r>
          </a:p>
          <a:p>
            <a:pPr marL="27940" lvl="0" indent="0">
              <a:buNone/>
            </a:pPr>
            <a:endParaRPr dirty="0"/>
          </a:p>
          <a:p>
            <a:pPr marL="182880" lvl="0" indent="-154940" algn="l" rtl="0">
              <a:spcBef>
                <a:spcPts val="0"/>
              </a:spcBef>
              <a:spcAft>
                <a:spcPts val="0"/>
              </a:spcAft>
              <a:buSzPts val="1000"/>
              <a:buChar char="●"/>
            </a:pPr>
            <a:r>
              <a:rPr lang="en" dirty="0"/>
              <a:t>Showcase what tasks you have been working on this week and provide evidence for it</a:t>
            </a:r>
            <a:r>
              <a:rPr lang="en" dirty="0" smtClean="0"/>
              <a:t>.</a:t>
            </a:r>
          </a:p>
          <a:p>
            <a:pPr marL="27940" lvl="0" indent="0">
              <a:buNone/>
            </a:pPr>
            <a:endParaRPr lang="en-GB" dirty="0"/>
          </a:p>
          <a:p>
            <a:pPr marL="27940" lvl="0" indent="0">
              <a:buNone/>
            </a:pPr>
            <a:r>
              <a:rPr lang="en-GB" u="sng" dirty="0">
                <a:hlinkClick r:id="rId3"/>
              </a:rPr>
              <a:t>app.py</a:t>
            </a:r>
            <a:r>
              <a:rPr lang="en-GB" dirty="0"/>
              <a:t> </a:t>
            </a:r>
            <a:endParaRPr lang="en-GB" dirty="0" smtClean="0"/>
          </a:p>
          <a:p>
            <a:pPr marL="27940" lvl="0" indent="0">
              <a:buNone/>
            </a:pPr>
            <a:endParaRPr lang="en-GB" dirty="0"/>
          </a:p>
          <a:p>
            <a:pPr marL="27940" lvl="0" indent="0">
              <a:buNone/>
            </a:pPr>
            <a:r>
              <a:rPr lang="en-GB" u="sng" dirty="0">
                <a:hlinkClick r:id="rId4"/>
              </a:rPr>
              <a:t>pages/2_Upload_Detect.py</a:t>
            </a:r>
            <a:r>
              <a:rPr lang="en-GB" dirty="0"/>
              <a:t> </a:t>
            </a:r>
            <a:endParaRPr lang="en-GB" dirty="0" smtClean="0"/>
          </a:p>
          <a:p>
            <a:pPr marL="27940" lvl="0" indent="0">
              <a:buNone/>
            </a:pPr>
            <a:endParaRPr lang="en-GB" dirty="0"/>
          </a:p>
          <a:p>
            <a:pPr marL="27940" lvl="0" indent="0">
              <a:buNone/>
            </a:pPr>
            <a:r>
              <a:rPr lang="en-GB" u="sng" dirty="0">
                <a:hlinkClick r:id="rId5"/>
              </a:rPr>
              <a:t>src/app/database.py</a:t>
            </a:r>
            <a:r>
              <a:rPr lang="en-GB" dirty="0"/>
              <a:t> </a:t>
            </a:r>
            <a:endParaRPr lang="en-GB" dirty="0" smtClean="0"/>
          </a:p>
          <a:p>
            <a:pPr marL="27940" lvl="0" indent="0">
              <a:buNone/>
            </a:pPr>
            <a:endParaRPr lang="en-GB" dirty="0"/>
          </a:p>
          <a:p>
            <a:pPr marL="27940" lvl="0" indent="0">
              <a:buNone/>
            </a:pPr>
            <a:r>
              <a:rPr lang="en-GB" u="sng" dirty="0">
                <a:hlinkClick r:id="rId6"/>
              </a:rPr>
              <a:t>pages/1_Dashboard.py</a:t>
            </a:r>
            <a:r>
              <a:rPr lang="en-GB" dirty="0"/>
              <a:t> </a:t>
            </a:r>
            <a:endParaRPr lang="en-GB" dirty="0" smtClean="0"/>
          </a:p>
          <a:p>
            <a:pPr marL="27940" lvl="0" indent="0">
              <a:buNone/>
            </a:pPr>
            <a:endParaRPr lang="en-GB" dirty="0"/>
          </a:p>
          <a:p>
            <a:pPr marL="27940" lvl="0" indent="0">
              <a:buNone/>
            </a:pPr>
            <a:r>
              <a:rPr lang="en-GB" u="sng" dirty="0" smtClean="0">
                <a:hlinkClick r:id="rId7"/>
              </a:rPr>
              <a:t>pages/3_Damage_Map.py</a:t>
            </a:r>
            <a:endParaRPr lang="en-GB" u="sng" dirty="0" smtClean="0"/>
          </a:p>
          <a:p>
            <a:pPr marL="27940" lvl="0" indent="0">
              <a:buNone/>
            </a:pPr>
            <a:endParaRPr lang="en-GB" u="sng" dirty="0"/>
          </a:p>
          <a:p>
            <a:pPr marL="27940" lvl="0" indent="0">
              <a:buNone/>
            </a:pPr>
            <a:r>
              <a:rPr lang="en-GB" u="sng" dirty="0">
                <a:hlinkClick r:id="rId8"/>
              </a:rPr>
              <a:t>pages/4_Safer_Route_Planner.py</a:t>
            </a:r>
            <a:r>
              <a:rPr lang="en-GB" dirty="0"/>
              <a:t>  </a:t>
            </a:r>
            <a:endParaRPr lang="en-GB" dirty="0" smtClean="0"/>
          </a:p>
        </p:txBody>
      </p:sp>
      <p:sp>
        <p:nvSpPr>
          <p:cNvPr id="164" name="Google Shape;164;p20"/>
          <p:cNvSpPr txBox="1">
            <a:spLocks noGrp="1"/>
          </p:cNvSpPr>
          <p:nvPr>
            <p:ph type="body" idx="3"/>
          </p:nvPr>
        </p:nvSpPr>
        <p:spPr>
          <a:xfrm>
            <a:off x="4663450" y="1152698"/>
            <a:ext cx="4297800" cy="16257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dirty="0"/>
              <a:t>How did the week go? </a:t>
            </a:r>
            <a:endParaRPr lang="en" dirty="0" smtClean="0"/>
          </a:p>
          <a:p>
            <a:pPr marL="27940" lvl="0" indent="0" algn="l" rtl="0">
              <a:spcBef>
                <a:spcPts val="0"/>
              </a:spcBef>
              <a:spcAft>
                <a:spcPts val="0"/>
              </a:spcAft>
              <a:buSzPts val="1000"/>
              <a:buNone/>
            </a:pPr>
            <a:r>
              <a:rPr lang="en-GB" dirty="0" smtClean="0"/>
              <a:t>I</a:t>
            </a:r>
            <a:r>
              <a:rPr lang="en" dirty="0" smtClean="0"/>
              <a:t>t went pretty well. A working pipeline exists.</a:t>
            </a:r>
          </a:p>
          <a:p>
            <a:pPr marL="27940" lvl="0" indent="0" algn="l" rtl="0">
              <a:spcBef>
                <a:spcPts val="0"/>
              </a:spcBef>
              <a:spcAft>
                <a:spcPts val="0"/>
              </a:spcAft>
              <a:buSzPts val="1000"/>
              <a:buNone/>
            </a:pPr>
            <a:endParaRPr dirty="0"/>
          </a:p>
          <a:p>
            <a:pPr marL="182880" lvl="0" indent="-154940" algn="l" rtl="0">
              <a:spcBef>
                <a:spcPts val="0"/>
              </a:spcBef>
              <a:spcAft>
                <a:spcPts val="0"/>
              </a:spcAft>
              <a:buSzPts val="1000"/>
              <a:buChar char="●"/>
            </a:pPr>
            <a:r>
              <a:rPr lang="en" dirty="0"/>
              <a:t>What went well? </a:t>
            </a:r>
            <a:endParaRPr lang="en" dirty="0" smtClean="0"/>
          </a:p>
          <a:p>
            <a:pPr marL="27940" lvl="0" indent="0">
              <a:buNone/>
            </a:pPr>
            <a:r>
              <a:rPr lang="en-GB" dirty="0"/>
              <a:t>R</a:t>
            </a:r>
            <a:r>
              <a:rPr lang="en-GB" dirty="0" smtClean="0"/>
              <a:t>isk-scoring </a:t>
            </a:r>
            <a:r>
              <a:rPr lang="en-GB" dirty="0"/>
              <a:t>and routing code already working made wiring the UI fast</a:t>
            </a:r>
            <a:r>
              <a:rPr lang="en-GB" dirty="0" smtClean="0"/>
              <a:t>.</a:t>
            </a:r>
          </a:p>
          <a:p>
            <a:pPr marL="27940" lvl="0" indent="0">
              <a:buNone/>
            </a:pPr>
            <a:endParaRPr dirty="0"/>
          </a:p>
          <a:p>
            <a:pPr marL="182880" lvl="0" indent="-154940"/>
            <a:r>
              <a:rPr lang="en" dirty="0"/>
              <a:t>What didn’t go so well? </a:t>
            </a:r>
            <a:endParaRPr lang="en-GB" dirty="0"/>
          </a:p>
          <a:p>
            <a:pPr marL="27940" lvl="0" indent="0">
              <a:buNone/>
            </a:pPr>
            <a:r>
              <a:rPr lang="en-GB" dirty="0"/>
              <a:t>A</a:t>
            </a:r>
            <a:r>
              <a:rPr lang="en-GB" dirty="0" smtClean="0"/>
              <a:t> </a:t>
            </a:r>
            <a:r>
              <a:rPr lang="en-GB" dirty="0"/>
              <a:t>few map-centring/duplicate-upload bugs only appeared once everything ran together</a:t>
            </a:r>
            <a:r>
              <a:rPr lang="en-GB" dirty="0" smtClean="0"/>
              <a:t>.</a:t>
            </a:r>
          </a:p>
          <a:p>
            <a:pPr marL="27940" lvl="0" indent="0">
              <a:buNone/>
            </a:pPr>
            <a:endParaRPr dirty="0"/>
          </a:p>
          <a:p>
            <a:pPr marL="182880" lvl="0" indent="-154940" algn="l" rtl="0">
              <a:spcBef>
                <a:spcPts val="0"/>
              </a:spcBef>
              <a:spcAft>
                <a:spcPts val="0"/>
              </a:spcAft>
              <a:buSzPts val="1000"/>
              <a:buChar char="●"/>
            </a:pPr>
            <a:r>
              <a:rPr lang="en" dirty="0"/>
              <a:t>What did you learn? </a:t>
            </a:r>
            <a:endParaRPr lang="en" dirty="0" smtClean="0"/>
          </a:p>
          <a:p>
            <a:pPr marL="27940" lvl="0" indent="0">
              <a:buNone/>
            </a:pPr>
            <a:r>
              <a:rPr lang="en-GB" dirty="0"/>
              <a:t>integration-only bugs matter </a:t>
            </a:r>
            <a:r>
              <a:rPr lang="en-GB" dirty="0" smtClean="0"/>
              <a:t>- </a:t>
            </a:r>
            <a:r>
              <a:rPr lang="en-GB" dirty="0"/>
              <a:t>parts that work alone can fail </a:t>
            </a:r>
            <a:r>
              <a:rPr lang="en-GB" dirty="0" smtClean="0"/>
              <a:t>together.</a:t>
            </a:r>
          </a:p>
          <a:p>
            <a:pPr marL="27940" lvl="0" indent="0">
              <a:buNone/>
            </a:pPr>
            <a:endParaRPr dirty="0"/>
          </a:p>
          <a:p>
            <a:pPr marL="182880" lvl="0" indent="-154940" algn="l" rtl="0">
              <a:spcBef>
                <a:spcPts val="0"/>
              </a:spcBef>
              <a:spcAft>
                <a:spcPts val="0"/>
              </a:spcAft>
              <a:buSzPts val="1000"/>
              <a:buChar char="●"/>
            </a:pPr>
            <a:r>
              <a:rPr lang="en" dirty="0"/>
              <a:t>What could be added as an Action point looking forward to next week</a:t>
            </a:r>
            <a:r>
              <a:rPr lang="en" dirty="0" smtClean="0"/>
              <a:t>?</a:t>
            </a:r>
          </a:p>
          <a:p>
            <a:pPr marL="27940" lvl="0" indent="0">
              <a:buNone/>
            </a:pPr>
            <a:r>
              <a:rPr lang="en" dirty="0" smtClean="0"/>
              <a:t>As an action point for the next week is to </a:t>
            </a:r>
            <a:r>
              <a:rPr lang="en-GB" dirty="0"/>
              <a:t>go back to training </a:t>
            </a:r>
            <a:r>
              <a:rPr lang="en-GB" dirty="0" smtClean="0"/>
              <a:t>- </a:t>
            </a:r>
            <a:r>
              <a:rPr lang="en-GB" dirty="0"/>
              <a:t>audit bias and build the medium dataset.</a:t>
            </a:r>
            <a:endParaRPr lang="en" dirty="0"/>
          </a:p>
        </p:txBody>
      </p:sp>
      <p:sp>
        <p:nvSpPr>
          <p:cNvPr id="165" name="Google Shape;165;p20"/>
          <p:cNvSpPr txBox="1">
            <a:spLocks noGrp="1"/>
          </p:cNvSpPr>
          <p:nvPr>
            <p:ph type="title" idx="6"/>
          </p:nvPr>
        </p:nvSpPr>
        <p:spPr>
          <a:xfrm>
            <a:off x="7068300" y="165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dirty="0"/>
              <a:t>1/2</a:t>
            </a:r>
            <a:endParaRPr dirty="0"/>
          </a:p>
        </p:txBody>
      </p:sp>
      <p:sp>
        <p:nvSpPr>
          <p:cNvPr id="166" name="Google Shape;166;p20"/>
          <p:cNvSpPr txBox="1">
            <a:spLocks noGrp="1"/>
          </p:cNvSpPr>
          <p:nvPr>
            <p:ph type="title" idx="5"/>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dirty="0"/>
              <a:t>6</a:t>
            </a:r>
            <a:endParaRPr dirty="0"/>
          </a:p>
        </p:txBody>
      </p:sp>
      <p:sp>
        <p:nvSpPr>
          <p:cNvPr id="167" name="Google Shape;167;p20"/>
          <p:cNvSpPr/>
          <p:nvPr/>
        </p:nvSpPr>
        <p:spPr>
          <a:xfrm>
            <a:off x="0" y="576072"/>
            <a:ext cx="9144000" cy="91500"/>
          </a:xfrm>
          <a:prstGeom prst="rect">
            <a:avLst/>
          </a:prstGeom>
          <a:solidFill>
            <a:srgbClr val="66666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93097735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171"/>
        <p:cNvGrpSpPr/>
        <p:nvPr/>
      </p:nvGrpSpPr>
      <p:grpSpPr>
        <a:xfrm>
          <a:off x="0" y="0"/>
          <a:ext cx="0" cy="0"/>
          <a:chOff x="0" y="0"/>
          <a:chExt cx="0" cy="0"/>
        </a:xfrm>
      </p:grpSpPr>
      <p:sp>
        <p:nvSpPr>
          <p:cNvPr id="172" name="Google Shape;172;p21"/>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dirty="0"/>
              <a:t>Week 6 - Feedback</a:t>
            </a:r>
            <a:endParaRPr dirty="0"/>
          </a:p>
        </p:txBody>
      </p:sp>
      <p:sp>
        <p:nvSpPr>
          <p:cNvPr id="173" name="Google Shape;173;p21"/>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dirty="0"/>
              <a:t>manager, colleague, or team member feedback</a:t>
            </a:r>
            <a:endParaRPr dirty="0"/>
          </a:p>
        </p:txBody>
      </p:sp>
      <p:sp>
        <p:nvSpPr>
          <p:cNvPr id="174" name="Google Shape;174;p21"/>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p>
            <a:pPr marL="182880" lvl="0" indent="-154940"/>
            <a:r>
              <a:rPr lang="en-GB" b="1" dirty="0"/>
              <a:t>D</a:t>
            </a:r>
            <a:r>
              <a:rPr lang="en" b="1" dirty="0"/>
              <a:t>ate: </a:t>
            </a:r>
            <a:r>
              <a:rPr lang="en" dirty="0"/>
              <a:t>22/05/2026</a:t>
            </a:r>
          </a:p>
          <a:p>
            <a:pPr marL="182880" lvl="0" indent="-154940" algn="l" rtl="0">
              <a:spcBef>
                <a:spcPts val="0"/>
              </a:spcBef>
              <a:spcAft>
                <a:spcPts val="0"/>
              </a:spcAft>
              <a:buSzPts val="1000"/>
              <a:buChar char="●"/>
            </a:pPr>
            <a:r>
              <a:rPr lang="en" b="1" dirty="0"/>
              <a:t>Feedback from</a:t>
            </a:r>
            <a:r>
              <a:rPr lang="en" b="1" dirty="0" smtClean="0"/>
              <a:t>: </a:t>
            </a:r>
            <a:r>
              <a:rPr lang="en" dirty="0" smtClean="0"/>
              <a:t>Karna Rewatkar (Supervisor)</a:t>
            </a:r>
            <a:endParaRPr lang="en" dirty="0"/>
          </a:p>
          <a:p>
            <a:pPr marL="182880" lvl="0" indent="-154940"/>
            <a:r>
              <a:rPr lang="en" b="1" dirty="0"/>
              <a:t>Feedback</a:t>
            </a:r>
            <a:r>
              <a:rPr lang="en" b="1" dirty="0" smtClean="0"/>
              <a:t>: T</a:t>
            </a:r>
            <a:r>
              <a:rPr lang="en-GB" dirty="0" smtClean="0"/>
              <a:t>his </a:t>
            </a:r>
            <a:r>
              <a:rPr lang="en-GB" dirty="0"/>
              <a:t>is a genuinely good milestone </a:t>
            </a:r>
            <a:r>
              <a:rPr lang="en-GB" dirty="0" smtClean="0"/>
              <a:t>- </a:t>
            </a:r>
            <a:r>
              <a:rPr lang="en-GB" dirty="0"/>
              <a:t>having a working end-to-end prototype this early, even running on the small dataset, gives you a lot of room to iterate for the rest of the project. The bugs you found during the walkthrough are exactly the kind of thing that only shows up once components are wired together, so that was a useful exercise. I'd recommend shifting attention back to data quality now before investing more time in the app itself.</a:t>
            </a:r>
            <a:endParaRPr lang="en" dirty="0"/>
          </a:p>
          <a:p>
            <a:pPr marL="182880" lvl="0" indent="-154940"/>
            <a:r>
              <a:rPr lang="en" b="1" dirty="0"/>
              <a:t>Related to what task: </a:t>
            </a:r>
            <a:r>
              <a:rPr lang="en-GB" dirty="0" smtClean="0"/>
              <a:t>First </a:t>
            </a:r>
            <a:r>
              <a:rPr lang="en-GB" dirty="0"/>
              <a:t>working pipeline demo</a:t>
            </a:r>
            <a:endParaRPr lang="en" dirty="0"/>
          </a:p>
          <a:p>
            <a:pPr marL="182880" lvl="0" indent="-154940"/>
            <a:r>
              <a:rPr lang="en" b="1" dirty="0"/>
              <a:t>Response/action coming forward from this: </a:t>
            </a:r>
            <a:r>
              <a:rPr lang="en-GB" dirty="0" smtClean="0"/>
              <a:t>Shifted </a:t>
            </a:r>
            <a:r>
              <a:rPr lang="en-GB" dirty="0"/>
              <a:t>focus to bias auditing and the medium-dataset build.</a:t>
            </a:r>
            <a:endParaRPr lang="en" dirty="0"/>
          </a:p>
        </p:txBody>
      </p:sp>
      <p:sp>
        <p:nvSpPr>
          <p:cNvPr id="175" name="Google Shape;175;p21"/>
          <p:cNvSpPr txBox="1">
            <a:spLocks noGrp="1"/>
          </p:cNvSpPr>
          <p:nvPr>
            <p:ph type="title" idx="4"/>
          </p:nvPr>
        </p:nvSpPr>
        <p:spPr>
          <a:xfrm>
            <a:off x="7068300" y="165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2/2</a:t>
            </a:r>
            <a:endParaRPr/>
          </a:p>
        </p:txBody>
      </p:sp>
      <p:sp>
        <p:nvSpPr>
          <p:cNvPr id="176" name="Google Shape;176;p21"/>
          <p:cNvSpPr txBox="1">
            <a:spLocks noGrp="1"/>
          </p:cNvSpPr>
          <p:nvPr>
            <p:ph type="title" idx="3"/>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dirty="0"/>
              <a:t>6</a:t>
            </a:r>
            <a:endParaRPr dirty="0"/>
          </a:p>
        </p:txBody>
      </p:sp>
    </p:spTree>
    <p:extLst>
      <p:ext uri="{BB962C8B-B14F-4D97-AF65-F5344CB8AC3E}">
        <p14:creationId xmlns:p14="http://schemas.microsoft.com/office/powerpoint/2010/main" val="160466950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159"/>
        <p:cNvGrpSpPr/>
        <p:nvPr/>
      </p:nvGrpSpPr>
      <p:grpSpPr>
        <a:xfrm>
          <a:off x="0" y="0"/>
          <a:ext cx="0" cy="0"/>
          <a:chOff x="0" y="0"/>
          <a:chExt cx="0" cy="0"/>
        </a:xfrm>
      </p:grpSpPr>
      <p:sp>
        <p:nvSpPr>
          <p:cNvPr id="160" name="Google Shape;160;p20"/>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r>
              <a:rPr lang="en" dirty="0"/>
              <a:t>Week 7 - Log</a:t>
            </a:r>
            <a:endParaRPr lang="en-US" dirty="0"/>
          </a:p>
        </p:txBody>
      </p:sp>
      <p:sp>
        <p:nvSpPr>
          <p:cNvPr id="161" name="Google Shape;161;p20"/>
          <p:cNvSpPr txBox="1">
            <a:spLocks noGrp="1"/>
          </p:cNvSpPr>
          <p:nvPr>
            <p:ph type="subTitle" idx="4"/>
          </p:nvPr>
        </p:nvSpPr>
        <p:spPr>
          <a:xfrm>
            <a:off x="4663440" y="758952"/>
            <a:ext cx="42978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Reflection</a:t>
            </a:r>
            <a:endParaRPr/>
          </a:p>
        </p:txBody>
      </p:sp>
      <p:sp>
        <p:nvSpPr>
          <p:cNvPr id="162" name="Google Shape;162;p20"/>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What did you do?</a:t>
            </a:r>
            <a:endParaRPr/>
          </a:p>
        </p:txBody>
      </p:sp>
      <p:sp>
        <p:nvSpPr>
          <p:cNvPr id="163" name="Google Shape;163;p20"/>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dirty="0"/>
              <a:t>What goal(s) did you set for this week</a:t>
            </a:r>
            <a:r>
              <a:rPr lang="en" dirty="0" smtClean="0"/>
              <a:t>?</a:t>
            </a:r>
          </a:p>
          <a:p>
            <a:pPr marL="27940" lvl="0" indent="0">
              <a:buNone/>
            </a:pPr>
            <a:r>
              <a:rPr lang="en" dirty="0" smtClean="0"/>
              <a:t>The gol for this week is to </a:t>
            </a:r>
            <a:r>
              <a:rPr lang="en-GB" dirty="0"/>
              <a:t>audit the small dataset for bias and retrain on a medium-scale dataset</a:t>
            </a:r>
            <a:r>
              <a:rPr lang="en-GB" dirty="0" smtClean="0"/>
              <a:t>.</a:t>
            </a:r>
          </a:p>
          <a:p>
            <a:pPr marL="27940" lvl="0" indent="0">
              <a:buNone/>
            </a:pPr>
            <a:endParaRPr dirty="0"/>
          </a:p>
          <a:p>
            <a:pPr marL="182880" lvl="0" indent="-154940" algn="l" rtl="0">
              <a:spcBef>
                <a:spcPts val="0"/>
              </a:spcBef>
              <a:spcAft>
                <a:spcPts val="0"/>
              </a:spcAft>
              <a:buSzPts val="1000"/>
              <a:buChar char="●"/>
            </a:pPr>
            <a:r>
              <a:rPr lang="en" dirty="0"/>
              <a:t>What have you actually been able to do? </a:t>
            </a:r>
            <a:endParaRPr lang="en" dirty="0" smtClean="0"/>
          </a:p>
          <a:p>
            <a:pPr marL="27940" lvl="0" indent="0">
              <a:buNone/>
            </a:pPr>
            <a:r>
              <a:rPr lang="en" dirty="0" smtClean="0"/>
              <a:t>A</a:t>
            </a:r>
            <a:r>
              <a:rPr lang="en-GB" dirty="0" err="1" smtClean="0"/>
              <a:t>udited</a:t>
            </a:r>
            <a:r>
              <a:rPr lang="en-GB" dirty="0" smtClean="0"/>
              <a:t> </a:t>
            </a:r>
            <a:r>
              <a:rPr lang="en-GB" dirty="0"/>
              <a:t>class/country balance, confirmed D00 </a:t>
            </a:r>
            <a:r>
              <a:rPr lang="en-GB" dirty="0" smtClean="0"/>
              <a:t>over represents </a:t>
            </a:r>
            <a:r>
              <a:rPr lang="en-GB" dirty="0"/>
              <a:t>D20/D40 2–3x and Japan is ~46% vs ~28% raw; built the medium dataset (1,034/224/221), retrained and evaluated both models</a:t>
            </a:r>
            <a:r>
              <a:rPr lang="en-GB" dirty="0" smtClean="0"/>
              <a:t>.</a:t>
            </a:r>
          </a:p>
          <a:p>
            <a:pPr marL="27940" lvl="0" indent="0">
              <a:buNone/>
            </a:pPr>
            <a:endParaRPr dirty="0"/>
          </a:p>
          <a:p>
            <a:pPr marL="182880" lvl="0" indent="-154940" algn="l" rtl="0">
              <a:spcBef>
                <a:spcPts val="0"/>
              </a:spcBef>
              <a:spcAft>
                <a:spcPts val="0"/>
              </a:spcAft>
              <a:buSzPts val="1000"/>
              <a:buChar char="●"/>
            </a:pPr>
            <a:r>
              <a:rPr lang="en" dirty="0"/>
              <a:t>Showcase what tasks you have been working on this week and provide evidence for it</a:t>
            </a:r>
            <a:r>
              <a:rPr lang="en" dirty="0" smtClean="0"/>
              <a:t>.</a:t>
            </a:r>
          </a:p>
          <a:p>
            <a:pPr marL="27940" lvl="0" indent="0" algn="l" rtl="0">
              <a:spcBef>
                <a:spcPts val="0"/>
              </a:spcBef>
              <a:spcAft>
                <a:spcPts val="0"/>
              </a:spcAft>
              <a:buSzPts val="1000"/>
              <a:buNone/>
            </a:pPr>
            <a:endParaRPr lang="en" dirty="0" smtClean="0"/>
          </a:p>
          <a:p>
            <a:pPr marL="27940" lvl="0" indent="0" algn="l" rtl="0">
              <a:spcBef>
                <a:spcPts val="0"/>
              </a:spcBef>
              <a:spcAft>
                <a:spcPts val="0"/>
              </a:spcAft>
              <a:buSzPts val="1000"/>
              <a:buNone/>
            </a:pPr>
            <a:endParaRPr lang="en" dirty="0"/>
          </a:p>
          <a:p>
            <a:pPr marL="27940" lvl="0" indent="0">
              <a:buNone/>
            </a:pPr>
            <a:r>
              <a:rPr lang="en-GB" u="sng" dirty="0">
                <a:hlinkClick r:id="rId3"/>
              </a:rPr>
              <a:t>Classes visual inspection</a:t>
            </a:r>
            <a:r>
              <a:rPr lang="en-GB" dirty="0"/>
              <a:t> </a:t>
            </a:r>
            <a:endParaRPr lang="en-GB" dirty="0" smtClean="0"/>
          </a:p>
          <a:p>
            <a:pPr marL="27940" lvl="0" indent="0">
              <a:buNone/>
            </a:pPr>
            <a:endParaRPr lang="en-GB" dirty="0"/>
          </a:p>
          <a:p>
            <a:pPr marL="27940" lvl="0" indent="0">
              <a:buNone/>
            </a:pPr>
            <a:r>
              <a:rPr lang="en-GB" u="sng" dirty="0">
                <a:hlinkClick r:id="rId4"/>
              </a:rPr>
              <a:t>data</a:t>
            </a:r>
            <a:r>
              <a:rPr lang="en-GB" dirty="0"/>
              <a:t> </a:t>
            </a:r>
          </a:p>
          <a:p>
            <a:pPr marL="27940" lvl="0" indent="0">
              <a:buNone/>
            </a:pPr>
            <a:endParaRPr lang="en-GB" dirty="0" smtClean="0"/>
          </a:p>
          <a:p>
            <a:pPr marL="27940" lvl="0" indent="0">
              <a:buNone/>
            </a:pPr>
            <a:r>
              <a:rPr lang="en-GB" u="sng" dirty="0" err="1">
                <a:hlinkClick r:id="rId5"/>
              </a:rPr>
              <a:t>Yolo_medium_data_train</a:t>
            </a:r>
            <a:r>
              <a:rPr lang="en-GB" dirty="0"/>
              <a:t> </a:t>
            </a:r>
            <a:endParaRPr lang="en-GB" dirty="0" smtClean="0"/>
          </a:p>
          <a:p>
            <a:pPr marL="27940" lvl="0" indent="0">
              <a:buNone/>
            </a:pPr>
            <a:endParaRPr lang="en-GB" dirty="0"/>
          </a:p>
          <a:p>
            <a:pPr marL="27940" lvl="0" indent="0">
              <a:buNone/>
            </a:pPr>
            <a:r>
              <a:rPr lang="en-GB" u="sng" dirty="0" err="1">
                <a:hlinkClick r:id="rId6"/>
              </a:rPr>
              <a:t>Fasterrcnn_medium_dataset_train</a:t>
            </a:r>
            <a:r>
              <a:rPr lang="en-GB" dirty="0"/>
              <a:t> </a:t>
            </a:r>
            <a:endParaRPr lang="en-GB" dirty="0" smtClean="0"/>
          </a:p>
          <a:p>
            <a:pPr marL="27940" lvl="0" indent="0">
              <a:buNone/>
            </a:pPr>
            <a:endParaRPr lang="en-GB" dirty="0"/>
          </a:p>
          <a:p>
            <a:pPr marL="27940" lvl="0" indent="0">
              <a:buNone/>
            </a:pPr>
            <a:r>
              <a:rPr lang="en-GB" u="sng" dirty="0">
                <a:hlinkClick r:id="rId7"/>
              </a:rPr>
              <a:t>Evaluation images in notebooks, and saved in the notebooks/ folder</a:t>
            </a:r>
            <a:r>
              <a:rPr lang="en-GB" dirty="0"/>
              <a:t> </a:t>
            </a:r>
            <a:endParaRPr lang="en-GB" dirty="0" smtClean="0"/>
          </a:p>
        </p:txBody>
      </p:sp>
      <p:sp>
        <p:nvSpPr>
          <p:cNvPr id="164" name="Google Shape;164;p20"/>
          <p:cNvSpPr txBox="1">
            <a:spLocks noGrp="1"/>
          </p:cNvSpPr>
          <p:nvPr>
            <p:ph type="body" idx="3"/>
          </p:nvPr>
        </p:nvSpPr>
        <p:spPr>
          <a:xfrm>
            <a:off x="4663450" y="1152698"/>
            <a:ext cx="4297800" cy="16257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dirty="0"/>
              <a:t>How did the week go? </a:t>
            </a:r>
            <a:endParaRPr lang="en" dirty="0" smtClean="0"/>
          </a:p>
          <a:p>
            <a:pPr marL="27940" lvl="0" indent="0">
              <a:buNone/>
            </a:pPr>
            <a:r>
              <a:rPr lang="en-GB" dirty="0" smtClean="0"/>
              <a:t>The week was useful </a:t>
            </a:r>
            <a:r>
              <a:rPr lang="en-GB" dirty="0"/>
              <a:t>but slightly concerning </a:t>
            </a:r>
            <a:r>
              <a:rPr lang="en-GB" dirty="0" smtClean="0"/>
              <a:t>- </a:t>
            </a:r>
            <a:r>
              <a:rPr lang="en-GB" dirty="0"/>
              <a:t>bias worse than expected</a:t>
            </a:r>
            <a:r>
              <a:rPr lang="en-GB" dirty="0" smtClean="0"/>
              <a:t>.</a:t>
            </a:r>
          </a:p>
          <a:p>
            <a:pPr marL="27940" lvl="0" indent="0">
              <a:buNone/>
            </a:pPr>
            <a:endParaRPr dirty="0"/>
          </a:p>
          <a:p>
            <a:pPr marL="182880" lvl="0" indent="-154940" algn="l" rtl="0">
              <a:spcBef>
                <a:spcPts val="0"/>
              </a:spcBef>
              <a:spcAft>
                <a:spcPts val="0"/>
              </a:spcAft>
              <a:buSzPts val="1000"/>
              <a:buChar char="●"/>
            </a:pPr>
            <a:r>
              <a:rPr lang="en" dirty="0"/>
              <a:t>What went well? </a:t>
            </a:r>
            <a:endParaRPr lang="en" dirty="0" smtClean="0"/>
          </a:p>
          <a:p>
            <a:pPr marL="27940" lvl="0" indent="0">
              <a:buNone/>
            </a:pPr>
            <a:r>
              <a:rPr lang="en" dirty="0" smtClean="0"/>
              <a:t>T</a:t>
            </a:r>
            <a:r>
              <a:rPr lang="en-GB" dirty="0"/>
              <a:t>he bias was caught clearly and early with concrete numbers</a:t>
            </a:r>
            <a:r>
              <a:rPr lang="en-GB" dirty="0" smtClean="0"/>
              <a:t>.</a:t>
            </a:r>
          </a:p>
          <a:p>
            <a:pPr marL="27940" lvl="0" indent="0">
              <a:buNone/>
            </a:pPr>
            <a:endParaRPr dirty="0"/>
          </a:p>
          <a:p>
            <a:pPr marL="182880" lvl="0" indent="-154940" algn="l" rtl="0">
              <a:spcBef>
                <a:spcPts val="0"/>
              </a:spcBef>
              <a:spcAft>
                <a:spcPts val="0"/>
              </a:spcAft>
              <a:buSzPts val="1000"/>
              <a:buChar char="●"/>
            </a:pPr>
            <a:r>
              <a:rPr lang="en" dirty="0"/>
              <a:t>What didn’t go so well? </a:t>
            </a:r>
            <a:endParaRPr lang="en" dirty="0" smtClean="0"/>
          </a:p>
          <a:p>
            <a:pPr marL="27940" lvl="0" indent="0">
              <a:buNone/>
            </a:pPr>
            <a:r>
              <a:rPr lang="en-GB" dirty="0"/>
              <a:t>T</a:t>
            </a:r>
            <a:r>
              <a:rPr lang="en-GB" dirty="0" smtClean="0"/>
              <a:t>he </a:t>
            </a:r>
            <a:r>
              <a:rPr lang="en-GB" dirty="0"/>
              <a:t>medium dataset confirmed the bias persists </a:t>
            </a:r>
            <a:r>
              <a:rPr lang="en-GB" dirty="0" smtClean="0"/>
              <a:t>- </a:t>
            </a:r>
            <a:r>
              <a:rPr lang="en-GB" dirty="0"/>
              <a:t>balancing is now unavoidable</a:t>
            </a:r>
            <a:r>
              <a:rPr lang="en-GB" dirty="0" smtClean="0"/>
              <a:t>.</a:t>
            </a:r>
          </a:p>
          <a:p>
            <a:pPr marL="27940" lvl="0" indent="0">
              <a:buNone/>
            </a:pPr>
            <a:endParaRPr dirty="0"/>
          </a:p>
          <a:p>
            <a:pPr marL="182880" lvl="0" indent="-154940" algn="l" rtl="0">
              <a:spcBef>
                <a:spcPts val="0"/>
              </a:spcBef>
              <a:spcAft>
                <a:spcPts val="0"/>
              </a:spcAft>
              <a:buSzPts val="1000"/>
              <a:buChar char="●"/>
            </a:pPr>
            <a:r>
              <a:rPr lang="en" dirty="0"/>
              <a:t>What did you learn? </a:t>
            </a:r>
            <a:endParaRPr lang="en" dirty="0" smtClean="0"/>
          </a:p>
          <a:p>
            <a:pPr marL="27940" lvl="0" indent="0">
              <a:buNone/>
            </a:pPr>
            <a:r>
              <a:rPr lang="en-GB" dirty="0"/>
              <a:t>H</a:t>
            </a:r>
            <a:r>
              <a:rPr lang="en-GB" dirty="0" smtClean="0"/>
              <a:t>ow </a:t>
            </a:r>
            <a:r>
              <a:rPr lang="en-GB" dirty="0"/>
              <a:t>fast an unbalanced source dataset propagates into training even at a bigger scale</a:t>
            </a:r>
            <a:r>
              <a:rPr lang="en-GB" dirty="0" smtClean="0"/>
              <a:t>.</a:t>
            </a:r>
          </a:p>
          <a:p>
            <a:pPr marL="27940" lvl="0" indent="0">
              <a:buNone/>
            </a:pPr>
            <a:endParaRPr dirty="0"/>
          </a:p>
          <a:p>
            <a:pPr marL="182880" lvl="0" indent="-154940" algn="l" rtl="0">
              <a:spcBef>
                <a:spcPts val="0"/>
              </a:spcBef>
              <a:spcAft>
                <a:spcPts val="0"/>
              </a:spcAft>
              <a:buSzPts val="1000"/>
              <a:buChar char="●"/>
            </a:pPr>
            <a:r>
              <a:rPr lang="en" dirty="0"/>
              <a:t>What could be added as an Action point looking forward to next week</a:t>
            </a:r>
            <a:r>
              <a:rPr lang="en" dirty="0" smtClean="0"/>
              <a:t>?</a:t>
            </a:r>
          </a:p>
          <a:p>
            <a:pPr marL="27940" lvl="0" indent="0">
              <a:buNone/>
            </a:pPr>
            <a:r>
              <a:rPr lang="en" dirty="0" smtClean="0"/>
              <a:t>As an Action Point for the next week is to design </a:t>
            </a:r>
            <a:r>
              <a:rPr lang="en-GB" dirty="0" smtClean="0"/>
              <a:t>a </a:t>
            </a:r>
            <a:r>
              <a:rPr lang="en-GB" dirty="0"/>
              <a:t>proper balancing algorithm</a:t>
            </a:r>
            <a:endParaRPr dirty="0"/>
          </a:p>
        </p:txBody>
      </p:sp>
      <p:sp>
        <p:nvSpPr>
          <p:cNvPr id="165" name="Google Shape;165;p20"/>
          <p:cNvSpPr txBox="1">
            <a:spLocks noGrp="1"/>
          </p:cNvSpPr>
          <p:nvPr>
            <p:ph type="title" idx="6"/>
          </p:nvPr>
        </p:nvSpPr>
        <p:spPr>
          <a:xfrm>
            <a:off x="7068300" y="165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dirty="0"/>
              <a:t>1/2</a:t>
            </a:r>
            <a:endParaRPr dirty="0"/>
          </a:p>
        </p:txBody>
      </p:sp>
      <p:sp>
        <p:nvSpPr>
          <p:cNvPr id="166" name="Google Shape;166;p20"/>
          <p:cNvSpPr txBox="1">
            <a:spLocks noGrp="1"/>
          </p:cNvSpPr>
          <p:nvPr>
            <p:ph type="title" idx="5"/>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dirty="0"/>
              <a:t>7</a:t>
            </a:r>
            <a:endParaRPr dirty="0"/>
          </a:p>
        </p:txBody>
      </p:sp>
      <p:sp>
        <p:nvSpPr>
          <p:cNvPr id="167" name="Google Shape;167;p20"/>
          <p:cNvSpPr/>
          <p:nvPr/>
        </p:nvSpPr>
        <p:spPr>
          <a:xfrm>
            <a:off x="0" y="576072"/>
            <a:ext cx="9144000" cy="91500"/>
          </a:xfrm>
          <a:prstGeom prst="rect">
            <a:avLst/>
          </a:prstGeom>
          <a:solidFill>
            <a:srgbClr val="66666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82788043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171"/>
        <p:cNvGrpSpPr/>
        <p:nvPr/>
      </p:nvGrpSpPr>
      <p:grpSpPr>
        <a:xfrm>
          <a:off x="0" y="0"/>
          <a:ext cx="0" cy="0"/>
          <a:chOff x="0" y="0"/>
          <a:chExt cx="0" cy="0"/>
        </a:xfrm>
      </p:grpSpPr>
      <p:sp>
        <p:nvSpPr>
          <p:cNvPr id="172" name="Google Shape;172;p21"/>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dirty="0"/>
              <a:t>Week 7 - Feedback</a:t>
            </a:r>
            <a:endParaRPr dirty="0"/>
          </a:p>
        </p:txBody>
      </p:sp>
      <p:sp>
        <p:nvSpPr>
          <p:cNvPr id="173" name="Google Shape;173;p21"/>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dirty="0"/>
              <a:t>manager, colleague, or team member feedback</a:t>
            </a:r>
            <a:endParaRPr dirty="0"/>
          </a:p>
        </p:txBody>
      </p:sp>
      <p:sp>
        <p:nvSpPr>
          <p:cNvPr id="174" name="Google Shape;174;p21"/>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p>
            <a:pPr marL="182880" lvl="0" indent="-154940"/>
            <a:r>
              <a:rPr lang="en-GB" b="1" dirty="0"/>
              <a:t>D</a:t>
            </a:r>
            <a:r>
              <a:rPr lang="en" b="1" dirty="0"/>
              <a:t>ate: </a:t>
            </a:r>
            <a:r>
              <a:rPr lang="en" dirty="0"/>
              <a:t>27/05/2026</a:t>
            </a:r>
          </a:p>
          <a:p>
            <a:pPr marL="182880" lvl="0" indent="-154940" algn="l" rtl="0">
              <a:spcBef>
                <a:spcPts val="0"/>
              </a:spcBef>
              <a:spcAft>
                <a:spcPts val="0"/>
              </a:spcAft>
              <a:buSzPts val="1000"/>
              <a:buChar char="●"/>
            </a:pPr>
            <a:r>
              <a:rPr lang="en" b="1" dirty="0"/>
              <a:t>Feedback </a:t>
            </a:r>
            <a:r>
              <a:rPr lang="en" b="1" dirty="0" smtClean="0"/>
              <a:t>from: </a:t>
            </a:r>
            <a:r>
              <a:rPr lang="en" dirty="0" smtClean="0"/>
              <a:t>Borislav Nachev (peer)</a:t>
            </a:r>
            <a:endParaRPr lang="en" dirty="0"/>
          </a:p>
          <a:p>
            <a:pPr marL="182880" lvl="0" indent="-154940"/>
            <a:r>
              <a:rPr lang="en" b="1" dirty="0"/>
              <a:t>Feedback</a:t>
            </a:r>
            <a:r>
              <a:rPr lang="en" b="1" dirty="0" smtClean="0"/>
              <a:t>: </a:t>
            </a:r>
            <a:r>
              <a:rPr lang="en-GB" dirty="0"/>
              <a:t>The class and country imbalance you found is worse than I expected, especially the Japan skew, and it's good that you quantified it properly rather than just noting it was "unbalanced." Since D20 and D40 are your highest-severity classes in the risk model, this imbalance has a direct effect on what the model will be good or bad at scoring. Worth explaining that connection explicitly when you write this section up.</a:t>
            </a:r>
            <a:endParaRPr lang="en" dirty="0"/>
          </a:p>
          <a:p>
            <a:pPr marL="182880" lvl="0" indent="-154940"/>
            <a:r>
              <a:rPr lang="en" b="1" dirty="0"/>
              <a:t>Related to what task: </a:t>
            </a:r>
            <a:r>
              <a:rPr lang="en-GB" dirty="0" smtClean="0"/>
              <a:t>Dataset </a:t>
            </a:r>
            <a:r>
              <a:rPr lang="en-GB" dirty="0"/>
              <a:t>bias audit</a:t>
            </a:r>
            <a:endParaRPr lang="en" dirty="0"/>
          </a:p>
          <a:p>
            <a:pPr marL="182880" lvl="0" indent="-154940"/>
            <a:r>
              <a:rPr lang="en" b="1" dirty="0"/>
              <a:t>Response/action coming forward from this: </a:t>
            </a:r>
            <a:r>
              <a:rPr lang="en" dirty="0" smtClean="0"/>
              <a:t>L</a:t>
            </a:r>
            <a:r>
              <a:rPr lang="en-GB" dirty="0" smtClean="0"/>
              <a:t>inked </a:t>
            </a:r>
            <a:r>
              <a:rPr lang="en-GB" dirty="0"/>
              <a:t>the bias discussion to the risk-scoring severity table in the write-up plan.</a:t>
            </a:r>
            <a:endParaRPr lang="en" dirty="0"/>
          </a:p>
        </p:txBody>
      </p:sp>
      <p:sp>
        <p:nvSpPr>
          <p:cNvPr id="175" name="Google Shape;175;p21"/>
          <p:cNvSpPr txBox="1">
            <a:spLocks noGrp="1"/>
          </p:cNvSpPr>
          <p:nvPr>
            <p:ph type="title" idx="4"/>
          </p:nvPr>
        </p:nvSpPr>
        <p:spPr>
          <a:xfrm>
            <a:off x="7068300" y="165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2/2</a:t>
            </a:r>
            <a:endParaRPr/>
          </a:p>
        </p:txBody>
      </p:sp>
      <p:sp>
        <p:nvSpPr>
          <p:cNvPr id="176" name="Google Shape;176;p21"/>
          <p:cNvSpPr txBox="1">
            <a:spLocks noGrp="1"/>
          </p:cNvSpPr>
          <p:nvPr>
            <p:ph type="title" idx="3"/>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dirty="0"/>
              <a:t>7</a:t>
            </a:r>
            <a:endParaRPr dirty="0"/>
          </a:p>
        </p:txBody>
      </p:sp>
    </p:spTree>
    <p:extLst>
      <p:ext uri="{BB962C8B-B14F-4D97-AF65-F5344CB8AC3E}">
        <p14:creationId xmlns:p14="http://schemas.microsoft.com/office/powerpoint/2010/main" val="140116529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159"/>
        <p:cNvGrpSpPr/>
        <p:nvPr/>
      </p:nvGrpSpPr>
      <p:grpSpPr>
        <a:xfrm>
          <a:off x="0" y="0"/>
          <a:ext cx="0" cy="0"/>
          <a:chOff x="0" y="0"/>
          <a:chExt cx="0" cy="0"/>
        </a:xfrm>
      </p:grpSpPr>
      <p:sp>
        <p:nvSpPr>
          <p:cNvPr id="160" name="Google Shape;160;p20"/>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r>
              <a:rPr lang="en" dirty="0"/>
              <a:t>Week 8 - Log</a:t>
            </a:r>
            <a:endParaRPr lang="en-US" dirty="0"/>
          </a:p>
        </p:txBody>
      </p:sp>
      <p:sp>
        <p:nvSpPr>
          <p:cNvPr id="161" name="Google Shape;161;p20"/>
          <p:cNvSpPr txBox="1">
            <a:spLocks noGrp="1"/>
          </p:cNvSpPr>
          <p:nvPr>
            <p:ph type="subTitle" idx="4"/>
          </p:nvPr>
        </p:nvSpPr>
        <p:spPr>
          <a:xfrm>
            <a:off x="4663440" y="758952"/>
            <a:ext cx="42978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Reflection</a:t>
            </a:r>
            <a:endParaRPr/>
          </a:p>
        </p:txBody>
      </p:sp>
      <p:sp>
        <p:nvSpPr>
          <p:cNvPr id="162" name="Google Shape;162;p20"/>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What did you do?</a:t>
            </a:r>
            <a:endParaRPr/>
          </a:p>
        </p:txBody>
      </p:sp>
      <p:sp>
        <p:nvSpPr>
          <p:cNvPr id="163" name="Google Shape;163;p20"/>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dirty="0"/>
              <a:t>What goal(s) did you set for this week</a:t>
            </a:r>
            <a:r>
              <a:rPr lang="en" dirty="0" smtClean="0"/>
              <a:t>?</a:t>
            </a:r>
          </a:p>
          <a:p>
            <a:pPr marL="27940" lvl="0" indent="0">
              <a:buNone/>
            </a:pPr>
            <a:r>
              <a:rPr lang="en" dirty="0" smtClean="0"/>
              <a:t>The goal for this week is to </a:t>
            </a:r>
            <a:r>
              <a:rPr lang="en-GB" dirty="0"/>
              <a:t>design and build a properly balanced large dataset</a:t>
            </a:r>
            <a:r>
              <a:rPr lang="en-GB" dirty="0" smtClean="0"/>
              <a:t>.</a:t>
            </a:r>
          </a:p>
          <a:p>
            <a:pPr marL="27940" lvl="0" indent="0">
              <a:buNone/>
            </a:pPr>
            <a:endParaRPr dirty="0"/>
          </a:p>
          <a:p>
            <a:pPr marL="182880" lvl="0" indent="-154940" algn="l" rtl="0">
              <a:spcBef>
                <a:spcPts val="0"/>
              </a:spcBef>
              <a:spcAft>
                <a:spcPts val="0"/>
              </a:spcAft>
              <a:buSzPts val="1000"/>
              <a:buChar char="●"/>
            </a:pPr>
            <a:r>
              <a:rPr lang="en" dirty="0"/>
              <a:t>What have you actually been able to do? </a:t>
            </a:r>
            <a:endParaRPr lang="en" dirty="0" smtClean="0"/>
          </a:p>
          <a:p>
            <a:pPr marL="27940" lvl="0" indent="0">
              <a:buNone/>
            </a:pPr>
            <a:r>
              <a:rPr lang="en-GB" dirty="0"/>
              <a:t>D</a:t>
            </a:r>
            <a:r>
              <a:rPr lang="en-GB" dirty="0" smtClean="0"/>
              <a:t>esigned </a:t>
            </a:r>
            <a:r>
              <a:rPr lang="en-GB" dirty="0"/>
              <a:t>a water-filling balancing algorithm handling D40's 4-country constraint; implemented, unit-tested, and ran it to build the large dataset (4,291/597/592); verified output, added damage-free negatives</a:t>
            </a:r>
            <a:r>
              <a:rPr lang="en-GB" dirty="0" smtClean="0"/>
              <a:t>.</a:t>
            </a:r>
          </a:p>
          <a:p>
            <a:pPr marL="27940" lvl="0" indent="0">
              <a:buNone/>
            </a:pPr>
            <a:endParaRPr dirty="0"/>
          </a:p>
          <a:p>
            <a:pPr marL="182880" lvl="0" indent="-154940" algn="l" rtl="0">
              <a:spcBef>
                <a:spcPts val="0"/>
              </a:spcBef>
              <a:spcAft>
                <a:spcPts val="0"/>
              </a:spcAft>
              <a:buSzPts val="1000"/>
              <a:buChar char="●"/>
            </a:pPr>
            <a:r>
              <a:rPr lang="en" dirty="0"/>
              <a:t>Showcase what tasks you have been working on this week and provide evidence for it</a:t>
            </a:r>
            <a:r>
              <a:rPr lang="en" dirty="0" smtClean="0"/>
              <a:t>.</a:t>
            </a:r>
          </a:p>
          <a:p>
            <a:pPr marL="27940" lvl="0" indent="0" algn="l" rtl="0">
              <a:spcBef>
                <a:spcPts val="0"/>
              </a:spcBef>
              <a:spcAft>
                <a:spcPts val="0"/>
              </a:spcAft>
              <a:buSzPts val="1000"/>
              <a:buNone/>
            </a:pPr>
            <a:endParaRPr lang="en" dirty="0" smtClean="0"/>
          </a:p>
          <a:p>
            <a:pPr marL="27940" lvl="0" indent="0" algn="l" rtl="0">
              <a:spcBef>
                <a:spcPts val="0"/>
              </a:spcBef>
              <a:spcAft>
                <a:spcPts val="0"/>
              </a:spcAft>
              <a:buSzPts val="1000"/>
              <a:buNone/>
            </a:pPr>
            <a:endParaRPr lang="en" dirty="0"/>
          </a:p>
          <a:p>
            <a:pPr marL="27940" lvl="0" indent="0">
              <a:buNone/>
            </a:pPr>
            <a:r>
              <a:rPr lang="en-GB" u="sng" dirty="0">
                <a:hlinkClick r:id="rId3"/>
              </a:rPr>
              <a:t>scripts/create_rdd2022_4classes_large.py</a:t>
            </a:r>
            <a:r>
              <a:rPr lang="en-GB" dirty="0"/>
              <a:t> </a:t>
            </a:r>
            <a:endParaRPr lang="en-GB" dirty="0" smtClean="0"/>
          </a:p>
          <a:p>
            <a:pPr marL="27940" lvl="0" indent="0">
              <a:buNone/>
            </a:pPr>
            <a:endParaRPr lang="en-GB" dirty="0"/>
          </a:p>
          <a:p>
            <a:pPr marL="27940" lvl="0" indent="0">
              <a:buNone/>
            </a:pPr>
            <a:r>
              <a:rPr lang="en-GB" u="sng" dirty="0">
                <a:hlinkClick r:id="rId4"/>
              </a:rPr>
              <a:t>data</a:t>
            </a:r>
            <a:r>
              <a:rPr lang="en-GB" dirty="0"/>
              <a:t> </a:t>
            </a:r>
            <a:endParaRPr lang="en-GB" dirty="0" smtClean="0"/>
          </a:p>
          <a:p>
            <a:pPr marL="27940" lvl="0" indent="0">
              <a:buNone/>
            </a:pPr>
            <a:endParaRPr lang="en-GB" dirty="0"/>
          </a:p>
          <a:p>
            <a:pPr marL="27940" lvl="0" indent="0">
              <a:buNone/>
            </a:pPr>
            <a:r>
              <a:rPr lang="en-GB" u="sng" dirty="0">
                <a:hlinkClick r:id="rId5"/>
              </a:rPr>
              <a:t>thesis Table A.1</a:t>
            </a:r>
            <a:r>
              <a:rPr lang="en-GB" dirty="0"/>
              <a:t> </a:t>
            </a:r>
            <a:endParaRPr lang="en" dirty="0"/>
          </a:p>
        </p:txBody>
      </p:sp>
      <p:sp>
        <p:nvSpPr>
          <p:cNvPr id="164" name="Google Shape;164;p20"/>
          <p:cNvSpPr txBox="1">
            <a:spLocks noGrp="1"/>
          </p:cNvSpPr>
          <p:nvPr>
            <p:ph type="body" idx="3"/>
          </p:nvPr>
        </p:nvSpPr>
        <p:spPr>
          <a:xfrm>
            <a:off x="4663450" y="1152698"/>
            <a:ext cx="4297800" cy="16257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dirty="0"/>
              <a:t>How did the week go? </a:t>
            </a:r>
            <a:endParaRPr lang="en" dirty="0" smtClean="0"/>
          </a:p>
          <a:p>
            <a:pPr marL="27940" lvl="0" indent="0" algn="l" rtl="0">
              <a:spcBef>
                <a:spcPts val="0"/>
              </a:spcBef>
              <a:spcAft>
                <a:spcPts val="0"/>
              </a:spcAft>
              <a:buSzPts val="1000"/>
              <a:buNone/>
            </a:pPr>
            <a:r>
              <a:rPr lang="en" dirty="0" smtClean="0"/>
              <a:t>The week went well. The trickiest part (D40) was solved cleanly.</a:t>
            </a:r>
          </a:p>
          <a:p>
            <a:pPr marL="27940" lvl="0" indent="0" algn="l" rtl="0">
              <a:spcBef>
                <a:spcPts val="0"/>
              </a:spcBef>
              <a:spcAft>
                <a:spcPts val="0"/>
              </a:spcAft>
              <a:buSzPts val="1000"/>
              <a:buNone/>
            </a:pPr>
            <a:endParaRPr dirty="0"/>
          </a:p>
          <a:p>
            <a:pPr marL="182880" lvl="0" indent="-154940" algn="l" rtl="0">
              <a:spcBef>
                <a:spcPts val="0"/>
              </a:spcBef>
              <a:spcAft>
                <a:spcPts val="0"/>
              </a:spcAft>
              <a:buSzPts val="1000"/>
              <a:buChar char="●"/>
            </a:pPr>
            <a:r>
              <a:rPr lang="en" dirty="0"/>
              <a:t>What went well? </a:t>
            </a:r>
            <a:endParaRPr lang="en" dirty="0" smtClean="0"/>
          </a:p>
          <a:p>
            <a:pPr marL="27940" lvl="0" indent="0">
              <a:buNone/>
            </a:pPr>
            <a:r>
              <a:rPr lang="en-GB" dirty="0"/>
              <a:t>T</a:t>
            </a:r>
            <a:r>
              <a:rPr lang="en-GB" dirty="0" smtClean="0"/>
              <a:t>he </a:t>
            </a:r>
            <a:r>
              <a:rPr lang="en-GB" dirty="0"/>
              <a:t>water-filling allocation generalised without special-casing every class</a:t>
            </a:r>
            <a:r>
              <a:rPr lang="en-GB" dirty="0" smtClean="0"/>
              <a:t>.</a:t>
            </a:r>
          </a:p>
          <a:p>
            <a:pPr marL="27940" lvl="0" indent="0">
              <a:buNone/>
            </a:pPr>
            <a:endParaRPr dirty="0"/>
          </a:p>
          <a:p>
            <a:pPr marL="182880" lvl="0" indent="-154940" algn="l" rtl="0">
              <a:spcBef>
                <a:spcPts val="0"/>
              </a:spcBef>
              <a:spcAft>
                <a:spcPts val="0"/>
              </a:spcAft>
              <a:buSzPts val="1000"/>
              <a:buChar char="●"/>
            </a:pPr>
            <a:r>
              <a:rPr lang="en" dirty="0"/>
              <a:t>What didn’t go so well? </a:t>
            </a:r>
            <a:endParaRPr lang="en" dirty="0" smtClean="0"/>
          </a:p>
          <a:p>
            <a:pPr marL="27940" lvl="0" indent="0">
              <a:buNone/>
            </a:pPr>
            <a:r>
              <a:rPr lang="en-GB" dirty="0"/>
              <a:t>G</a:t>
            </a:r>
            <a:r>
              <a:rPr lang="en-GB" dirty="0" smtClean="0"/>
              <a:t>etting </a:t>
            </a:r>
            <a:r>
              <a:rPr lang="en-GB" dirty="0"/>
              <a:t>D40's quota maths right took a couple of iterations</a:t>
            </a:r>
            <a:r>
              <a:rPr lang="en-GB" dirty="0" smtClean="0"/>
              <a:t>.</a:t>
            </a:r>
          </a:p>
          <a:p>
            <a:pPr marL="27940" lvl="0" indent="0">
              <a:buNone/>
            </a:pPr>
            <a:endParaRPr dirty="0"/>
          </a:p>
          <a:p>
            <a:pPr marL="182880" lvl="0" indent="-154940" algn="l" rtl="0">
              <a:spcBef>
                <a:spcPts val="0"/>
              </a:spcBef>
              <a:spcAft>
                <a:spcPts val="0"/>
              </a:spcAft>
              <a:buSzPts val="1000"/>
              <a:buChar char="●"/>
            </a:pPr>
            <a:r>
              <a:rPr lang="en" dirty="0"/>
              <a:t>What did you learn? </a:t>
            </a:r>
            <a:endParaRPr lang="en" dirty="0" smtClean="0"/>
          </a:p>
          <a:p>
            <a:pPr marL="27940" lvl="0" indent="0">
              <a:buNone/>
            </a:pPr>
            <a:r>
              <a:rPr lang="en" dirty="0" smtClean="0"/>
              <a:t>During the week I learnt </a:t>
            </a:r>
            <a:r>
              <a:rPr lang="en-GB" dirty="0"/>
              <a:t>how to design a fair allocation when the constraint set differs per category</a:t>
            </a:r>
            <a:r>
              <a:rPr lang="en-GB" dirty="0" smtClean="0"/>
              <a:t>.</a:t>
            </a:r>
          </a:p>
          <a:p>
            <a:pPr marL="27940" lvl="0" indent="0">
              <a:buNone/>
            </a:pPr>
            <a:endParaRPr dirty="0"/>
          </a:p>
          <a:p>
            <a:pPr marL="182880" lvl="0" indent="-154940" algn="l" rtl="0">
              <a:spcBef>
                <a:spcPts val="0"/>
              </a:spcBef>
              <a:spcAft>
                <a:spcPts val="0"/>
              </a:spcAft>
              <a:buSzPts val="1000"/>
              <a:buChar char="●"/>
            </a:pPr>
            <a:r>
              <a:rPr lang="en" dirty="0"/>
              <a:t>What could be added as an Action point looking forward to next week</a:t>
            </a:r>
            <a:r>
              <a:rPr lang="en" dirty="0" smtClean="0"/>
              <a:t>?</a:t>
            </a:r>
          </a:p>
          <a:p>
            <a:pPr marL="27940" lvl="0" indent="0">
              <a:buNone/>
            </a:pPr>
            <a:r>
              <a:rPr lang="en" dirty="0" smtClean="0"/>
              <a:t>As an Action Point for the next week is to </a:t>
            </a:r>
            <a:r>
              <a:rPr lang="en-GB" dirty="0"/>
              <a:t>train both models on the final large dataset.</a:t>
            </a:r>
            <a:endParaRPr dirty="0"/>
          </a:p>
        </p:txBody>
      </p:sp>
      <p:sp>
        <p:nvSpPr>
          <p:cNvPr id="165" name="Google Shape;165;p20"/>
          <p:cNvSpPr txBox="1">
            <a:spLocks noGrp="1"/>
          </p:cNvSpPr>
          <p:nvPr>
            <p:ph type="title" idx="6"/>
          </p:nvPr>
        </p:nvSpPr>
        <p:spPr>
          <a:xfrm>
            <a:off x="7068300" y="165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dirty="0"/>
              <a:t>1/2</a:t>
            </a:r>
            <a:endParaRPr dirty="0"/>
          </a:p>
        </p:txBody>
      </p:sp>
      <p:sp>
        <p:nvSpPr>
          <p:cNvPr id="166" name="Google Shape;166;p20"/>
          <p:cNvSpPr txBox="1">
            <a:spLocks noGrp="1"/>
          </p:cNvSpPr>
          <p:nvPr>
            <p:ph type="title" idx="5"/>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dirty="0"/>
              <a:t>8</a:t>
            </a:r>
            <a:endParaRPr dirty="0"/>
          </a:p>
        </p:txBody>
      </p:sp>
      <p:sp>
        <p:nvSpPr>
          <p:cNvPr id="167" name="Google Shape;167;p20"/>
          <p:cNvSpPr/>
          <p:nvPr/>
        </p:nvSpPr>
        <p:spPr>
          <a:xfrm>
            <a:off x="0" y="576072"/>
            <a:ext cx="9144000" cy="91500"/>
          </a:xfrm>
          <a:prstGeom prst="rect">
            <a:avLst/>
          </a:prstGeom>
          <a:solidFill>
            <a:srgbClr val="66666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58989393"/>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171"/>
        <p:cNvGrpSpPr/>
        <p:nvPr/>
      </p:nvGrpSpPr>
      <p:grpSpPr>
        <a:xfrm>
          <a:off x="0" y="0"/>
          <a:ext cx="0" cy="0"/>
          <a:chOff x="0" y="0"/>
          <a:chExt cx="0" cy="0"/>
        </a:xfrm>
      </p:grpSpPr>
      <p:sp>
        <p:nvSpPr>
          <p:cNvPr id="172" name="Google Shape;172;p21"/>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dirty="0"/>
              <a:t>Week 8 - Feedback</a:t>
            </a:r>
            <a:endParaRPr dirty="0"/>
          </a:p>
        </p:txBody>
      </p:sp>
      <p:sp>
        <p:nvSpPr>
          <p:cNvPr id="173" name="Google Shape;173;p21"/>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dirty="0"/>
              <a:t>manager, colleague, or team member feedback</a:t>
            </a:r>
            <a:endParaRPr dirty="0"/>
          </a:p>
        </p:txBody>
      </p:sp>
      <p:sp>
        <p:nvSpPr>
          <p:cNvPr id="174" name="Google Shape;174;p21"/>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p>
            <a:pPr marL="182880" lvl="0" indent="-154940"/>
            <a:r>
              <a:rPr lang="en-GB" b="1" dirty="0"/>
              <a:t>D</a:t>
            </a:r>
            <a:r>
              <a:rPr lang="en" b="1" dirty="0"/>
              <a:t>ate: </a:t>
            </a:r>
            <a:r>
              <a:rPr lang="en" dirty="0"/>
              <a:t>03/06/2026</a:t>
            </a:r>
          </a:p>
          <a:p>
            <a:pPr marL="182880" lvl="0" indent="-154940" algn="l" rtl="0">
              <a:spcBef>
                <a:spcPts val="0"/>
              </a:spcBef>
              <a:spcAft>
                <a:spcPts val="0"/>
              </a:spcAft>
              <a:buSzPts val="1000"/>
              <a:buChar char="●"/>
            </a:pPr>
            <a:r>
              <a:rPr lang="en" b="1" dirty="0"/>
              <a:t>Feedback from</a:t>
            </a:r>
            <a:r>
              <a:rPr lang="en" b="1" dirty="0" smtClean="0"/>
              <a:t>: </a:t>
            </a:r>
            <a:r>
              <a:rPr lang="en" dirty="0" smtClean="0"/>
              <a:t>Borislav Nachev (peer)</a:t>
            </a:r>
            <a:endParaRPr lang="en" dirty="0"/>
          </a:p>
          <a:p>
            <a:pPr marL="182880" lvl="0" indent="-154940"/>
            <a:r>
              <a:rPr lang="en" b="1" dirty="0"/>
              <a:t>Feedback</a:t>
            </a:r>
            <a:r>
              <a:rPr lang="en" b="1" dirty="0" smtClean="0"/>
              <a:t>: </a:t>
            </a:r>
            <a:r>
              <a:rPr lang="en-GB" dirty="0"/>
              <a:t>The water-filling approach is a clean way to handle a genuinely awkward constraint </a:t>
            </a:r>
            <a:r>
              <a:rPr lang="en-GB" dirty="0" smtClean="0"/>
              <a:t>- </a:t>
            </a:r>
            <a:r>
              <a:rPr lang="en-GB" dirty="0"/>
              <a:t>D40 only existing in four of the seven countries isn't a simple case, and a naive even split across all seven would have been wrong. It's explainable, which matters for the thesis, since you can walk a reader through exactly why each country got the share it did. This looks like solid, defensible methodology work.</a:t>
            </a:r>
            <a:endParaRPr lang="en" dirty="0"/>
          </a:p>
          <a:p>
            <a:pPr marL="182880" lvl="0" indent="-154940"/>
            <a:r>
              <a:rPr lang="en" b="1" dirty="0"/>
              <a:t>Related to what task: </a:t>
            </a:r>
            <a:r>
              <a:rPr lang="en-GB" dirty="0"/>
              <a:t>dataset balancing algorithm.</a:t>
            </a:r>
            <a:endParaRPr lang="en" dirty="0"/>
          </a:p>
          <a:p>
            <a:pPr marL="182880" lvl="0" indent="-154940"/>
            <a:r>
              <a:rPr lang="en" b="1" dirty="0"/>
              <a:t>Response/action coming forward from this: </a:t>
            </a:r>
            <a:r>
              <a:rPr lang="en-GB" dirty="0"/>
              <a:t>added the algorithm's reasoning to the Methodology section.</a:t>
            </a:r>
          </a:p>
          <a:p>
            <a:pPr marL="182880" lvl="0" indent="-154940" algn="l" rtl="0">
              <a:spcBef>
                <a:spcPts val="0"/>
              </a:spcBef>
              <a:spcAft>
                <a:spcPts val="0"/>
              </a:spcAft>
              <a:buSzPts val="1000"/>
              <a:buChar char="●"/>
            </a:pPr>
            <a:endParaRPr lang="en" b="1" dirty="0"/>
          </a:p>
        </p:txBody>
      </p:sp>
      <p:sp>
        <p:nvSpPr>
          <p:cNvPr id="175" name="Google Shape;175;p21"/>
          <p:cNvSpPr txBox="1">
            <a:spLocks noGrp="1"/>
          </p:cNvSpPr>
          <p:nvPr>
            <p:ph type="title" idx="4"/>
          </p:nvPr>
        </p:nvSpPr>
        <p:spPr>
          <a:xfrm>
            <a:off x="7068300" y="165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2/2</a:t>
            </a:r>
            <a:endParaRPr/>
          </a:p>
        </p:txBody>
      </p:sp>
      <p:sp>
        <p:nvSpPr>
          <p:cNvPr id="176" name="Google Shape;176;p21"/>
          <p:cNvSpPr txBox="1">
            <a:spLocks noGrp="1"/>
          </p:cNvSpPr>
          <p:nvPr>
            <p:ph type="title" idx="3"/>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dirty="0"/>
              <a:t>8</a:t>
            </a:r>
            <a:endParaRPr dirty="0"/>
          </a:p>
        </p:txBody>
      </p:sp>
    </p:spTree>
    <p:extLst>
      <p:ext uri="{BB962C8B-B14F-4D97-AF65-F5344CB8AC3E}">
        <p14:creationId xmlns:p14="http://schemas.microsoft.com/office/powerpoint/2010/main" val="3888212634"/>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159"/>
        <p:cNvGrpSpPr/>
        <p:nvPr/>
      </p:nvGrpSpPr>
      <p:grpSpPr>
        <a:xfrm>
          <a:off x="0" y="0"/>
          <a:ext cx="0" cy="0"/>
          <a:chOff x="0" y="0"/>
          <a:chExt cx="0" cy="0"/>
        </a:xfrm>
      </p:grpSpPr>
      <p:sp>
        <p:nvSpPr>
          <p:cNvPr id="160" name="Google Shape;160;p20"/>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r>
              <a:rPr lang="en" dirty="0"/>
              <a:t>Week 9 - Log</a:t>
            </a:r>
            <a:endParaRPr lang="en-US" dirty="0"/>
          </a:p>
        </p:txBody>
      </p:sp>
      <p:sp>
        <p:nvSpPr>
          <p:cNvPr id="161" name="Google Shape;161;p20"/>
          <p:cNvSpPr txBox="1">
            <a:spLocks noGrp="1"/>
          </p:cNvSpPr>
          <p:nvPr>
            <p:ph type="subTitle" idx="4"/>
          </p:nvPr>
        </p:nvSpPr>
        <p:spPr>
          <a:xfrm>
            <a:off x="4663440" y="758952"/>
            <a:ext cx="42978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Reflection</a:t>
            </a:r>
            <a:endParaRPr/>
          </a:p>
        </p:txBody>
      </p:sp>
      <p:sp>
        <p:nvSpPr>
          <p:cNvPr id="162" name="Google Shape;162;p20"/>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What did you do?</a:t>
            </a:r>
            <a:endParaRPr/>
          </a:p>
        </p:txBody>
      </p:sp>
      <p:sp>
        <p:nvSpPr>
          <p:cNvPr id="163" name="Google Shape;163;p20"/>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dirty="0"/>
              <a:t>What goal(s) did you set for this week</a:t>
            </a:r>
            <a:r>
              <a:rPr lang="en" dirty="0" smtClean="0"/>
              <a:t>?</a:t>
            </a:r>
          </a:p>
          <a:p>
            <a:pPr marL="27940" lvl="0" indent="0">
              <a:buNone/>
            </a:pPr>
            <a:r>
              <a:rPr lang="en-GB" dirty="0" smtClean="0"/>
              <a:t>T</a:t>
            </a:r>
            <a:r>
              <a:rPr lang="en" dirty="0" smtClean="0"/>
              <a:t>he goal for this week is to </a:t>
            </a:r>
            <a:r>
              <a:rPr lang="en-GB" dirty="0"/>
              <a:t>train both models on the large dataset and properly evaluate the architecture comparison</a:t>
            </a:r>
            <a:r>
              <a:rPr lang="en-GB" dirty="0" smtClean="0"/>
              <a:t>.</a:t>
            </a:r>
          </a:p>
          <a:p>
            <a:pPr marL="27940" lvl="0" indent="0">
              <a:buNone/>
            </a:pPr>
            <a:endParaRPr dirty="0"/>
          </a:p>
          <a:p>
            <a:pPr marL="182880" lvl="0" indent="-154940" algn="l" rtl="0">
              <a:spcBef>
                <a:spcPts val="0"/>
              </a:spcBef>
              <a:spcAft>
                <a:spcPts val="0"/>
              </a:spcAft>
              <a:buSzPts val="1000"/>
              <a:buChar char="●"/>
            </a:pPr>
            <a:r>
              <a:rPr lang="en" dirty="0"/>
              <a:t>What have you actually been able to do? </a:t>
            </a:r>
            <a:endParaRPr lang="en" dirty="0" smtClean="0"/>
          </a:p>
          <a:p>
            <a:pPr marL="27940" lvl="0" indent="0">
              <a:buNone/>
            </a:pPr>
            <a:r>
              <a:rPr lang="en" dirty="0" smtClean="0"/>
              <a:t>I </a:t>
            </a:r>
            <a:r>
              <a:rPr lang="en-GB" dirty="0"/>
              <a:t>trained YOLOv8n and Faster R-CNN (fixing another FRCNN memory error), evaluated both, computed per-class mAP50-95, discovered FRCNN's overfitting (best checkpoint at epoch 2 of 22</a:t>
            </a:r>
            <a:r>
              <a:rPr lang="en-GB" dirty="0" smtClean="0"/>
              <a:t>).</a:t>
            </a:r>
          </a:p>
          <a:p>
            <a:pPr marL="27940" lvl="0" indent="0">
              <a:buNone/>
            </a:pPr>
            <a:endParaRPr dirty="0"/>
          </a:p>
          <a:p>
            <a:pPr marL="182880" lvl="0" indent="-154940" algn="l" rtl="0">
              <a:spcBef>
                <a:spcPts val="0"/>
              </a:spcBef>
              <a:spcAft>
                <a:spcPts val="0"/>
              </a:spcAft>
              <a:buSzPts val="1000"/>
              <a:buChar char="●"/>
            </a:pPr>
            <a:r>
              <a:rPr lang="en" dirty="0"/>
              <a:t>Showcase what tasks you have been working on this week and provide evidence for it</a:t>
            </a:r>
            <a:r>
              <a:rPr lang="en" dirty="0" smtClean="0"/>
              <a:t>.</a:t>
            </a:r>
          </a:p>
          <a:p>
            <a:pPr marL="27940" lvl="0" indent="0" algn="l" rtl="0">
              <a:spcBef>
                <a:spcPts val="0"/>
              </a:spcBef>
              <a:spcAft>
                <a:spcPts val="0"/>
              </a:spcAft>
              <a:buSzPts val="1000"/>
              <a:buNone/>
            </a:pPr>
            <a:endParaRPr lang="en" dirty="0" smtClean="0"/>
          </a:p>
          <a:p>
            <a:pPr marL="27940" lvl="0" indent="0" algn="l" rtl="0">
              <a:spcBef>
                <a:spcPts val="0"/>
              </a:spcBef>
              <a:spcAft>
                <a:spcPts val="0"/>
              </a:spcAft>
              <a:buSzPts val="1000"/>
              <a:buNone/>
            </a:pPr>
            <a:endParaRPr lang="en" dirty="0"/>
          </a:p>
          <a:p>
            <a:pPr marL="27940" lvl="0" indent="0">
              <a:buNone/>
            </a:pPr>
            <a:r>
              <a:rPr lang="en-GB" u="sng" dirty="0" err="1">
                <a:hlinkClick r:id="rId3"/>
              </a:rPr>
              <a:t>YoLo_large_dataset_train</a:t>
            </a:r>
            <a:r>
              <a:rPr lang="en-GB" dirty="0"/>
              <a:t> </a:t>
            </a:r>
            <a:endParaRPr lang="en-GB" dirty="0" smtClean="0"/>
          </a:p>
          <a:p>
            <a:pPr marL="27940" lvl="0" indent="0">
              <a:buNone/>
            </a:pPr>
            <a:endParaRPr lang="en-GB" dirty="0"/>
          </a:p>
          <a:p>
            <a:pPr marL="27940" lvl="0" indent="0">
              <a:buNone/>
            </a:pPr>
            <a:r>
              <a:rPr lang="nb-NO" u="sng" dirty="0">
                <a:hlinkClick r:id="rId4"/>
              </a:rPr>
              <a:t>Faster RNN large dataset train</a:t>
            </a:r>
            <a:r>
              <a:rPr lang="nb-NO" dirty="0"/>
              <a:t> </a:t>
            </a:r>
            <a:endParaRPr lang="nb-NO" dirty="0" smtClean="0"/>
          </a:p>
          <a:p>
            <a:pPr marL="27940" lvl="0" indent="0">
              <a:buNone/>
            </a:pPr>
            <a:endParaRPr lang="nb-NO" dirty="0"/>
          </a:p>
          <a:p>
            <a:pPr marL="27940" lvl="0" indent="0">
              <a:buNone/>
            </a:pPr>
            <a:endParaRPr lang="en" dirty="0"/>
          </a:p>
        </p:txBody>
      </p:sp>
      <p:sp>
        <p:nvSpPr>
          <p:cNvPr id="164" name="Google Shape;164;p20"/>
          <p:cNvSpPr txBox="1">
            <a:spLocks noGrp="1"/>
          </p:cNvSpPr>
          <p:nvPr>
            <p:ph type="body" idx="3"/>
          </p:nvPr>
        </p:nvSpPr>
        <p:spPr>
          <a:xfrm>
            <a:off x="4663450" y="1152698"/>
            <a:ext cx="4297800" cy="16257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dirty="0"/>
              <a:t>How did the week go? </a:t>
            </a:r>
            <a:endParaRPr lang="en" dirty="0" smtClean="0"/>
          </a:p>
          <a:p>
            <a:pPr marL="27940" lvl="0" indent="0">
              <a:buNone/>
            </a:pPr>
            <a:r>
              <a:rPr lang="en" dirty="0" smtClean="0"/>
              <a:t>The week went partly well - </a:t>
            </a:r>
            <a:r>
              <a:rPr lang="en-GB" dirty="0"/>
              <a:t> good YOLOv8n results, a clear FRCNN </a:t>
            </a:r>
            <a:r>
              <a:rPr lang="en-GB" dirty="0" smtClean="0"/>
              <a:t>problem</a:t>
            </a:r>
          </a:p>
          <a:p>
            <a:pPr marL="27940" lvl="0" indent="0">
              <a:buNone/>
            </a:pPr>
            <a:endParaRPr dirty="0"/>
          </a:p>
          <a:p>
            <a:pPr marL="182880" lvl="0" indent="-154940"/>
            <a:r>
              <a:rPr lang="en" dirty="0"/>
              <a:t>What went well? </a:t>
            </a:r>
            <a:endParaRPr lang="en" dirty="0" smtClean="0"/>
          </a:p>
          <a:p>
            <a:pPr marL="27940" lvl="0" indent="0">
              <a:buNone/>
            </a:pPr>
            <a:r>
              <a:rPr lang="en-GB" dirty="0" smtClean="0"/>
              <a:t>D40 </a:t>
            </a:r>
            <a:r>
              <a:rPr lang="en-GB" dirty="0"/>
              <a:t>became the strongest class for both models after balancing</a:t>
            </a:r>
            <a:r>
              <a:rPr lang="en-GB" dirty="0" smtClean="0"/>
              <a:t>.</a:t>
            </a:r>
          </a:p>
          <a:p>
            <a:pPr marL="27940" lvl="0" indent="0">
              <a:buNone/>
            </a:pPr>
            <a:endParaRPr dirty="0"/>
          </a:p>
          <a:p>
            <a:pPr marL="182880" lvl="0" indent="-154940" algn="l" rtl="0">
              <a:spcBef>
                <a:spcPts val="0"/>
              </a:spcBef>
              <a:spcAft>
                <a:spcPts val="0"/>
              </a:spcAft>
              <a:buSzPts val="1000"/>
              <a:buChar char="●"/>
            </a:pPr>
            <a:r>
              <a:rPr lang="en" dirty="0"/>
              <a:t>What didn’t go so well? </a:t>
            </a:r>
            <a:endParaRPr lang="en" dirty="0" smtClean="0"/>
          </a:p>
          <a:p>
            <a:pPr marL="27940" lvl="0" indent="0">
              <a:buNone/>
            </a:pPr>
            <a:r>
              <a:rPr lang="en-GB" dirty="0"/>
              <a:t>FRCNN </a:t>
            </a:r>
            <a:r>
              <a:rPr lang="en-GB" dirty="0" err="1"/>
              <a:t>overfits</a:t>
            </a:r>
            <a:r>
              <a:rPr lang="en-GB" dirty="0"/>
              <a:t> very early at this scale; reduced LR/increased patience didn't fix it</a:t>
            </a:r>
            <a:r>
              <a:rPr lang="en-GB" dirty="0" smtClean="0"/>
              <a:t>.</a:t>
            </a:r>
          </a:p>
          <a:p>
            <a:pPr marL="27940" lvl="0" indent="0">
              <a:buNone/>
            </a:pPr>
            <a:endParaRPr dirty="0"/>
          </a:p>
          <a:p>
            <a:pPr marL="182880" lvl="0" indent="-154940" algn="l" rtl="0">
              <a:spcBef>
                <a:spcPts val="0"/>
              </a:spcBef>
              <a:spcAft>
                <a:spcPts val="0"/>
              </a:spcAft>
              <a:buSzPts val="1000"/>
              <a:buChar char="●"/>
            </a:pPr>
            <a:r>
              <a:rPr lang="en" dirty="0"/>
              <a:t>What did you learn? </a:t>
            </a:r>
            <a:endParaRPr lang="en" dirty="0" smtClean="0"/>
          </a:p>
          <a:p>
            <a:pPr marL="27940" lvl="0" indent="0">
              <a:buNone/>
            </a:pPr>
            <a:r>
              <a:rPr lang="en" dirty="0" smtClean="0"/>
              <a:t>I learnt that </a:t>
            </a:r>
            <a:r>
              <a:rPr lang="en-GB" dirty="0"/>
              <a:t>a large two-stage detector can need far more data than a lightweight one-stage one</a:t>
            </a:r>
            <a:r>
              <a:rPr lang="en-GB" dirty="0" smtClean="0"/>
              <a:t>.</a:t>
            </a:r>
          </a:p>
          <a:p>
            <a:pPr marL="27940" lvl="0" indent="0">
              <a:buNone/>
            </a:pPr>
            <a:endParaRPr dirty="0"/>
          </a:p>
          <a:p>
            <a:pPr marL="182880" lvl="0" indent="-154940" algn="l" rtl="0">
              <a:spcBef>
                <a:spcPts val="0"/>
              </a:spcBef>
              <a:spcAft>
                <a:spcPts val="0"/>
              </a:spcAft>
              <a:buSzPts val="1000"/>
              <a:buChar char="●"/>
            </a:pPr>
            <a:r>
              <a:rPr lang="en" dirty="0"/>
              <a:t>What could be added as an Action point looking forward to next week</a:t>
            </a:r>
            <a:r>
              <a:rPr lang="en" dirty="0" smtClean="0"/>
              <a:t>?</a:t>
            </a:r>
          </a:p>
          <a:p>
            <a:pPr marL="27940" lvl="0" indent="0">
              <a:buNone/>
            </a:pPr>
            <a:r>
              <a:rPr lang="en" dirty="0" smtClean="0"/>
              <a:t>Action Point for the next week is to </a:t>
            </a:r>
            <a:r>
              <a:rPr lang="en-GB" dirty="0"/>
              <a:t>document the limitation and run the H1 statistical tests.</a:t>
            </a:r>
            <a:endParaRPr dirty="0"/>
          </a:p>
        </p:txBody>
      </p:sp>
      <p:sp>
        <p:nvSpPr>
          <p:cNvPr id="165" name="Google Shape;165;p20"/>
          <p:cNvSpPr txBox="1">
            <a:spLocks noGrp="1"/>
          </p:cNvSpPr>
          <p:nvPr>
            <p:ph type="title" idx="6"/>
          </p:nvPr>
        </p:nvSpPr>
        <p:spPr>
          <a:xfrm>
            <a:off x="7068300" y="165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dirty="0"/>
              <a:t>1/2</a:t>
            </a:r>
            <a:endParaRPr dirty="0"/>
          </a:p>
        </p:txBody>
      </p:sp>
      <p:sp>
        <p:nvSpPr>
          <p:cNvPr id="166" name="Google Shape;166;p20"/>
          <p:cNvSpPr txBox="1">
            <a:spLocks noGrp="1"/>
          </p:cNvSpPr>
          <p:nvPr>
            <p:ph type="title" idx="5"/>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dirty="0"/>
              <a:t>9</a:t>
            </a:r>
            <a:endParaRPr dirty="0"/>
          </a:p>
        </p:txBody>
      </p:sp>
      <p:sp>
        <p:nvSpPr>
          <p:cNvPr id="167" name="Google Shape;167;p20"/>
          <p:cNvSpPr/>
          <p:nvPr/>
        </p:nvSpPr>
        <p:spPr>
          <a:xfrm>
            <a:off x="0" y="576072"/>
            <a:ext cx="9144000" cy="91500"/>
          </a:xfrm>
          <a:prstGeom prst="rect">
            <a:avLst/>
          </a:prstGeom>
          <a:solidFill>
            <a:srgbClr val="66666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798941019"/>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171"/>
        <p:cNvGrpSpPr/>
        <p:nvPr/>
      </p:nvGrpSpPr>
      <p:grpSpPr>
        <a:xfrm>
          <a:off x="0" y="0"/>
          <a:ext cx="0" cy="0"/>
          <a:chOff x="0" y="0"/>
          <a:chExt cx="0" cy="0"/>
        </a:xfrm>
      </p:grpSpPr>
      <p:sp>
        <p:nvSpPr>
          <p:cNvPr id="172" name="Google Shape;172;p21"/>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dirty="0"/>
              <a:t>Week 9 - Feedback</a:t>
            </a:r>
            <a:endParaRPr dirty="0"/>
          </a:p>
        </p:txBody>
      </p:sp>
      <p:sp>
        <p:nvSpPr>
          <p:cNvPr id="173" name="Google Shape;173;p21"/>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dirty="0"/>
              <a:t>manager, colleague, or team member feedback</a:t>
            </a:r>
            <a:endParaRPr dirty="0"/>
          </a:p>
        </p:txBody>
      </p:sp>
      <p:sp>
        <p:nvSpPr>
          <p:cNvPr id="174" name="Google Shape;174;p21"/>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p>
            <a:pPr marL="182880" lvl="0" indent="-154940"/>
            <a:r>
              <a:rPr lang="en-GB" b="1" dirty="0"/>
              <a:t>D</a:t>
            </a:r>
            <a:r>
              <a:rPr lang="en" b="1" dirty="0"/>
              <a:t>ate: </a:t>
            </a:r>
            <a:r>
              <a:rPr lang="en" dirty="0" smtClean="0"/>
              <a:t>10/06/2026</a:t>
            </a:r>
          </a:p>
          <a:p>
            <a:pPr marL="182880" lvl="0" indent="-154940"/>
            <a:r>
              <a:rPr lang="en" b="1" dirty="0" smtClean="0"/>
              <a:t>Feedback </a:t>
            </a:r>
            <a:r>
              <a:rPr lang="en" b="1" dirty="0"/>
              <a:t>from</a:t>
            </a:r>
            <a:r>
              <a:rPr lang="en" b="1" dirty="0" smtClean="0"/>
              <a:t>: </a:t>
            </a:r>
            <a:r>
              <a:rPr lang="en-GB" dirty="0"/>
              <a:t>Karna </a:t>
            </a:r>
            <a:r>
              <a:rPr lang="en-GB" dirty="0" err="1"/>
              <a:t>Rewatkar</a:t>
            </a:r>
            <a:r>
              <a:rPr lang="en-GB" dirty="0"/>
              <a:t> (Supervisor)</a:t>
            </a:r>
            <a:endParaRPr lang="en" dirty="0"/>
          </a:p>
          <a:p>
            <a:pPr marL="182880" lvl="0" indent="-154940"/>
            <a:r>
              <a:rPr lang="en" b="1" dirty="0"/>
              <a:t>Feedback</a:t>
            </a:r>
            <a:r>
              <a:rPr lang="en" b="1" dirty="0" smtClean="0"/>
              <a:t>: </a:t>
            </a:r>
            <a:r>
              <a:rPr lang="en-GB" dirty="0"/>
              <a:t>Finding that Faster R-CNN </a:t>
            </a:r>
            <a:r>
              <a:rPr lang="en-GB" dirty="0" err="1"/>
              <a:t>overfits</a:t>
            </a:r>
            <a:r>
              <a:rPr lang="en-GB" dirty="0"/>
              <a:t> this early, even on the large balanced dataset, is actually a more interesting result than if both models had trained similarly well. It's good that you tried a couple of fixes (reduced LR, more patience) rather than accepting the first run as final, even though neither worked. That gives you a stronger basis to say the issue is a genuine capacity-versus-data problem rather than just a tuning mistake</a:t>
            </a:r>
            <a:r>
              <a:rPr lang="en-GB" dirty="0" smtClean="0"/>
              <a:t>.</a:t>
            </a:r>
          </a:p>
          <a:p>
            <a:pPr marL="182880" lvl="0" indent="-154940"/>
            <a:r>
              <a:rPr lang="en" b="1" dirty="0" smtClean="0"/>
              <a:t>Related </a:t>
            </a:r>
            <a:r>
              <a:rPr lang="en" b="1" dirty="0"/>
              <a:t>to what task: </a:t>
            </a:r>
            <a:r>
              <a:rPr lang="en-GB" dirty="0"/>
              <a:t>Faster R-CNN overfitting investigation</a:t>
            </a:r>
            <a:r>
              <a:rPr lang="en-GB" dirty="0" smtClean="0"/>
              <a:t>.</a:t>
            </a:r>
          </a:p>
          <a:p>
            <a:pPr marL="182880" lvl="0" indent="-154940"/>
            <a:r>
              <a:rPr lang="en" b="1" dirty="0" smtClean="0"/>
              <a:t>Response/action </a:t>
            </a:r>
            <a:r>
              <a:rPr lang="en" b="1" dirty="0"/>
              <a:t>coming forward from this: </a:t>
            </a:r>
            <a:r>
              <a:rPr lang="en-GB" dirty="0" smtClean="0"/>
              <a:t>Decided </a:t>
            </a:r>
            <a:r>
              <a:rPr lang="en-GB" dirty="0"/>
              <a:t>to report it as a data-volume-related limitation rather than chase it further.</a:t>
            </a:r>
          </a:p>
          <a:p>
            <a:pPr marL="182880" lvl="0" indent="-154940"/>
            <a:endParaRPr lang="en" b="1" dirty="0"/>
          </a:p>
        </p:txBody>
      </p:sp>
      <p:sp>
        <p:nvSpPr>
          <p:cNvPr id="175" name="Google Shape;175;p21"/>
          <p:cNvSpPr txBox="1">
            <a:spLocks noGrp="1"/>
          </p:cNvSpPr>
          <p:nvPr>
            <p:ph type="title" idx="4"/>
          </p:nvPr>
        </p:nvSpPr>
        <p:spPr>
          <a:xfrm>
            <a:off x="7068300" y="165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dirty="0"/>
              <a:t>2/2</a:t>
            </a:r>
            <a:endParaRPr dirty="0"/>
          </a:p>
        </p:txBody>
      </p:sp>
      <p:sp>
        <p:nvSpPr>
          <p:cNvPr id="176" name="Google Shape;176;p21"/>
          <p:cNvSpPr txBox="1">
            <a:spLocks noGrp="1"/>
          </p:cNvSpPr>
          <p:nvPr>
            <p:ph type="title" idx="3"/>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dirty="0"/>
              <a:t>9</a:t>
            </a:r>
            <a:endParaRPr dirty="0"/>
          </a:p>
        </p:txBody>
      </p:sp>
    </p:spTree>
    <p:extLst>
      <p:ext uri="{BB962C8B-B14F-4D97-AF65-F5344CB8AC3E}">
        <p14:creationId xmlns:p14="http://schemas.microsoft.com/office/powerpoint/2010/main" val="2759000014"/>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159"/>
        <p:cNvGrpSpPr/>
        <p:nvPr/>
      </p:nvGrpSpPr>
      <p:grpSpPr>
        <a:xfrm>
          <a:off x="0" y="0"/>
          <a:ext cx="0" cy="0"/>
          <a:chOff x="0" y="0"/>
          <a:chExt cx="0" cy="0"/>
        </a:xfrm>
      </p:grpSpPr>
      <p:sp>
        <p:nvSpPr>
          <p:cNvPr id="160" name="Google Shape;160;p20"/>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r>
              <a:rPr lang="en" dirty="0"/>
              <a:t>Week 10 - Log</a:t>
            </a:r>
            <a:endParaRPr lang="en-US" dirty="0"/>
          </a:p>
        </p:txBody>
      </p:sp>
      <p:sp>
        <p:nvSpPr>
          <p:cNvPr id="161" name="Google Shape;161;p20"/>
          <p:cNvSpPr txBox="1">
            <a:spLocks noGrp="1"/>
          </p:cNvSpPr>
          <p:nvPr>
            <p:ph type="subTitle" idx="4"/>
          </p:nvPr>
        </p:nvSpPr>
        <p:spPr>
          <a:xfrm>
            <a:off x="4663440" y="758952"/>
            <a:ext cx="42978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dirty="0"/>
              <a:t>Reflection</a:t>
            </a:r>
            <a:endParaRPr dirty="0"/>
          </a:p>
        </p:txBody>
      </p:sp>
      <p:sp>
        <p:nvSpPr>
          <p:cNvPr id="162" name="Google Shape;162;p20"/>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dirty="0"/>
              <a:t>What did you do?</a:t>
            </a:r>
            <a:endParaRPr dirty="0"/>
          </a:p>
        </p:txBody>
      </p:sp>
      <p:sp>
        <p:nvSpPr>
          <p:cNvPr id="163" name="Google Shape;163;p20"/>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dirty="0"/>
              <a:t>What goal(s) did you set for this week</a:t>
            </a:r>
            <a:r>
              <a:rPr lang="en" dirty="0" smtClean="0"/>
              <a:t>?</a:t>
            </a:r>
          </a:p>
          <a:p>
            <a:pPr marL="27940" lvl="0" indent="0">
              <a:buNone/>
            </a:pPr>
            <a:r>
              <a:rPr lang="en" dirty="0" smtClean="0"/>
              <a:t>The goal for this week is to </a:t>
            </a:r>
            <a:r>
              <a:rPr lang="en-GB" dirty="0"/>
              <a:t>run the formal H1 statistical tests and write up the model comparison</a:t>
            </a:r>
            <a:r>
              <a:rPr lang="en-GB" dirty="0" smtClean="0"/>
              <a:t>.</a:t>
            </a:r>
          </a:p>
          <a:p>
            <a:pPr marL="27940" lvl="0" indent="0">
              <a:buNone/>
            </a:pPr>
            <a:endParaRPr dirty="0"/>
          </a:p>
          <a:p>
            <a:pPr marL="182880" lvl="0" indent="-154940" algn="l" rtl="0">
              <a:spcBef>
                <a:spcPts val="0"/>
              </a:spcBef>
              <a:spcAft>
                <a:spcPts val="0"/>
              </a:spcAft>
              <a:buSzPts val="1000"/>
              <a:buChar char="●"/>
            </a:pPr>
            <a:r>
              <a:rPr lang="en" dirty="0"/>
              <a:t>What have you actually been able to do? </a:t>
            </a:r>
            <a:endParaRPr lang="en" dirty="0" smtClean="0"/>
          </a:p>
          <a:p>
            <a:pPr marL="27940" lvl="0" indent="0">
              <a:buNone/>
            </a:pPr>
            <a:r>
              <a:rPr lang="en" dirty="0" smtClean="0"/>
              <a:t>I </a:t>
            </a:r>
            <a:r>
              <a:rPr lang="en-GB" dirty="0"/>
              <a:t>measured inference time and training wall-clock for both models; ran the Wilcoxon test and the bootstrap CI; updated the pipeline diagram; drafted the H1 Results/Discussion text</a:t>
            </a:r>
            <a:r>
              <a:rPr lang="en-GB" dirty="0" smtClean="0"/>
              <a:t>.</a:t>
            </a:r>
          </a:p>
          <a:p>
            <a:pPr marL="27940" lvl="0" indent="0">
              <a:buNone/>
            </a:pPr>
            <a:endParaRPr dirty="0"/>
          </a:p>
          <a:p>
            <a:pPr marL="182880" lvl="0" indent="-154940" algn="l" rtl="0">
              <a:spcBef>
                <a:spcPts val="0"/>
              </a:spcBef>
              <a:spcAft>
                <a:spcPts val="0"/>
              </a:spcAft>
              <a:buSzPts val="1000"/>
              <a:buChar char="●"/>
            </a:pPr>
            <a:r>
              <a:rPr lang="en" dirty="0"/>
              <a:t>Showcase what tasks you have been working on this week and provide evidence for it</a:t>
            </a:r>
            <a:r>
              <a:rPr lang="en" dirty="0" smtClean="0"/>
              <a:t>.</a:t>
            </a:r>
          </a:p>
          <a:p>
            <a:pPr marL="27940" lvl="0" indent="0" algn="l" rtl="0">
              <a:spcBef>
                <a:spcPts val="0"/>
              </a:spcBef>
              <a:spcAft>
                <a:spcPts val="0"/>
              </a:spcAft>
              <a:buSzPts val="1000"/>
              <a:buNone/>
            </a:pPr>
            <a:endParaRPr lang="en" dirty="0" smtClean="0"/>
          </a:p>
          <a:p>
            <a:pPr marL="27940" lvl="0" indent="0" algn="l" rtl="0">
              <a:spcBef>
                <a:spcPts val="0"/>
              </a:spcBef>
              <a:spcAft>
                <a:spcPts val="0"/>
              </a:spcAft>
              <a:buSzPts val="1000"/>
              <a:buNone/>
            </a:pPr>
            <a:endParaRPr lang="en" dirty="0"/>
          </a:p>
          <a:p>
            <a:pPr marL="27940" lvl="0" indent="0">
              <a:buNone/>
            </a:pPr>
            <a:r>
              <a:rPr lang="en-GB" u="sng" dirty="0">
                <a:hlinkClick r:id="rId3"/>
              </a:rPr>
              <a:t>thesis 5.4</a:t>
            </a:r>
            <a:r>
              <a:rPr lang="en-GB" dirty="0"/>
              <a:t> </a:t>
            </a:r>
            <a:endParaRPr lang="en-GB" dirty="0" smtClean="0"/>
          </a:p>
          <a:p>
            <a:pPr marL="27940" lvl="0" indent="0">
              <a:buNone/>
            </a:pPr>
            <a:endParaRPr lang="en-GB" dirty="0"/>
          </a:p>
          <a:p>
            <a:pPr marL="27940" lvl="0" indent="0">
              <a:buNone/>
            </a:pPr>
            <a:r>
              <a:rPr lang="en-GB" u="sng" dirty="0">
                <a:hlinkClick r:id="rId4"/>
              </a:rPr>
              <a:t>outputs/reports/</a:t>
            </a:r>
            <a:r>
              <a:rPr lang="en-GB" dirty="0"/>
              <a:t> </a:t>
            </a:r>
            <a:endParaRPr lang="en-GB" dirty="0" smtClean="0"/>
          </a:p>
          <a:p>
            <a:pPr marL="27940" lvl="0" indent="0">
              <a:buNone/>
            </a:pPr>
            <a:endParaRPr lang="en-GB" dirty="0"/>
          </a:p>
          <a:p>
            <a:pPr marL="27940" lvl="0" indent="0">
              <a:buNone/>
            </a:pPr>
            <a:r>
              <a:rPr lang="nb-NO" u="sng" dirty="0">
                <a:hlinkClick r:id="rId5"/>
              </a:rPr>
              <a:t>Faster RNN large dataset train</a:t>
            </a:r>
            <a:r>
              <a:rPr lang="nb-NO" dirty="0"/>
              <a:t> </a:t>
            </a:r>
            <a:endParaRPr lang="nb-NO" dirty="0" smtClean="0"/>
          </a:p>
          <a:p>
            <a:pPr marL="27940" lvl="0" indent="0">
              <a:buNone/>
            </a:pPr>
            <a:endParaRPr lang="nb-NO" dirty="0"/>
          </a:p>
          <a:p>
            <a:pPr marL="27940" lvl="0" indent="0">
              <a:buNone/>
            </a:pPr>
            <a:r>
              <a:rPr lang="en-GB" u="sng" dirty="0">
                <a:hlinkClick r:id="rId3"/>
              </a:rPr>
              <a:t>thesis Table 2</a:t>
            </a:r>
            <a:r>
              <a:rPr lang="en-GB" dirty="0"/>
              <a:t> </a:t>
            </a:r>
            <a:endParaRPr lang="en-GB" dirty="0" smtClean="0"/>
          </a:p>
          <a:p>
            <a:pPr marL="27940" lvl="0" indent="0">
              <a:buNone/>
            </a:pPr>
            <a:endParaRPr lang="en-GB" dirty="0"/>
          </a:p>
          <a:p>
            <a:pPr marL="27940" lvl="0" indent="0">
              <a:buNone/>
            </a:pPr>
            <a:r>
              <a:rPr lang="en-GB" u="sng" dirty="0">
                <a:hlinkClick r:id="rId3"/>
              </a:rPr>
              <a:t>thesis figure 1</a:t>
            </a:r>
            <a:r>
              <a:rPr lang="en-GB" dirty="0"/>
              <a:t> </a:t>
            </a:r>
            <a:endParaRPr lang="en-GB" dirty="0" smtClean="0"/>
          </a:p>
          <a:p>
            <a:pPr marL="27940" lvl="0" indent="0">
              <a:buNone/>
            </a:pPr>
            <a:endParaRPr lang="en-GB" dirty="0"/>
          </a:p>
          <a:p>
            <a:pPr marL="27940" lvl="0" indent="0">
              <a:buNone/>
            </a:pPr>
            <a:r>
              <a:rPr lang="en-GB" u="sng" dirty="0">
                <a:hlinkClick r:id="rId3"/>
              </a:rPr>
              <a:t>thesis 4.1.3</a:t>
            </a:r>
            <a:r>
              <a:rPr lang="en-GB" dirty="0"/>
              <a:t> </a:t>
            </a:r>
            <a:endParaRPr lang="en" dirty="0"/>
          </a:p>
        </p:txBody>
      </p:sp>
      <p:sp>
        <p:nvSpPr>
          <p:cNvPr id="164" name="Google Shape;164;p20"/>
          <p:cNvSpPr txBox="1">
            <a:spLocks noGrp="1"/>
          </p:cNvSpPr>
          <p:nvPr>
            <p:ph type="body" idx="3"/>
          </p:nvPr>
        </p:nvSpPr>
        <p:spPr>
          <a:xfrm>
            <a:off x="4663450" y="1152698"/>
            <a:ext cx="4297800" cy="16257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dirty="0"/>
              <a:t>How did the week go? </a:t>
            </a:r>
            <a:endParaRPr lang="en" dirty="0" smtClean="0"/>
          </a:p>
          <a:p>
            <a:pPr marL="27940" lvl="0" indent="0" algn="l" rtl="0">
              <a:spcBef>
                <a:spcPts val="0"/>
              </a:spcBef>
              <a:spcAft>
                <a:spcPts val="0"/>
              </a:spcAft>
              <a:buSzPts val="1000"/>
              <a:buNone/>
            </a:pPr>
            <a:r>
              <a:rPr lang="en" dirty="0" smtClean="0"/>
              <a:t>The week went well - H1 fully tested and written up.</a:t>
            </a:r>
          </a:p>
          <a:p>
            <a:pPr marL="27940" lvl="0" indent="0" algn="l" rtl="0">
              <a:spcBef>
                <a:spcPts val="0"/>
              </a:spcBef>
              <a:spcAft>
                <a:spcPts val="0"/>
              </a:spcAft>
              <a:buSzPts val="1000"/>
              <a:buNone/>
            </a:pPr>
            <a:endParaRPr dirty="0"/>
          </a:p>
          <a:p>
            <a:pPr marL="182880" lvl="0" indent="-154940" algn="l" rtl="0">
              <a:spcBef>
                <a:spcPts val="0"/>
              </a:spcBef>
              <a:spcAft>
                <a:spcPts val="0"/>
              </a:spcAft>
              <a:buSzPts val="1000"/>
              <a:buChar char="●"/>
            </a:pPr>
            <a:r>
              <a:rPr lang="en" dirty="0"/>
              <a:t>What went well? </a:t>
            </a:r>
            <a:endParaRPr lang="en" dirty="0" smtClean="0"/>
          </a:p>
          <a:p>
            <a:pPr marL="27940" lvl="0" indent="0">
              <a:buNone/>
            </a:pPr>
            <a:r>
              <a:rPr lang="en-GB" dirty="0"/>
              <a:t>T</a:t>
            </a:r>
            <a:r>
              <a:rPr lang="en-GB" dirty="0" smtClean="0"/>
              <a:t>he </a:t>
            </a:r>
            <a:r>
              <a:rPr lang="en-GB" dirty="0"/>
              <a:t>bootstrap CI gave a clean, decisive answer</a:t>
            </a:r>
            <a:r>
              <a:rPr lang="en-GB" dirty="0" smtClean="0"/>
              <a:t>.</a:t>
            </a:r>
          </a:p>
          <a:p>
            <a:pPr marL="27940" lvl="0" indent="0">
              <a:buNone/>
            </a:pPr>
            <a:endParaRPr dirty="0"/>
          </a:p>
          <a:p>
            <a:pPr marL="182880" lvl="0" indent="-154940" algn="l" rtl="0">
              <a:spcBef>
                <a:spcPts val="0"/>
              </a:spcBef>
              <a:spcAft>
                <a:spcPts val="0"/>
              </a:spcAft>
              <a:buSzPts val="1000"/>
              <a:buChar char="●"/>
            </a:pPr>
            <a:r>
              <a:rPr lang="en" dirty="0"/>
              <a:t>What didn’t go so well? </a:t>
            </a:r>
            <a:endParaRPr lang="en" dirty="0" smtClean="0"/>
          </a:p>
          <a:p>
            <a:pPr marL="27940" lvl="0" indent="0">
              <a:buNone/>
            </a:pPr>
            <a:r>
              <a:rPr lang="en-GB" dirty="0"/>
              <a:t>H1's accuracy criterion is rejected </a:t>
            </a:r>
            <a:r>
              <a:rPr lang="en-GB" dirty="0" smtClean="0"/>
              <a:t>- </a:t>
            </a:r>
            <a:r>
              <a:rPr lang="en-GB" dirty="0"/>
              <a:t>the opposite of the hypothesis </a:t>
            </a:r>
            <a:r>
              <a:rPr lang="en-GB" dirty="0" smtClean="0"/>
              <a:t>- </a:t>
            </a:r>
            <a:r>
              <a:rPr lang="en-GB" dirty="0"/>
              <a:t>needed careful framing</a:t>
            </a:r>
            <a:r>
              <a:rPr lang="en-GB" dirty="0" smtClean="0"/>
              <a:t>.</a:t>
            </a:r>
          </a:p>
          <a:p>
            <a:pPr marL="27940" lvl="0" indent="0">
              <a:buNone/>
            </a:pPr>
            <a:endParaRPr dirty="0"/>
          </a:p>
          <a:p>
            <a:pPr marL="182880" lvl="0" indent="-154940" algn="l" rtl="0">
              <a:spcBef>
                <a:spcPts val="0"/>
              </a:spcBef>
              <a:spcAft>
                <a:spcPts val="0"/>
              </a:spcAft>
              <a:buSzPts val="1000"/>
              <a:buChar char="●"/>
            </a:pPr>
            <a:r>
              <a:rPr lang="en" dirty="0"/>
              <a:t>What did you learn? </a:t>
            </a:r>
            <a:endParaRPr lang="en" dirty="0" smtClean="0"/>
          </a:p>
          <a:p>
            <a:pPr marL="27940" lvl="0" indent="0">
              <a:buNone/>
            </a:pPr>
            <a:r>
              <a:rPr lang="en-GB" dirty="0" smtClean="0"/>
              <a:t>I learnt how </a:t>
            </a:r>
            <a:r>
              <a:rPr lang="en-GB" dirty="0"/>
              <a:t>to design and interpret an equivalence test against a margin, not just a plain significance test</a:t>
            </a:r>
            <a:r>
              <a:rPr lang="en-GB" dirty="0" smtClean="0"/>
              <a:t>.</a:t>
            </a:r>
          </a:p>
          <a:p>
            <a:pPr marL="27940" lvl="0" indent="0">
              <a:buNone/>
            </a:pPr>
            <a:endParaRPr dirty="0"/>
          </a:p>
          <a:p>
            <a:pPr marL="182880" lvl="0" indent="-154940" algn="l" rtl="0">
              <a:spcBef>
                <a:spcPts val="0"/>
              </a:spcBef>
              <a:spcAft>
                <a:spcPts val="0"/>
              </a:spcAft>
              <a:buSzPts val="1000"/>
              <a:buChar char="●"/>
            </a:pPr>
            <a:r>
              <a:rPr lang="en" dirty="0"/>
              <a:t>What could be added as an Action point looking forward to next week</a:t>
            </a:r>
            <a:r>
              <a:rPr lang="en" dirty="0" smtClean="0"/>
              <a:t>?</a:t>
            </a:r>
            <a:endParaRPr lang="en-GB" dirty="0"/>
          </a:p>
          <a:p>
            <a:pPr marL="27940" lvl="0" indent="0">
              <a:buNone/>
            </a:pPr>
            <a:r>
              <a:rPr lang="en-GB" dirty="0" smtClean="0"/>
              <a:t>Action Point for the next week is to </a:t>
            </a:r>
            <a:r>
              <a:rPr lang="en-GB" dirty="0"/>
              <a:t>start collecting the first manual Sofia dataset.</a:t>
            </a:r>
          </a:p>
        </p:txBody>
      </p:sp>
      <p:sp>
        <p:nvSpPr>
          <p:cNvPr id="165" name="Google Shape;165;p20"/>
          <p:cNvSpPr txBox="1">
            <a:spLocks noGrp="1"/>
          </p:cNvSpPr>
          <p:nvPr>
            <p:ph type="title" idx="6"/>
          </p:nvPr>
        </p:nvSpPr>
        <p:spPr>
          <a:xfrm>
            <a:off x="7068300" y="165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dirty="0"/>
              <a:t>1/2</a:t>
            </a:r>
            <a:endParaRPr dirty="0"/>
          </a:p>
        </p:txBody>
      </p:sp>
      <p:sp>
        <p:nvSpPr>
          <p:cNvPr id="166" name="Google Shape;166;p20"/>
          <p:cNvSpPr txBox="1">
            <a:spLocks noGrp="1"/>
          </p:cNvSpPr>
          <p:nvPr>
            <p:ph type="title" idx="5"/>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sz="2400" dirty="0"/>
              <a:t>10</a:t>
            </a:r>
            <a:endParaRPr sz="2400" dirty="0"/>
          </a:p>
        </p:txBody>
      </p:sp>
      <p:sp>
        <p:nvSpPr>
          <p:cNvPr id="167" name="Google Shape;167;p20"/>
          <p:cNvSpPr/>
          <p:nvPr/>
        </p:nvSpPr>
        <p:spPr>
          <a:xfrm>
            <a:off x="0" y="576072"/>
            <a:ext cx="9144000" cy="91500"/>
          </a:xfrm>
          <a:prstGeom prst="rect">
            <a:avLst/>
          </a:prstGeom>
          <a:solidFill>
            <a:srgbClr val="66666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4125474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171"/>
        <p:cNvGrpSpPr/>
        <p:nvPr/>
      </p:nvGrpSpPr>
      <p:grpSpPr>
        <a:xfrm>
          <a:off x="0" y="0"/>
          <a:ext cx="0" cy="0"/>
          <a:chOff x="0" y="0"/>
          <a:chExt cx="0" cy="0"/>
        </a:xfrm>
      </p:grpSpPr>
      <p:sp>
        <p:nvSpPr>
          <p:cNvPr id="172" name="Google Shape;172;p21"/>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dirty="0"/>
              <a:t>Week 10 - Feedback</a:t>
            </a:r>
            <a:endParaRPr dirty="0"/>
          </a:p>
        </p:txBody>
      </p:sp>
      <p:sp>
        <p:nvSpPr>
          <p:cNvPr id="173" name="Google Shape;173;p21"/>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dirty="0"/>
              <a:t>manager, colleague, or team member feedback</a:t>
            </a:r>
            <a:endParaRPr dirty="0"/>
          </a:p>
        </p:txBody>
      </p:sp>
      <p:sp>
        <p:nvSpPr>
          <p:cNvPr id="174" name="Google Shape;174;p21"/>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p>
            <a:pPr marL="182880" lvl="0" indent="-154940"/>
            <a:r>
              <a:rPr lang="en-GB" b="1" dirty="0"/>
              <a:t>D</a:t>
            </a:r>
            <a:r>
              <a:rPr lang="en" b="1" dirty="0" smtClean="0"/>
              <a:t>ate: </a:t>
            </a:r>
            <a:r>
              <a:rPr lang="en-GB" dirty="0" smtClean="0"/>
              <a:t>19/06/2026</a:t>
            </a:r>
            <a:endParaRPr lang="en" b="1" dirty="0"/>
          </a:p>
          <a:p>
            <a:pPr marL="182880" lvl="0" indent="-154940"/>
            <a:r>
              <a:rPr lang="en" b="1" dirty="0"/>
              <a:t>Feedback </a:t>
            </a:r>
            <a:r>
              <a:rPr lang="en" b="1" dirty="0" smtClean="0"/>
              <a:t>from: </a:t>
            </a:r>
            <a:r>
              <a:rPr lang="en-GB" dirty="0" smtClean="0"/>
              <a:t>Karna </a:t>
            </a:r>
            <a:r>
              <a:rPr lang="en-GB" dirty="0" err="1"/>
              <a:t>Rewatkar</a:t>
            </a:r>
            <a:r>
              <a:rPr lang="en-GB" dirty="0"/>
              <a:t> (</a:t>
            </a:r>
            <a:r>
              <a:rPr lang="en-GB" dirty="0" err="1"/>
              <a:t>BUas</a:t>
            </a:r>
            <a:r>
              <a:rPr lang="en-GB" dirty="0"/>
              <a:t> Supervisor)</a:t>
            </a:r>
            <a:endParaRPr lang="en" b="1" dirty="0"/>
          </a:p>
          <a:p>
            <a:pPr marL="182880" lvl="0" indent="-154940"/>
            <a:r>
              <a:rPr lang="en" b="1" dirty="0" smtClean="0"/>
              <a:t>Feedback: </a:t>
            </a:r>
            <a:r>
              <a:rPr lang="en-GB" dirty="0" smtClean="0"/>
              <a:t>The </a:t>
            </a:r>
            <a:r>
              <a:rPr lang="en-GB" dirty="0"/>
              <a:t>statistical approach for H1 is appropriately rigorous </a:t>
            </a:r>
            <a:r>
              <a:rPr lang="en-GB" dirty="0" smtClean="0"/>
              <a:t>- </a:t>
            </a:r>
            <a:r>
              <a:rPr lang="en-GB" dirty="0"/>
              <a:t>treating the accuracy criterion as an equivalence question with a bootstrap CI, rather than just eyeballing the numbers, is exactly the kind of thing that will hold up under scrutiny. The result going against the original hypothesis isn't a problem as long as you're upfront about it in the discussion, which it sounds like you are. This is a good, complete piece of analysis to have finished.</a:t>
            </a:r>
            <a:endParaRPr lang="en" dirty="0"/>
          </a:p>
          <a:p>
            <a:pPr marL="182880" lvl="0" indent="-154940"/>
            <a:r>
              <a:rPr lang="en" b="1" dirty="0"/>
              <a:t>Related to what task: </a:t>
            </a:r>
            <a:r>
              <a:rPr lang="en-GB" dirty="0"/>
              <a:t>H1 statistical testing and write-up.</a:t>
            </a:r>
            <a:endParaRPr lang="en" dirty="0"/>
          </a:p>
          <a:p>
            <a:pPr marL="182880" lvl="0" indent="-154940"/>
            <a:r>
              <a:rPr lang="en" b="1" dirty="0"/>
              <a:t>Response/action coming forward from this: </a:t>
            </a:r>
            <a:r>
              <a:rPr lang="en-GB" dirty="0" smtClean="0"/>
              <a:t>Kept </a:t>
            </a:r>
            <a:r>
              <a:rPr lang="en-GB" dirty="0"/>
              <a:t>the "partially supported" framing and explained why the accuracy prediction didn't hold.</a:t>
            </a:r>
            <a:endParaRPr lang="en" dirty="0"/>
          </a:p>
        </p:txBody>
      </p:sp>
      <p:sp>
        <p:nvSpPr>
          <p:cNvPr id="175" name="Google Shape;175;p21"/>
          <p:cNvSpPr txBox="1">
            <a:spLocks noGrp="1"/>
          </p:cNvSpPr>
          <p:nvPr>
            <p:ph type="title" idx="4"/>
          </p:nvPr>
        </p:nvSpPr>
        <p:spPr>
          <a:xfrm>
            <a:off x="7068300" y="165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dirty="0"/>
              <a:t>2/2</a:t>
            </a:r>
            <a:endParaRPr dirty="0"/>
          </a:p>
        </p:txBody>
      </p:sp>
      <p:sp>
        <p:nvSpPr>
          <p:cNvPr id="176" name="Google Shape;176;p21"/>
          <p:cNvSpPr txBox="1">
            <a:spLocks noGrp="1"/>
          </p:cNvSpPr>
          <p:nvPr>
            <p:ph type="title" idx="3"/>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sz="2400" dirty="0"/>
              <a:t>10</a:t>
            </a:r>
            <a:endParaRPr sz="2400" dirty="0"/>
          </a:p>
        </p:txBody>
      </p:sp>
    </p:spTree>
    <p:extLst>
      <p:ext uri="{BB962C8B-B14F-4D97-AF65-F5344CB8AC3E}">
        <p14:creationId xmlns:p14="http://schemas.microsoft.com/office/powerpoint/2010/main" val="4083812190"/>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107"/>
        <p:cNvGrpSpPr/>
        <p:nvPr/>
      </p:nvGrpSpPr>
      <p:grpSpPr>
        <a:xfrm>
          <a:off x="0" y="0"/>
          <a:ext cx="0" cy="0"/>
          <a:chOff x="0" y="0"/>
          <a:chExt cx="0" cy="0"/>
        </a:xfrm>
      </p:grpSpPr>
      <p:sp>
        <p:nvSpPr>
          <p:cNvPr id="108" name="Google Shape;108;p14"/>
          <p:cNvSpPr txBox="1">
            <a:spLocks noGrp="1"/>
          </p:cNvSpPr>
          <p:nvPr>
            <p:ph type="title"/>
          </p:nvPr>
        </p:nvSpPr>
        <p:spPr>
          <a:xfrm>
            <a:off x="274320" y="1745053"/>
            <a:ext cx="2560200" cy="15519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GB" b="1" dirty="0">
                <a:solidFill>
                  <a:schemeClr val="accent6">
                    <a:lumMod val="75000"/>
                  </a:schemeClr>
                </a:solidFill>
              </a:rPr>
              <a:t>You are halfway there!</a:t>
            </a:r>
            <a:endParaRPr b="1" dirty="0">
              <a:solidFill>
                <a:schemeClr val="accent6">
                  <a:lumMod val="75000"/>
                </a:schemeClr>
              </a:solidFill>
            </a:endParaRPr>
          </a:p>
        </p:txBody>
      </p:sp>
      <p:sp>
        <p:nvSpPr>
          <p:cNvPr id="110" name="Google Shape;110;p14"/>
          <p:cNvSpPr txBox="1">
            <a:spLocks noGrp="1"/>
          </p:cNvSpPr>
          <p:nvPr>
            <p:ph type="body" idx="2"/>
          </p:nvPr>
        </p:nvSpPr>
        <p:spPr>
          <a:xfrm>
            <a:off x="3383280" y="274320"/>
            <a:ext cx="5486400" cy="45993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GB" sz="1200" b="1" dirty="0"/>
              <a:t>You are now halfway your graduation project period, congratulations! Hopefully, you have learned a lot already by now and you have found your way around the company and the team you are working with. As a reminder, do not forget about the following deliverables:</a:t>
            </a:r>
          </a:p>
          <a:p>
            <a:pPr marL="0" lvl="0" indent="0" algn="l" rtl="0">
              <a:spcBef>
                <a:spcPts val="0"/>
              </a:spcBef>
              <a:spcAft>
                <a:spcPts val="0"/>
              </a:spcAft>
              <a:buNone/>
            </a:pPr>
            <a:endParaRPr lang="en-GB" sz="1200" b="1" dirty="0"/>
          </a:p>
          <a:p>
            <a:pPr algn="l" rtl="0" fontAlgn="base">
              <a:buFont typeface="+mj-lt"/>
              <a:buAutoNum type="arabicPeriod"/>
            </a:pPr>
            <a:r>
              <a:rPr lang="en-GB" sz="1200" dirty="0"/>
              <a:t>Remind your company supervisor about the 10</a:t>
            </a:r>
            <a:r>
              <a:rPr lang="en-GB" sz="1200" baseline="30000" dirty="0"/>
              <a:t>th</a:t>
            </a:r>
            <a:r>
              <a:rPr lang="en-GB" sz="1200" dirty="0"/>
              <a:t> week assessment. They should fill in the assessment sheet provided and discuss their outcomes with you. Reflect on their feedback and see how you can improve yourself for the second half of your graduation project period. Afterwards, your supervisor needs to send the signed version to your </a:t>
            </a:r>
            <a:r>
              <a:rPr lang="en-GB" sz="1200" dirty="0" err="1"/>
              <a:t>BUas</a:t>
            </a:r>
            <a:r>
              <a:rPr lang="en-GB" sz="1200" dirty="0"/>
              <a:t> supervisor! ​</a:t>
            </a:r>
            <a:br>
              <a:rPr lang="en-GB" sz="1200" dirty="0"/>
            </a:br>
            <a:r>
              <a:rPr lang="en-GB" sz="1200" dirty="0"/>
              <a:t>​</a:t>
            </a:r>
          </a:p>
          <a:p>
            <a:pPr algn="l" rtl="0" fontAlgn="base">
              <a:buFont typeface="+mj-lt"/>
              <a:buAutoNum type="arabicPeriod"/>
            </a:pPr>
            <a:r>
              <a:rPr lang="en-GB" sz="1200" dirty="0"/>
              <a:t>Plan a meeting with your Buas supervisor to discuss the progress of your graduation project. </a:t>
            </a:r>
            <a:br>
              <a:rPr lang="en-GB" sz="1200" dirty="0"/>
            </a:br>
            <a:endParaRPr lang="en-GB" sz="1200" dirty="0"/>
          </a:p>
          <a:p>
            <a:pPr algn="l" rtl="0" fontAlgn="base">
              <a:buFont typeface="+mj-lt"/>
              <a:buAutoNum type="arabicPeriod"/>
            </a:pPr>
            <a:r>
              <a:rPr lang="en-GB" sz="1200" dirty="0"/>
              <a:t>Do not forget to update your learning log! Make sure that the log is accessible for your Buas supervisor so they can have a look at your progress.</a:t>
            </a:r>
          </a:p>
          <a:p>
            <a:pPr algn="l" rtl="0" fontAlgn="base">
              <a:buFont typeface="+mj-lt"/>
              <a:buAutoNum type="arabicPeriod"/>
            </a:pPr>
            <a:endParaRPr lang="en-GB" sz="1200" dirty="0"/>
          </a:p>
          <a:p>
            <a:pPr algn="l" rtl="0" fontAlgn="base">
              <a:buFont typeface="+mj-lt"/>
              <a:buAutoNum type="arabicPeriod"/>
            </a:pPr>
            <a:r>
              <a:rPr lang="en-GB" sz="1200" dirty="0"/>
              <a:t>Start writing on your report! Check Brightspace for the guidelines.</a:t>
            </a:r>
          </a:p>
          <a:p>
            <a:pPr algn="l" rtl="0" fontAlgn="base">
              <a:buFont typeface="+mj-lt"/>
              <a:buAutoNum type="arabicPeriod"/>
            </a:pPr>
            <a:endParaRPr lang="en-GB" sz="1200" dirty="0"/>
          </a:p>
          <a:p>
            <a:pPr algn="l" rtl="0" fontAlgn="base">
              <a:buFont typeface="+mj-lt"/>
              <a:buAutoNum type="arabicPeriod"/>
            </a:pPr>
            <a:r>
              <a:rPr lang="en-GB" sz="1200" dirty="0"/>
              <a:t>Above all, don’t be shy! Ask all the questions that pop up and have coffee with your coworkers to learn about their career path and their education. You are there to learn, make the most of it!</a:t>
            </a:r>
            <a:endParaRPr lang="en-GB" dirty="0"/>
          </a:p>
          <a:p>
            <a:pPr marL="0" lvl="0" indent="0" algn="l" rtl="0">
              <a:spcBef>
                <a:spcPts val="0"/>
              </a:spcBef>
              <a:spcAft>
                <a:spcPts val="0"/>
              </a:spcAft>
              <a:buNone/>
            </a:pPr>
            <a:endParaRPr lang="en-GB" sz="1200" dirty="0"/>
          </a:p>
        </p:txBody>
      </p:sp>
    </p:spTree>
    <p:extLst>
      <p:ext uri="{BB962C8B-B14F-4D97-AF65-F5344CB8AC3E}">
        <p14:creationId xmlns:p14="http://schemas.microsoft.com/office/powerpoint/2010/main" val="2516210097"/>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159"/>
        <p:cNvGrpSpPr/>
        <p:nvPr/>
      </p:nvGrpSpPr>
      <p:grpSpPr>
        <a:xfrm>
          <a:off x="0" y="0"/>
          <a:ext cx="0" cy="0"/>
          <a:chOff x="0" y="0"/>
          <a:chExt cx="0" cy="0"/>
        </a:xfrm>
      </p:grpSpPr>
      <p:sp>
        <p:nvSpPr>
          <p:cNvPr id="160" name="Google Shape;160;p20"/>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r>
              <a:rPr lang="en" dirty="0"/>
              <a:t>Week 11 - Log</a:t>
            </a:r>
            <a:endParaRPr lang="en-US" dirty="0"/>
          </a:p>
        </p:txBody>
      </p:sp>
      <p:sp>
        <p:nvSpPr>
          <p:cNvPr id="161" name="Google Shape;161;p20"/>
          <p:cNvSpPr txBox="1">
            <a:spLocks noGrp="1"/>
          </p:cNvSpPr>
          <p:nvPr>
            <p:ph type="subTitle" idx="4"/>
          </p:nvPr>
        </p:nvSpPr>
        <p:spPr>
          <a:xfrm>
            <a:off x="4663440" y="758952"/>
            <a:ext cx="42978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Reflection</a:t>
            </a:r>
            <a:endParaRPr/>
          </a:p>
        </p:txBody>
      </p:sp>
      <p:sp>
        <p:nvSpPr>
          <p:cNvPr id="162" name="Google Shape;162;p20"/>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What did you do?</a:t>
            </a:r>
            <a:endParaRPr/>
          </a:p>
        </p:txBody>
      </p:sp>
      <p:sp>
        <p:nvSpPr>
          <p:cNvPr id="163" name="Google Shape;163;p20"/>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dirty="0"/>
              <a:t>What goal(s) did you set for this week</a:t>
            </a:r>
            <a:r>
              <a:rPr lang="en" dirty="0" smtClean="0"/>
              <a:t>?</a:t>
            </a:r>
          </a:p>
          <a:p>
            <a:pPr marL="27940" lvl="0" indent="0">
              <a:buNone/>
            </a:pPr>
            <a:r>
              <a:rPr lang="en" dirty="0" smtClean="0"/>
              <a:t>The goal for this week is to </a:t>
            </a:r>
            <a:r>
              <a:rPr lang="en-GB" dirty="0"/>
              <a:t>collect and start annotating the first manual </a:t>
            </a:r>
            <a:r>
              <a:rPr lang="en-GB" dirty="0" smtClean="0"/>
              <a:t>Sofia, Bulgaria (pilot-area) </a:t>
            </a:r>
            <a:r>
              <a:rPr lang="en-GB" dirty="0"/>
              <a:t>dataset</a:t>
            </a:r>
            <a:r>
              <a:rPr lang="en-GB" dirty="0" smtClean="0"/>
              <a:t>.</a:t>
            </a:r>
          </a:p>
          <a:p>
            <a:pPr marL="27940" lvl="0" indent="0">
              <a:buNone/>
            </a:pPr>
            <a:endParaRPr dirty="0"/>
          </a:p>
          <a:p>
            <a:pPr marL="182880" lvl="0" indent="-154940" algn="l" rtl="0">
              <a:spcBef>
                <a:spcPts val="0"/>
              </a:spcBef>
              <a:spcAft>
                <a:spcPts val="0"/>
              </a:spcAft>
              <a:buSzPts val="1000"/>
              <a:buChar char="●"/>
            </a:pPr>
            <a:r>
              <a:rPr lang="en" dirty="0"/>
              <a:t>What have you actually been able to do? </a:t>
            </a:r>
            <a:endParaRPr lang="en" dirty="0" smtClean="0"/>
          </a:p>
          <a:p>
            <a:pPr marL="27940" lvl="0" indent="0">
              <a:buNone/>
            </a:pPr>
            <a:r>
              <a:rPr lang="en" dirty="0" smtClean="0"/>
              <a:t>I </a:t>
            </a:r>
            <a:r>
              <a:rPr lang="en-GB" dirty="0"/>
              <a:t>planned the route/method, recorded two driving-video sessions around Sofia, extracted candidate damage frames, began CVAT annotation across all four classes</a:t>
            </a:r>
            <a:r>
              <a:rPr lang="en-GB" dirty="0" smtClean="0"/>
              <a:t>.</a:t>
            </a:r>
          </a:p>
          <a:p>
            <a:pPr marL="27940" lvl="0" indent="0">
              <a:buNone/>
            </a:pPr>
            <a:endParaRPr dirty="0"/>
          </a:p>
          <a:p>
            <a:pPr marL="182880" lvl="0" indent="-154940" algn="l" rtl="0">
              <a:spcBef>
                <a:spcPts val="0"/>
              </a:spcBef>
              <a:spcAft>
                <a:spcPts val="0"/>
              </a:spcAft>
              <a:buSzPts val="1000"/>
              <a:buChar char="●"/>
            </a:pPr>
            <a:r>
              <a:rPr lang="en" dirty="0"/>
              <a:t>Showcase what tasks you have been working on this week and provide evidence for it</a:t>
            </a:r>
            <a:r>
              <a:rPr lang="en" dirty="0" smtClean="0"/>
              <a:t>.</a:t>
            </a:r>
          </a:p>
          <a:p>
            <a:pPr marL="27940" lvl="0" indent="0" algn="l" rtl="0">
              <a:spcBef>
                <a:spcPts val="0"/>
              </a:spcBef>
              <a:spcAft>
                <a:spcPts val="0"/>
              </a:spcAft>
              <a:buSzPts val="1000"/>
              <a:buNone/>
            </a:pPr>
            <a:endParaRPr lang="en" dirty="0"/>
          </a:p>
          <a:p>
            <a:pPr marL="27940" lvl="0" indent="0">
              <a:buNone/>
            </a:pPr>
            <a:r>
              <a:rPr lang="en-GB" u="sng" dirty="0">
                <a:hlinkClick r:id="rId3"/>
              </a:rPr>
              <a:t>thesis 3.6</a:t>
            </a:r>
            <a:r>
              <a:rPr lang="en-GB" dirty="0"/>
              <a:t> </a:t>
            </a:r>
            <a:endParaRPr lang="en-GB" dirty="0" smtClean="0"/>
          </a:p>
          <a:p>
            <a:pPr marL="27940" lvl="0" indent="0">
              <a:buNone/>
            </a:pPr>
            <a:endParaRPr lang="en-GB" dirty="0"/>
          </a:p>
          <a:p>
            <a:pPr marL="27940" lvl="0" indent="0">
              <a:buNone/>
            </a:pPr>
            <a:r>
              <a:rPr lang="en-GB" u="sng" dirty="0">
                <a:hlinkClick r:id="rId4"/>
              </a:rPr>
              <a:t>data/manual/</a:t>
            </a:r>
            <a:r>
              <a:rPr lang="en-GB" dirty="0"/>
              <a:t> </a:t>
            </a:r>
            <a:endParaRPr lang="en-GB" dirty="0" smtClean="0"/>
          </a:p>
          <a:p>
            <a:pPr marL="27940" lvl="0" indent="0">
              <a:buNone/>
            </a:pPr>
            <a:endParaRPr lang="en-GB" dirty="0"/>
          </a:p>
          <a:p>
            <a:pPr marL="27940" lvl="0" indent="0">
              <a:buNone/>
            </a:pPr>
            <a:r>
              <a:rPr lang="en-GB" u="sng" dirty="0">
                <a:hlinkClick r:id="rId5"/>
              </a:rPr>
              <a:t>data/manual/images/</a:t>
            </a:r>
            <a:r>
              <a:rPr lang="en-GB" dirty="0"/>
              <a:t> </a:t>
            </a:r>
            <a:endParaRPr lang="en-GB" dirty="0" smtClean="0"/>
          </a:p>
          <a:p>
            <a:pPr marL="27940" lvl="0" indent="0">
              <a:buNone/>
            </a:pPr>
            <a:endParaRPr lang="en-GB" dirty="0"/>
          </a:p>
          <a:p>
            <a:pPr marL="27940" lvl="0" indent="0">
              <a:buNone/>
            </a:pPr>
            <a:r>
              <a:rPr lang="en-GB" u="sng" dirty="0">
                <a:hlinkClick r:id="rId6"/>
              </a:rPr>
              <a:t>data/manual/labels/</a:t>
            </a:r>
            <a:r>
              <a:rPr lang="en-GB" dirty="0"/>
              <a:t> </a:t>
            </a:r>
            <a:endParaRPr lang="en" dirty="0" smtClean="0"/>
          </a:p>
        </p:txBody>
      </p:sp>
      <p:sp>
        <p:nvSpPr>
          <p:cNvPr id="164" name="Google Shape;164;p20"/>
          <p:cNvSpPr txBox="1">
            <a:spLocks noGrp="1"/>
          </p:cNvSpPr>
          <p:nvPr>
            <p:ph type="body" idx="3"/>
          </p:nvPr>
        </p:nvSpPr>
        <p:spPr>
          <a:xfrm>
            <a:off x="4663450" y="1152698"/>
            <a:ext cx="4297800" cy="16257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dirty="0"/>
              <a:t>How did the week go? </a:t>
            </a:r>
            <a:endParaRPr lang="en" dirty="0" smtClean="0"/>
          </a:p>
          <a:p>
            <a:pPr marL="27940" lvl="0" indent="0" algn="l" rtl="0">
              <a:spcBef>
                <a:spcPts val="0"/>
              </a:spcBef>
              <a:spcAft>
                <a:spcPts val="0"/>
              </a:spcAft>
              <a:buSzPts val="1000"/>
              <a:buNone/>
            </a:pPr>
            <a:r>
              <a:rPr lang="en" dirty="0" smtClean="0"/>
              <a:t>The week went good, but the collection procedure was hard to perform.</a:t>
            </a:r>
          </a:p>
          <a:p>
            <a:pPr marL="27940" lvl="0" indent="0" algn="l" rtl="0">
              <a:spcBef>
                <a:spcPts val="0"/>
              </a:spcBef>
              <a:spcAft>
                <a:spcPts val="0"/>
              </a:spcAft>
              <a:buSzPts val="1000"/>
              <a:buNone/>
            </a:pPr>
            <a:endParaRPr dirty="0"/>
          </a:p>
          <a:p>
            <a:pPr marL="182880" lvl="0" indent="-154940" algn="l" rtl="0">
              <a:spcBef>
                <a:spcPts val="0"/>
              </a:spcBef>
              <a:spcAft>
                <a:spcPts val="0"/>
              </a:spcAft>
              <a:buSzPts val="1000"/>
              <a:buChar char="●"/>
            </a:pPr>
            <a:r>
              <a:rPr lang="en" dirty="0"/>
              <a:t>What went well? </a:t>
            </a:r>
            <a:endParaRPr lang="en" dirty="0" smtClean="0"/>
          </a:p>
          <a:p>
            <a:pPr marL="27940" lvl="0" indent="0">
              <a:buNone/>
            </a:pPr>
            <a:r>
              <a:rPr lang="en-GB" dirty="0"/>
              <a:t>T</a:t>
            </a:r>
            <a:r>
              <a:rPr lang="en-GB" dirty="0" smtClean="0"/>
              <a:t>he </a:t>
            </a:r>
            <a:r>
              <a:rPr lang="en-GB" dirty="0"/>
              <a:t>in-car mount gave consistent, usable footage across both sessions</a:t>
            </a:r>
            <a:r>
              <a:rPr lang="en-GB" dirty="0" smtClean="0"/>
              <a:t>.</a:t>
            </a:r>
          </a:p>
          <a:p>
            <a:pPr marL="27940" lvl="0" indent="0">
              <a:buNone/>
            </a:pPr>
            <a:endParaRPr dirty="0"/>
          </a:p>
          <a:p>
            <a:pPr marL="182880" lvl="0" indent="-154940" algn="l" rtl="0">
              <a:spcBef>
                <a:spcPts val="0"/>
              </a:spcBef>
              <a:spcAft>
                <a:spcPts val="0"/>
              </a:spcAft>
              <a:buSzPts val="1000"/>
              <a:buChar char="●"/>
            </a:pPr>
            <a:r>
              <a:rPr lang="en" dirty="0"/>
              <a:t>What didn’t go so well? </a:t>
            </a:r>
            <a:endParaRPr lang="en" dirty="0" smtClean="0"/>
          </a:p>
          <a:p>
            <a:pPr marL="27940" lvl="0" indent="0">
              <a:buNone/>
            </a:pPr>
            <a:r>
              <a:rPr lang="en-GB" dirty="0"/>
              <a:t>A</a:t>
            </a:r>
            <a:r>
              <a:rPr lang="en-GB" dirty="0" smtClean="0"/>
              <a:t>nnotation </a:t>
            </a:r>
            <a:r>
              <a:rPr lang="en-GB" dirty="0"/>
              <a:t>is slower than expected </a:t>
            </a:r>
            <a:r>
              <a:rPr lang="en-GB" dirty="0" smtClean="0"/>
              <a:t>- </a:t>
            </a:r>
            <a:r>
              <a:rPr lang="en-GB" dirty="0"/>
              <a:t>more candidate frames than time to annotate this week</a:t>
            </a:r>
            <a:r>
              <a:rPr lang="en-GB" dirty="0" smtClean="0"/>
              <a:t>.</a:t>
            </a:r>
          </a:p>
          <a:p>
            <a:pPr marL="27940" lvl="0" indent="0">
              <a:buNone/>
            </a:pPr>
            <a:endParaRPr dirty="0"/>
          </a:p>
          <a:p>
            <a:pPr marL="182880" lvl="0" indent="-154940" algn="l" rtl="0">
              <a:spcBef>
                <a:spcPts val="0"/>
              </a:spcBef>
              <a:spcAft>
                <a:spcPts val="0"/>
              </a:spcAft>
              <a:buSzPts val="1000"/>
              <a:buChar char="●"/>
            </a:pPr>
            <a:r>
              <a:rPr lang="en" dirty="0"/>
              <a:t>What did you learn? </a:t>
            </a:r>
            <a:endParaRPr lang="en" dirty="0" smtClean="0"/>
          </a:p>
          <a:p>
            <a:pPr marL="27940" lvl="0" indent="0">
              <a:buNone/>
            </a:pPr>
            <a:r>
              <a:rPr lang="en" dirty="0" smtClean="0"/>
              <a:t>I learn h</a:t>
            </a:r>
            <a:r>
              <a:rPr lang="en-GB" dirty="0" smtClean="0"/>
              <a:t>ow </a:t>
            </a:r>
            <a:r>
              <a:rPr lang="en-GB" dirty="0"/>
              <a:t>much manual annotation time a small real-world dataset needs compared to a ready-made benchmark</a:t>
            </a:r>
            <a:r>
              <a:rPr lang="en-GB" dirty="0" smtClean="0"/>
              <a:t>.</a:t>
            </a:r>
          </a:p>
          <a:p>
            <a:pPr marL="27940" lvl="0" indent="0">
              <a:buNone/>
            </a:pPr>
            <a:endParaRPr dirty="0"/>
          </a:p>
          <a:p>
            <a:pPr marL="182880" lvl="0" indent="-154940" algn="l" rtl="0">
              <a:spcBef>
                <a:spcPts val="0"/>
              </a:spcBef>
              <a:spcAft>
                <a:spcPts val="0"/>
              </a:spcAft>
              <a:buSzPts val="1000"/>
              <a:buChar char="●"/>
            </a:pPr>
            <a:r>
              <a:rPr lang="en" dirty="0"/>
              <a:t>What could be added as an Action point looking forward to next week</a:t>
            </a:r>
            <a:r>
              <a:rPr lang="en" dirty="0" smtClean="0"/>
              <a:t>?</a:t>
            </a:r>
          </a:p>
          <a:p>
            <a:pPr marL="27940" lvl="0" indent="0">
              <a:buNone/>
            </a:pPr>
            <a:r>
              <a:rPr lang="en" dirty="0" smtClean="0"/>
              <a:t>As an Action Point for the next week is to </a:t>
            </a:r>
            <a:r>
              <a:rPr lang="en-GB" dirty="0"/>
              <a:t>finish annotation and start fine-tuning.</a:t>
            </a:r>
            <a:endParaRPr dirty="0"/>
          </a:p>
        </p:txBody>
      </p:sp>
      <p:sp>
        <p:nvSpPr>
          <p:cNvPr id="165" name="Google Shape;165;p20"/>
          <p:cNvSpPr txBox="1">
            <a:spLocks noGrp="1"/>
          </p:cNvSpPr>
          <p:nvPr>
            <p:ph type="title" idx="6"/>
          </p:nvPr>
        </p:nvSpPr>
        <p:spPr>
          <a:xfrm>
            <a:off x="7068300" y="165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dirty="0"/>
              <a:t>1/2</a:t>
            </a:r>
            <a:endParaRPr dirty="0"/>
          </a:p>
        </p:txBody>
      </p:sp>
      <p:sp>
        <p:nvSpPr>
          <p:cNvPr id="166" name="Google Shape;166;p20"/>
          <p:cNvSpPr txBox="1">
            <a:spLocks noGrp="1"/>
          </p:cNvSpPr>
          <p:nvPr>
            <p:ph type="title" idx="5"/>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sz="2400" dirty="0"/>
              <a:t>11</a:t>
            </a:r>
            <a:endParaRPr sz="2400" dirty="0"/>
          </a:p>
        </p:txBody>
      </p:sp>
      <p:sp>
        <p:nvSpPr>
          <p:cNvPr id="167" name="Google Shape;167;p20"/>
          <p:cNvSpPr/>
          <p:nvPr/>
        </p:nvSpPr>
        <p:spPr>
          <a:xfrm>
            <a:off x="0" y="576072"/>
            <a:ext cx="9144000" cy="91500"/>
          </a:xfrm>
          <a:prstGeom prst="rect">
            <a:avLst/>
          </a:prstGeom>
          <a:solidFill>
            <a:srgbClr val="66666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938536619"/>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171"/>
        <p:cNvGrpSpPr/>
        <p:nvPr/>
      </p:nvGrpSpPr>
      <p:grpSpPr>
        <a:xfrm>
          <a:off x="0" y="0"/>
          <a:ext cx="0" cy="0"/>
          <a:chOff x="0" y="0"/>
          <a:chExt cx="0" cy="0"/>
        </a:xfrm>
      </p:grpSpPr>
      <p:sp>
        <p:nvSpPr>
          <p:cNvPr id="172" name="Google Shape;172;p21"/>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dirty="0"/>
              <a:t>Week 11 - Feedback</a:t>
            </a:r>
            <a:endParaRPr dirty="0"/>
          </a:p>
        </p:txBody>
      </p:sp>
      <p:sp>
        <p:nvSpPr>
          <p:cNvPr id="173" name="Google Shape;173;p21"/>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dirty="0"/>
              <a:t>manager, colleague, or team member feedback</a:t>
            </a:r>
            <a:endParaRPr dirty="0"/>
          </a:p>
        </p:txBody>
      </p:sp>
      <p:sp>
        <p:nvSpPr>
          <p:cNvPr id="174" name="Google Shape;174;p21"/>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p>
            <a:pPr marL="182880" lvl="0" indent="-154940"/>
            <a:r>
              <a:rPr lang="en-GB" b="1" dirty="0"/>
              <a:t>D</a:t>
            </a:r>
            <a:r>
              <a:rPr lang="en" b="1" dirty="0"/>
              <a:t>ate: </a:t>
            </a:r>
            <a:r>
              <a:rPr lang="en" dirty="0"/>
              <a:t>01/07/2026</a:t>
            </a:r>
          </a:p>
          <a:p>
            <a:pPr marL="182880" lvl="0" indent="-154940" algn="l" rtl="0">
              <a:spcBef>
                <a:spcPts val="0"/>
              </a:spcBef>
              <a:spcAft>
                <a:spcPts val="0"/>
              </a:spcAft>
              <a:buSzPts val="1000"/>
              <a:buChar char="●"/>
            </a:pPr>
            <a:r>
              <a:rPr lang="en" b="1" dirty="0"/>
              <a:t>Feedback from</a:t>
            </a:r>
            <a:r>
              <a:rPr lang="en" b="1" dirty="0" smtClean="0"/>
              <a:t>: </a:t>
            </a:r>
            <a:r>
              <a:rPr lang="en" dirty="0" smtClean="0"/>
              <a:t>Borislavv Nachev (peer)</a:t>
            </a:r>
            <a:endParaRPr lang="en" dirty="0"/>
          </a:p>
          <a:p>
            <a:pPr marL="182880" lvl="0" indent="-154940"/>
            <a:r>
              <a:rPr lang="en" b="1" dirty="0"/>
              <a:t>Feedback</a:t>
            </a:r>
            <a:r>
              <a:rPr lang="en" b="1" dirty="0" smtClean="0"/>
              <a:t>: </a:t>
            </a:r>
            <a:r>
              <a:rPr lang="en-GB" dirty="0"/>
              <a:t>Good discipline keeping this collection area separate from the Sveta </a:t>
            </a:r>
            <a:r>
              <a:rPr lang="en-GB" dirty="0" err="1"/>
              <a:t>Troitsa</a:t>
            </a:r>
            <a:r>
              <a:rPr lang="en-GB" dirty="0"/>
              <a:t> neighbourhood you'll use for the routing evaluation later </a:t>
            </a:r>
            <a:r>
              <a:rPr lang="en-GB" dirty="0" smtClean="0"/>
              <a:t>- </a:t>
            </a:r>
            <a:r>
              <a:rPr lang="en-GB" dirty="0"/>
              <a:t>that's the kind of thing that's easy to overlook and hard to fix retroactively if you get it wrong. The in-car recording setup sounds like it gave you consistent footage across both sessions, which should make annotation more straightforward. It's fine that annotation is taking longer than planned; that's normal for manual labelling work.</a:t>
            </a:r>
            <a:endParaRPr lang="en" dirty="0"/>
          </a:p>
          <a:p>
            <a:pPr marL="182880" lvl="0" indent="-154940"/>
            <a:r>
              <a:rPr lang="en" b="1" dirty="0"/>
              <a:t>Related to what task: </a:t>
            </a:r>
            <a:r>
              <a:rPr lang="en-GB" dirty="0" smtClean="0"/>
              <a:t>Manual </a:t>
            </a:r>
            <a:r>
              <a:rPr lang="en-GB" dirty="0"/>
              <a:t>Sofia data collection planning.</a:t>
            </a:r>
            <a:endParaRPr lang="en" dirty="0"/>
          </a:p>
          <a:p>
            <a:pPr marL="182880" lvl="0" indent="-154940"/>
            <a:r>
              <a:rPr lang="en" b="1" dirty="0"/>
              <a:t>Response/action coming forward from this: </a:t>
            </a:r>
            <a:r>
              <a:rPr lang="en-GB" dirty="0" smtClean="0"/>
              <a:t>Documented </a:t>
            </a:r>
            <a:r>
              <a:rPr lang="en-GB" dirty="0"/>
              <a:t>the non-overlap decision in the thesis.</a:t>
            </a:r>
          </a:p>
          <a:p>
            <a:pPr marL="182880" lvl="0" indent="-154940" algn="l" rtl="0">
              <a:spcBef>
                <a:spcPts val="0"/>
              </a:spcBef>
              <a:spcAft>
                <a:spcPts val="0"/>
              </a:spcAft>
              <a:buSzPts val="1000"/>
              <a:buChar char="●"/>
            </a:pPr>
            <a:endParaRPr lang="en" b="1" dirty="0"/>
          </a:p>
        </p:txBody>
      </p:sp>
      <p:sp>
        <p:nvSpPr>
          <p:cNvPr id="175" name="Google Shape;175;p21"/>
          <p:cNvSpPr txBox="1">
            <a:spLocks noGrp="1"/>
          </p:cNvSpPr>
          <p:nvPr>
            <p:ph type="title" idx="4"/>
          </p:nvPr>
        </p:nvSpPr>
        <p:spPr>
          <a:xfrm>
            <a:off x="7068300" y="165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2/2</a:t>
            </a:r>
            <a:endParaRPr/>
          </a:p>
        </p:txBody>
      </p:sp>
      <p:sp>
        <p:nvSpPr>
          <p:cNvPr id="176" name="Google Shape;176;p21"/>
          <p:cNvSpPr txBox="1">
            <a:spLocks noGrp="1"/>
          </p:cNvSpPr>
          <p:nvPr>
            <p:ph type="title" idx="3"/>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sz="2400" dirty="0"/>
              <a:t>11</a:t>
            </a:r>
            <a:endParaRPr sz="2400" dirty="0"/>
          </a:p>
        </p:txBody>
      </p:sp>
    </p:spTree>
    <p:extLst>
      <p:ext uri="{BB962C8B-B14F-4D97-AF65-F5344CB8AC3E}">
        <p14:creationId xmlns:p14="http://schemas.microsoft.com/office/powerpoint/2010/main" val="2172326766"/>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159"/>
        <p:cNvGrpSpPr/>
        <p:nvPr/>
      </p:nvGrpSpPr>
      <p:grpSpPr>
        <a:xfrm>
          <a:off x="0" y="0"/>
          <a:ext cx="0" cy="0"/>
          <a:chOff x="0" y="0"/>
          <a:chExt cx="0" cy="0"/>
        </a:xfrm>
      </p:grpSpPr>
      <p:sp>
        <p:nvSpPr>
          <p:cNvPr id="160" name="Google Shape;160;p20"/>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r>
              <a:rPr lang="en" dirty="0"/>
              <a:t>Week 12 - Log</a:t>
            </a:r>
            <a:endParaRPr lang="en-US" dirty="0"/>
          </a:p>
        </p:txBody>
      </p:sp>
      <p:sp>
        <p:nvSpPr>
          <p:cNvPr id="161" name="Google Shape;161;p20"/>
          <p:cNvSpPr txBox="1">
            <a:spLocks noGrp="1"/>
          </p:cNvSpPr>
          <p:nvPr>
            <p:ph type="subTitle" idx="4"/>
          </p:nvPr>
        </p:nvSpPr>
        <p:spPr>
          <a:xfrm>
            <a:off x="4663440" y="758952"/>
            <a:ext cx="42978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Reflection</a:t>
            </a:r>
            <a:endParaRPr/>
          </a:p>
        </p:txBody>
      </p:sp>
      <p:sp>
        <p:nvSpPr>
          <p:cNvPr id="162" name="Google Shape;162;p20"/>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What did you do?</a:t>
            </a:r>
            <a:endParaRPr/>
          </a:p>
        </p:txBody>
      </p:sp>
      <p:sp>
        <p:nvSpPr>
          <p:cNvPr id="163" name="Google Shape;163;p20"/>
          <p:cNvSpPr txBox="1">
            <a:spLocks noGrp="1"/>
          </p:cNvSpPr>
          <p:nvPr>
            <p:ph type="body" idx="2"/>
          </p:nvPr>
        </p:nvSpPr>
        <p:spPr>
          <a:xfrm>
            <a:off x="182875" y="1152696"/>
            <a:ext cx="4294500" cy="3896381"/>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dirty="0"/>
              <a:t>What goal(s) did you set for this week</a:t>
            </a:r>
            <a:r>
              <a:rPr lang="en" dirty="0" smtClean="0"/>
              <a:t>?</a:t>
            </a:r>
          </a:p>
          <a:p>
            <a:pPr marL="27940" lvl="0" indent="0">
              <a:buNone/>
            </a:pPr>
            <a:r>
              <a:rPr lang="en" dirty="0" smtClean="0"/>
              <a:t>The goal for this week is to </a:t>
            </a:r>
            <a:r>
              <a:rPr lang="en-GB" dirty="0"/>
              <a:t>finish annotating the manual Sofia dataset and fine-tune both models</a:t>
            </a:r>
            <a:r>
              <a:rPr lang="en-GB" dirty="0" smtClean="0"/>
              <a:t>.</a:t>
            </a:r>
          </a:p>
          <a:p>
            <a:pPr marL="27940" lvl="0" indent="0">
              <a:buNone/>
            </a:pPr>
            <a:endParaRPr dirty="0"/>
          </a:p>
          <a:p>
            <a:pPr marL="182880" lvl="0" indent="-154940" algn="l" rtl="0">
              <a:spcBef>
                <a:spcPts val="0"/>
              </a:spcBef>
              <a:spcAft>
                <a:spcPts val="0"/>
              </a:spcAft>
              <a:buSzPts val="1000"/>
              <a:buChar char="●"/>
            </a:pPr>
            <a:r>
              <a:rPr lang="en" dirty="0"/>
              <a:t>What have you actually been able to do? </a:t>
            </a:r>
            <a:endParaRPr lang="en" dirty="0" smtClean="0"/>
          </a:p>
          <a:p>
            <a:pPr marL="27940" lvl="0" indent="0">
              <a:buNone/>
            </a:pPr>
            <a:r>
              <a:rPr lang="en" dirty="0" smtClean="0"/>
              <a:t>I </a:t>
            </a:r>
            <a:r>
              <a:rPr lang="en-GB" dirty="0"/>
              <a:t>finished/verified all 201 pairs; split 131/28/42; baseline-evaluated both models (revealing a large domain gap); designed the fine-tuning protocol; fine-tuned both models</a:t>
            </a:r>
            <a:r>
              <a:rPr lang="en-GB" dirty="0" smtClean="0"/>
              <a:t>.</a:t>
            </a:r>
          </a:p>
          <a:p>
            <a:pPr marL="27940" lvl="0" indent="0">
              <a:buNone/>
            </a:pPr>
            <a:endParaRPr dirty="0"/>
          </a:p>
          <a:p>
            <a:pPr marL="182880" lvl="0" indent="-154940" algn="l" rtl="0">
              <a:spcBef>
                <a:spcPts val="0"/>
              </a:spcBef>
              <a:spcAft>
                <a:spcPts val="0"/>
              </a:spcAft>
              <a:buSzPts val="1000"/>
              <a:buChar char="●"/>
            </a:pPr>
            <a:r>
              <a:rPr lang="en" dirty="0"/>
              <a:t>Showcase what tasks you have been working on this week and provide evidence for it</a:t>
            </a:r>
            <a:r>
              <a:rPr lang="en" dirty="0" smtClean="0"/>
              <a:t>.</a:t>
            </a:r>
          </a:p>
          <a:p>
            <a:pPr marL="27940" lvl="0" indent="0">
              <a:buNone/>
            </a:pPr>
            <a:r>
              <a:rPr lang="en-GB" u="sng" dirty="0">
                <a:hlinkClick r:id="rId3"/>
              </a:rPr>
              <a:t>data/manual/labels/</a:t>
            </a:r>
            <a:r>
              <a:rPr lang="en-GB" dirty="0"/>
              <a:t> </a:t>
            </a:r>
            <a:endParaRPr lang="en-GB" dirty="0" smtClean="0"/>
          </a:p>
          <a:p>
            <a:pPr marL="27940" lvl="0" indent="0">
              <a:buNone/>
            </a:pPr>
            <a:endParaRPr lang="en-GB" dirty="0"/>
          </a:p>
          <a:p>
            <a:pPr marL="27940" lvl="0" indent="0">
              <a:buNone/>
            </a:pPr>
            <a:r>
              <a:rPr lang="en-GB" u="sng" dirty="0">
                <a:hlinkClick r:id="rId4"/>
              </a:rPr>
              <a:t>thesis 3.6</a:t>
            </a:r>
            <a:r>
              <a:rPr lang="en-GB" dirty="0"/>
              <a:t> </a:t>
            </a:r>
            <a:endParaRPr lang="en-GB" dirty="0" smtClean="0"/>
          </a:p>
          <a:p>
            <a:pPr marL="27940" lvl="0" indent="0">
              <a:buNone/>
            </a:pPr>
            <a:endParaRPr lang="en-GB" dirty="0"/>
          </a:p>
          <a:p>
            <a:pPr marL="27940" lvl="0" indent="0">
              <a:buNone/>
            </a:pPr>
            <a:r>
              <a:rPr lang="en-GB" u="sng" dirty="0">
                <a:hlinkClick r:id="rId4"/>
              </a:rPr>
              <a:t>thesis Table: Sofia split</a:t>
            </a:r>
            <a:r>
              <a:rPr lang="en-GB" dirty="0"/>
              <a:t> </a:t>
            </a:r>
            <a:endParaRPr lang="en-GB" dirty="0" smtClean="0"/>
          </a:p>
          <a:p>
            <a:pPr marL="27940" lvl="0" indent="0">
              <a:buNone/>
            </a:pPr>
            <a:endParaRPr lang="en-GB" dirty="0"/>
          </a:p>
          <a:p>
            <a:pPr marL="27940" lvl="0" indent="0">
              <a:buNone/>
            </a:pPr>
            <a:r>
              <a:rPr lang="en-GB" u="sng" dirty="0">
                <a:hlinkClick r:id="rId5"/>
              </a:rPr>
              <a:t>outputs/reports/</a:t>
            </a:r>
            <a:r>
              <a:rPr lang="en-GB" dirty="0"/>
              <a:t> </a:t>
            </a:r>
            <a:endParaRPr lang="en-GB" dirty="0" smtClean="0"/>
          </a:p>
          <a:p>
            <a:pPr marL="27940" lvl="0" indent="0">
              <a:buNone/>
            </a:pPr>
            <a:endParaRPr lang="en-GB" dirty="0"/>
          </a:p>
          <a:p>
            <a:pPr marL="27940" lvl="0" indent="0">
              <a:buNone/>
            </a:pPr>
            <a:r>
              <a:rPr lang="en-GB" u="sng" dirty="0">
                <a:hlinkClick r:id="rId6"/>
              </a:rPr>
              <a:t>notebooks/</a:t>
            </a:r>
            <a:r>
              <a:rPr lang="en-GB" dirty="0"/>
              <a:t> </a:t>
            </a:r>
            <a:endParaRPr lang="en-GB" dirty="0" smtClean="0"/>
          </a:p>
          <a:p>
            <a:pPr marL="27940" lvl="0" indent="0">
              <a:buNone/>
            </a:pPr>
            <a:endParaRPr lang="en-GB" dirty="0"/>
          </a:p>
          <a:p>
            <a:pPr marL="27940" lvl="0" indent="0">
              <a:buNone/>
            </a:pPr>
            <a:r>
              <a:rPr lang="en-GB" u="sng" dirty="0">
                <a:hlinkClick r:id="rId7"/>
              </a:rPr>
              <a:t>models/yolov8n_sofia_finetune/</a:t>
            </a:r>
            <a:r>
              <a:rPr lang="en-GB" dirty="0"/>
              <a:t> </a:t>
            </a:r>
            <a:endParaRPr lang="en-GB" dirty="0" smtClean="0"/>
          </a:p>
          <a:p>
            <a:pPr marL="27940" lvl="0" indent="0">
              <a:buNone/>
            </a:pPr>
            <a:endParaRPr lang="en-GB" dirty="0" smtClean="0"/>
          </a:p>
          <a:p>
            <a:pPr marL="27940" lvl="0" indent="0">
              <a:buNone/>
            </a:pPr>
            <a:r>
              <a:rPr lang="en-GB" u="sng" dirty="0">
                <a:hlinkClick r:id="rId8"/>
              </a:rPr>
              <a:t>models/</a:t>
            </a:r>
            <a:r>
              <a:rPr lang="en-GB" u="sng" dirty="0" err="1">
                <a:hlinkClick r:id="rId8"/>
              </a:rPr>
              <a:t>fasterrcnn_sofia_finetune</a:t>
            </a:r>
            <a:r>
              <a:rPr lang="en-GB" u="sng" dirty="0">
                <a:hlinkClick r:id="rId8"/>
              </a:rPr>
              <a:t>/</a:t>
            </a:r>
            <a:r>
              <a:rPr lang="en-GB" dirty="0"/>
              <a:t> </a:t>
            </a:r>
            <a:endParaRPr lang="en" dirty="0"/>
          </a:p>
        </p:txBody>
      </p:sp>
      <p:sp>
        <p:nvSpPr>
          <p:cNvPr id="164" name="Google Shape;164;p20"/>
          <p:cNvSpPr txBox="1">
            <a:spLocks noGrp="1"/>
          </p:cNvSpPr>
          <p:nvPr>
            <p:ph type="body" idx="3"/>
          </p:nvPr>
        </p:nvSpPr>
        <p:spPr>
          <a:xfrm>
            <a:off x="4663450" y="1152698"/>
            <a:ext cx="4297800" cy="16257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dirty="0"/>
              <a:t>How did the week go? </a:t>
            </a:r>
            <a:endParaRPr lang="en" dirty="0" smtClean="0"/>
          </a:p>
          <a:p>
            <a:pPr marL="27940" lvl="0" indent="0">
              <a:buNone/>
            </a:pPr>
            <a:r>
              <a:rPr lang="en" dirty="0" smtClean="0"/>
              <a:t>It was a </a:t>
            </a:r>
            <a:r>
              <a:rPr lang="en-GB" dirty="0"/>
              <a:t>big week </a:t>
            </a:r>
            <a:r>
              <a:rPr lang="en-GB" dirty="0" smtClean="0"/>
              <a:t>- </a:t>
            </a:r>
            <a:r>
              <a:rPr lang="en-GB" dirty="0"/>
              <a:t>one of the most important results in the thesis</a:t>
            </a:r>
            <a:r>
              <a:rPr lang="en-GB" dirty="0" smtClean="0"/>
              <a:t>.</a:t>
            </a:r>
          </a:p>
          <a:p>
            <a:pPr marL="27940" lvl="0" indent="0">
              <a:buNone/>
            </a:pPr>
            <a:endParaRPr dirty="0"/>
          </a:p>
          <a:p>
            <a:pPr marL="182880" lvl="0" indent="-154940" algn="l" rtl="0">
              <a:spcBef>
                <a:spcPts val="0"/>
              </a:spcBef>
              <a:spcAft>
                <a:spcPts val="0"/>
              </a:spcAft>
              <a:buSzPts val="1000"/>
              <a:buChar char="●"/>
            </a:pPr>
            <a:r>
              <a:rPr lang="en" dirty="0"/>
              <a:t>What went well? </a:t>
            </a:r>
          </a:p>
          <a:p>
            <a:pPr marL="27940" lvl="0" indent="0" algn="l" rtl="0">
              <a:spcBef>
                <a:spcPts val="0"/>
              </a:spcBef>
              <a:spcAft>
                <a:spcPts val="0"/>
              </a:spcAft>
              <a:buSzPts val="1000"/>
              <a:buNone/>
            </a:pPr>
            <a:r>
              <a:rPr lang="en-GB" dirty="0"/>
              <a:t>F</a:t>
            </a:r>
            <a:r>
              <a:rPr lang="en-GB" dirty="0" smtClean="0"/>
              <a:t>ine-tuning </a:t>
            </a:r>
            <a:r>
              <a:rPr lang="en-GB" dirty="0"/>
              <a:t>on just 131 images produced a large, measurable improvement for both models</a:t>
            </a:r>
            <a:r>
              <a:rPr lang="en-GB" dirty="0" smtClean="0"/>
              <a:t>.</a:t>
            </a:r>
            <a:r>
              <a:rPr lang="en-GB" dirty="0"/>
              <a:t/>
            </a:r>
            <a:br>
              <a:rPr lang="en-GB" dirty="0"/>
            </a:br>
            <a:endParaRPr dirty="0" smtClean="0"/>
          </a:p>
          <a:p>
            <a:pPr marL="182880" lvl="0" indent="-154940" algn="l" rtl="0">
              <a:spcBef>
                <a:spcPts val="0"/>
              </a:spcBef>
              <a:spcAft>
                <a:spcPts val="0"/>
              </a:spcAft>
              <a:buSzPts val="1000"/>
              <a:buChar char="●"/>
            </a:pPr>
            <a:r>
              <a:rPr lang="en" dirty="0" smtClean="0"/>
              <a:t>What </a:t>
            </a:r>
            <a:r>
              <a:rPr lang="en" dirty="0"/>
              <a:t>didn’t go so well? </a:t>
            </a:r>
            <a:endParaRPr lang="en" dirty="0" smtClean="0"/>
          </a:p>
          <a:p>
            <a:pPr marL="27940" lvl="0" indent="0">
              <a:buNone/>
            </a:pPr>
            <a:r>
              <a:rPr lang="en-GB" dirty="0"/>
              <a:t>T</a:t>
            </a:r>
            <a:r>
              <a:rPr lang="en-GB" dirty="0" smtClean="0"/>
              <a:t>he </a:t>
            </a:r>
            <a:r>
              <a:rPr lang="en-GB" dirty="0"/>
              <a:t>pre-fine-tuning baseline on Sofia photos was much worse than expected </a:t>
            </a:r>
            <a:r>
              <a:rPr lang="en-GB" dirty="0" smtClean="0"/>
              <a:t>- </a:t>
            </a:r>
            <a:r>
              <a:rPr lang="en-GB" dirty="0"/>
              <a:t>worrying before the fine-tuned results came in</a:t>
            </a:r>
            <a:r>
              <a:rPr lang="en-GB" dirty="0" smtClean="0"/>
              <a:t>.</a:t>
            </a:r>
          </a:p>
          <a:p>
            <a:pPr marL="27940" lvl="0" indent="0">
              <a:buNone/>
            </a:pPr>
            <a:endParaRPr dirty="0"/>
          </a:p>
          <a:p>
            <a:pPr marL="182880" lvl="0" indent="-154940" algn="l" rtl="0">
              <a:spcBef>
                <a:spcPts val="0"/>
              </a:spcBef>
              <a:spcAft>
                <a:spcPts val="0"/>
              </a:spcAft>
              <a:buSzPts val="1000"/>
              <a:buChar char="●"/>
            </a:pPr>
            <a:r>
              <a:rPr lang="en" dirty="0"/>
              <a:t>What did you learn? </a:t>
            </a:r>
            <a:endParaRPr lang="en" dirty="0" smtClean="0"/>
          </a:p>
          <a:p>
            <a:pPr marL="27940" lvl="0" indent="0">
              <a:buNone/>
            </a:pPr>
            <a:r>
              <a:rPr lang="en" dirty="0" smtClean="0"/>
              <a:t>I lernt that </a:t>
            </a:r>
            <a:r>
              <a:rPr lang="en-GB" dirty="0"/>
              <a:t>a benchmark-only model can collapse on real local images, and a little local data closes much of the gap</a:t>
            </a:r>
            <a:r>
              <a:rPr lang="en-GB" dirty="0" smtClean="0"/>
              <a:t>.</a:t>
            </a:r>
          </a:p>
          <a:p>
            <a:pPr marL="27940" lvl="0" indent="0">
              <a:buNone/>
            </a:pPr>
            <a:endParaRPr dirty="0"/>
          </a:p>
          <a:p>
            <a:pPr marL="182880" lvl="0" indent="-154940" algn="l" rtl="0">
              <a:spcBef>
                <a:spcPts val="0"/>
              </a:spcBef>
              <a:spcAft>
                <a:spcPts val="0"/>
              </a:spcAft>
              <a:buSzPts val="1000"/>
              <a:buChar char="●"/>
            </a:pPr>
            <a:r>
              <a:rPr lang="en" dirty="0"/>
              <a:t>What could be added as an Action point looking forward to next week</a:t>
            </a:r>
            <a:r>
              <a:rPr lang="en" dirty="0" smtClean="0"/>
              <a:t>?</a:t>
            </a:r>
          </a:p>
          <a:p>
            <a:pPr marL="27940" lvl="0" indent="0">
              <a:buNone/>
            </a:pPr>
            <a:r>
              <a:rPr lang="en" dirty="0" smtClean="0"/>
              <a:t>The goal for the next week is to </a:t>
            </a:r>
            <a:r>
              <a:rPr lang="en-GB" dirty="0"/>
              <a:t> rebuild the app around the fine-tuned model.</a:t>
            </a:r>
            <a:endParaRPr dirty="0"/>
          </a:p>
        </p:txBody>
      </p:sp>
      <p:sp>
        <p:nvSpPr>
          <p:cNvPr id="165" name="Google Shape;165;p20"/>
          <p:cNvSpPr txBox="1">
            <a:spLocks noGrp="1"/>
          </p:cNvSpPr>
          <p:nvPr>
            <p:ph type="title" idx="6"/>
          </p:nvPr>
        </p:nvSpPr>
        <p:spPr>
          <a:xfrm>
            <a:off x="7068300" y="165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dirty="0"/>
              <a:t>1/2</a:t>
            </a:r>
            <a:endParaRPr dirty="0"/>
          </a:p>
        </p:txBody>
      </p:sp>
      <p:sp>
        <p:nvSpPr>
          <p:cNvPr id="166" name="Google Shape;166;p20"/>
          <p:cNvSpPr txBox="1">
            <a:spLocks noGrp="1"/>
          </p:cNvSpPr>
          <p:nvPr>
            <p:ph type="title" idx="5"/>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sz="2400" dirty="0"/>
              <a:t>12</a:t>
            </a:r>
            <a:endParaRPr sz="2400" dirty="0"/>
          </a:p>
        </p:txBody>
      </p:sp>
      <p:sp>
        <p:nvSpPr>
          <p:cNvPr id="167" name="Google Shape;167;p20"/>
          <p:cNvSpPr/>
          <p:nvPr/>
        </p:nvSpPr>
        <p:spPr>
          <a:xfrm>
            <a:off x="0" y="576072"/>
            <a:ext cx="9144000" cy="91500"/>
          </a:xfrm>
          <a:prstGeom prst="rect">
            <a:avLst/>
          </a:prstGeom>
          <a:solidFill>
            <a:srgbClr val="66666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69259421"/>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171"/>
        <p:cNvGrpSpPr/>
        <p:nvPr/>
      </p:nvGrpSpPr>
      <p:grpSpPr>
        <a:xfrm>
          <a:off x="0" y="0"/>
          <a:ext cx="0" cy="0"/>
          <a:chOff x="0" y="0"/>
          <a:chExt cx="0" cy="0"/>
        </a:xfrm>
      </p:grpSpPr>
      <p:sp>
        <p:nvSpPr>
          <p:cNvPr id="172" name="Google Shape;172;p21"/>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dirty="0"/>
              <a:t>Week 12 - Feedback</a:t>
            </a:r>
            <a:endParaRPr dirty="0"/>
          </a:p>
        </p:txBody>
      </p:sp>
      <p:sp>
        <p:nvSpPr>
          <p:cNvPr id="173" name="Google Shape;173;p21"/>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dirty="0"/>
              <a:t>manager, colleague, or team member feedback</a:t>
            </a:r>
            <a:endParaRPr dirty="0"/>
          </a:p>
        </p:txBody>
      </p:sp>
      <p:sp>
        <p:nvSpPr>
          <p:cNvPr id="174" name="Google Shape;174;p21"/>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p>
            <a:pPr marL="182880" lvl="0" indent="-154940"/>
            <a:r>
              <a:rPr lang="en-GB" b="1" dirty="0"/>
              <a:t>D</a:t>
            </a:r>
            <a:r>
              <a:rPr lang="en" b="1" dirty="0"/>
              <a:t>ate: </a:t>
            </a:r>
            <a:r>
              <a:rPr lang="en" dirty="0"/>
              <a:t>10/07/2026</a:t>
            </a:r>
          </a:p>
          <a:p>
            <a:pPr marL="182880" lvl="0" indent="-154940" algn="l" rtl="0">
              <a:spcBef>
                <a:spcPts val="0"/>
              </a:spcBef>
              <a:spcAft>
                <a:spcPts val="0"/>
              </a:spcAft>
              <a:buSzPts val="1000"/>
              <a:buChar char="●"/>
            </a:pPr>
            <a:r>
              <a:rPr lang="en" b="1" dirty="0"/>
              <a:t>Feedback from</a:t>
            </a:r>
            <a:r>
              <a:rPr lang="en" b="1" dirty="0" smtClean="0"/>
              <a:t>: </a:t>
            </a:r>
            <a:r>
              <a:rPr lang="en" dirty="0" smtClean="0"/>
              <a:t>Karna Rewatkar (Supervisor)</a:t>
            </a:r>
            <a:endParaRPr lang="en" dirty="0"/>
          </a:p>
          <a:p>
            <a:pPr marL="182880" lvl="0" indent="-154940"/>
            <a:r>
              <a:rPr lang="en" b="1" dirty="0"/>
              <a:t>Feedback</a:t>
            </a:r>
            <a:r>
              <a:rPr lang="en" b="1" dirty="0" smtClean="0"/>
              <a:t>: </a:t>
            </a:r>
            <a:r>
              <a:rPr lang="en-GB" dirty="0"/>
              <a:t>This is probably the most important result in the thesis so far </a:t>
            </a:r>
            <a:r>
              <a:rPr lang="en-GB" dirty="0" smtClean="0"/>
              <a:t>- </a:t>
            </a:r>
            <a:r>
              <a:rPr lang="en-GB" dirty="0"/>
              <a:t>the size of the domain gap between RDD2022 and real Sofia photos, and how much a small amount of fine-tuning recovers, is a strong, concrete finding. Make sure this doesn't get buried as just another evaluation table; it deserves to anchor the discussion chapter. Good instinct running the baseline evaluation before fine-tuning so you have a clean before/after comparison to report.</a:t>
            </a:r>
            <a:endParaRPr lang="en" dirty="0"/>
          </a:p>
          <a:p>
            <a:pPr marL="182880" lvl="0" indent="-154940"/>
            <a:r>
              <a:rPr lang="en" b="1" dirty="0"/>
              <a:t>Related to what task: </a:t>
            </a:r>
            <a:r>
              <a:rPr lang="en-GB" dirty="0" smtClean="0"/>
              <a:t>Domain-adaptation </a:t>
            </a:r>
            <a:r>
              <a:rPr lang="en-GB" dirty="0"/>
              <a:t>fine-tuning results.</a:t>
            </a:r>
            <a:endParaRPr lang="en" dirty="0"/>
          </a:p>
          <a:p>
            <a:pPr marL="182880" lvl="0" indent="-154940"/>
            <a:r>
              <a:rPr lang="en" b="1" dirty="0"/>
              <a:t>Response/action coming forward from this: </a:t>
            </a:r>
            <a:r>
              <a:rPr lang="en-GB" dirty="0" smtClean="0"/>
              <a:t>Planned </a:t>
            </a:r>
            <a:r>
              <a:rPr lang="en-GB" dirty="0"/>
              <a:t>to lead the Discussion chapter with this finding.</a:t>
            </a:r>
            <a:endParaRPr lang="en" dirty="0"/>
          </a:p>
        </p:txBody>
      </p:sp>
      <p:sp>
        <p:nvSpPr>
          <p:cNvPr id="175" name="Google Shape;175;p21"/>
          <p:cNvSpPr txBox="1">
            <a:spLocks noGrp="1"/>
          </p:cNvSpPr>
          <p:nvPr>
            <p:ph type="title" idx="4"/>
          </p:nvPr>
        </p:nvSpPr>
        <p:spPr>
          <a:xfrm>
            <a:off x="7068300" y="165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2/2</a:t>
            </a:r>
            <a:endParaRPr/>
          </a:p>
        </p:txBody>
      </p:sp>
      <p:sp>
        <p:nvSpPr>
          <p:cNvPr id="176" name="Google Shape;176;p21"/>
          <p:cNvSpPr txBox="1">
            <a:spLocks noGrp="1"/>
          </p:cNvSpPr>
          <p:nvPr>
            <p:ph type="title" idx="3"/>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sz="2400" dirty="0"/>
              <a:t>12</a:t>
            </a:r>
            <a:endParaRPr sz="2400" dirty="0"/>
          </a:p>
        </p:txBody>
      </p:sp>
    </p:spTree>
    <p:extLst>
      <p:ext uri="{BB962C8B-B14F-4D97-AF65-F5344CB8AC3E}">
        <p14:creationId xmlns:p14="http://schemas.microsoft.com/office/powerpoint/2010/main" val="1811003241"/>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159"/>
        <p:cNvGrpSpPr/>
        <p:nvPr/>
      </p:nvGrpSpPr>
      <p:grpSpPr>
        <a:xfrm>
          <a:off x="0" y="0"/>
          <a:ext cx="0" cy="0"/>
          <a:chOff x="0" y="0"/>
          <a:chExt cx="0" cy="0"/>
        </a:xfrm>
      </p:grpSpPr>
      <p:sp>
        <p:nvSpPr>
          <p:cNvPr id="160" name="Google Shape;160;p20"/>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r>
              <a:rPr lang="en" dirty="0"/>
              <a:t>Week 13 - Log</a:t>
            </a:r>
            <a:endParaRPr lang="en-US" dirty="0"/>
          </a:p>
        </p:txBody>
      </p:sp>
      <p:sp>
        <p:nvSpPr>
          <p:cNvPr id="161" name="Google Shape;161;p20"/>
          <p:cNvSpPr txBox="1">
            <a:spLocks noGrp="1"/>
          </p:cNvSpPr>
          <p:nvPr>
            <p:ph type="subTitle" idx="4"/>
          </p:nvPr>
        </p:nvSpPr>
        <p:spPr>
          <a:xfrm>
            <a:off x="4663440" y="758952"/>
            <a:ext cx="42978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Reflection</a:t>
            </a:r>
            <a:endParaRPr/>
          </a:p>
        </p:txBody>
      </p:sp>
      <p:sp>
        <p:nvSpPr>
          <p:cNvPr id="162" name="Google Shape;162;p20"/>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What did you do?</a:t>
            </a:r>
            <a:endParaRPr/>
          </a:p>
        </p:txBody>
      </p:sp>
      <p:sp>
        <p:nvSpPr>
          <p:cNvPr id="163" name="Google Shape;163;p20"/>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dirty="0"/>
              <a:t>What goal(s) did you set for this week</a:t>
            </a:r>
            <a:r>
              <a:rPr lang="en" dirty="0" smtClean="0"/>
              <a:t>?</a:t>
            </a:r>
          </a:p>
          <a:p>
            <a:pPr marL="27940" lvl="0" indent="0">
              <a:buNone/>
            </a:pPr>
            <a:r>
              <a:rPr lang="en" dirty="0" smtClean="0"/>
              <a:t>The goal for this week is to </a:t>
            </a:r>
            <a:r>
              <a:rPr lang="en-GB" dirty="0"/>
              <a:t>rebuild the app around the fine-tuned model and finish the remaining pages</a:t>
            </a:r>
            <a:r>
              <a:rPr lang="en-GB" dirty="0" smtClean="0"/>
              <a:t>.</a:t>
            </a:r>
          </a:p>
          <a:p>
            <a:pPr marL="27940" lvl="0" indent="0">
              <a:buNone/>
            </a:pPr>
            <a:endParaRPr dirty="0"/>
          </a:p>
          <a:p>
            <a:pPr marL="182880" lvl="0" indent="-154940" algn="l" rtl="0">
              <a:spcBef>
                <a:spcPts val="0"/>
              </a:spcBef>
              <a:spcAft>
                <a:spcPts val="0"/>
              </a:spcAft>
              <a:buSzPts val="1000"/>
              <a:buChar char="●"/>
            </a:pPr>
            <a:r>
              <a:rPr lang="en" dirty="0"/>
              <a:t>What have you actually been able to do? </a:t>
            </a:r>
            <a:endParaRPr lang="en" dirty="0" smtClean="0"/>
          </a:p>
          <a:p>
            <a:pPr marL="27940" lvl="0" indent="0">
              <a:buNone/>
            </a:pPr>
            <a:r>
              <a:rPr lang="en" dirty="0" smtClean="0"/>
              <a:t>I </a:t>
            </a:r>
            <a:r>
              <a:rPr lang="en-GB" dirty="0"/>
              <a:t>swapped the active model; rebuilt Damage Map (colouring, </a:t>
            </a:r>
            <a:r>
              <a:rPr lang="en-GB" dirty="0" err="1"/>
              <a:t>heatmap</a:t>
            </a:r>
            <a:r>
              <a:rPr lang="en-GB" dirty="0"/>
              <a:t>) and Safer Route Planner (alpha slider, comparison); full walkthrough with the fine-tuned model; fixed bugs found</a:t>
            </a:r>
            <a:r>
              <a:rPr lang="en-GB" dirty="0" smtClean="0"/>
              <a:t>.</a:t>
            </a:r>
          </a:p>
          <a:p>
            <a:pPr marL="27940" lvl="0" indent="0">
              <a:buNone/>
            </a:pPr>
            <a:endParaRPr dirty="0"/>
          </a:p>
          <a:p>
            <a:pPr marL="182880" lvl="0" indent="-154940" algn="l" rtl="0">
              <a:spcBef>
                <a:spcPts val="0"/>
              </a:spcBef>
              <a:spcAft>
                <a:spcPts val="0"/>
              </a:spcAft>
              <a:buSzPts val="1000"/>
              <a:buChar char="●"/>
            </a:pPr>
            <a:r>
              <a:rPr lang="en" dirty="0"/>
              <a:t>Showcase what tasks you have been working on this week and provide evidence for it</a:t>
            </a:r>
            <a:r>
              <a:rPr lang="en" dirty="0" smtClean="0"/>
              <a:t>.</a:t>
            </a:r>
          </a:p>
          <a:p>
            <a:pPr marL="27940" lvl="0" indent="0" algn="l" rtl="0">
              <a:spcBef>
                <a:spcPts val="0"/>
              </a:spcBef>
              <a:spcAft>
                <a:spcPts val="0"/>
              </a:spcAft>
              <a:buSzPts val="1000"/>
              <a:buNone/>
            </a:pPr>
            <a:endParaRPr lang="en" dirty="0"/>
          </a:p>
          <a:p>
            <a:pPr marL="27940" lvl="0" indent="0">
              <a:buNone/>
            </a:pPr>
            <a:r>
              <a:rPr lang="en-GB" u="sng" dirty="0" err="1">
                <a:hlinkClick r:id="rId3"/>
              </a:rPr>
              <a:t>config</a:t>
            </a:r>
            <a:r>
              <a:rPr lang="en-GB" u="sng" dirty="0">
                <a:hlinkClick r:id="rId3"/>
              </a:rPr>
              <a:t>/</a:t>
            </a:r>
            <a:r>
              <a:rPr lang="en-GB" u="sng" dirty="0" err="1">
                <a:hlinkClick r:id="rId3"/>
              </a:rPr>
              <a:t>app_config.yaml</a:t>
            </a:r>
            <a:r>
              <a:rPr lang="en-GB" dirty="0"/>
              <a:t> </a:t>
            </a:r>
            <a:endParaRPr lang="en-GB" dirty="0" smtClean="0"/>
          </a:p>
          <a:p>
            <a:pPr marL="27940" lvl="0" indent="0">
              <a:buNone/>
            </a:pPr>
            <a:endParaRPr lang="en-GB" dirty="0"/>
          </a:p>
          <a:p>
            <a:pPr marL="27940" lvl="0" indent="0">
              <a:buNone/>
            </a:pPr>
            <a:r>
              <a:rPr lang="en-GB" u="sng" dirty="0">
                <a:hlinkClick r:id="rId4"/>
              </a:rPr>
              <a:t>pages/3_Damage_Map.py</a:t>
            </a:r>
            <a:r>
              <a:rPr lang="en-GB" dirty="0"/>
              <a:t> </a:t>
            </a:r>
            <a:endParaRPr lang="en-GB" dirty="0" smtClean="0"/>
          </a:p>
          <a:p>
            <a:pPr marL="27940" lvl="0" indent="0">
              <a:buNone/>
            </a:pPr>
            <a:endParaRPr lang="en-GB" dirty="0"/>
          </a:p>
          <a:p>
            <a:pPr marL="27940" lvl="0" indent="0">
              <a:buNone/>
            </a:pPr>
            <a:r>
              <a:rPr lang="en-GB" u="sng" dirty="0">
                <a:hlinkClick r:id="rId5"/>
              </a:rPr>
              <a:t>pages/4_Safer_Route_Planner.py</a:t>
            </a:r>
            <a:r>
              <a:rPr lang="en-GB" dirty="0"/>
              <a:t> </a:t>
            </a:r>
            <a:endParaRPr lang="en-GB" dirty="0" smtClean="0"/>
          </a:p>
          <a:p>
            <a:pPr marL="27940" lvl="0" indent="0">
              <a:buNone/>
            </a:pPr>
            <a:endParaRPr lang="en-GB" dirty="0"/>
          </a:p>
          <a:p>
            <a:pPr marL="27940" lvl="0" indent="0">
              <a:buNone/>
            </a:pPr>
            <a:r>
              <a:rPr lang="en-GB" u="sng" dirty="0">
                <a:hlinkClick r:id="rId6"/>
              </a:rPr>
              <a:t>src/app/database.py</a:t>
            </a:r>
            <a:r>
              <a:rPr lang="en-GB" dirty="0"/>
              <a:t> </a:t>
            </a:r>
            <a:endParaRPr lang="en-GB" dirty="0" smtClean="0"/>
          </a:p>
          <a:p>
            <a:pPr marL="27940" lvl="0" indent="0">
              <a:buNone/>
            </a:pPr>
            <a:endParaRPr lang="en-GB" dirty="0"/>
          </a:p>
          <a:p>
            <a:pPr marL="27940" lvl="0" indent="0">
              <a:buNone/>
            </a:pPr>
            <a:r>
              <a:rPr lang="en-GB" u="sng" dirty="0">
                <a:hlinkClick r:id="rId7"/>
              </a:rPr>
              <a:t>pages/1_Dashboard.py</a:t>
            </a:r>
            <a:r>
              <a:rPr lang="en-GB" dirty="0"/>
              <a:t> </a:t>
            </a:r>
            <a:endParaRPr lang="en" dirty="0" smtClean="0"/>
          </a:p>
        </p:txBody>
      </p:sp>
      <p:sp>
        <p:nvSpPr>
          <p:cNvPr id="164" name="Google Shape;164;p20"/>
          <p:cNvSpPr txBox="1">
            <a:spLocks noGrp="1"/>
          </p:cNvSpPr>
          <p:nvPr>
            <p:ph type="body" idx="3"/>
          </p:nvPr>
        </p:nvSpPr>
        <p:spPr>
          <a:xfrm>
            <a:off x="4663450" y="1152698"/>
            <a:ext cx="4297800" cy="16257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dirty="0"/>
              <a:t>How did the week go</a:t>
            </a:r>
            <a:r>
              <a:rPr lang="en" dirty="0" smtClean="0"/>
              <a:t>? </a:t>
            </a:r>
          </a:p>
          <a:p>
            <a:pPr marL="27940" lvl="0" indent="0">
              <a:buNone/>
            </a:pPr>
            <a:r>
              <a:rPr lang="en" dirty="0" smtClean="0"/>
              <a:t>The week went </a:t>
            </a:r>
            <a:r>
              <a:rPr lang="en-GB" dirty="0"/>
              <a:t>good </a:t>
            </a:r>
            <a:r>
              <a:rPr lang="en-GB" dirty="0" smtClean="0"/>
              <a:t>- </a:t>
            </a:r>
            <a:r>
              <a:rPr lang="en-GB" dirty="0"/>
              <a:t>the app is now feature-complete with the better model</a:t>
            </a:r>
            <a:r>
              <a:rPr lang="en-GB" dirty="0" smtClean="0"/>
              <a:t>.</a:t>
            </a:r>
          </a:p>
          <a:p>
            <a:pPr marL="27940" lvl="0" indent="0">
              <a:buNone/>
            </a:pPr>
            <a:endParaRPr dirty="0"/>
          </a:p>
          <a:p>
            <a:pPr marL="182880" lvl="0" indent="-154940" algn="l" rtl="0">
              <a:spcBef>
                <a:spcPts val="0"/>
              </a:spcBef>
              <a:spcAft>
                <a:spcPts val="0"/>
              </a:spcAft>
              <a:buSzPts val="1000"/>
              <a:buChar char="●"/>
            </a:pPr>
            <a:r>
              <a:rPr lang="en" dirty="0" smtClean="0"/>
              <a:t>What </a:t>
            </a:r>
            <a:r>
              <a:rPr lang="en" dirty="0"/>
              <a:t>went well? </a:t>
            </a:r>
            <a:endParaRPr lang="en" dirty="0" smtClean="0"/>
          </a:p>
          <a:p>
            <a:pPr marL="27940" lvl="0" indent="0">
              <a:buNone/>
            </a:pPr>
            <a:r>
              <a:rPr lang="en-GB" dirty="0"/>
              <a:t>S</a:t>
            </a:r>
            <a:r>
              <a:rPr lang="en-GB" dirty="0" smtClean="0"/>
              <a:t>wapping </a:t>
            </a:r>
            <a:r>
              <a:rPr lang="en-GB" dirty="0"/>
              <a:t>the model required only a config change</a:t>
            </a:r>
            <a:r>
              <a:rPr lang="en-GB" dirty="0" smtClean="0"/>
              <a:t>.</a:t>
            </a:r>
          </a:p>
          <a:p>
            <a:pPr marL="27940" lvl="0" indent="0">
              <a:buNone/>
            </a:pPr>
            <a:endParaRPr dirty="0"/>
          </a:p>
          <a:p>
            <a:pPr marL="182880" lvl="0" indent="-154940" algn="l" rtl="0">
              <a:spcBef>
                <a:spcPts val="0"/>
              </a:spcBef>
              <a:spcAft>
                <a:spcPts val="0"/>
              </a:spcAft>
              <a:buSzPts val="1000"/>
              <a:buChar char="●"/>
            </a:pPr>
            <a:r>
              <a:rPr lang="en" dirty="0"/>
              <a:t>What didn’t go so well? </a:t>
            </a:r>
            <a:endParaRPr lang="en" dirty="0" smtClean="0"/>
          </a:p>
          <a:p>
            <a:pPr marL="27940" lvl="0" indent="0">
              <a:buNone/>
            </a:pPr>
            <a:r>
              <a:rPr lang="en-GB" dirty="0"/>
              <a:t>M</a:t>
            </a:r>
            <a:r>
              <a:rPr lang="en-GB" dirty="0" smtClean="0"/>
              <a:t>arker/map-centring </a:t>
            </a:r>
            <a:r>
              <a:rPr lang="en-GB" dirty="0"/>
              <a:t>bugs resurfaced with real Sofia coordinates</a:t>
            </a:r>
            <a:r>
              <a:rPr lang="en-GB" dirty="0" smtClean="0"/>
              <a:t>.</a:t>
            </a:r>
          </a:p>
          <a:p>
            <a:pPr marL="27940" lvl="0" indent="0">
              <a:buNone/>
            </a:pPr>
            <a:endParaRPr dirty="0"/>
          </a:p>
          <a:p>
            <a:pPr marL="182880" lvl="0" indent="-154940" algn="l" rtl="0">
              <a:spcBef>
                <a:spcPts val="0"/>
              </a:spcBef>
              <a:spcAft>
                <a:spcPts val="0"/>
              </a:spcAft>
              <a:buSzPts val="1000"/>
              <a:buChar char="●"/>
            </a:pPr>
            <a:r>
              <a:rPr lang="en" dirty="0"/>
              <a:t>What did you learn? </a:t>
            </a:r>
            <a:endParaRPr lang="en" dirty="0" smtClean="0"/>
          </a:p>
          <a:p>
            <a:pPr marL="27940" lvl="0" indent="0">
              <a:buNone/>
            </a:pPr>
            <a:r>
              <a:rPr lang="en" dirty="0" smtClean="0"/>
              <a:t>I learnt that </a:t>
            </a:r>
            <a:r>
              <a:rPr lang="en-GB" dirty="0"/>
              <a:t>real GPS data surfaces different edge </a:t>
            </a:r>
            <a:r>
              <a:rPr lang="en-GB" dirty="0" smtClean="0"/>
              <a:t>cases are better </a:t>
            </a:r>
            <a:r>
              <a:rPr lang="en-GB" dirty="0"/>
              <a:t>than synthetic test coordinates.</a:t>
            </a:r>
            <a:endParaRPr dirty="0"/>
          </a:p>
          <a:p>
            <a:pPr marL="182880" lvl="0" indent="-154940" algn="l" rtl="0">
              <a:spcBef>
                <a:spcPts val="0"/>
              </a:spcBef>
              <a:spcAft>
                <a:spcPts val="0"/>
              </a:spcAft>
              <a:buSzPts val="1000"/>
              <a:buChar char="●"/>
            </a:pPr>
            <a:r>
              <a:rPr lang="en" dirty="0"/>
              <a:t>What could be added as an Action point looking forward to next week</a:t>
            </a:r>
            <a:r>
              <a:rPr lang="en" dirty="0" smtClean="0"/>
              <a:t>?</a:t>
            </a:r>
          </a:p>
          <a:p>
            <a:pPr marL="27940" lvl="0" indent="0">
              <a:buNone/>
            </a:pPr>
            <a:r>
              <a:rPr lang="en" dirty="0" smtClean="0"/>
              <a:t>Action point for then next week is to </a:t>
            </a:r>
            <a:r>
              <a:rPr lang="en-GB" dirty="0"/>
              <a:t>collect the second Sofia photo set and attempt the first H3 test.</a:t>
            </a:r>
            <a:endParaRPr dirty="0"/>
          </a:p>
        </p:txBody>
      </p:sp>
      <p:sp>
        <p:nvSpPr>
          <p:cNvPr id="165" name="Google Shape;165;p20"/>
          <p:cNvSpPr txBox="1">
            <a:spLocks noGrp="1"/>
          </p:cNvSpPr>
          <p:nvPr>
            <p:ph type="title" idx="6"/>
          </p:nvPr>
        </p:nvSpPr>
        <p:spPr>
          <a:xfrm>
            <a:off x="7068300" y="165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dirty="0"/>
              <a:t>1/2</a:t>
            </a:r>
            <a:endParaRPr dirty="0"/>
          </a:p>
        </p:txBody>
      </p:sp>
      <p:sp>
        <p:nvSpPr>
          <p:cNvPr id="166" name="Google Shape;166;p20"/>
          <p:cNvSpPr txBox="1">
            <a:spLocks noGrp="1"/>
          </p:cNvSpPr>
          <p:nvPr>
            <p:ph type="title" idx="5"/>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sz="2400" dirty="0"/>
              <a:t>13</a:t>
            </a:r>
            <a:endParaRPr sz="2400" dirty="0"/>
          </a:p>
        </p:txBody>
      </p:sp>
      <p:sp>
        <p:nvSpPr>
          <p:cNvPr id="167" name="Google Shape;167;p20"/>
          <p:cNvSpPr/>
          <p:nvPr/>
        </p:nvSpPr>
        <p:spPr>
          <a:xfrm>
            <a:off x="0" y="576072"/>
            <a:ext cx="9144000" cy="91500"/>
          </a:xfrm>
          <a:prstGeom prst="rect">
            <a:avLst/>
          </a:prstGeom>
          <a:solidFill>
            <a:srgbClr val="66666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200284011"/>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171"/>
        <p:cNvGrpSpPr/>
        <p:nvPr/>
      </p:nvGrpSpPr>
      <p:grpSpPr>
        <a:xfrm>
          <a:off x="0" y="0"/>
          <a:ext cx="0" cy="0"/>
          <a:chOff x="0" y="0"/>
          <a:chExt cx="0" cy="0"/>
        </a:xfrm>
      </p:grpSpPr>
      <p:sp>
        <p:nvSpPr>
          <p:cNvPr id="172" name="Google Shape;172;p21"/>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dirty="0"/>
              <a:t>Week 13 - Feedback</a:t>
            </a:r>
            <a:endParaRPr dirty="0"/>
          </a:p>
        </p:txBody>
      </p:sp>
      <p:sp>
        <p:nvSpPr>
          <p:cNvPr id="173" name="Google Shape;173;p21"/>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dirty="0"/>
              <a:t>manager, colleague, or team member feedback</a:t>
            </a:r>
            <a:endParaRPr dirty="0"/>
          </a:p>
        </p:txBody>
      </p:sp>
      <p:sp>
        <p:nvSpPr>
          <p:cNvPr id="174" name="Google Shape;174;p21"/>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p>
            <a:pPr marL="182880" lvl="0" indent="-154940"/>
            <a:r>
              <a:rPr lang="en-GB" b="1" dirty="0"/>
              <a:t>D</a:t>
            </a:r>
            <a:r>
              <a:rPr lang="en" b="1" dirty="0"/>
              <a:t>ate: </a:t>
            </a:r>
            <a:r>
              <a:rPr lang="en" dirty="0"/>
              <a:t>29/07/2026</a:t>
            </a:r>
          </a:p>
          <a:p>
            <a:pPr marL="182880" lvl="0" indent="-154940"/>
            <a:r>
              <a:rPr lang="en" b="1" dirty="0"/>
              <a:t>Feedback from</a:t>
            </a:r>
            <a:r>
              <a:rPr lang="en" b="1" dirty="0" smtClean="0"/>
              <a:t>: </a:t>
            </a:r>
            <a:r>
              <a:rPr lang="en-GB" dirty="0" err="1"/>
              <a:t>Borislav</a:t>
            </a:r>
            <a:r>
              <a:rPr lang="en-GB" dirty="0"/>
              <a:t> </a:t>
            </a:r>
            <a:r>
              <a:rPr lang="en-GB" dirty="0" err="1"/>
              <a:t>Nachev</a:t>
            </a:r>
            <a:r>
              <a:rPr lang="en-GB" dirty="0"/>
              <a:t> (peer)</a:t>
            </a:r>
            <a:endParaRPr lang="en" dirty="0"/>
          </a:p>
          <a:p>
            <a:pPr marL="182880" lvl="0" indent="-154940"/>
            <a:r>
              <a:rPr lang="en" b="1" dirty="0"/>
              <a:t>Feedback</a:t>
            </a:r>
            <a:r>
              <a:rPr lang="en" b="1" dirty="0" smtClean="0"/>
              <a:t>: </a:t>
            </a:r>
            <a:r>
              <a:rPr lang="en-GB" dirty="0"/>
              <a:t>The app is looking much more complete now that it's running on the fine-tuned model instead of the original small-dataset one. Exposing alpha as an adjustable slider rather than hard-coding it is a good usability decision </a:t>
            </a:r>
            <a:r>
              <a:rPr lang="en-GB" dirty="0" smtClean="0"/>
              <a:t>- </a:t>
            </a:r>
            <a:r>
              <a:rPr lang="en-GB" dirty="0"/>
              <a:t>it means a user can see directly how risk-aversion changes the recommended route. The bugs that showed up with real Sofia coordinates are a good reminder that synthetic test data doesn't always catch everything.</a:t>
            </a:r>
            <a:endParaRPr lang="en" dirty="0"/>
          </a:p>
          <a:p>
            <a:pPr marL="182880" lvl="0" indent="-154940"/>
            <a:r>
              <a:rPr lang="en" b="1" dirty="0"/>
              <a:t>Related to what task: </a:t>
            </a:r>
            <a:r>
              <a:rPr lang="en-GB" dirty="0"/>
              <a:t>Safer Route Planner rebuild</a:t>
            </a:r>
            <a:endParaRPr lang="en" dirty="0"/>
          </a:p>
          <a:p>
            <a:pPr marL="182880" lvl="0" indent="-154940"/>
            <a:r>
              <a:rPr lang="en" b="1" dirty="0"/>
              <a:t>Response/action coming forward from this: </a:t>
            </a:r>
            <a:r>
              <a:rPr lang="en-GB" dirty="0"/>
              <a:t>kept alpha as a UI-exposed, adjustable parameter.</a:t>
            </a:r>
          </a:p>
          <a:p>
            <a:pPr marL="182880" lvl="0" indent="-154940" algn="l" rtl="0">
              <a:spcBef>
                <a:spcPts val="0"/>
              </a:spcBef>
              <a:spcAft>
                <a:spcPts val="0"/>
              </a:spcAft>
              <a:buSzPts val="1000"/>
              <a:buChar char="●"/>
            </a:pPr>
            <a:endParaRPr lang="en" b="1" dirty="0"/>
          </a:p>
        </p:txBody>
      </p:sp>
      <p:sp>
        <p:nvSpPr>
          <p:cNvPr id="175" name="Google Shape;175;p21"/>
          <p:cNvSpPr txBox="1">
            <a:spLocks noGrp="1"/>
          </p:cNvSpPr>
          <p:nvPr>
            <p:ph type="title" idx="4"/>
          </p:nvPr>
        </p:nvSpPr>
        <p:spPr>
          <a:xfrm>
            <a:off x="7068300" y="165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2/2</a:t>
            </a:r>
            <a:endParaRPr/>
          </a:p>
        </p:txBody>
      </p:sp>
      <p:sp>
        <p:nvSpPr>
          <p:cNvPr id="176" name="Google Shape;176;p21"/>
          <p:cNvSpPr txBox="1">
            <a:spLocks noGrp="1"/>
          </p:cNvSpPr>
          <p:nvPr>
            <p:ph type="title" idx="3"/>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sz="2400" dirty="0"/>
              <a:t>13</a:t>
            </a:r>
            <a:endParaRPr sz="2400" dirty="0"/>
          </a:p>
        </p:txBody>
      </p:sp>
    </p:spTree>
    <p:extLst>
      <p:ext uri="{BB962C8B-B14F-4D97-AF65-F5344CB8AC3E}">
        <p14:creationId xmlns:p14="http://schemas.microsoft.com/office/powerpoint/2010/main" val="2737858961"/>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159"/>
        <p:cNvGrpSpPr/>
        <p:nvPr/>
      </p:nvGrpSpPr>
      <p:grpSpPr>
        <a:xfrm>
          <a:off x="0" y="0"/>
          <a:ext cx="0" cy="0"/>
          <a:chOff x="0" y="0"/>
          <a:chExt cx="0" cy="0"/>
        </a:xfrm>
      </p:grpSpPr>
      <p:sp>
        <p:nvSpPr>
          <p:cNvPr id="160" name="Google Shape;160;p20"/>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r>
              <a:rPr lang="en" dirty="0"/>
              <a:t>Week 14 - Log</a:t>
            </a:r>
            <a:endParaRPr lang="en-US" dirty="0"/>
          </a:p>
        </p:txBody>
      </p:sp>
      <p:sp>
        <p:nvSpPr>
          <p:cNvPr id="161" name="Google Shape;161;p20"/>
          <p:cNvSpPr txBox="1">
            <a:spLocks noGrp="1"/>
          </p:cNvSpPr>
          <p:nvPr>
            <p:ph type="subTitle" idx="4"/>
          </p:nvPr>
        </p:nvSpPr>
        <p:spPr>
          <a:xfrm>
            <a:off x="4663440" y="758952"/>
            <a:ext cx="42978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Reflection</a:t>
            </a:r>
            <a:endParaRPr/>
          </a:p>
        </p:txBody>
      </p:sp>
      <p:sp>
        <p:nvSpPr>
          <p:cNvPr id="162" name="Google Shape;162;p20"/>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What did you do?</a:t>
            </a:r>
            <a:endParaRPr/>
          </a:p>
        </p:txBody>
      </p:sp>
      <p:sp>
        <p:nvSpPr>
          <p:cNvPr id="163" name="Google Shape;163;p20"/>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dirty="0"/>
              <a:t>What goal(s) did you set for this week</a:t>
            </a:r>
            <a:r>
              <a:rPr lang="en" dirty="0" smtClean="0"/>
              <a:t>?</a:t>
            </a:r>
          </a:p>
          <a:p>
            <a:pPr marL="27940" lvl="0" indent="0">
              <a:buNone/>
            </a:pPr>
            <a:r>
              <a:rPr lang="en" dirty="0" smtClean="0"/>
              <a:t>The goal for this week is to </a:t>
            </a:r>
            <a:r>
              <a:rPr lang="en-GB" dirty="0"/>
              <a:t>collect the second Sofia photo set and run the first H3 routing test</a:t>
            </a:r>
            <a:r>
              <a:rPr lang="en-GB" dirty="0" smtClean="0"/>
              <a:t>.</a:t>
            </a:r>
          </a:p>
          <a:p>
            <a:pPr marL="27940" lvl="0" indent="0">
              <a:buNone/>
            </a:pPr>
            <a:endParaRPr dirty="0"/>
          </a:p>
          <a:p>
            <a:pPr marL="182880" lvl="0" indent="-154940" algn="l" rtl="0">
              <a:spcBef>
                <a:spcPts val="0"/>
              </a:spcBef>
              <a:spcAft>
                <a:spcPts val="0"/>
              </a:spcAft>
              <a:buSzPts val="1000"/>
              <a:buChar char="●"/>
            </a:pPr>
            <a:r>
              <a:rPr lang="en" dirty="0"/>
              <a:t>What have you actually been able to do? </a:t>
            </a:r>
            <a:endParaRPr lang="en" dirty="0" smtClean="0"/>
          </a:p>
          <a:p>
            <a:pPr marL="27940" lvl="0" indent="0">
              <a:buNone/>
            </a:pPr>
            <a:r>
              <a:rPr lang="en" dirty="0" smtClean="0"/>
              <a:t>I </a:t>
            </a:r>
            <a:r>
              <a:rPr lang="en-GB" dirty="0"/>
              <a:t>planned and collected three sessions of geotagged photos in Sveta </a:t>
            </a:r>
            <a:r>
              <a:rPr lang="en-GB" dirty="0" err="1" smtClean="0"/>
              <a:t>Troitsa</a:t>
            </a:r>
            <a:r>
              <a:rPr lang="en-GB" dirty="0" smtClean="0"/>
              <a:t> district; </a:t>
            </a:r>
            <a:r>
              <a:rPr lang="en-GB" dirty="0"/>
              <a:t>ran an initial 40-route city-wide H3 sample; found only 4 edges citywide carried recorded risk, so the test was inconclusive</a:t>
            </a:r>
            <a:r>
              <a:rPr lang="en-GB" dirty="0" smtClean="0"/>
              <a:t>.</a:t>
            </a:r>
          </a:p>
          <a:p>
            <a:pPr marL="27940" lvl="0" indent="0">
              <a:buNone/>
            </a:pPr>
            <a:endParaRPr dirty="0"/>
          </a:p>
          <a:p>
            <a:pPr marL="182880" lvl="0" indent="-154940" algn="l" rtl="0">
              <a:spcBef>
                <a:spcPts val="0"/>
              </a:spcBef>
              <a:spcAft>
                <a:spcPts val="0"/>
              </a:spcAft>
              <a:buSzPts val="1000"/>
              <a:buChar char="●"/>
            </a:pPr>
            <a:r>
              <a:rPr lang="en" dirty="0"/>
              <a:t>Showcase what tasks you have been working on this week and provide evidence for it</a:t>
            </a:r>
            <a:r>
              <a:rPr lang="en" dirty="0" smtClean="0"/>
              <a:t>.</a:t>
            </a:r>
          </a:p>
          <a:p>
            <a:pPr marL="27940" lvl="0" indent="0" algn="l" rtl="0">
              <a:spcBef>
                <a:spcPts val="0"/>
              </a:spcBef>
              <a:spcAft>
                <a:spcPts val="0"/>
              </a:spcAft>
              <a:buSzPts val="1000"/>
              <a:buNone/>
            </a:pPr>
            <a:endParaRPr lang="en" dirty="0" smtClean="0"/>
          </a:p>
          <a:p>
            <a:pPr marL="27940" lvl="0" indent="0">
              <a:buNone/>
            </a:pPr>
            <a:r>
              <a:rPr lang="en-GB" u="sng" dirty="0">
                <a:hlinkClick r:id="rId3"/>
              </a:rPr>
              <a:t>thesis 3.6</a:t>
            </a:r>
            <a:r>
              <a:rPr lang="en-GB" dirty="0"/>
              <a:t> </a:t>
            </a:r>
            <a:endParaRPr lang="en-GB" dirty="0" smtClean="0"/>
          </a:p>
          <a:p>
            <a:pPr marL="27940" lvl="0" indent="0">
              <a:buNone/>
            </a:pPr>
            <a:endParaRPr lang="en-GB" dirty="0"/>
          </a:p>
          <a:p>
            <a:pPr marL="27940" lvl="0" indent="0">
              <a:buNone/>
            </a:pPr>
            <a:r>
              <a:rPr lang="en-GB" u="sng" dirty="0">
                <a:hlinkClick r:id="rId4"/>
              </a:rPr>
              <a:t>data/manual/</a:t>
            </a:r>
            <a:r>
              <a:rPr lang="en-GB" dirty="0"/>
              <a:t> </a:t>
            </a:r>
            <a:endParaRPr lang="en-GB" dirty="0" smtClean="0"/>
          </a:p>
          <a:p>
            <a:pPr marL="27940" lvl="0" indent="0">
              <a:buNone/>
            </a:pPr>
            <a:endParaRPr lang="en-GB" dirty="0"/>
          </a:p>
          <a:p>
            <a:pPr marL="27940" lvl="0" indent="0">
              <a:buNone/>
            </a:pPr>
            <a:r>
              <a:rPr lang="en-GB" u="sng" dirty="0">
                <a:hlinkClick r:id="rId5"/>
              </a:rPr>
              <a:t>outputs/geo/</a:t>
            </a:r>
            <a:r>
              <a:rPr lang="en-GB" u="sng" dirty="0" err="1">
                <a:hlinkClick r:id="rId5"/>
              </a:rPr>
              <a:t>route_comparison.json</a:t>
            </a:r>
            <a:r>
              <a:rPr lang="en-GB" dirty="0"/>
              <a:t> </a:t>
            </a:r>
            <a:endParaRPr lang="en-GB" dirty="0" smtClean="0"/>
          </a:p>
          <a:p>
            <a:pPr marL="27940" lvl="0" indent="0">
              <a:buNone/>
            </a:pPr>
            <a:endParaRPr lang="en-GB" dirty="0"/>
          </a:p>
          <a:p>
            <a:pPr marL="27940" lvl="0" indent="0">
              <a:buNone/>
            </a:pPr>
            <a:r>
              <a:rPr lang="en-GB" u="sng" dirty="0">
                <a:hlinkClick r:id="rId3"/>
              </a:rPr>
              <a:t>thesis 4.1.3</a:t>
            </a:r>
            <a:r>
              <a:rPr lang="en-GB" dirty="0"/>
              <a:t> </a:t>
            </a:r>
            <a:endParaRPr lang="en-GB" dirty="0" smtClean="0"/>
          </a:p>
          <a:p>
            <a:pPr marL="27940" lvl="0" indent="0">
              <a:buNone/>
            </a:pPr>
            <a:endParaRPr lang="en-GB" dirty="0"/>
          </a:p>
          <a:p>
            <a:pPr marL="27940" lvl="0" indent="0">
              <a:buNone/>
            </a:pPr>
            <a:r>
              <a:rPr lang="en-GB" u="sng" dirty="0">
                <a:hlinkClick r:id="rId4"/>
              </a:rPr>
              <a:t>data/manual/</a:t>
            </a:r>
            <a:r>
              <a:rPr lang="en-GB" dirty="0"/>
              <a:t> </a:t>
            </a:r>
            <a:endParaRPr lang="en-GB" dirty="0" smtClean="0"/>
          </a:p>
          <a:p>
            <a:pPr marL="27940" lvl="0" indent="0">
              <a:buNone/>
            </a:pPr>
            <a:endParaRPr lang="en-GB" dirty="0"/>
          </a:p>
          <a:p>
            <a:pPr marL="27940" lvl="0" indent="0">
              <a:buNone/>
            </a:pPr>
            <a:r>
              <a:rPr lang="en-GB" u="sng" dirty="0">
                <a:hlinkClick r:id="rId6"/>
              </a:rPr>
              <a:t>outputs/geo/segment_risk.csv</a:t>
            </a:r>
            <a:r>
              <a:rPr lang="en-GB" dirty="0"/>
              <a:t> </a:t>
            </a:r>
            <a:endParaRPr lang="en" dirty="0"/>
          </a:p>
        </p:txBody>
      </p:sp>
      <p:sp>
        <p:nvSpPr>
          <p:cNvPr id="164" name="Google Shape;164;p20"/>
          <p:cNvSpPr txBox="1">
            <a:spLocks noGrp="1"/>
          </p:cNvSpPr>
          <p:nvPr>
            <p:ph type="body" idx="3"/>
          </p:nvPr>
        </p:nvSpPr>
        <p:spPr>
          <a:xfrm>
            <a:off x="4663450" y="1152698"/>
            <a:ext cx="4297800" cy="16257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dirty="0"/>
              <a:t>How did the week go? </a:t>
            </a:r>
            <a:endParaRPr lang="en" dirty="0" smtClean="0"/>
          </a:p>
          <a:p>
            <a:pPr marL="27940" lvl="0" indent="0">
              <a:buNone/>
            </a:pPr>
            <a:r>
              <a:rPr lang="en" dirty="0" smtClean="0"/>
              <a:t>The week didn’t go so well, </a:t>
            </a:r>
            <a:r>
              <a:rPr lang="en-GB" dirty="0"/>
              <a:t>first H3 attempt failed, for an understandable </a:t>
            </a:r>
            <a:r>
              <a:rPr lang="en-GB" dirty="0" smtClean="0"/>
              <a:t>reason</a:t>
            </a:r>
          </a:p>
          <a:p>
            <a:pPr marL="27940" lvl="0" indent="0">
              <a:buNone/>
            </a:pPr>
            <a:endParaRPr dirty="0"/>
          </a:p>
          <a:p>
            <a:pPr marL="182880" lvl="0" indent="-154940" algn="l" rtl="0">
              <a:spcBef>
                <a:spcPts val="0"/>
              </a:spcBef>
              <a:spcAft>
                <a:spcPts val="0"/>
              </a:spcAft>
              <a:buSzPts val="1000"/>
              <a:buChar char="●"/>
            </a:pPr>
            <a:r>
              <a:rPr lang="en" dirty="0"/>
              <a:t>What went well? </a:t>
            </a:r>
            <a:endParaRPr lang="en" dirty="0" smtClean="0"/>
          </a:p>
          <a:p>
            <a:pPr marL="27940" lvl="0" indent="0">
              <a:buNone/>
            </a:pPr>
            <a:r>
              <a:rPr lang="en-GB" dirty="0"/>
              <a:t>C</a:t>
            </a:r>
            <a:r>
              <a:rPr lang="en-GB" dirty="0" smtClean="0"/>
              <a:t>orrectly </a:t>
            </a:r>
            <a:r>
              <a:rPr lang="en-GB" dirty="0"/>
              <a:t>diagnosed the failure as sparse data, not a broken mechanism</a:t>
            </a:r>
            <a:r>
              <a:rPr lang="en-GB" dirty="0" smtClean="0"/>
              <a:t>.</a:t>
            </a:r>
          </a:p>
          <a:p>
            <a:pPr marL="27940" lvl="0" indent="0">
              <a:buNone/>
            </a:pPr>
            <a:endParaRPr dirty="0"/>
          </a:p>
          <a:p>
            <a:pPr marL="182880" lvl="0" indent="-154940" algn="l" rtl="0">
              <a:spcBef>
                <a:spcPts val="0"/>
              </a:spcBef>
              <a:spcAft>
                <a:spcPts val="0"/>
              </a:spcAft>
              <a:buSzPts val="1000"/>
              <a:buChar char="●"/>
            </a:pPr>
            <a:r>
              <a:rPr lang="en" dirty="0"/>
              <a:t>What didn’t go so well? </a:t>
            </a:r>
            <a:endParaRPr lang="en" dirty="0" smtClean="0"/>
          </a:p>
          <a:p>
            <a:pPr marL="27940" lvl="0" indent="0">
              <a:buNone/>
            </a:pPr>
            <a:r>
              <a:rPr lang="en-GB" dirty="0"/>
              <a:t>C</a:t>
            </a:r>
            <a:r>
              <a:rPr lang="en-GB" dirty="0" smtClean="0"/>
              <a:t>ity-wide </a:t>
            </a:r>
            <a:r>
              <a:rPr lang="en-GB" dirty="0"/>
              <a:t>random sampling wasted most of the data-collection effort on hazard-free areas</a:t>
            </a:r>
            <a:r>
              <a:rPr lang="en-GB" dirty="0" smtClean="0"/>
              <a:t>.</a:t>
            </a:r>
          </a:p>
          <a:p>
            <a:pPr marL="27940" lvl="0" indent="0">
              <a:buNone/>
            </a:pPr>
            <a:endParaRPr dirty="0"/>
          </a:p>
          <a:p>
            <a:pPr marL="182880" lvl="0" indent="-154940" algn="l" rtl="0">
              <a:spcBef>
                <a:spcPts val="0"/>
              </a:spcBef>
              <a:spcAft>
                <a:spcPts val="0"/>
              </a:spcAft>
              <a:buSzPts val="1000"/>
              <a:buChar char="●"/>
            </a:pPr>
            <a:r>
              <a:rPr lang="en" dirty="0"/>
              <a:t>What did you learn? </a:t>
            </a:r>
          </a:p>
          <a:p>
            <a:pPr marL="27940" lvl="0" indent="0">
              <a:buNone/>
            </a:pPr>
            <a:r>
              <a:rPr lang="en" dirty="0" smtClean="0"/>
              <a:t>I learnt that </a:t>
            </a:r>
            <a:r>
              <a:rPr lang="en-GB" dirty="0" smtClean="0"/>
              <a:t>a </a:t>
            </a:r>
            <a:r>
              <a:rPr lang="en-GB" dirty="0"/>
              <a:t>sparse-data routing test needs concentrated, not thinly spread, data collection</a:t>
            </a:r>
            <a:r>
              <a:rPr lang="en-GB" dirty="0" smtClean="0"/>
              <a:t>.</a:t>
            </a:r>
          </a:p>
          <a:p>
            <a:pPr marL="27940" lvl="0" indent="0">
              <a:buNone/>
            </a:pPr>
            <a:endParaRPr dirty="0"/>
          </a:p>
          <a:p>
            <a:pPr marL="182880" lvl="0" indent="-154940" algn="l" rtl="0">
              <a:spcBef>
                <a:spcPts val="0"/>
              </a:spcBef>
              <a:spcAft>
                <a:spcPts val="0"/>
              </a:spcAft>
              <a:buSzPts val="1000"/>
              <a:buChar char="●"/>
            </a:pPr>
            <a:r>
              <a:rPr lang="en" dirty="0"/>
              <a:t>What could be added as an Action point looking forward to next week</a:t>
            </a:r>
            <a:r>
              <a:rPr lang="en" dirty="0" smtClean="0"/>
              <a:t>?</a:t>
            </a:r>
          </a:p>
          <a:p>
            <a:pPr marL="27940" lvl="0" indent="0">
              <a:buNone/>
            </a:pPr>
            <a:r>
              <a:rPr lang="en" dirty="0" smtClean="0"/>
              <a:t>As an Action Point for the next week is to </a:t>
            </a:r>
            <a:r>
              <a:rPr lang="en-GB" dirty="0"/>
              <a:t>re-run H3 restricted to the data-rich neighbourhood.</a:t>
            </a:r>
            <a:endParaRPr dirty="0"/>
          </a:p>
        </p:txBody>
      </p:sp>
      <p:sp>
        <p:nvSpPr>
          <p:cNvPr id="165" name="Google Shape;165;p20"/>
          <p:cNvSpPr txBox="1">
            <a:spLocks noGrp="1"/>
          </p:cNvSpPr>
          <p:nvPr>
            <p:ph type="title" idx="6"/>
          </p:nvPr>
        </p:nvSpPr>
        <p:spPr>
          <a:xfrm>
            <a:off x="7068300" y="165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dirty="0"/>
              <a:t>1/2</a:t>
            </a:r>
            <a:endParaRPr dirty="0"/>
          </a:p>
        </p:txBody>
      </p:sp>
      <p:sp>
        <p:nvSpPr>
          <p:cNvPr id="166" name="Google Shape;166;p20"/>
          <p:cNvSpPr txBox="1">
            <a:spLocks noGrp="1"/>
          </p:cNvSpPr>
          <p:nvPr>
            <p:ph type="title" idx="5"/>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sz="2400" dirty="0"/>
              <a:t>14</a:t>
            </a:r>
            <a:endParaRPr sz="2400" dirty="0"/>
          </a:p>
        </p:txBody>
      </p:sp>
      <p:sp>
        <p:nvSpPr>
          <p:cNvPr id="167" name="Google Shape;167;p20"/>
          <p:cNvSpPr/>
          <p:nvPr/>
        </p:nvSpPr>
        <p:spPr>
          <a:xfrm>
            <a:off x="0" y="576072"/>
            <a:ext cx="9144000" cy="91500"/>
          </a:xfrm>
          <a:prstGeom prst="rect">
            <a:avLst/>
          </a:prstGeom>
          <a:solidFill>
            <a:srgbClr val="66666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45768556"/>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171"/>
        <p:cNvGrpSpPr/>
        <p:nvPr/>
      </p:nvGrpSpPr>
      <p:grpSpPr>
        <a:xfrm>
          <a:off x="0" y="0"/>
          <a:ext cx="0" cy="0"/>
          <a:chOff x="0" y="0"/>
          <a:chExt cx="0" cy="0"/>
        </a:xfrm>
      </p:grpSpPr>
      <p:sp>
        <p:nvSpPr>
          <p:cNvPr id="172" name="Google Shape;172;p21"/>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dirty="0"/>
              <a:t>Week 14 - Feedback</a:t>
            </a:r>
            <a:endParaRPr dirty="0"/>
          </a:p>
        </p:txBody>
      </p:sp>
      <p:sp>
        <p:nvSpPr>
          <p:cNvPr id="173" name="Google Shape;173;p21"/>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dirty="0"/>
              <a:t>manager, colleague, or team member feedback</a:t>
            </a:r>
            <a:endParaRPr dirty="0"/>
          </a:p>
        </p:txBody>
      </p:sp>
      <p:sp>
        <p:nvSpPr>
          <p:cNvPr id="174" name="Google Shape;174;p21"/>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p>
            <a:pPr marL="182880" lvl="0" indent="-154940"/>
            <a:r>
              <a:rPr lang="en-GB" b="1" dirty="0"/>
              <a:t>D</a:t>
            </a:r>
            <a:r>
              <a:rPr lang="en" b="1" dirty="0"/>
              <a:t>ate: </a:t>
            </a:r>
            <a:r>
              <a:rPr lang="en" dirty="0"/>
              <a:t>05/08/2026</a:t>
            </a:r>
          </a:p>
          <a:p>
            <a:pPr marL="182880" lvl="0" indent="-154940"/>
            <a:r>
              <a:rPr lang="en" b="1" dirty="0"/>
              <a:t>Feedback from</a:t>
            </a:r>
            <a:r>
              <a:rPr lang="en" b="1" dirty="0" smtClean="0"/>
              <a:t>: </a:t>
            </a:r>
            <a:r>
              <a:rPr lang="en-GB" dirty="0" err="1"/>
              <a:t>Borislav</a:t>
            </a:r>
            <a:r>
              <a:rPr lang="en-GB" dirty="0"/>
              <a:t> </a:t>
            </a:r>
            <a:r>
              <a:rPr lang="en-GB" dirty="0" err="1"/>
              <a:t>Nachev</a:t>
            </a:r>
            <a:r>
              <a:rPr lang="en-GB" dirty="0"/>
              <a:t> (peer)</a:t>
            </a:r>
            <a:endParaRPr lang="en" dirty="0"/>
          </a:p>
          <a:p>
            <a:pPr marL="182880" lvl="0" indent="-154940"/>
            <a:r>
              <a:rPr lang="en" b="1" dirty="0"/>
              <a:t>Feedback</a:t>
            </a:r>
            <a:r>
              <a:rPr lang="en" b="1" dirty="0" smtClean="0"/>
              <a:t>: </a:t>
            </a:r>
            <a:r>
              <a:rPr lang="en-GB" dirty="0"/>
              <a:t>It's disappointing that the first H3 sample didn't produce a usable result, but diagnosing why rather than assuming the routing logic was broken was the right response. Four risky edges out of over 27,000 was never going to give you a meaningful sample no matter how the routing cost was calculated. Concentrating the next round of data collection into one neighbourhood is clearly the right fix, and it's good you spotted it this quickly rather than losing more time on city-wide sampling.</a:t>
            </a:r>
            <a:endParaRPr lang="en" dirty="0"/>
          </a:p>
          <a:p>
            <a:pPr marL="182880" lvl="0" indent="-154940"/>
            <a:r>
              <a:rPr lang="en" b="1" dirty="0"/>
              <a:t>Related to what task: </a:t>
            </a:r>
            <a:r>
              <a:rPr lang="en-GB" dirty="0" smtClean="0"/>
              <a:t>First </a:t>
            </a:r>
            <a:r>
              <a:rPr lang="en-GB" dirty="0"/>
              <a:t>H3 routing sample (city-wide).</a:t>
            </a:r>
            <a:endParaRPr lang="en" dirty="0"/>
          </a:p>
          <a:p>
            <a:pPr marL="182880" lvl="0" indent="-154940"/>
            <a:r>
              <a:rPr lang="en" b="1" dirty="0"/>
              <a:t>Response/action coming forward from this: </a:t>
            </a:r>
            <a:r>
              <a:rPr lang="en-GB" dirty="0" smtClean="0"/>
              <a:t>Restricted </a:t>
            </a:r>
            <a:r>
              <a:rPr lang="en-GB" dirty="0"/>
              <a:t>the next sample to nodes inside Sveta </a:t>
            </a:r>
            <a:r>
              <a:rPr lang="en-GB" dirty="0" err="1"/>
              <a:t>Troitsa</a:t>
            </a:r>
            <a:r>
              <a:rPr lang="en-GB" dirty="0"/>
              <a:t> only.</a:t>
            </a:r>
            <a:endParaRPr lang="en" dirty="0"/>
          </a:p>
        </p:txBody>
      </p:sp>
      <p:sp>
        <p:nvSpPr>
          <p:cNvPr id="175" name="Google Shape;175;p21"/>
          <p:cNvSpPr txBox="1">
            <a:spLocks noGrp="1"/>
          </p:cNvSpPr>
          <p:nvPr>
            <p:ph type="title" idx="4"/>
          </p:nvPr>
        </p:nvSpPr>
        <p:spPr>
          <a:xfrm>
            <a:off x="7068300" y="165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2/2</a:t>
            </a:r>
            <a:endParaRPr/>
          </a:p>
        </p:txBody>
      </p:sp>
      <p:sp>
        <p:nvSpPr>
          <p:cNvPr id="176" name="Google Shape;176;p21"/>
          <p:cNvSpPr txBox="1">
            <a:spLocks noGrp="1"/>
          </p:cNvSpPr>
          <p:nvPr>
            <p:ph type="title" idx="3"/>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sz="2400" dirty="0"/>
              <a:t>14</a:t>
            </a:r>
            <a:endParaRPr sz="2400" dirty="0"/>
          </a:p>
        </p:txBody>
      </p:sp>
    </p:spTree>
    <p:extLst>
      <p:ext uri="{BB962C8B-B14F-4D97-AF65-F5344CB8AC3E}">
        <p14:creationId xmlns:p14="http://schemas.microsoft.com/office/powerpoint/2010/main" val="3992217676"/>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159"/>
        <p:cNvGrpSpPr/>
        <p:nvPr/>
      </p:nvGrpSpPr>
      <p:grpSpPr>
        <a:xfrm>
          <a:off x="0" y="0"/>
          <a:ext cx="0" cy="0"/>
          <a:chOff x="0" y="0"/>
          <a:chExt cx="0" cy="0"/>
        </a:xfrm>
      </p:grpSpPr>
      <p:sp>
        <p:nvSpPr>
          <p:cNvPr id="160" name="Google Shape;160;p20"/>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r>
              <a:rPr lang="en" dirty="0"/>
              <a:t>Week 15 - Log</a:t>
            </a:r>
            <a:endParaRPr lang="en-US" dirty="0"/>
          </a:p>
        </p:txBody>
      </p:sp>
      <p:sp>
        <p:nvSpPr>
          <p:cNvPr id="161" name="Google Shape;161;p20"/>
          <p:cNvSpPr txBox="1">
            <a:spLocks noGrp="1"/>
          </p:cNvSpPr>
          <p:nvPr>
            <p:ph type="subTitle" idx="4"/>
          </p:nvPr>
        </p:nvSpPr>
        <p:spPr>
          <a:xfrm>
            <a:off x="4663440" y="758952"/>
            <a:ext cx="42978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Reflection</a:t>
            </a:r>
            <a:endParaRPr/>
          </a:p>
        </p:txBody>
      </p:sp>
      <p:sp>
        <p:nvSpPr>
          <p:cNvPr id="162" name="Google Shape;162;p20"/>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What did you do?</a:t>
            </a:r>
            <a:endParaRPr/>
          </a:p>
        </p:txBody>
      </p:sp>
      <p:sp>
        <p:nvSpPr>
          <p:cNvPr id="163" name="Google Shape;163;p20"/>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dirty="0"/>
              <a:t>What goal(s) did you set for this week</a:t>
            </a:r>
            <a:r>
              <a:rPr lang="en" dirty="0" smtClean="0"/>
              <a:t>?</a:t>
            </a:r>
          </a:p>
          <a:p>
            <a:pPr marL="27940" lvl="0" indent="0">
              <a:buNone/>
            </a:pPr>
            <a:r>
              <a:rPr lang="en" dirty="0" smtClean="0"/>
              <a:t>The goal for this week is to </a:t>
            </a:r>
            <a:r>
              <a:rPr lang="en-GB" dirty="0"/>
              <a:t>complete the remaining hypothesis tests </a:t>
            </a:r>
            <a:r>
              <a:rPr lang="en-GB" dirty="0" smtClean="0"/>
              <a:t>- </a:t>
            </a:r>
            <a:r>
              <a:rPr lang="en-GB" dirty="0"/>
              <a:t>re-run H3, run H4 and H2</a:t>
            </a:r>
            <a:r>
              <a:rPr lang="en-GB" dirty="0" smtClean="0"/>
              <a:t>.</a:t>
            </a:r>
          </a:p>
          <a:p>
            <a:pPr marL="27940" lvl="0" indent="0">
              <a:buNone/>
            </a:pPr>
            <a:endParaRPr dirty="0"/>
          </a:p>
          <a:p>
            <a:pPr marL="182880" lvl="0" indent="-154940" algn="l" rtl="0">
              <a:spcBef>
                <a:spcPts val="0"/>
              </a:spcBef>
              <a:spcAft>
                <a:spcPts val="0"/>
              </a:spcAft>
              <a:buSzPts val="1000"/>
              <a:buChar char="●"/>
            </a:pPr>
            <a:r>
              <a:rPr lang="en" dirty="0"/>
              <a:t>What have you actually been able to do? </a:t>
            </a:r>
            <a:endParaRPr lang="en" dirty="0" smtClean="0"/>
          </a:p>
          <a:p>
            <a:pPr marL="27940" lvl="0" indent="0">
              <a:buNone/>
            </a:pPr>
            <a:r>
              <a:rPr lang="en-GB" dirty="0"/>
              <a:t> </a:t>
            </a:r>
            <a:r>
              <a:rPr lang="en-GB" dirty="0" smtClean="0"/>
              <a:t>I re-ran </a:t>
            </a:r>
            <a:r>
              <a:rPr lang="en-GB" dirty="0"/>
              <a:t>the 40-route H3 sample restricted to the neighbourhood (successful this time), ran Wilcoxon; rated 16 segments for H4 and ran Spearman; selected/labelled the 42-image H2 sample and ran the classification evaluation</a:t>
            </a:r>
            <a:r>
              <a:rPr lang="en-GB" dirty="0" smtClean="0"/>
              <a:t>.</a:t>
            </a:r>
          </a:p>
          <a:p>
            <a:pPr marL="27940" lvl="0" indent="0">
              <a:buNone/>
            </a:pPr>
            <a:endParaRPr dirty="0"/>
          </a:p>
          <a:p>
            <a:pPr marL="182880" lvl="0" indent="-154940" algn="l" rtl="0">
              <a:spcBef>
                <a:spcPts val="0"/>
              </a:spcBef>
              <a:spcAft>
                <a:spcPts val="0"/>
              </a:spcAft>
              <a:buSzPts val="1000"/>
              <a:buChar char="●"/>
            </a:pPr>
            <a:r>
              <a:rPr lang="en" dirty="0"/>
              <a:t>Showcase what tasks you have been working on this week and provide evidence for it</a:t>
            </a:r>
            <a:r>
              <a:rPr lang="en" dirty="0" smtClean="0"/>
              <a:t>.</a:t>
            </a:r>
          </a:p>
          <a:p>
            <a:pPr marL="27940" lvl="0" indent="0">
              <a:buNone/>
            </a:pPr>
            <a:r>
              <a:rPr lang="en-GB" u="sng" dirty="0">
                <a:hlinkClick r:id="rId3"/>
              </a:rPr>
              <a:t>outputs/geo/segment_risk.csv</a:t>
            </a:r>
            <a:r>
              <a:rPr lang="en-GB" dirty="0"/>
              <a:t> </a:t>
            </a:r>
            <a:endParaRPr lang="en-GB" dirty="0" smtClean="0"/>
          </a:p>
          <a:p>
            <a:pPr marL="27940" lvl="0" indent="0">
              <a:buNone/>
            </a:pPr>
            <a:endParaRPr lang="en-GB" dirty="0"/>
          </a:p>
          <a:p>
            <a:pPr marL="27940" lvl="0" indent="0">
              <a:buNone/>
            </a:pPr>
            <a:r>
              <a:rPr lang="en-GB" u="sng" dirty="0">
                <a:hlinkClick r:id="rId4"/>
              </a:rPr>
              <a:t>outputs/reports/</a:t>
            </a:r>
            <a:r>
              <a:rPr lang="en-GB" dirty="0"/>
              <a:t> </a:t>
            </a:r>
            <a:endParaRPr lang="en-GB" dirty="0" smtClean="0"/>
          </a:p>
          <a:p>
            <a:pPr marL="27940" lvl="0" indent="0">
              <a:buNone/>
            </a:pPr>
            <a:endParaRPr lang="en-GB" dirty="0"/>
          </a:p>
          <a:p>
            <a:pPr marL="27940" lvl="0" indent="0">
              <a:buNone/>
            </a:pPr>
            <a:r>
              <a:rPr lang="en-GB" u="sng" dirty="0">
                <a:hlinkClick r:id="rId5"/>
              </a:rPr>
              <a:t>outputs/reports/h4_evaluation_results.csv</a:t>
            </a:r>
            <a:r>
              <a:rPr lang="en-GB" dirty="0"/>
              <a:t> </a:t>
            </a:r>
            <a:endParaRPr lang="en-GB" dirty="0" smtClean="0"/>
          </a:p>
          <a:p>
            <a:pPr marL="27940" lvl="0" indent="0">
              <a:buNone/>
            </a:pPr>
            <a:endParaRPr lang="en-GB" dirty="0"/>
          </a:p>
          <a:p>
            <a:pPr marL="27940" lvl="0" indent="0">
              <a:buNone/>
            </a:pPr>
            <a:r>
              <a:rPr lang="en-GB" u="sng" dirty="0">
                <a:hlinkClick r:id="rId6"/>
              </a:rPr>
              <a:t>H4 evaluation</a:t>
            </a:r>
            <a:r>
              <a:rPr lang="en-GB" dirty="0"/>
              <a:t> </a:t>
            </a:r>
            <a:endParaRPr lang="en-GB" dirty="0" smtClean="0"/>
          </a:p>
          <a:p>
            <a:pPr marL="27940" lvl="0" indent="0">
              <a:buNone/>
            </a:pPr>
            <a:endParaRPr lang="en-GB" dirty="0"/>
          </a:p>
          <a:p>
            <a:pPr marL="27940" lvl="0" indent="0">
              <a:buNone/>
            </a:pPr>
            <a:r>
              <a:rPr lang="en-GB" u="sng" dirty="0">
                <a:hlinkClick r:id="rId7"/>
              </a:rPr>
              <a:t>outputs/reports/h2_confusion_matrix.png</a:t>
            </a:r>
            <a:r>
              <a:rPr lang="en-GB" dirty="0"/>
              <a:t> </a:t>
            </a:r>
            <a:endParaRPr lang="en-GB" dirty="0" smtClean="0"/>
          </a:p>
          <a:p>
            <a:pPr marL="27940" lvl="0" indent="0">
              <a:buNone/>
            </a:pPr>
            <a:endParaRPr lang="en-GB" dirty="0"/>
          </a:p>
          <a:p>
            <a:pPr marL="27940" lvl="0" indent="0">
              <a:buNone/>
            </a:pPr>
            <a:r>
              <a:rPr lang="en-GB" u="sng" dirty="0">
                <a:hlinkClick r:id="rId8"/>
              </a:rPr>
              <a:t>H2 evaluation</a:t>
            </a:r>
            <a:r>
              <a:rPr lang="en-GB" dirty="0"/>
              <a:t> </a:t>
            </a:r>
            <a:endParaRPr lang="en-GB" dirty="0" smtClean="0"/>
          </a:p>
          <a:p>
            <a:pPr marL="27940" lvl="0" indent="0">
              <a:buNone/>
            </a:pPr>
            <a:r>
              <a:rPr lang="en-GB" u="sng" dirty="0">
                <a:hlinkClick r:id="rId9"/>
              </a:rPr>
              <a:t>thesis 4.1</a:t>
            </a:r>
            <a:r>
              <a:rPr lang="en-GB" dirty="0"/>
              <a:t> </a:t>
            </a:r>
          </a:p>
          <a:p>
            <a:pPr marL="27940" lvl="0" indent="0">
              <a:buNone/>
            </a:pPr>
            <a:endParaRPr lang="en" dirty="0"/>
          </a:p>
        </p:txBody>
      </p:sp>
      <p:sp>
        <p:nvSpPr>
          <p:cNvPr id="164" name="Google Shape;164;p20"/>
          <p:cNvSpPr txBox="1">
            <a:spLocks noGrp="1"/>
          </p:cNvSpPr>
          <p:nvPr>
            <p:ph type="body" idx="3"/>
          </p:nvPr>
        </p:nvSpPr>
        <p:spPr>
          <a:xfrm>
            <a:off x="4663450" y="1152698"/>
            <a:ext cx="4297800" cy="16257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dirty="0"/>
              <a:t>How did the week go? </a:t>
            </a:r>
            <a:endParaRPr lang="en" dirty="0" smtClean="0"/>
          </a:p>
          <a:p>
            <a:pPr marL="27940" lvl="0" indent="0">
              <a:buNone/>
            </a:pPr>
            <a:r>
              <a:rPr lang="en" dirty="0" smtClean="0"/>
              <a:t>The week went excellect - </a:t>
            </a:r>
            <a:r>
              <a:rPr lang="en-GB" dirty="0" smtClean="0"/>
              <a:t>all </a:t>
            </a:r>
            <a:r>
              <a:rPr lang="en-GB" dirty="0"/>
              <a:t>four hypotheses now have a result</a:t>
            </a:r>
            <a:r>
              <a:rPr lang="en-GB" dirty="0" smtClean="0"/>
              <a:t>.</a:t>
            </a:r>
          </a:p>
          <a:p>
            <a:pPr marL="27940" lvl="0" indent="0">
              <a:buNone/>
            </a:pPr>
            <a:endParaRPr dirty="0"/>
          </a:p>
          <a:p>
            <a:pPr marL="182880" lvl="0" indent="-154940" algn="l" rtl="0">
              <a:spcBef>
                <a:spcPts val="0"/>
              </a:spcBef>
              <a:spcAft>
                <a:spcPts val="0"/>
              </a:spcAft>
              <a:buSzPts val="1000"/>
              <a:buChar char="●"/>
            </a:pPr>
            <a:r>
              <a:rPr lang="en" dirty="0"/>
              <a:t>What went well? </a:t>
            </a:r>
            <a:endParaRPr lang="en" dirty="0" smtClean="0"/>
          </a:p>
          <a:p>
            <a:pPr marL="27940" lvl="0" indent="0">
              <a:buNone/>
            </a:pPr>
            <a:r>
              <a:rPr lang="en-GB" dirty="0"/>
              <a:t>H3 and H4 came back supported once data was concentrated, confirming last week's diagnosis</a:t>
            </a:r>
            <a:r>
              <a:rPr lang="en-GB" dirty="0" smtClean="0"/>
              <a:t>.</a:t>
            </a:r>
          </a:p>
          <a:p>
            <a:pPr marL="27940" lvl="0" indent="0">
              <a:buNone/>
            </a:pPr>
            <a:endParaRPr dirty="0"/>
          </a:p>
          <a:p>
            <a:pPr marL="182880" lvl="0" indent="-154940" algn="l" rtl="0">
              <a:spcBef>
                <a:spcPts val="0"/>
              </a:spcBef>
              <a:spcAft>
                <a:spcPts val="0"/>
              </a:spcAft>
              <a:buSzPts val="1000"/>
              <a:buChar char="●"/>
            </a:pPr>
            <a:r>
              <a:rPr lang="en" dirty="0"/>
              <a:t>What didn’t go so well? </a:t>
            </a:r>
            <a:endParaRPr lang="en" dirty="0" smtClean="0"/>
          </a:p>
          <a:p>
            <a:pPr marL="27940" lvl="0" indent="0">
              <a:buNone/>
            </a:pPr>
            <a:r>
              <a:rPr lang="en-GB" dirty="0"/>
              <a:t>H2 fell short of its F1 target; misses traced to detector recall, not the scoring rule</a:t>
            </a:r>
            <a:r>
              <a:rPr lang="en-GB" dirty="0" smtClean="0"/>
              <a:t>.</a:t>
            </a:r>
          </a:p>
          <a:p>
            <a:pPr marL="27940" lvl="0" indent="0">
              <a:buNone/>
            </a:pPr>
            <a:endParaRPr dirty="0"/>
          </a:p>
          <a:p>
            <a:pPr marL="182880" lvl="0" indent="-154940" algn="l" rtl="0">
              <a:spcBef>
                <a:spcPts val="0"/>
              </a:spcBef>
              <a:spcAft>
                <a:spcPts val="0"/>
              </a:spcAft>
              <a:buSzPts val="1000"/>
              <a:buChar char="●"/>
            </a:pPr>
            <a:r>
              <a:rPr lang="en" dirty="0"/>
              <a:t>What did you learn? </a:t>
            </a:r>
            <a:endParaRPr lang="en" dirty="0" smtClean="0"/>
          </a:p>
          <a:p>
            <a:pPr marL="27940" lvl="0" indent="0">
              <a:buNone/>
            </a:pPr>
            <a:r>
              <a:rPr lang="en" dirty="0" smtClean="0"/>
              <a:t>I learnt that </a:t>
            </a:r>
            <a:r>
              <a:rPr lang="en-GB" dirty="0" smtClean="0"/>
              <a:t>a </a:t>
            </a:r>
            <a:r>
              <a:rPr lang="en-GB" dirty="0"/>
              <a:t>disappointing headline number can still have a clear, defensible explanation once you inspect the detail</a:t>
            </a:r>
            <a:r>
              <a:rPr lang="en-GB" dirty="0" smtClean="0"/>
              <a:t>.</a:t>
            </a:r>
          </a:p>
          <a:p>
            <a:pPr marL="27940" lvl="0" indent="0">
              <a:buNone/>
            </a:pPr>
            <a:endParaRPr dirty="0"/>
          </a:p>
          <a:p>
            <a:pPr marL="182880" lvl="0" indent="-154940" algn="l" rtl="0">
              <a:spcBef>
                <a:spcPts val="0"/>
              </a:spcBef>
              <a:spcAft>
                <a:spcPts val="0"/>
              </a:spcAft>
              <a:buSzPts val="1000"/>
              <a:buChar char="●"/>
            </a:pPr>
            <a:r>
              <a:rPr lang="en" dirty="0"/>
              <a:t>What could be added as an Action point looking forward to next week</a:t>
            </a:r>
            <a:r>
              <a:rPr lang="en" dirty="0" smtClean="0"/>
              <a:t>?</a:t>
            </a:r>
          </a:p>
          <a:p>
            <a:pPr marL="27940" lvl="0" indent="0">
              <a:buNone/>
            </a:pPr>
            <a:r>
              <a:rPr lang="en" dirty="0" smtClean="0"/>
              <a:t>Action Point for next week is to </a:t>
            </a:r>
            <a:r>
              <a:rPr lang="en-GB" dirty="0"/>
              <a:t>design and start the usability study pilot.</a:t>
            </a:r>
            <a:endParaRPr dirty="0"/>
          </a:p>
        </p:txBody>
      </p:sp>
      <p:sp>
        <p:nvSpPr>
          <p:cNvPr id="165" name="Google Shape;165;p20"/>
          <p:cNvSpPr txBox="1">
            <a:spLocks noGrp="1"/>
          </p:cNvSpPr>
          <p:nvPr>
            <p:ph type="title" idx="6"/>
          </p:nvPr>
        </p:nvSpPr>
        <p:spPr>
          <a:xfrm>
            <a:off x="7068300" y="165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dirty="0"/>
              <a:t>1/2</a:t>
            </a:r>
            <a:endParaRPr dirty="0"/>
          </a:p>
        </p:txBody>
      </p:sp>
      <p:sp>
        <p:nvSpPr>
          <p:cNvPr id="166" name="Google Shape;166;p20"/>
          <p:cNvSpPr txBox="1">
            <a:spLocks noGrp="1"/>
          </p:cNvSpPr>
          <p:nvPr>
            <p:ph type="title" idx="5"/>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sz="2400" dirty="0"/>
              <a:t>15</a:t>
            </a:r>
            <a:endParaRPr sz="2400" dirty="0"/>
          </a:p>
        </p:txBody>
      </p:sp>
      <p:sp>
        <p:nvSpPr>
          <p:cNvPr id="167" name="Google Shape;167;p20"/>
          <p:cNvSpPr/>
          <p:nvPr/>
        </p:nvSpPr>
        <p:spPr>
          <a:xfrm>
            <a:off x="0" y="576072"/>
            <a:ext cx="9144000" cy="91500"/>
          </a:xfrm>
          <a:prstGeom prst="rect">
            <a:avLst/>
          </a:prstGeom>
          <a:solidFill>
            <a:srgbClr val="66666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707650247"/>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Shape 171"/>
        <p:cNvGrpSpPr/>
        <p:nvPr/>
      </p:nvGrpSpPr>
      <p:grpSpPr>
        <a:xfrm>
          <a:off x="0" y="0"/>
          <a:ext cx="0" cy="0"/>
          <a:chOff x="0" y="0"/>
          <a:chExt cx="0" cy="0"/>
        </a:xfrm>
      </p:grpSpPr>
      <p:sp>
        <p:nvSpPr>
          <p:cNvPr id="172" name="Google Shape;172;p21"/>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dirty="0"/>
              <a:t>Week 15 - Feedback</a:t>
            </a:r>
            <a:endParaRPr dirty="0"/>
          </a:p>
        </p:txBody>
      </p:sp>
      <p:sp>
        <p:nvSpPr>
          <p:cNvPr id="173" name="Google Shape;173;p21"/>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dirty="0"/>
              <a:t>manager, colleague, or team member feedback</a:t>
            </a:r>
            <a:endParaRPr dirty="0"/>
          </a:p>
        </p:txBody>
      </p:sp>
      <p:sp>
        <p:nvSpPr>
          <p:cNvPr id="174" name="Google Shape;174;p21"/>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p>
            <a:pPr marL="182880" lvl="0" indent="-154940"/>
            <a:r>
              <a:rPr lang="en-GB" b="1" dirty="0"/>
              <a:t>D</a:t>
            </a:r>
            <a:r>
              <a:rPr lang="en" b="1" dirty="0"/>
              <a:t>ate: </a:t>
            </a:r>
            <a:r>
              <a:rPr lang="en" dirty="0"/>
              <a:t>13/08/2026</a:t>
            </a:r>
          </a:p>
          <a:p>
            <a:pPr marL="182880" lvl="0" indent="-154940"/>
            <a:r>
              <a:rPr lang="en" b="1" dirty="0"/>
              <a:t>Feedback from</a:t>
            </a:r>
            <a:r>
              <a:rPr lang="en" b="1" dirty="0" smtClean="0"/>
              <a:t>: </a:t>
            </a:r>
            <a:r>
              <a:rPr lang="en-GB" dirty="0" err="1"/>
              <a:t>Borislav</a:t>
            </a:r>
            <a:r>
              <a:rPr lang="en-GB" dirty="0"/>
              <a:t> </a:t>
            </a:r>
            <a:r>
              <a:rPr lang="en-GB" dirty="0" err="1"/>
              <a:t>Nachev</a:t>
            </a:r>
            <a:r>
              <a:rPr lang="en-GB" dirty="0"/>
              <a:t> (peer)</a:t>
            </a:r>
            <a:endParaRPr lang="en" dirty="0"/>
          </a:p>
          <a:p>
            <a:pPr marL="182880" lvl="0" indent="-154940"/>
            <a:r>
              <a:rPr lang="en" b="1" dirty="0"/>
              <a:t>Feedback</a:t>
            </a:r>
            <a:r>
              <a:rPr lang="en" b="1" dirty="0" smtClean="0"/>
              <a:t>: </a:t>
            </a:r>
            <a:r>
              <a:rPr lang="en-GB" dirty="0"/>
              <a:t>A strong week </a:t>
            </a:r>
            <a:r>
              <a:rPr lang="en-GB" dirty="0" smtClean="0"/>
              <a:t>- </a:t>
            </a:r>
            <a:r>
              <a:rPr lang="en-GB" dirty="0"/>
              <a:t>getting results for H2, H3 and H4 all in the same stretch is good progress, and H3/H4 coming back supported once the data was concentrated confirms last week's diagnosis was correct. H2 falling short of its target isn't ideal, but tracing the misses back to detector recall rather than the scoring rule turns it into a much more useful and defensible discussion point than a plain negative result. This is exactly the kind of inspection work that makes a results chapter convincing.</a:t>
            </a:r>
            <a:endParaRPr lang="en" dirty="0"/>
          </a:p>
          <a:p>
            <a:pPr marL="182880" lvl="0" indent="-154940"/>
            <a:r>
              <a:rPr lang="en" b="1" dirty="0"/>
              <a:t>Related to what task: </a:t>
            </a:r>
            <a:r>
              <a:rPr lang="en-GB" dirty="0"/>
              <a:t>H2 risk-classification evaluation.</a:t>
            </a:r>
            <a:endParaRPr lang="en" dirty="0"/>
          </a:p>
          <a:p>
            <a:pPr marL="182880" lvl="0" indent="-154940"/>
            <a:r>
              <a:rPr lang="en" b="1" dirty="0"/>
              <a:t>Response/action coming forward from this: </a:t>
            </a:r>
            <a:r>
              <a:rPr lang="en-GB" dirty="0" smtClean="0"/>
              <a:t>Built </a:t>
            </a:r>
            <a:r>
              <a:rPr lang="en-GB" dirty="0"/>
              <a:t>the H2 discussion around the detection-recall explanation.</a:t>
            </a:r>
          </a:p>
          <a:p>
            <a:pPr marL="182880" lvl="0" indent="-154940" algn="l" rtl="0">
              <a:spcBef>
                <a:spcPts val="0"/>
              </a:spcBef>
              <a:spcAft>
                <a:spcPts val="0"/>
              </a:spcAft>
              <a:buSzPts val="1000"/>
              <a:buChar char="●"/>
            </a:pPr>
            <a:endParaRPr lang="en" b="1" dirty="0"/>
          </a:p>
        </p:txBody>
      </p:sp>
      <p:sp>
        <p:nvSpPr>
          <p:cNvPr id="175" name="Google Shape;175;p21"/>
          <p:cNvSpPr txBox="1">
            <a:spLocks noGrp="1"/>
          </p:cNvSpPr>
          <p:nvPr>
            <p:ph type="title" idx="4"/>
          </p:nvPr>
        </p:nvSpPr>
        <p:spPr>
          <a:xfrm>
            <a:off x="7068300" y="165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2/2</a:t>
            </a:r>
            <a:endParaRPr/>
          </a:p>
        </p:txBody>
      </p:sp>
      <p:sp>
        <p:nvSpPr>
          <p:cNvPr id="176" name="Google Shape;176;p21"/>
          <p:cNvSpPr txBox="1">
            <a:spLocks noGrp="1"/>
          </p:cNvSpPr>
          <p:nvPr>
            <p:ph type="title" idx="3"/>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sz="2400" dirty="0"/>
              <a:t>15</a:t>
            </a:r>
            <a:endParaRPr sz="2400" dirty="0"/>
          </a:p>
        </p:txBody>
      </p:sp>
    </p:spTree>
    <p:extLst>
      <p:ext uri="{BB962C8B-B14F-4D97-AF65-F5344CB8AC3E}">
        <p14:creationId xmlns:p14="http://schemas.microsoft.com/office/powerpoint/2010/main" val="2365832851"/>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Shape 159"/>
        <p:cNvGrpSpPr/>
        <p:nvPr/>
      </p:nvGrpSpPr>
      <p:grpSpPr>
        <a:xfrm>
          <a:off x="0" y="0"/>
          <a:ext cx="0" cy="0"/>
          <a:chOff x="0" y="0"/>
          <a:chExt cx="0" cy="0"/>
        </a:xfrm>
      </p:grpSpPr>
      <p:sp>
        <p:nvSpPr>
          <p:cNvPr id="160" name="Google Shape;160;p20"/>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r>
              <a:rPr lang="en" dirty="0"/>
              <a:t>Week 16 - Log</a:t>
            </a:r>
            <a:endParaRPr lang="en-US" dirty="0"/>
          </a:p>
        </p:txBody>
      </p:sp>
      <p:sp>
        <p:nvSpPr>
          <p:cNvPr id="161" name="Google Shape;161;p20"/>
          <p:cNvSpPr txBox="1">
            <a:spLocks noGrp="1"/>
          </p:cNvSpPr>
          <p:nvPr>
            <p:ph type="subTitle" idx="4"/>
          </p:nvPr>
        </p:nvSpPr>
        <p:spPr>
          <a:xfrm>
            <a:off x="4663440" y="758952"/>
            <a:ext cx="42978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Reflection</a:t>
            </a:r>
            <a:endParaRPr/>
          </a:p>
        </p:txBody>
      </p:sp>
      <p:sp>
        <p:nvSpPr>
          <p:cNvPr id="162" name="Google Shape;162;p20"/>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What did you do?</a:t>
            </a:r>
            <a:endParaRPr/>
          </a:p>
        </p:txBody>
      </p:sp>
      <p:sp>
        <p:nvSpPr>
          <p:cNvPr id="163" name="Google Shape;163;p20"/>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dirty="0"/>
              <a:t>What goal(s) did you set for this week</a:t>
            </a:r>
            <a:r>
              <a:rPr lang="en" dirty="0" smtClean="0"/>
              <a:t>?</a:t>
            </a:r>
          </a:p>
          <a:p>
            <a:pPr marL="27940" lvl="0" indent="0">
              <a:buNone/>
            </a:pPr>
            <a:r>
              <a:rPr lang="en-GB" dirty="0" smtClean="0"/>
              <a:t>The goal for this week is to run </a:t>
            </a:r>
            <a:r>
              <a:rPr lang="en-GB" dirty="0"/>
              <a:t>the first usability-study round (5-person pilot) and fix the clearest issues</a:t>
            </a:r>
            <a:r>
              <a:rPr lang="en-GB" dirty="0" smtClean="0"/>
              <a:t>.</a:t>
            </a:r>
          </a:p>
          <a:p>
            <a:pPr marL="27940" lvl="0" indent="0">
              <a:buNone/>
            </a:pPr>
            <a:endParaRPr dirty="0"/>
          </a:p>
          <a:p>
            <a:pPr marL="182880" lvl="0" indent="-154940" algn="l" rtl="0">
              <a:spcBef>
                <a:spcPts val="0"/>
              </a:spcBef>
              <a:spcAft>
                <a:spcPts val="0"/>
              </a:spcAft>
              <a:buSzPts val="1000"/>
              <a:buChar char="●"/>
            </a:pPr>
            <a:r>
              <a:rPr lang="en" dirty="0"/>
              <a:t>What have you actually been able to do? </a:t>
            </a:r>
            <a:endParaRPr lang="en" dirty="0" smtClean="0"/>
          </a:p>
          <a:p>
            <a:pPr marL="27940" lvl="0" indent="0">
              <a:buNone/>
            </a:pPr>
            <a:r>
              <a:rPr lang="en-GB" dirty="0" smtClean="0"/>
              <a:t>I </a:t>
            </a:r>
            <a:r>
              <a:rPr lang="en-GB" dirty="0"/>
              <a:t>designed the survey/script; ran 5 pilot participants; compiled closed-question stats and coded first themes; fixed the clearest interface issues (alpha-slider help text, map pin-selection hint</a:t>
            </a:r>
            <a:r>
              <a:rPr lang="en-GB" dirty="0" smtClean="0"/>
              <a:t>).</a:t>
            </a:r>
          </a:p>
          <a:p>
            <a:pPr marL="27940" lvl="0" indent="0">
              <a:buNone/>
            </a:pPr>
            <a:endParaRPr dirty="0"/>
          </a:p>
          <a:p>
            <a:pPr marL="182880" lvl="0" indent="-154940" algn="l" rtl="0">
              <a:spcBef>
                <a:spcPts val="0"/>
              </a:spcBef>
              <a:spcAft>
                <a:spcPts val="0"/>
              </a:spcAft>
              <a:buSzPts val="1000"/>
              <a:buChar char="●"/>
            </a:pPr>
            <a:r>
              <a:rPr lang="en" dirty="0"/>
              <a:t>Showcase what tasks you have been working on this week and provide evidence for it</a:t>
            </a:r>
            <a:r>
              <a:rPr lang="en" dirty="0" smtClean="0"/>
              <a:t>.</a:t>
            </a:r>
          </a:p>
          <a:p>
            <a:pPr marL="27940" lvl="0" indent="0" algn="l" rtl="0">
              <a:spcBef>
                <a:spcPts val="0"/>
              </a:spcBef>
              <a:spcAft>
                <a:spcPts val="0"/>
              </a:spcAft>
              <a:buSzPts val="1000"/>
              <a:buNone/>
            </a:pPr>
            <a:endParaRPr lang="en" dirty="0" smtClean="0"/>
          </a:p>
          <a:p>
            <a:pPr marL="27940" lvl="0" indent="0">
              <a:buNone/>
            </a:pPr>
            <a:r>
              <a:rPr lang="en-GB" u="sng" dirty="0">
                <a:hlinkClick r:id="rId3"/>
              </a:rPr>
              <a:t>Qualitative Survey Question and Responses</a:t>
            </a:r>
            <a:r>
              <a:rPr lang="en-GB" dirty="0"/>
              <a:t> </a:t>
            </a:r>
            <a:endParaRPr lang="en-GB" dirty="0" smtClean="0"/>
          </a:p>
          <a:p>
            <a:pPr marL="27940" lvl="0" indent="0">
              <a:buNone/>
            </a:pPr>
            <a:endParaRPr lang="en-GB" dirty="0"/>
          </a:p>
          <a:p>
            <a:pPr marL="27940" lvl="0" indent="0">
              <a:buNone/>
            </a:pPr>
            <a:r>
              <a:rPr lang="en-GB" u="sng" dirty="0">
                <a:hlinkClick r:id="rId4"/>
              </a:rPr>
              <a:t>thematic analysis</a:t>
            </a:r>
            <a:r>
              <a:rPr lang="en-GB" dirty="0"/>
              <a:t> </a:t>
            </a:r>
            <a:endParaRPr lang="en-GB" dirty="0" smtClean="0"/>
          </a:p>
          <a:p>
            <a:pPr marL="27940" lvl="0" indent="0">
              <a:buNone/>
            </a:pPr>
            <a:endParaRPr lang="en-GB" dirty="0"/>
          </a:p>
          <a:p>
            <a:pPr marL="27940" lvl="0" indent="0">
              <a:buNone/>
            </a:pPr>
            <a:r>
              <a:rPr lang="en-GB" u="sng" dirty="0">
                <a:hlinkClick r:id="rId5"/>
              </a:rPr>
              <a:t>pages/4_Safer_Route_Planner.py</a:t>
            </a:r>
            <a:r>
              <a:rPr lang="en-GB" dirty="0"/>
              <a:t> </a:t>
            </a:r>
            <a:endParaRPr lang="en-GB" dirty="0" smtClean="0"/>
          </a:p>
          <a:p>
            <a:pPr marL="27940" lvl="0" indent="0">
              <a:buNone/>
            </a:pPr>
            <a:endParaRPr lang="en-GB" dirty="0"/>
          </a:p>
          <a:p>
            <a:pPr marL="27940" lvl="0" indent="0">
              <a:buNone/>
            </a:pPr>
            <a:r>
              <a:rPr lang="en-GB" u="sng" dirty="0" err="1">
                <a:hlinkClick r:id="rId6"/>
              </a:rPr>
              <a:t>config</a:t>
            </a:r>
            <a:r>
              <a:rPr lang="en-GB" u="sng" dirty="0">
                <a:hlinkClick r:id="rId6"/>
              </a:rPr>
              <a:t>/</a:t>
            </a:r>
            <a:r>
              <a:rPr lang="en-GB" u="sng" dirty="0" err="1">
                <a:hlinkClick r:id="rId6"/>
              </a:rPr>
              <a:t>risk_weights.yaml</a:t>
            </a:r>
            <a:r>
              <a:rPr lang="en-GB" dirty="0"/>
              <a:t> </a:t>
            </a:r>
            <a:endParaRPr lang="en" dirty="0"/>
          </a:p>
        </p:txBody>
      </p:sp>
      <p:sp>
        <p:nvSpPr>
          <p:cNvPr id="164" name="Google Shape;164;p20"/>
          <p:cNvSpPr txBox="1">
            <a:spLocks noGrp="1"/>
          </p:cNvSpPr>
          <p:nvPr>
            <p:ph type="body" idx="3"/>
          </p:nvPr>
        </p:nvSpPr>
        <p:spPr>
          <a:xfrm>
            <a:off x="4663450" y="1152698"/>
            <a:ext cx="4297800" cy="16257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dirty="0"/>
              <a:t>How did the week go? </a:t>
            </a:r>
            <a:endParaRPr lang="en" dirty="0" smtClean="0"/>
          </a:p>
          <a:p>
            <a:pPr marL="27940" lvl="0" indent="0">
              <a:buNone/>
            </a:pPr>
            <a:r>
              <a:rPr lang="en" dirty="0" smtClean="0"/>
              <a:t>The week was useful - </a:t>
            </a:r>
            <a:r>
              <a:rPr lang="en-GB" dirty="0"/>
              <a:t>the pilot caught real problems before the full study</a:t>
            </a:r>
            <a:r>
              <a:rPr lang="en-GB" dirty="0" smtClean="0"/>
              <a:t>.</a:t>
            </a:r>
          </a:p>
          <a:p>
            <a:pPr marL="27940" lvl="0" indent="0">
              <a:buNone/>
            </a:pPr>
            <a:endParaRPr dirty="0"/>
          </a:p>
          <a:p>
            <a:pPr marL="182880" lvl="0" indent="-154940" algn="l" rtl="0">
              <a:spcBef>
                <a:spcPts val="0"/>
              </a:spcBef>
              <a:spcAft>
                <a:spcPts val="0"/>
              </a:spcAft>
              <a:buSzPts val="1000"/>
              <a:buChar char="●"/>
            </a:pPr>
            <a:r>
              <a:rPr lang="en" dirty="0"/>
              <a:t>What went well? </a:t>
            </a:r>
            <a:endParaRPr lang="en" dirty="0" smtClean="0"/>
          </a:p>
          <a:p>
            <a:pPr marL="27940" lvl="0" indent="0">
              <a:buNone/>
            </a:pPr>
            <a:r>
              <a:rPr lang="en-GB" dirty="0"/>
              <a:t>P</a:t>
            </a:r>
            <a:r>
              <a:rPr lang="en-GB" dirty="0" smtClean="0"/>
              <a:t>articipants </a:t>
            </a:r>
            <a:r>
              <a:rPr lang="en-GB" dirty="0"/>
              <a:t>understood the risk colour-coding correctly without being told</a:t>
            </a:r>
            <a:r>
              <a:rPr lang="en-GB" dirty="0" smtClean="0"/>
              <a:t>.</a:t>
            </a:r>
          </a:p>
          <a:p>
            <a:pPr marL="27940" lvl="0" indent="0">
              <a:buNone/>
            </a:pPr>
            <a:endParaRPr dirty="0"/>
          </a:p>
          <a:p>
            <a:pPr marL="182880" lvl="0" indent="-154940" algn="l" rtl="0">
              <a:spcBef>
                <a:spcPts val="0"/>
              </a:spcBef>
              <a:spcAft>
                <a:spcPts val="0"/>
              </a:spcAft>
              <a:buSzPts val="1000"/>
              <a:buChar char="●"/>
            </a:pPr>
            <a:r>
              <a:rPr lang="en" dirty="0"/>
              <a:t>What didn’t go so well? </a:t>
            </a:r>
            <a:endParaRPr lang="en" dirty="0" smtClean="0"/>
          </a:p>
          <a:p>
            <a:pPr marL="27940" lvl="0" indent="0">
              <a:buNone/>
            </a:pPr>
            <a:r>
              <a:rPr lang="en-GB" dirty="0"/>
              <a:t>S</a:t>
            </a:r>
            <a:r>
              <a:rPr lang="en-GB" dirty="0" smtClean="0"/>
              <a:t>everal </a:t>
            </a:r>
            <a:r>
              <a:rPr lang="en-GB" dirty="0"/>
              <a:t>found the alpha slider and pin selection unclear </a:t>
            </a:r>
            <a:r>
              <a:rPr lang="en-GB" dirty="0" smtClean="0"/>
              <a:t>- </a:t>
            </a:r>
            <a:r>
              <a:rPr lang="en-GB" dirty="0"/>
              <a:t>a genuine interface problem</a:t>
            </a:r>
            <a:r>
              <a:rPr lang="en-GB" dirty="0" smtClean="0"/>
              <a:t>.</a:t>
            </a:r>
          </a:p>
          <a:p>
            <a:pPr marL="27940" lvl="0" indent="0">
              <a:buNone/>
            </a:pPr>
            <a:endParaRPr dirty="0"/>
          </a:p>
          <a:p>
            <a:pPr marL="182880" lvl="0" indent="-154940" algn="l" rtl="0">
              <a:spcBef>
                <a:spcPts val="0"/>
              </a:spcBef>
              <a:spcAft>
                <a:spcPts val="0"/>
              </a:spcAft>
              <a:buSzPts val="1000"/>
              <a:buChar char="●"/>
            </a:pPr>
            <a:r>
              <a:rPr lang="en" dirty="0"/>
              <a:t>What did you learn? </a:t>
            </a:r>
            <a:endParaRPr lang="en" dirty="0" smtClean="0"/>
          </a:p>
          <a:p>
            <a:pPr marL="27940" lvl="0" indent="0">
              <a:buNone/>
            </a:pPr>
            <a:r>
              <a:rPr lang="en" dirty="0" smtClean="0"/>
              <a:t>I learnt that </a:t>
            </a:r>
            <a:r>
              <a:rPr lang="en-GB" dirty="0"/>
              <a:t>a small pilot is enough to catch the most obvious interface issues before scaling up</a:t>
            </a:r>
            <a:r>
              <a:rPr lang="en-GB" dirty="0" smtClean="0"/>
              <a:t>.</a:t>
            </a:r>
          </a:p>
          <a:p>
            <a:pPr marL="27940" lvl="0" indent="0">
              <a:buNone/>
            </a:pPr>
            <a:endParaRPr dirty="0"/>
          </a:p>
          <a:p>
            <a:pPr marL="182880" lvl="0" indent="-154940" algn="l" rtl="0">
              <a:spcBef>
                <a:spcPts val="0"/>
              </a:spcBef>
              <a:spcAft>
                <a:spcPts val="0"/>
              </a:spcAft>
              <a:buSzPts val="1000"/>
              <a:buChar char="●"/>
            </a:pPr>
            <a:r>
              <a:rPr lang="en" dirty="0"/>
              <a:t>What could be added as an Action point looking forward to next </a:t>
            </a:r>
            <a:r>
              <a:rPr lang="en" dirty="0" smtClean="0"/>
              <a:t>week?</a:t>
            </a:r>
          </a:p>
          <a:p>
            <a:pPr marL="27940" lvl="0" indent="0">
              <a:buNone/>
            </a:pPr>
            <a:r>
              <a:rPr lang="en" dirty="0" smtClean="0"/>
              <a:t>As an Aciton Point for the next week is to </a:t>
            </a:r>
            <a:r>
              <a:rPr lang="en-GB" dirty="0"/>
              <a:t>recruit 5 more participants and finalise the pipeline.</a:t>
            </a:r>
            <a:endParaRPr dirty="0"/>
          </a:p>
        </p:txBody>
      </p:sp>
      <p:sp>
        <p:nvSpPr>
          <p:cNvPr id="165" name="Google Shape;165;p20"/>
          <p:cNvSpPr txBox="1">
            <a:spLocks noGrp="1"/>
          </p:cNvSpPr>
          <p:nvPr>
            <p:ph type="title" idx="6"/>
          </p:nvPr>
        </p:nvSpPr>
        <p:spPr>
          <a:xfrm>
            <a:off x="7068300" y="165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dirty="0"/>
              <a:t>1/2</a:t>
            </a:r>
            <a:endParaRPr dirty="0"/>
          </a:p>
        </p:txBody>
      </p:sp>
      <p:sp>
        <p:nvSpPr>
          <p:cNvPr id="166" name="Google Shape;166;p20"/>
          <p:cNvSpPr txBox="1">
            <a:spLocks noGrp="1"/>
          </p:cNvSpPr>
          <p:nvPr>
            <p:ph type="title" idx="5"/>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sz="2400" dirty="0"/>
              <a:t>16</a:t>
            </a:r>
            <a:endParaRPr sz="2400" dirty="0"/>
          </a:p>
        </p:txBody>
      </p:sp>
      <p:sp>
        <p:nvSpPr>
          <p:cNvPr id="167" name="Google Shape;167;p20"/>
          <p:cNvSpPr/>
          <p:nvPr/>
        </p:nvSpPr>
        <p:spPr>
          <a:xfrm>
            <a:off x="0" y="576072"/>
            <a:ext cx="9144000" cy="91500"/>
          </a:xfrm>
          <a:prstGeom prst="rect">
            <a:avLst/>
          </a:prstGeom>
          <a:solidFill>
            <a:srgbClr val="66666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81347336"/>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Shape 171"/>
        <p:cNvGrpSpPr/>
        <p:nvPr/>
      </p:nvGrpSpPr>
      <p:grpSpPr>
        <a:xfrm>
          <a:off x="0" y="0"/>
          <a:ext cx="0" cy="0"/>
          <a:chOff x="0" y="0"/>
          <a:chExt cx="0" cy="0"/>
        </a:xfrm>
      </p:grpSpPr>
      <p:sp>
        <p:nvSpPr>
          <p:cNvPr id="172" name="Google Shape;172;p21"/>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dirty="0"/>
              <a:t>Week 16 - Feedback</a:t>
            </a:r>
            <a:endParaRPr dirty="0"/>
          </a:p>
        </p:txBody>
      </p:sp>
      <p:sp>
        <p:nvSpPr>
          <p:cNvPr id="173" name="Google Shape;173;p21"/>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dirty="0"/>
              <a:t>manager, colleague, or team member feedback</a:t>
            </a:r>
            <a:endParaRPr dirty="0"/>
          </a:p>
        </p:txBody>
      </p:sp>
      <p:sp>
        <p:nvSpPr>
          <p:cNvPr id="174" name="Google Shape;174;p21"/>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p>
            <a:pPr marL="182880" lvl="0" indent="-154940"/>
            <a:r>
              <a:rPr lang="en-GB" b="1" dirty="0"/>
              <a:t>D</a:t>
            </a:r>
            <a:r>
              <a:rPr lang="en" b="1" dirty="0"/>
              <a:t>ate: </a:t>
            </a:r>
            <a:r>
              <a:rPr lang="en" dirty="0"/>
              <a:t>28/08/2026</a:t>
            </a:r>
          </a:p>
          <a:p>
            <a:pPr marL="182880" lvl="0" indent="-154940"/>
            <a:r>
              <a:rPr lang="en" b="1" dirty="0"/>
              <a:t>Feedback from</a:t>
            </a:r>
            <a:r>
              <a:rPr lang="en" b="1" dirty="0" smtClean="0"/>
              <a:t>: </a:t>
            </a:r>
            <a:r>
              <a:rPr lang="en-GB" dirty="0"/>
              <a:t>Karna </a:t>
            </a:r>
            <a:r>
              <a:rPr lang="en-GB" dirty="0" err="1"/>
              <a:t>Rewatkar</a:t>
            </a:r>
            <a:r>
              <a:rPr lang="en-GB" dirty="0"/>
              <a:t> (Supervisor)</a:t>
            </a:r>
            <a:endParaRPr lang="en" dirty="0"/>
          </a:p>
          <a:p>
            <a:pPr marL="182880" lvl="0" indent="-154940"/>
            <a:r>
              <a:rPr lang="en" b="1" dirty="0"/>
              <a:t>Feedback</a:t>
            </a:r>
            <a:r>
              <a:rPr lang="en" b="1" dirty="0" smtClean="0"/>
              <a:t>: </a:t>
            </a:r>
            <a:r>
              <a:rPr lang="en-GB" dirty="0"/>
              <a:t>Running a five-person pilot before the full usability study was a sensible choice, and it paid off </a:t>
            </a:r>
            <a:r>
              <a:rPr lang="en-GB" dirty="0" smtClean="0"/>
              <a:t>- </a:t>
            </a:r>
            <a:r>
              <a:rPr lang="en-GB" dirty="0"/>
              <a:t>catching the alpha-slider and pin-selection confusion now means the next five participants will have a cleaner experience and give you cleaner data. It's a good sign that participants worked out the risk colour-coding on their own without being told what it meant. Fixing the clearest issues immediately, rather than waiting until after the full sample, was the right call.</a:t>
            </a:r>
            <a:endParaRPr lang="en" dirty="0"/>
          </a:p>
          <a:p>
            <a:pPr marL="182880" lvl="0" indent="-154940"/>
            <a:r>
              <a:rPr lang="en" b="1" dirty="0"/>
              <a:t>Related to what task: </a:t>
            </a:r>
            <a:r>
              <a:rPr lang="en-GB" dirty="0"/>
              <a:t>usability study pilot (5 participants).</a:t>
            </a:r>
            <a:endParaRPr lang="en" dirty="0"/>
          </a:p>
          <a:p>
            <a:pPr marL="182880" lvl="0" indent="-154940"/>
            <a:r>
              <a:rPr lang="en" b="1" dirty="0"/>
              <a:t>Response/action coming forward from this: </a:t>
            </a:r>
            <a:r>
              <a:rPr lang="en-GB" dirty="0"/>
              <a:t>applied the interface fixes before recruiting the rest.</a:t>
            </a:r>
            <a:endParaRPr lang="en" dirty="0"/>
          </a:p>
        </p:txBody>
      </p:sp>
      <p:sp>
        <p:nvSpPr>
          <p:cNvPr id="175" name="Google Shape;175;p21"/>
          <p:cNvSpPr txBox="1">
            <a:spLocks noGrp="1"/>
          </p:cNvSpPr>
          <p:nvPr>
            <p:ph type="title" idx="4"/>
          </p:nvPr>
        </p:nvSpPr>
        <p:spPr>
          <a:xfrm>
            <a:off x="7068300" y="165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2/2</a:t>
            </a:r>
            <a:endParaRPr/>
          </a:p>
        </p:txBody>
      </p:sp>
      <p:sp>
        <p:nvSpPr>
          <p:cNvPr id="176" name="Google Shape;176;p21"/>
          <p:cNvSpPr txBox="1">
            <a:spLocks noGrp="1"/>
          </p:cNvSpPr>
          <p:nvPr>
            <p:ph type="title" idx="3"/>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sz="2400" dirty="0"/>
              <a:t>16</a:t>
            </a:r>
            <a:endParaRPr sz="2400" dirty="0"/>
          </a:p>
        </p:txBody>
      </p:sp>
    </p:spTree>
    <p:extLst>
      <p:ext uri="{BB962C8B-B14F-4D97-AF65-F5344CB8AC3E}">
        <p14:creationId xmlns:p14="http://schemas.microsoft.com/office/powerpoint/2010/main" val="1967290184"/>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Shape 159"/>
        <p:cNvGrpSpPr/>
        <p:nvPr/>
      </p:nvGrpSpPr>
      <p:grpSpPr>
        <a:xfrm>
          <a:off x="0" y="0"/>
          <a:ext cx="0" cy="0"/>
          <a:chOff x="0" y="0"/>
          <a:chExt cx="0" cy="0"/>
        </a:xfrm>
      </p:grpSpPr>
      <p:sp>
        <p:nvSpPr>
          <p:cNvPr id="160" name="Google Shape;160;p20"/>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r>
              <a:rPr lang="en"/>
              <a:t>Week 1</a:t>
            </a:r>
            <a:r>
              <a:rPr lang="en" dirty="0"/>
              <a:t>7</a:t>
            </a:r>
            <a:r>
              <a:rPr lang="en"/>
              <a:t> </a:t>
            </a:r>
            <a:r>
              <a:rPr lang="en" dirty="0"/>
              <a:t>- Log</a:t>
            </a:r>
            <a:endParaRPr lang="en-US" dirty="0"/>
          </a:p>
        </p:txBody>
      </p:sp>
      <p:sp>
        <p:nvSpPr>
          <p:cNvPr id="161" name="Google Shape;161;p20"/>
          <p:cNvSpPr txBox="1">
            <a:spLocks noGrp="1"/>
          </p:cNvSpPr>
          <p:nvPr>
            <p:ph type="subTitle" idx="4"/>
          </p:nvPr>
        </p:nvSpPr>
        <p:spPr>
          <a:xfrm>
            <a:off x="4663440" y="758952"/>
            <a:ext cx="42978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Reflection</a:t>
            </a:r>
            <a:endParaRPr/>
          </a:p>
        </p:txBody>
      </p:sp>
      <p:sp>
        <p:nvSpPr>
          <p:cNvPr id="162" name="Google Shape;162;p20"/>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What did you do?</a:t>
            </a:r>
            <a:endParaRPr/>
          </a:p>
        </p:txBody>
      </p:sp>
      <p:sp>
        <p:nvSpPr>
          <p:cNvPr id="163" name="Google Shape;163;p20"/>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dirty="0"/>
              <a:t>What goal(s) did you set for this week</a:t>
            </a:r>
            <a:r>
              <a:rPr lang="en" dirty="0" smtClean="0"/>
              <a:t>?</a:t>
            </a:r>
          </a:p>
          <a:p>
            <a:pPr marL="27940" lvl="0" indent="0">
              <a:buNone/>
            </a:pPr>
            <a:r>
              <a:rPr lang="en" dirty="0" smtClean="0"/>
              <a:t>The goal for this week is to </a:t>
            </a:r>
            <a:r>
              <a:rPr lang="en-GB" dirty="0"/>
              <a:t>run the second usability-study round (5 more, 10 total) and finalise/freeze the pipeline</a:t>
            </a:r>
            <a:r>
              <a:rPr lang="en-GB" dirty="0" smtClean="0"/>
              <a:t>.</a:t>
            </a:r>
          </a:p>
          <a:p>
            <a:pPr marL="27940" lvl="0" indent="0">
              <a:buNone/>
            </a:pPr>
            <a:endParaRPr dirty="0"/>
          </a:p>
          <a:p>
            <a:pPr marL="182880" lvl="0" indent="-154940" algn="l" rtl="0">
              <a:spcBef>
                <a:spcPts val="0"/>
              </a:spcBef>
              <a:spcAft>
                <a:spcPts val="0"/>
              </a:spcAft>
              <a:buSzPts val="1000"/>
              <a:buChar char="●"/>
            </a:pPr>
            <a:r>
              <a:rPr lang="en" dirty="0"/>
              <a:t>What have you actually been able to do? </a:t>
            </a:r>
            <a:endParaRPr lang="en" dirty="0" smtClean="0"/>
          </a:p>
          <a:p>
            <a:pPr marL="27940" lvl="0" indent="0">
              <a:buNone/>
            </a:pPr>
            <a:r>
              <a:rPr lang="en" dirty="0" smtClean="0"/>
              <a:t>I </a:t>
            </a:r>
            <a:r>
              <a:rPr lang="en-GB" dirty="0"/>
              <a:t>ran the remaining 5 participants; recomputed stats for n=10; coded the final 7 themes; ran a full pipeline smoke test; froze model weights and </a:t>
            </a:r>
            <a:r>
              <a:rPr lang="en-GB" dirty="0" err="1"/>
              <a:t>configs</a:t>
            </a:r>
            <a:r>
              <a:rPr lang="en-GB" dirty="0" smtClean="0"/>
              <a:t>.</a:t>
            </a:r>
          </a:p>
          <a:p>
            <a:pPr marL="27940" lvl="0" indent="0">
              <a:buNone/>
            </a:pPr>
            <a:endParaRPr dirty="0"/>
          </a:p>
          <a:p>
            <a:pPr marL="182880" lvl="0" indent="-154940" algn="l" rtl="0">
              <a:spcBef>
                <a:spcPts val="0"/>
              </a:spcBef>
              <a:spcAft>
                <a:spcPts val="0"/>
              </a:spcAft>
              <a:buSzPts val="1000"/>
              <a:buChar char="●"/>
            </a:pPr>
            <a:r>
              <a:rPr lang="en" dirty="0"/>
              <a:t>Showcase what tasks you have been working on this week and provide evidence for it</a:t>
            </a:r>
            <a:r>
              <a:rPr lang="en" dirty="0" smtClean="0"/>
              <a:t>.</a:t>
            </a:r>
          </a:p>
          <a:p>
            <a:pPr marL="27940" lvl="0" indent="0" algn="l" rtl="0">
              <a:spcBef>
                <a:spcPts val="0"/>
              </a:spcBef>
              <a:spcAft>
                <a:spcPts val="0"/>
              </a:spcAft>
              <a:buSzPts val="1000"/>
              <a:buNone/>
            </a:pPr>
            <a:endParaRPr lang="en" dirty="0"/>
          </a:p>
          <a:p>
            <a:pPr marL="27940" lvl="0" indent="0">
              <a:buNone/>
            </a:pPr>
            <a:r>
              <a:rPr lang="en-GB" u="sng" dirty="0">
                <a:hlinkClick r:id="rId3"/>
              </a:rPr>
              <a:t>Qualitative Survey Question and Responses</a:t>
            </a:r>
            <a:r>
              <a:rPr lang="en-GB" dirty="0"/>
              <a:t> </a:t>
            </a:r>
            <a:endParaRPr lang="en-GB" dirty="0" smtClean="0"/>
          </a:p>
          <a:p>
            <a:pPr marL="27940" lvl="0" indent="0">
              <a:buNone/>
            </a:pPr>
            <a:endParaRPr lang="en-GB" dirty="0"/>
          </a:p>
          <a:p>
            <a:pPr marL="27940" lvl="0" indent="0">
              <a:buNone/>
            </a:pPr>
            <a:r>
              <a:rPr lang="en-GB" u="sng" dirty="0">
                <a:hlinkClick r:id="rId4"/>
              </a:rPr>
              <a:t>analyze_qualitative_survey.py</a:t>
            </a:r>
            <a:r>
              <a:rPr lang="en-GB" dirty="0"/>
              <a:t> </a:t>
            </a:r>
            <a:endParaRPr lang="en-GB" dirty="0" smtClean="0"/>
          </a:p>
          <a:p>
            <a:pPr marL="27940" lvl="0" indent="0">
              <a:buNone/>
            </a:pPr>
            <a:endParaRPr lang="en-GB" dirty="0"/>
          </a:p>
          <a:p>
            <a:pPr marL="27940" lvl="0" indent="0">
              <a:buNone/>
            </a:pPr>
            <a:r>
              <a:rPr lang="en-GB" u="sng" dirty="0">
                <a:hlinkClick r:id="rId5"/>
              </a:rPr>
              <a:t>thematic analysis</a:t>
            </a:r>
            <a:r>
              <a:rPr lang="en-GB" dirty="0"/>
              <a:t> </a:t>
            </a:r>
            <a:endParaRPr lang="en-GB" dirty="0" smtClean="0"/>
          </a:p>
          <a:p>
            <a:pPr marL="27940" lvl="0" indent="0">
              <a:buNone/>
            </a:pPr>
            <a:endParaRPr lang="en-GB" dirty="0"/>
          </a:p>
          <a:p>
            <a:pPr marL="27940" lvl="0" indent="0">
              <a:buNone/>
            </a:pPr>
            <a:r>
              <a:rPr lang="en-GB" u="sng" dirty="0">
                <a:hlinkClick r:id="rId6"/>
              </a:rPr>
              <a:t>models/</a:t>
            </a:r>
            <a:r>
              <a:rPr lang="en-GB" dirty="0"/>
              <a:t> </a:t>
            </a:r>
            <a:endParaRPr lang="en-GB" dirty="0" smtClean="0"/>
          </a:p>
          <a:p>
            <a:pPr marL="27940" lvl="0" indent="0">
              <a:buNone/>
            </a:pPr>
            <a:endParaRPr lang="en-GB" dirty="0"/>
          </a:p>
          <a:p>
            <a:pPr marL="27940" lvl="0" indent="0">
              <a:buNone/>
            </a:pPr>
            <a:r>
              <a:rPr lang="en-GB" u="sng" dirty="0">
                <a:hlinkClick r:id="rId7"/>
              </a:rPr>
              <a:t>screenshots/</a:t>
            </a:r>
            <a:r>
              <a:rPr lang="en-GB" dirty="0"/>
              <a:t> </a:t>
            </a:r>
            <a:endParaRPr lang="en" dirty="0" smtClean="0"/>
          </a:p>
        </p:txBody>
      </p:sp>
      <p:sp>
        <p:nvSpPr>
          <p:cNvPr id="164" name="Google Shape;164;p20"/>
          <p:cNvSpPr txBox="1">
            <a:spLocks noGrp="1"/>
          </p:cNvSpPr>
          <p:nvPr>
            <p:ph type="body" idx="3"/>
          </p:nvPr>
        </p:nvSpPr>
        <p:spPr>
          <a:xfrm>
            <a:off x="4663450" y="1152698"/>
            <a:ext cx="4297800" cy="16257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dirty="0"/>
              <a:t>How did the week go? </a:t>
            </a:r>
            <a:endParaRPr lang="en" dirty="0" smtClean="0"/>
          </a:p>
          <a:p>
            <a:pPr marL="27940" lvl="0" indent="0">
              <a:buNone/>
            </a:pPr>
            <a:r>
              <a:rPr lang="en" dirty="0" smtClean="0"/>
              <a:t>The week was satisfying - </a:t>
            </a:r>
            <a:r>
              <a:rPr lang="en-GB" dirty="0"/>
              <a:t>both the qualitative study and the pipeline are complete</a:t>
            </a:r>
            <a:r>
              <a:rPr lang="en-GB" dirty="0" smtClean="0"/>
              <a:t>.</a:t>
            </a:r>
          </a:p>
          <a:p>
            <a:pPr marL="27940" lvl="0" indent="0">
              <a:buNone/>
            </a:pPr>
            <a:endParaRPr dirty="0"/>
          </a:p>
          <a:p>
            <a:pPr marL="182880" lvl="0" indent="-154940" algn="l" rtl="0">
              <a:spcBef>
                <a:spcPts val="0"/>
              </a:spcBef>
              <a:spcAft>
                <a:spcPts val="0"/>
              </a:spcAft>
              <a:buSzPts val="1000"/>
              <a:buChar char="●"/>
            </a:pPr>
            <a:r>
              <a:rPr lang="en" dirty="0"/>
              <a:t>What went well? </a:t>
            </a:r>
            <a:endParaRPr lang="en" dirty="0" smtClean="0"/>
          </a:p>
          <a:p>
            <a:pPr marL="27940" lvl="0" indent="0">
              <a:buNone/>
            </a:pPr>
            <a:r>
              <a:rPr lang="en-GB" dirty="0" smtClean="0"/>
              <a:t>Thing that went well is that </a:t>
            </a:r>
            <a:r>
              <a:rPr lang="en-GB" dirty="0"/>
              <a:t>themes from the second group matched and reinforced the first group's</a:t>
            </a:r>
            <a:r>
              <a:rPr lang="en-GB" dirty="0" smtClean="0"/>
              <a:t>.</a:t>
            </a:r>
          </a:p>
          <a:p>
            <a:pPr marL="27940" lvl="0" indent="0">
              <a:buNone/>
            </a:pPr>
            <a:endParaRPr dirty="0"/>
          </a:p>
          <a:p>
            <a:pPr marL="182880" lvl="0" indent="-154940" algn="l" rtl="0">
              <a:spcBef>
                <a:spcPts val="0"/>
              </a:spcBef>
              <a:spcAft>
                <a:spcPts val="0"/>
              </a:spcAft>
              <a:buSzPts val="1000"/>
              <a:buChar char="●"/>
            </a:pPr>
            <a:r>
              <a:rPr lang="en" dirty="0"/>
              <a:t>What didn’t go so well? </a:t>
            </a:r>
            <a:endParaRPr lang="en" dirty="0" smtClean="0"/>
          </a:p>
          <a:p>
            <a:pPr marL="27940" lvl="0" indent="0">
              <a:buNone/>
            </a:pPr>
            <a:r>
              <a:rPr lang="en-GB" dirty="0"/>
              <a:t>R</a:t>
            </a:r>
            <a:r>
              <a:rPr lang="en-GB" dirty="0" smtClean="0"/>
              <a:t>e-coding </a:t>
            </a:r>
            <a:r>
              <a:rPr lang="en-GB" dirty="0"/>
              <a:t>across the full sample took longer than expected</a:t>
            </a:r>
            <a:r>
              <a:rPr lang="en-GB" dirty="0" smtClean="0"/>
              <a:t>.</a:t>
            </a:r>
          </a:p>
          <a:p>
            <a:pPr marL="27940" lvl="0" indent="0">
              <a:buNone/>
            </a:pPr>
            <a:endParaRPr dirty="0"/>
          </a:p>
          <a:p>
            <a:pPr marL="182880" lvl="0" indent="-154940" algn="l" rtl="0">
              <a:spcBef>
                <a:spcPts val="0"/>
              </a:spcBef>
              <a:spcAft>
                <a:spcPts val="0"/>
              </a:spcAft>
              <a:buSzPts val="1000"/>
              <a:buChar char="●"/>
            </a:pPr>
            <a:r>
              <a:rPr lang="en" dirty="0"/>
              <a:t>What did you learn? </a:t>
            </a:r>
            <a:endParaRPr lang="en" dirty="0" smtClean="0"/>
          </a:p>
          <a:p>
            <a:pPr marL="27940" lvl="0" indent="0">
              <a:buNone/>
            </a:pPr>
            <a:r>
              <a:rPr lang="en" dirty="0" smtClean="0"/>
              <a:t>During the week I learnt that </a:t>
            </a:r>
            <a:r>
              <a:rPr lang="en-GB" dirty="0"/>
              <a:t>thematic coding isn't one-pass </a:t>
            </a:r>
            <a:r>
              <a:rPr lang="en-GB" dirty="0" smtClean="0"/>
              <a:t>- </a:t>
            </a:r>
            <a:r>
              <a:rPr lang="en-GB" dirty="0"/>
              <a:t>new data should prompt revisiting earlier codes</a:t>
            </a:r>
            <a:r>
              <a:rPr lang="en-GB" dirty="0" smtClean="0"/>
              <a:t>.</a:t>
            </a:r>
          </a:p>
          <a:p>
            <a:pPr marL="27940" lvl="0" indent="0">
              <a:buNone/>
            </a:pPr>
            <a:endParaRPr dirty="0"/>
          </a:p>
          <a:p>
            <a:pPr marL="182880" lvl="0" indent="-154940" algn="l" rtl="0">
              <a:spcBef>
                <a:spcPts val="0"/>
              </a:spcBef>
              <a:spcAft>
                <a:spcPts val="0"/>
              </a:spcAft>
              <a:buSzPts val="1000"/>
              <a:buChar char="●"/>
            </a:pPr>
            <a:r>
              <a:rPr lang="en" dirty="0"/>
              <a:t>What could be added as an Action point looking forward to next week</a:t>
            </a:r>
            <a:r>
              <a:rPr lang="en" dirty="0" smtClean="0"/>
              <a:t>?</a:t>
            </a:r>
          </a:p>
          <a:p>
            <a:pPr marL="27940" lvl="0" indent="0" algn="l" rtl="0">
              <a:spcBef>
                <a:spcPts val="0"/>
              </a:spcBef>
              <a:spcAft>
                <a:spcPts val="0"/>
              </a:spcAft>
              <a:buSzPts val="1000"/>
              <a:buNone/>
            </a:pPr>
            <a:r>
              <a:rPr lang="en" dirty="0" smtClean="0"/>
              <a:t>As an Action Point for the next week is to start writing the thesis.</a:t>
            </a:r>
            <a:endParaRPr dirty="0"/>
          </a:p>
        </p:txBody>
      </p:sp>
      <p:sp>
        <p:nvSpPr>
          <p:cNvPr id="165" name="Google Shape;165;p20"/>
          <p:cNvSpPr txBox="1">
            <a:spLocks noGrp="1"/>
          </p:cNvSpPr>
          <p:nvPr>
            <p:ph type="title" idx="6"/>
          </p:nvPr>
        </p:nvSpPr>
        <p:spPr>
          <a:xfrm>
            <a:off x="7068300" y="165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dirty="0"/>
              <a:t>1/2</a:t>
            </a:r>
            <a:endParaRPr dirty="0"/>
          </a:p>
        </p:txBody>
      </p:sp>
      <p:sp>
        <p:nvSpPr>
          <p:cNvPr id="166" name="Google Shape;166;p20"/>
          <p:cNvSpPr txBox="1">
            <a:spLocks noGrp="1"/>
          </p:cNvSpPr>
          <p:nvPr>
            <p:ph type="title" idx="5"/>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sz="2400" dirty="0"/>
              <a:t>17</a:t>
            </a:r>
            <a:endParaRPr sz="2400" dirty="0"/>
          </a:p>
        </p:txBody>
      </p:sp>
      <p:sp>
        <p:nvSpPr>
          <p:cNvPr id="167" name="Google Shape;167;p20"/>
          <p:cNvSpPr/>
          <p:nvPr/>
        </p:nvSpPr>
        <p:spPr>
          <a:xfrm>
            <a:off x="0" y="576072"/>
            <a:ext cx="9144000" cy="91500"/>
          </a:xfrm>
          <a:prstGeom prst="rect">
            <a:avLst/>
          </a:prstGeom>
          <a:solidFill>
            <a:srgbClr val="66666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061760763"/>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Shape 171"/>
        <p:cNvGrpSpPr/>
        <p:nvPr/>
      </p:nvGrpSpPr>
      <p:grpSpPr>
        <a:xfrm>
          <a:off x="0" y="0"/>
          <a:ext cx="0" cy="0"/>
          <a:chOff x="0" y="0"/>
          <a:chExt cx="0" cy="0"/>
        </a:xfrm>
      </p:grpSpPr>
      <p:sp>
        <p:nvSpPr>
          <p:cNvPr id="172" name="Google Shape;172;p21"/>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dirty="0"/>
              <a:t>Week 17 - Feedback</a:t>
            </a:r>
            <a:endParaRPr dirty="0"/>
          </a:p>
        </p:txBody>
      </p:sp>
      <p:sp>
        <p:nvSpPr>
          <p:cNvPr id="173" name="Google Shape;173;p21"/>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dirty="0"/>
              <a:t>manager, colleague, or team member feedback</a:t>
            </a:r>
            <a:endParaRPr dirty="0"/>
          </a:p>
        </p:txBody>
      </p:sp>
      <p:sp>
        <p:nvSpPr>
          <p:cNvPr id="174" name="Google Shape;174;p21"/>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p>
            <a:pPr marL="182880" lvl="0" indent="-154940"/>
            <a:r>
              <a:rPr lang="en-GB" b="1" dirty="0"/>
              <a:t>D</a:t>
            </a:r>
            <a:r>
              <a:rPr lang="en" b="1" dirty="0"/>
              <a:t>ate: </a:t>
            </a:r>
            <a:r>
              <a:rPr lang="en" dirty="0"/>
              <a:t>02/09/2026</a:t>
            </a:r>
          </a:p>
          <a:p>
            <a:pPr marL="182880" lvl="0" indent="-154940"/>
            <a:r>
              <a:rPr lang="en" b="1" dirty="0"/>
              <a:t>Feedback from</a:t>
            </a:r>
            <a:r>
              <a:rPr lang="en" b="1" dirty="0" smtClean="0"/>
              <a:t>: </a:t>
            </a:r>
            <a:r>
              <a:rPr lang="en-GB" dirty="0"/>
              <a:t>Karna </a:t>
            </a:r>
            <a:r>
              <a:rPr lang="en-GB" dirty="0" err="1"/>
              <a:t>Rewatkar</a:t>
            </a:r>
            <a:r>
              <a:rPr lang="en-GB" dirty="0"/>
              <a:t> (Supervisor)</a:t>
            </a:r>
            <a:endParaRPr lang="en" dirty="0"/>
          </a:p>
          <a:p>
            <a:pPr marL="182880" lvl="0" indent="-154940"/>
            <a:r>
              <a:rPr lang="en" b="1" dirty="0"/>
              <a:t>Feedback</a:t>
            </a:r>
            <a:r>
              <a:rPr lang="en" b="1" dirty="0" smtClean="0"/>
              <a:t>: </a:t>
            </a:r>
            <a:r>
              <a:rPr lang="en-GB" dirty="0"/>
              <a:t>It's a good sign that the themes from the second group of participants reinforced rather than contradicted the first group's — that gives you more confidence that the seven themes are genuinely representative and not just an artefact of five people. Freezing the pipeline and the model weights at the same time as finishing the qualitative study is good planning, since it means nothing you write about afterwards can shift under you. This was a solid, well-sequenced week</a:t>
            </a:r>
            <a:r>
              <a:rPr lang="en-GB" dirty="0" smtClean="0"/>
              <a:t>.</a:t>
            </a:r>
          </a:p>
          <a:p>
            <a:pPr marL="182880" lvl="0" indent="-154940"/>
            <a:r>
              <a:rPr lang="en" b="1" dirty="0" smtClean="0"/>
              <a:t>Related to what task: </a:t>
            </a:r>
            <a:r>
              <a:rPr lang="en-GB" dirty="0" smtClean="0"/>
              <a:t>Full-sample </a:t>
            </a:r>
            <a:r>
              <a:rPr lang="en-GB" dirty="0"/>
              <a:t>(n=10) thematic coding</a:t>
            </a:r>
            <a:r>
              <a:rPr lang="en-GB" dirty="0" smtClean="0"/>
              <a:t>.</a:t>
            </a:r>
          </a:p>
          <a:p>
            <a:pPr marL="182880" lvl="0" indent="-154940"/>
            <a:r>
              <a:rPr lang="en" b="1" dirty="0" smtClean="0"/>
              <a:t>Response/action coming forward from this: </a:t>
            </a:r>
            <a:r>
              <a:rPr lang="en-GB" dirty="0"/>
              <a:t>noted theme stability across the two participant groups in the write-up.</a:t>
            </a:r>
            <a:endParaRPr lang="en" dirty="0"/>
          </a:p>
        </p:txBody>
      </p:sp>
      <p:sp>
        <p:nvSpPr>
          <p:cNvPr id="175" name="Google Shape;175;p21"/>
          <p:cNvSpPr txBox="1">
            <a:spLocks noGrp="1"/>
          </p:cNvSpPr>
          <p:nvPr>
            <p:ph type="title" idx="4"/>
          </p:nvPr>
        </p:nvSpPr>
        <p:spPr>
          <a:xfrm>
            <a:off x="7068300" y="165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2/2</a:t>
            </a:r>
            <a:endParaRPr/>
          </a:p>
        </p:txBody>
      </p:sp>
      <p:sp>
        <p:nvSpPr>
          <p:cNvPr id="176" name="Google Shape;176;p21"/>
          <p:cNvSpPr txBox="1">
            <a:spLocks noGrp="1"/>
          </p:cNvSpPr>
          <p:nvPr>
            <p:ph type="title" idx="3"/>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sz="2400" dirty="0"/>
              <a:t>17</a:t>
            </a:r>
            <a:endParaRPr sz="2400" dirty="0"/>
          </a:p>
        </p:txBody>
      </p:sp>
    </p:spTree>
    <p:extLst>
      <p:ext uri="{BB962C8B-B14F-4D97-AF65-F5344CB8AC3E}">
        <p14:creationId xmlns:p14="http://schemas.microsoft.com/office/powerpoint/2010/main" val="3365414927"/>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Shape 159"/>
        <p:cNvGrpSpPr/>
        <p:nvPr/>
      </p:nvGrpSpPr>
      <p:grpSpPr>
        <a:xfrm>
          <a:off x="0" y="0"/>
          <a:ext cx="0" cy="0"/>
          <a:chOff x="0" y="0"/>
          <a:chExt cx="0" cy="0"/>
        </a:xfrm>
      </p:grpSpPr>
      <p:sp>
        <p:nvSpPr>
          <p:cNvPr id="160" name="Google Shape;160;p20"/>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r>
              <a:rPr lang="en" dirty="0"/>
              <a:t>Week 18 - Log</a:t>
            </a:r>
            <a:endParaRPr lang="en-US" dirty="0"/>
          </a:p>
        </p:txBody>
      </p:sp>
      <p:sp>
        <p:nvSpPr>
          <p:cNvPr id="161" name="Google Shape;161;p20"/>
          <p:cNvSpPr txBox="1">
            <a:spLocks noGrp="1"/>
          </p:cNvSpPr>
          <p:nvPr>
            <p:ph type="subTitle" idx="4"/>
          </p:nvPr>
        </p:nvSpPr>
        <p:spPr>
          <a:xfrm>
            <a:off x="4663440" y="758952"/>
            <a:ext cx="42978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Reflection</a:t>
            </a:r>
            <a:endParaRPr/>
          </a:p>
        </p:txBody>
      </p:sp>
      <p:sp>
        <p:nvSpPr>
          <p:cNvPr id="162" name="Google Shape;162;p20"/>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What did you do?</a:t>
            </a:r>
            <a:endParaRPr/>
          </a:p>
        </p:txBody>
      </p:sp>
      <p:sp>
        <p:nvSpPr>
          <p:cNvPr id="163" name="Google Shape;163;p20"/>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dirty="0"/>
              <a:t>What goal(s) did you set for this week</a:t>
            </a:r>
            <a:r>
              <a:rPr lang="en" dirty="0" smtClean="0"/>
              <a:t>?</a:t>
            </a:r>
          </a:p>
          <a:p>
            <a:pPr marL="27940" lvl="0" indent="0">
              <a:buNone/>
            </a:pPr>
            <a:r>
              <a:rPr lang="en" dirty="0" smtClean="0"/>
              <a:t>The goal for this week is to </a:t>
            </a:r>
            <a:r>
              <a:rPr lang="en-GB" dirty="0"/>
              <a:t>write Introduction, Related Work and Methodology, including the qualitative method</a:t>
            </a:r>
            <a:r>
              <a:rPr lang="en-GB" dirty="0" smtClean="0"/>
              <a:t>.</a:t>
            </a:r>
          </a:p>
          <a:p>
            <a:pPr marL="27940" lvl="0" indent="0">
              <a:buNone/>
            </a:pPr>
            <a:endParaRPr dirty="0"/>
          </a:p>
          <a:p>
            <a:pPr marL="182880" lvl="0" indent="-154940" algn="l" rtl="0">
              <a:spcBef>
                <a:spcPts val="0"/>
              </a:spcBef>
              <a:spcAft>
                <a:spcPts val="0"/>
              </a:spcAft>
              <a:buSzPts val="1000"/>
              <a:buChar char="●"/>
            </a:pPr>
            <a:r>
              <a:rPr lang="en" dirty="0"/>
              <a:t>What have you actually been able to do? </a:t>
            </a:r>
            <a:endParaRPr lang="en" dirty="0" smtClean="0"/>
          </a:p>
          <a:p>
            <a:pPr marL="27940" lvl="0" indent="0">
              <a:buNone/>
            </a:pPr>
            <a:r>
              <a:rPr lang="en" dirty="0" smtClean="0"/>
              <a:t>I </a:t>
            </a:r>
            <a:r>
              <a:rPr lang="en-GB" dirty="0"/>
              <a:t>wrote Introduction, Related Work, Methodology (dataset, models, risk scoring, routing, prototype, qualitative method); built remaining figures; internal consistency pass</a:t>
            </a:r>
            <a:r>
              <a:rPr lang="en-GB" dirty="0" smtClean="0"/>
              <a:t>.</a:t>
            </a:r>
          </a:p>
          <a:p>
            <a:pPr marL="27940" lvl="0" indent="0">
              <a:buNone/>
            </a:pPr>
            <a:endParaRPr dirty="0"/>
          </a:p>
          <a:p>
            <a:pPr marL="182880" lvl="0" indent="-154940" algn="l" rtl="0">
              <a:spcBef>
                <a:spcPts val="0"/>
              </a:spcBef>
              <a:spcAft>
                <a:spcPts val="0"/>
              </a:spcAft>
              <a:buSzPts val="1000"/>
              <a:buChar char="●"/>
            </a:pPr>
            <a:r>
              <a:rPr lang="en" dirty="0"/>
              <a:t>Showcase what tasks you have been working on this week and provide evidence for it</a:t>
            </a:r>
            <a:r>
              <a:rPr lang="en" dirty="0" smtClean="0"/>
              <a:t>.</a:t>
            </a:r>
          </a:p>
          <a:p>
            <a:pPr marL="27940" lvl="0" indent="0" algn="l" rtl="0">
              <a:spcBef>
                <a:spcPts val="0"/>
              </a:spcBef>
              <a:spcAft>
                <a:spcPts val="0"/>
              </a:spcAft>
              <a:buSzPts val="1000"/>
              <a:buNone/>
            </a:pPr>
            <a:endParaRPr lang="en" dirty="0" smtClean="0"/>
          </a:p>
          <a:p>
            <a:pPr marL="27940" lvl="0" indent="0">
              <a:buNone/>
            </a:pPr>
            <a:r>
              <a:rPr lang="en-GB" u="sng" dirty="0">
                <a:hlinkClick r:id="rId3"/>
              </a:rPr>
              <a:t>thesis </a:t>
            </a:r>
            <a:r>
              <a:rPr lang="en-GB" u="sng" dirty="0" smtClean="0">
                <a:hlinkClick r:id="rId3"/>
              </a:rPr>
              <a:t>section </a:t>
            </a:r>
            <a:r>
              <a:rPr lang="en-GB" u="sng" dirty="0">
                <a:hlinkClick r:id="rId3"/>
              </a:rPr>
              <a:t>1</a:t>
            </a:r>
            <a:r>
              <a:rPr lang="en-GB" dirty="0"/>
              <a:t> </a:t>
            </a:r>
            <a:endParaRPr lang="en-GB" dirty="0" smtClean="0"/>
          </a:p>
          <a:p>
            <a:pPr marL="27940" lvl="0" indent="0">
              <a:buNone/>
            </a:pPr>
            <a:r>
              <a:rPr lang="en-GB" u="sng" dirty="0">
                <a:hlinkClick r:id="rId3"/>
              </a:rPr>
              <a:t>thesis section 1.3</a:t>
            </a:r>
            <a:r>
              <a:rPr lang="en-GB" dirty="0"/>
              <a:t> </a:t>
            </a:r>
            <a:endParaRPr lang="en-GB" dirty="0" smtClean="0"/>
          </a:p>
          <a:p>
            <a:pPr marL="27940" lvl="0" indent="0">
              <a:buNone/>
            </a:pPr>
            <a:r>
              <a:rPr lang="en-GB" u="sng" dirty="0">
                <a:hlinkClick r:id="rId3"/>
              </a:rPr>
              <a:t>thesis section 2</a:t>
            </a:r>
            <a:r>
              <a:rPr lang="en-GB" dirty="0"/>
              <a:t> </a:t>
            </a:r>
            <a:endParaRPr lang="en-GB" dirty="0" smtClean="0"/>
          </a:p>
          <a:p>
            <a:pPr marL="27940" lvl="0" indent="0">
              <a:buNone/>
            </a:pPr>
            <a:r>
              <a:rPr lang="en-GB" u="sng" dirty="0">
                <a:hlinkClick r:id="rId3"/>
              </a:rPr>
              <a:t>thesis section 3</a:t>
            </a:r>
            <a:r>
              <a:rPr lang="en-GB" dirty="0"/>
              <a:t> </a:t>
            </a:r>
            <a:endParaRPr lang="en-GB" dirty="0" smtClean="0"/>
          </a:p>
          <a:p>
            <a:pPr marL="27940" lvl="0" indent="0">
              <a:buNone/>
            </a:pPr>
            <a:r>
              <a:rPr lang="en-GB" u="sng" dirty="0">
                <a:hlinkClick r:id="rId3"/>
              </a:rPr>
              <a:t>thesis section 3.8</a:t>
            </a:r>
            <a:r>
              <a:rPr lang="en-GB" dirty="0"/>
              <a:t> </a:t>
            </a:r>
            <a:endParaRPr lang="en-GB" dirty="0" smtClean="0"/>
          </a:p>
          <a:p>
            <a:pPr marL="27940" lvl="0" indent="0">
              <a:buNone/>
            </a:pPr>
            <a:r>
              <a:rPr lang="en-GB" u="sng" dirty="0">
                <a:hlinkClick r:id="rId4"/>
              </a:rPr>
              <a:t>thesis/figures/</a:t>
            </a:r>
            <a:r>
              <a:rPr lang="en-GB" dirty="0"/>
              <a:t> </a:t>
            </a:r>
          </a:p>
        </p:txBody>
      </p:sp>
      <p:sp>
        <p:nvSpPr>
          <p:cNvPr id="164" name="Google Shape;164;p20"/>
          <p:cNvSpPr txBox="1">
            <a:spLocks noGrp="1"/>
          </p:cNvSpPr>
          <p:nvPr>
            <p:ph type="body" idx="3"/>
          </p:nvPr>
        </p:nvSpPr>
        <p:spPr>
          <a:xfrm>
            <a:off x="4663450" y="1152698"/>
            <a:ext cx="4297800" cy="16257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dirty="0"/>
              <a:t>How did the week go? </a:t>
            </a:r>
            <a:endParaRPr lang="en" dirty="0" smtClean="0"/>
          </a:p>
          <a:p>
            <a:pPr marL="27940" lvl="0" indent="0">
              <a:buNone/>
            </a:pPr>
            <a:r>
              <a:rPr lang="en" dirty="0" smtClean="0"/>
              <a:t>The weeks was </a:t>
            </a:r>
            <a:r>
              <a:rPr lang="en-GB" dirty="0"/>
              <a:t>heavy but productive</a:t>
            </a:r>
            <a:r>
              <a:rPr lang="en-GB" dirty="0" smtClean="0"/>
              <a:t>.</a:t>
            </a:r>
          </a:p>
          <a:p>
            <a:pPr marL="27940" lvl="0" indent="0">
              <a:buNone/>
            </a:pPr>
            <a:endParaRPr dirty="0"/>
          </a:p>
          <a:p>
            <a:pPr marL="182880" lvl="0" indent="-154940" algn="l" rtl="0">
              <a:spcBef>
                <a:spcPts val="0"/>
              </a:spcBef>
              <a:spcAft>
                <a:spcPts val="0"/>
              </a:spcAft>
              <a:buSzPts val="1000"/>
              <a:buChar char="●"/>
            </a:pPr>
            <a:r>
              <a:rPr lang="en" dirty="0"/>
              <a:t>What went well? </a:t>
            </a:r>
            <a:endParaRPr lang="en" dirty="0" smtClean="0"/>
          </a:p>
          <a:p>
            <a:pPr marL="27940" lvl="0" indent="0">
              <a:buNone/>
            </a:pPr>
            <a:r>
              <a:rPr lang="en-GB" dirty="0"/>
              <a:t>H</a:t>
            </a:r>
            <a:r>
              <a:rPr lang="en-GB" dirty="0" smtClean="0"/>
              <a:t>aving </a:t>
            </a:r>
            <a:r>
              <a:rPr lang="en-GB" dirty="0"/>
              <a:t>all results already frozen and documented made the Methodology chapter fast to write accurately</a:t>
            </a:r>
            <a:r>
              <a:rPr lang="en-GB" dirty="0" smtClean="0"/>
              <a:t>.</a:t>
            </a:r>
          </a:p>
          <a:p>
            <a:pPr marL="27940" lvl="0" indent="0">
              <a:buNone/>
            </a:pPr>
            <a:endParaRPr dirty="0"/>
          </a:p>
          <a:p>
            <a:pPr marL="182880" lvl="0" indent="-154940" algn="l" rtl="0">
              <a:spcBef>
                <a:spcPts val="0"/>
              </a:spcBef>
              <a:spcAft>
                <a:spcPts val="0"/>
              </a:spcAft>
              <a:buSzPts val="1000"/>
              <a:buChar char="●"/>
            </a:pPr>
            <a:r>
              <a:rPr lang="en" dirty="0"/>
              <a:t>What didn’t go so well? </a:t>
            </a:r>
            <a:endParaRPr lang="en" dirty="0" smtClean="0"/>
          </a:p>
          <a:p>
            <a:pPr marL="27940" lvl="0" indent="0">
              <a:buNone/>
            </a:pPr>
            <a:r>
              <a:rPr lang="en-GB" dirty="0"/>
              <a:t>W</a:t>
            </a:r>
            <a:r>
              <a:rPr lang="en-GB" dirty="0" smtClean="0"/>
              <a:t>riting </a:t>
            </a:r>
            <a:r>
              <a:rPr lang="en-GB" dirty="0"/>
              <a:t>volume was bigger than expected; some sections needed a second pass</a:t>
            </a:r>
            <a:r>
              <a:rPr lang="en-GB" dirty="0" smtClean="0"/>
              <a:t>.</a:t>
            </a:r>
          </a:p>
          <a:p>
            <a:pPr marL="27940" lvl="0" indent="0">
              <a:buNone/>
            </a:pPr>
            <a:endParaRPr dirty="0"/>
          </a:p>
          <a:p>
            <a:pPr marL="182880" lvl="0" indent="-154940" algn="l" rtl="0">
              <a:spcBef>
                <a:spcPts val="0"/>
              </a:spcBef>
              <a:spcAft>
                <a:spcPts val="0"/>
              </a:spcAft>
              <a:buSzPts val="1000"/>
              <a:buChar char="●"/>
            </a:pPr>
            <a:r>
              <a:rPr lang="en" dirty="0"/>
              <a:t>What did you learn? </a:t>
            </a:r>
            <a:endParaRPr lang="en" dirty="0" smtClean="0"/>
          </a:p>
          <a:p>
            <a:pPr marL="27940" lvl="0" indent="0">
              <a:buNone/>
            </a:pPr>
            <a:r>
              <a:rPr lang="en" dirty="0" smtClean="0"/>
              <a:t>I learnt that </a:t>
            </a:r>
            <a:r>
              <a:rPr lang="en-GB" dirty="0"/>
              <a:t>writing goes faster when the underlying numbers are already frozen and verified</a:t>
            </a:r>
            <a:r>
              <a:rPr lang="en-GB" dirty="0" smtClean="0"/>
              <a:t>.</a:t>
            </a:r>
          </a:p>
          <a:p>
            <a:pPr marL="27940" lvl="0" indent="0">
              <a:buNone/>
            </a:pPr>
            <a:endParaRPr dirty="0"/>
          </a:p>
          <a:p>
            <a:pPr marL="182880" lvl="0" indent="-154940" algn="l" rtl="0">
              <a:spcBef>
                <a:spcPts val="0"/>
              </a:spcBef>
              <a:spcAft>
                <a:spcPts val="0"/>
              </a:spcAft>
              <a:buSzPts val="1000"/>
              <a:buChar char="●"/>
            </a:pPr>
            <a:r>
              <a:rPr lang="en" dirty="0"/>
              <a:t>What could be added as an Action point looking forward to next week</a:t>
            </a:r>
            <a:r>
              <a:rPr lang="en" dirty="0" smtClean="0"/>
              <a:t>?</a:t>
            </a:r>
          </a:p>
          <a:p>
            <a:pPr marL="27940" lvl="0" indent="0">
              <a:buNone/>
            </a:pPr>
            <a:r>
              <a:rPr lang="en" dirty="0" smtClean="0"/>
              <a:t>As an Action Point for the next week is to </a:t>
            </a:r>
            <a:r>
              <a:rPr lang="en-GB" dirty="0"/>
              <a:t> write Results, Discussion, Ethics, Conclusion.</a:t>
            </a:r>
            <a:endParaRPr dirty="0"/>
          </a:p>
        </p:txBody>
      </p:sp>
      <p:sp>
        <p:nvSpPr>
          <p:cNvPr id="165" name="Google Shape;165;p20"/>
          <p:cNvSpPr txBox="1">
            <a:spLocks noGrp="1"/>
          </p:cNvSpPr>
          <p:nvPr>
            <p:ph type="title" idx="6"/>
          </p:nvPr>
        </p:nvSpPr>
        <p:spPr>
          <a:xfrm>
            <a:off x="7068300" y="165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dirty="0"/>
              <a:t>1/2</a:t>
            </a:r>
            <a:endParaRPr dirty="0"/>
          </a:p>
        </p:txBody>
      </p:sp>
      <p:sp>
        <p:nvSpPr>
          <p:cNvPr id="166" name="Google Shape;166;p20"/>
          <p:cNvSpPr txBox="1">
            <a:spLocks noGrp="1"/>
          </p:cNvSpPr>
          <p:nvPr>
            <p:ph type="title" idx="5"/>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sz="2400" dirty="0"/>
              <a:t>18</a:t>
            </a:r>
            <a:endParaRPr sz="2400" dirty="0"/>
          </a:p>
        </p:txBody>
      </p:sp>
      <p:sp>
        <p:nvSpPr>
          <p:cNvPr id="167" name="Google Shape;167;p20"/>
          <p:cNvSpPr/>
          <p:nvPr/>
        </p:nvSpPr>
        <p:spPr>
          <a:xfrm>
            <a:off x="0" y="576072"/>
            <a:ext cx="9144000" cy="91500"/>
          </a:xfrm>
          <a:prstGeom prst="rect">
            <a:avLst/>
          </a:prstGeom>
          <a:solidFill>
            <a:srgbClr val="66666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075638348"/>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Shape 171"/>
        <p:cNvGrpSpPr/>
        <p:nvPr/>
      </p:nvGrpSpPr>
      <p:grpSpPr>
        <a:xfrm>
          <a:off x="0" y="0"/>
          <a:ext cx="0" cy="0"/>
          <a:chOff x="0" y="0"/>
          <a:chExt cx="0" cy="0"/>
        </a:xfrm>
      </p:grpSpPr>
      <p:sp>
        <p:nvSpPr>
          <p:cNvPr id="172" name="Google Shape;172;p21"/>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dirty="0"/>
              <a:t>Week 18 - Feedback</a:t>
            </a:r>
            <a:endParaRPr dirty="0"/>
          </a:p>
        </p:txBody>
      </p:sp>
      <p:sp>
        <p:nvSpPr>
          <p:cNvPr id="173" name="Google Shape;173;p21"/>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dirty="0"/>
              <a:t>manager, colleague, or team member feedback</a:t>
            </a:r>
            <a:endParaRPr dirty="0"/>
          </a:p>
        </p:txBody>
      </p:sp>
      <p:sp>
        <p:nvSpPr>
          <p:cNvPr id="174" name="Google Shape;174;p21"/>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p>
            <a:pPr marL="182880" lvl="0" indent="-154940"/>
            <a:r>
              <a:rPr lang="en-GB" b="1" dirty="0"/>
              <a:t>D</a:t>
            </a:r>
            <a:r>
              <a:rPr lang="en" b="1" dirty="0"/>
              <a:t>ate: </a:t>
            </a:r>
            <a:r>
              <a:rPr lang="en" dirty="0" smtClean="0"/>
              <a:t>10/09/2026</a:t>
            </a:r>
            <a:endParaRPr lang="en" dirty="0"/>
          </a:p>
          <a:p>
            <a:pPr marL="182880" lvl="0" indent="-154940"/>
            <a:r>
              <a:rPr lang="en" b="1" dirty="0"/>
              <a:t>Feedback from: </a:t>
            </a:r>
            <a:r>
              <a:rPr lang="en-GB" dirty="0"/>
              <a:t>Karna </a:t>
            </a:r>
            <a:r>
              <a:rPr lang="en-GB" dirty="0" err="1"/>
              <a:t>Rewatkar</a:t>
            </a:r>
            <a:r>
              <a:rPr lang="en-GB" dirty="0"/>
              <a:t> (Supervisor)</a:t>
            </a:r>
            <a:endParaRPr lang="en" dirty="0"/>
          </a:p>
          <a:p>
            <a:pPr marL="182880" lvl="0" indent="-154940"/>
            <a:r>
              <a:rPr lang="en" b="1" dirty="0"/>
              <a:t>Feedback: </a:t>
            </a:r>
            <a:r>
              <a:rPr lang="en-GB" dirty="0"/>
              <a:t>The Introduction and Methodology draft reads well and the pacing is good - it's clear you're writing from results you've already verified rather than writing speculatively. One thing to tighten: the qualitative usability method section needs to explicitly say how it connects to H2 and H4, since that link is part of why the study was designed the way it was. Otherwise this is a strong first full draft of the opening chapters.</a:t>
            </a:r>
            <a:endParaRPr lang="en" dirty="0"/>
          </a:p>
          <a:p>
            <a:pPr marL="182880" lvl="0" indent="-154940"/>
            <a:r>
              <a:rPr lang="en" b="1" dirty="0"/>
              <a:t>Related to what task: </a:t>
            </a:r>
            <a:r>
              <a:rPr lang="en-GB" dirty="0"/>
              <a:t>Methodology chapter draft.</a:t>
            </a:r>
            <a:endParaRPr lang="en" dirty="0"/>
          </a:p>
          <a:p>
            <a:pPr marL="182880" lvl="0" indent="-154940"/>
            <a:r>
              <a:rPr lang="en" b="1" dirty="0"/>
              <a:t>Response/action coming forward from this: </a:t>
            </a:r>
            <a:r>
              <a:rPr lang="en-GB" dirty="0"/>
              <a:t>added an explicit link back to H2 and H4.</a:t>
            </a:r>
            <a:endParaRPr lang="en" dirty="0"/>
          </a:p>
        </p:txBody>
      </p:sp>
      <p:sp>
        <p:nvSpPr>
          <p:cNvPr id="175" name="Google Shape;175;p21"/>
          <p:cNvSpPr txBox="1">
            <a:spLocks noGrp="1"/>
          </p:cNvSpPr>
          <p:nvPr>
            <p:ph type="title" idx="4"/>
          </p:nvPr>
        </p:nvSpPr>
        <p:spPr>
          <a:xfrm>
            <a:off x="7068300" y="165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2/2</a:t>
            </a:r>
            <a:endParaRPr/>
          </a:p>
        </p:txBody>
      </p:sp>
      <p:sp>
        <p:nvSpPr>
          <p:cNvPr id="176" name="Google Shape;176;p21"/>
          <p:cNvSpPr txBox="1">
            <a:spLocks noGrp="1"/>
          </p:cNvSpPr>
          <p:nvPr>
            <p:ph type="title" idx="3"/>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sz="2400" dirty="0"/>
              <a:t>18</a:t>
            </a:r>
            <a:endParaRPr sz="2400" dirty="0"/>
          </a:p>
        </p:txBody>
      </p:sp>
    </p:spTree>
    <p:extLst>
      <p:ext uri="{BB962C8B-B14F-4D97-AF65-F5344CB8AC3E}">
        <p14:creationId xmlns:p14="http://schemas.microsoft.com/office/powerpoint/2010/main" val="3973325582"/>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Shape 159"/>
        <p:cNvGrpSpPr/>
        <p:nvPr/>
      </p:nvGrpSpPr>
      <p:grpSpPr>
        <a:xfrm>
          <a:off x="0" y="0"/>
          <a:ext cx="0" cy="0"/>
          <a:chOff x="0" y="0"/>
          <a:chExt cx="0" cy="0"/>
        </a:xfrm>
      </p:grpSpPr>
      <p:sp>
        <p:nvSpPr>
          <p:cNvPr id="160" name="Google Shape;160;p20"/>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r>
              <a:rPr lang="en" dirty="0"/>
              <a:t>Week 19 - Log</a:t>
            </a:r>
            <a:endParaRPr lang="en-US" dirty="0"/>
          </a:p>
        </p:txBody>
      </p:sp>
      <p:sp>
        <p:nvSpPr>
          <p:cNvPr id="161" name="Google Shape;161;p20"/>
          <p:cNvSpPr txBox="1">
            <a:spLocks noGrp="1"/>
          </p:cNvSpPr>
          <p:nvPr>
            <p:ph type="subTitle" idx="4"/>
          </p:nvPr>
        </p:nvSpPr>
        <p:spPr>
          <a:xfrm>
            <a:off x="4663440" y="758952"/>
            <a:ext cx="42978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Reflection</a:t>
            </a:r>
            <a:endParaRPr/>
          </a:p>
        </p:txBody>
      </p:sp>
      <p:sp>
        <p:nvSpPr>
          <p:cNvPr id="162" name="Google Shape;162;p20"/>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What did you do?</a:t>
            </a:r>
            <a:endParaRPr/>
          </a:p>
        </p:txBody>
      </p:sp>
      <p:sp>
        <p:nvSpPr>
          <p:cNvPr id="163" name="Google Shape;163;p20"/>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dirty="0"/>
              <a:t>What goal(s) did you set for this week</a:t>
            </a:r>
            <a:r>
              <a:rPr lang="en" dirty="0" smtClean="0"/>
              <a:t>?</a:t>
            </a:r>
          </a:p>
          <a:p>
            <a:pPr marL="27940" lvl="0" indent="0">
              <a:buNone/>
            </a:pPr>
            <a:r>
              <a:rPr lang="en" dirty="0" smtClean="0"/>
              <a:t>The goal for this week is to </a:t>
            </a:r>
            <a:r>
              <a:rPr lang="en-GB" dirty="0"/>
              <a:t>write Results, Discussion, Ethics, Conclusion; final touches and proofread</a:t>
            </a:r>
            <a:r>
              <a:rPr lang="en-GB" dirty="0" smtClean="0"/>
              <a:t>.</a:t>
            </a:r>
          </a:p>
          <a:p>
            <a:pPr marL="27940" lvl="0" indent="0">
              <a:buNone/>
            </a:pPr>
            <a:endParaRPr dirty="0"/>
          </a:p>
          <a:p>
            <a:pPr marL="182880" lvl="0" indent="-154940" algn="l" rtl="0">
              <a:spcBef>
                <a:spcPts val="0"/>
              </a:spcBef>
              <a:spcAft>
                <a:spcPts val="0"/>
              </a:spcAft>
              <a:buSzPts val="1000"/>
              <a:buChar char="●"/>
            </a:pPr>
            <a:r>
              <a:rPr lang="en" dirty="0"/>
              <a:t>What have you actually been able to do? </a:t>
            </a:r>
            <a:endParaRPr lang="en" dirty="0" smtClean="0"/>
          </a:p>
          <a:p>
            <a:pPr marL="27940" lvl="0" indent="0">
              <a:buNone/>
            </a:pPr>
            <a:r>
              <a:rPr lang="en" dirty="0" smtClean="0"/>
              <a:t>I </a:t>
            </a:r>
            <a:r>
              <a:rPr lang="en-GB" dirty="0"/>
              <a:t>wrote Results (</a:t>
            </a:r>
            <a:r>
              <a:rPr lang="en-GB" dirty="0" smtClean="0"/>
              <a:t>H1-H4</a:t>
            </a:r>
            <a:r>
              <a:rPr lang="en-GB" dirty="0"/>
              <a:t>, qualitative), Discussion (H1, domain gap, H2 shortfall, H3/H4 coverage, limitations, implications, future work), Ethics, Conclusion; finalised abstract; full proofread/reference check</a:t>
            </a:r>
            <a:r>
              <a:rPr lang="en-GB" dirty="0" smtClean="0"/>
              <a:t>.</a:t>
            </a:r>
          </a:p>
          <a:p>
            <a:pPr marL="27940" lvl="0" indent="0">
              <a:buNone/>
            </a:pPr>
            <a:endParaRPr dirty="0"/>
          </a:p>
          <a:p>
            <a:pPr marL="182880" lvl="0" indent="-154940" algn="l" rtl="0">
              <a:spcBef>
                <a:spcPts val="0"/>
              </a:spcBef>
              <a:spcAft>
                <a:spcPts val="0"/>
              </a:spcAft>
              <a:buSzPts val="1000"/>
              <a:buChar char="●"/>
            </a:pPr>
            <a:r>
              <a:rPr lang="en" dirty="0"/>
              <a:t>Showcase what tasks you have been working on this week and provide evidence for it</a:t>
            </a:r>
            <a:r>
              <a:rPr lang="en" dirty="0" smtClean="0"/>
              <a:t>.</a:t>
            </a:r>
            <a:endParaRPr lang="en" dirty="0"/>
          </a:p>
          <a:p>
            <a:pPr marL="27940" lvl="0" indent="0" algn="l" rtl="0">
              <a:spcBef>
                <a:spcPts val="0"/>
              </a:spcBef>
              <a:spcAft>
                <a:spcPts val="0"/>
              </a:spcAft>
              <a:buSzPts val="1000"/>
              <a:buNone/>
            </a:pPr>
            <a:endParaRPr lang="en" dirty="0" smtClean="0"/>
          </a:p>
          <a:p>
            <a:pPr marL="27940" lvl="0" indent="0">
              <a:buNone/>
            </a:pPr>
            <a:r>
              <a:rPr lang="en-GB" u="sng" dirty="0">
                <a:hlinkClick r:id="rId3"/>
              </a:rPr>
              <a:t>thesis section 4.1</a:t>
            </a:r>
            <a:r>
              <a:rPr lang="en-GB" dirty="0"/>
              <a:t> </a:t>
            </a:r>
            <a:endParaRPr lang="en-GB" dirty="0" smtClean="0"/>
          </a:p>
          <a:p>
            <a:pPr marL="27940" lvl="0" indent="0">
              <a:buNone/>
            </a:pPr>
            <a:endParaRPr lang="en-GB" dirty="0"/>
          </a:p>
          <a:p>
            <a:pPr marL="27940" lvl="0" indent="0">
              <a:buNone/>
            </a:pPr>
            <a:r>
              <a:rPr lang="en-GB" u="sng" dirty="0">
                <a:hlinkClick r:id="rId3"/>
              </a:rPr>
              <a:t>thesis section 4</a:t>
            </a:r>
            <a:r>
              <a:rPr lang="en-GB" dirty="0"/>
              <a:t> </a:t>
            </a:r>
            <a:endParaRPr lang="en-GB" dirty="0" smtClean="0"/>
          </a:p>
          <a:p>
            <a:pPr marL="27940" lvl="0" indent="0">
              <a:buNone/>
            </a:pPr>
            <a:endParaRPr lang="en-GB" dirty="0"/>
          </a:p>
          <a:p>
            <a:pPr marL="27940" lvl="0" indent="0">
              <a:buNone/>
            </a:pPr>
            <a:r>
              <a:rPr lang="en-GB" u="sng" dirty="0">
                <a:hlinkClick r:id="rId3"/>
              </a:rPr>
              <a:t>thesis section 5</a:t>
            </a:r>
            <a:r>
              <a:rPr lang="en-GB" dirty="0"/>
              <a:t> </a:t>
            </a:r>
            <a:endParaRPr lang="en-GB" dirty="0" smtClean="0"/>
          </a:p>
          <a:p>
            <a:pPr marL="27940" lvl="0" indent="0">
              <a:buNone/>
            </a:pPr>
            <a:endParaRPr lang="en-GB" dirty="0"/>
          </a:p>
          <a:p>
            <a:pPr marL="27940" lvl="0" indent="0">
              <a:buNone/>
            </a:pPr>
            <a:r>
              <a:rPr lang="en-GB" u="sng" dirty="0">
                <a:hlinkClick r:id="rId3"/>
              </a:rPr>
              <a:t>thesis section 6</a:t>
            </a:r>
            <a:r>
              <a:rPr lang="en-GB" dirty="0"/>
              <a:t> </a:t>
            </a:r>
            <a:endParaRPr lang="en-GB" dirty="0" smtClean="0"/>
          </a:p>
          <a:p>
            <a:pPr marL="27940" lvl="0" indent="0">
              <a:buNone/>
            </a:pPr>
            <a:endParaRPr lang="en-GB" dirty="0"/>
          </a:p>
          <a:p>
            <a:pPr marL="27940" lvl="0" indent="0">
              <a:buNone/>
            </a:pPr>
            <a:r>
              <a:rPr lang="en-GB" u="sng" dirty="0">
                <a:hlinkClick r:id="rId3"/>
              </a:rPr>
              <a:t>thesis section 7</a:t>
            </a:r>
            <a:r>
              <a:rPr lang="en-GB" dirty="0"/>
              <a:t> </a:t>
            </a:r>
            <a:endParaRPr lang="en-GB" dirty="0" smtClean="0"/>
          </a:p>
          <a:p>
            <a:pPr marL="27940" lvl="0" indent="0">
              <a:buNone/>
            </a:pPr>
            <a:endParaRPr lang="en-GB" dirty="0"/>
          </a:p>
          <a:p>
            <a:pPr marL="27940" lvl="0" indent="0">
              <a:buNone/>
            </a:pPr>
            <a:r>
              <a:rPr lang="en-GB" u="sng" dirty="0">
                <a:hlinkClick r:id="rId3"/>
              </a:rPr>
              <a:t>thesis abstract</a:t>
            </a:r>
            <a:r>
              <a:rPr lang="en-GB" dirty="0"/>
              <a:t> </a:t>
            </a:r>
            <a:endParaRPr lang="en" dirty="0"/>
          </a:p>
        </p:txBody>
      </p:sp>
      <p:sp>
        <p:nvSpPr>
          <p:cNvPr id="164" name="Google Shape;164;p20"/>
          <p:cNvSpPr txBox="1">
            <a:spLocks noGrp="1"/>
          </p:cNvSpPr>
          <p:nvPr>
            <p:ph type="body" idx="3"/>
          </p:nvPr>
        </p:nvSpPr>
        <p:spPr>
          <a:xfrm>
            <a:off x="4663450" y="1152698"/>
            <a:ext cx="4297800" cy="16257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dirty="0"/>
              <a:t>How did the week go? </a:t>
            </a:r>
            <a:endParaRPr lang="en" dirty="0" smtClean="0"/>
          </a:p>
          <a:p>
            <a:pPr marL="27940" lvl="0" indent="0">
              <a:buNone/>
            </a:pPr>
            <a:r>
              <a:rPr lang="en" dirty="0" smtClean="0"/>
              <a:t>The week as </a:t>
            </a:r>
            <a:r>
              <a:rPr lang="en-GB" dirty="0"/>
              <a:t>demanding but rewarding </a:t>
            </a:r>
            <a:r>
              <a:rPr lang="en-GB" dirty="0" smtClean="0"/>
              <a:t>- </a:t>
            </a:r>
            <a:r>
              <a:rPr lang="en-GB" dirty="0"/>
              <a:t>full draft now exists</a:t>
            </a:r>
            <a:r>
              <a:rPr lang="en-GB" dirty="0" smtClean="0"/>
              <a:t>.</a:t>
            </a:r>
          </a:p>
          <a:p>
            <a:pPr marL="27940" lvl="0" indent="0">
              <a:buNone/>
            </a:pPr>
            <a:endParaRPr dirty="0"/>
          </a:p>
          <a:p>
            <a:pPr marL="182880" lvl="0" indent="-154940" algn="l" rtl="0">
              <a:spcBef>
                <a:spcPts val="0"/>
              </a:spcBef>
              <a:spcAft>
                <a:spcPts val="0"/>
              </a:spcAft>
              <a:buSzPts val="1000"/>
              <a:buChar char="●"/>
            </a:pPr>
            <a:r>
              <a:rPr lang="en" dirty="0"/>
              <a:t>What went well? </a:t>
            </a:r>
            <a:endParaRPr lang="en" dirty="0" smtClean="0"/>
          </a:p>
          <a:p>
            <a:pPr marL="27940" lvl="0" indent="0">
              <a:buNone/>
            </a:pPr>
            <a:r>
              <a:rPr lang="en-GB" dirty="0"/>
              <a:t>Discussion came together cleanly since each result already had an explanation from earlier weeks</a:t>
            </a:r>
            <a:r>
              <a:rPr lang="en-GB" dirty="0" smtClean="0"/>
              <a:t>.</a:t>
            </a:r>
          </a:p>
          <a:p>
            <a:pPr marL="27940" lvl="0" indent="0">
              <a:buNone/>
            </a:pPr>
            <a:endParaRPr dirty="0"/>
          </a:p>
          <a:p>
            <a:pPr marL="182880" lvl="0" indent="-154940" algn="l" rtl="0">
              <a:spcBef>
                <a:spcPts val="0"/>
              </a:spcBef>
              <a:spcAft>
                <a:spcPts val="0"/>
              </a:spcAft>
              <a:buSzPts val="1000"/>
              <a:buChar char="●"/>
            </a:pPr>
            <a:r>
              <a:rPr lang="en" dirty="0"/>
              <a:t>What didn’t go so well? </a:t>
            </a:r>
          </a:p>
          <a:p>
            <a:pPr marL="27940" lvl="0" indent="0" algn="l" rtl="0">
              <a:spcBef>
                <a:spcPts val="0"/>
              </a:spcBef>
              <a:spcAft>
                <a:spcPts val="0"/>
              </a:spcAft>
              <a:buSzPts val="1000"/>
              <a:buNone/>
            </a:pPr>
            <a:r>
              <a:rPr lang="en" dirty="0" smtClean="0"/>
              <a:t>P</a:t>
            </a:r>
            <a:r>
              <a:rPr lang="en-GB" dirty="0" err="1" smtClean="0"/>
              <a:t>roofread</a:t>
            </a:r>
            <a:r>
              <a:rPr lang="en-GB" dirty="0" smtClean="0"/>
              <a:t> </a:t>
            </a:r>
            <a:r>
              <a:rPr lang="en-GB" dirty="0"/>
              <a:t>surfaced several numerical inconsistencies between sections</a:t>
            </a:r>
            <a:r>
              <a:rPr lang="en-GB" dirty="0" smtClean="0"/>
              <a:t>.</a:t>
            </a:r>
          </a:p>
          <a:p>
            <a:pPr marL="27940" lvl="0" indent="0">
              <a:buNone/>
            </a:pPr>
            <a:endParaRPr dirty="0"/>
          </a:p>
          <a:p>
            <a:pPr marL="182880" lvl="0" indent="-154940" algn="l" rtl="0">
              <a:spcBef>
                <a:spcPts val="0"/>
              </a:spcBef>
              <a:spcAft>
                <a:spcPts val="0"/>
              </a:spcAft>
              <a:buSzPts val="1000"/>
              <a:buChar char="●"/>
            </a:pPr>
            <a:r>
              <a:rPr lang="en" dirty="0"/>
              <a:t>What did you learn? </a:t>
            </a:r>
            <a:endParaRPr lang="en" dirty="0" smtClean="0"/>
          </a:p>
          <a:p>
            <a:pPr marL="27940" lvl="0" indent="0">
              <a:buNone/>
            </a:pPr>
            <a:r>
              <a:rPr lang="en" dirty="0" smtClean="0"/>
              <a:t>I learnt that </a:t>
            </a:r>
            <a:r>
              <a:rPr lang="en-GB" dirty="0"/>
              <a:t>a full cross-check of numbers across the whole document is essential, not a last-minute task</a:t>
            </a:r>
            <a:r>
              <a:rPr lang="en-GB" dirty="0" smtClean="0"/>
              <a:t>.</a:t>
            </a:r>
          </a:p>
          <a:p>
            <a:pPr marL="27940" lvl="0" indent="0">
              <a:buNone/>
            </a:pPr>
            <a:r>
              <a:rPr lang="en" dirty="0" smtClean="0"/>
              <a:t> </a:t>
            </a:r>
            <a:endParaRPr dirty="0"/>
          </a:p>
          <a:p>
            <a:pPr marL="182880" lvl="0" indent="-154940" algn="l" rtl="0">
              <a:spcBef>
                <a:spcPts val="0"/>
              </a:spcBef>
              <a:spcAft>
                <a:spcPts val="0"/>
              </a:spcAft>
              <a:buSzPts val="1000"/>
              <a:buChar char="●"/>
            </a:pPr>
            <a:r>
              <a:rPr lang="en" dirty="0"/>
              <a:t>What could be added as an Action point looking forward to next week</a:t>
            </a:r>
            <a:r>
              <a:rPr lang="en" dirty="0" smtClean="0"/>
              <a:t>?</a:t>
            </a:r>
          </a:p>
          <a:p>
            <a:pPr marL="27940" lvl="0" indent="0" algn="l" rtl="0">
              <a:spcBef>
                <a:spcPts val="0"/>
              </a:spcBef>
              <a:spcAft>
                <a:spcPts val="0"/>
              </a:spcAft>
              <a:buSzPts val="1000"/>
              <a:buNone/>
            </a:pPr>
            <a:r>
              <a:rPr lang="en" dirty="0" smtClean="0"/>
              <a:t>The action point for the next weeks is to finish all evidencing documents.</a:t>
            </a:r>
            <a:endParaRPr dirty="0"/>
          </a:p>
        </p:txBody>
      </p:sp>
      <p:sp>
        <p:nvSpPr>
          <p:cNvPr id="165" name="Google Shape;165;p20"/>
          <p:cNvSpPr txBox="1">
            <a:spLocks noGrp="1"/>
          </p:cNvSpPr>
          <p:nvPr>
            <p:ph type="title" idx="6"/>
          </p:nvPr>
        </p:nvSpPr>
        <p:spPr>
          <a:xfrm>
            <a:off x="7068300" y="165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dirty="0"/>
              <a:t>1/2</a:t>
            </a:r>
            <a:endParaRPr dirty="0"/>
          </a:p>
        </p:txBody>
      </p:sp>
      <p:sp>
        <p:nvSpPr>
          <p:cNvPr id="166" name="Google Shape;166;p20"/>
          <p:cNvSpPr txBox="1">
            <a:spLocks noGrp="1"/>
          </p:cNvSpPr>
          <p:nvPr>
            <p:ph type="title" idx="5"/>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sz="2400" dirty="0"/>
              <a:t>19</a:t>
            </a:r>
            <a:endParaRPr sz="2400" dirty="0"/>
          </a:p>
        </p:txBody>
      </p:sp>
      <p:sp>
        <p:nvSpPr>
          <p:cNvPr id="167" name="Google Shape;167;p20"/>
          <p:cNvSpPr/>
          <p:nvPr/>
        </p:nvSpPr>
        <p:spPr>
          <a:xfrm>
            <a:off x="0" y="576072"/>
            <a:ext cx="9144000" cy="91500"/>
          </a:xfrm>
          <a:prstGeom prst="rect">
            <a:avLst/>
          </a:prstGeom>
          <a:solidFill>
            <a:srgbClr val="66666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719149490"/>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Shape 171"/>
        <p:cNvGrpSpPr/>
        <p:nvPr/>
      </p:nvGrpSpPr>
      <p:grpSpPr>
        <a:xfrm>
          <a:off x="0" y="0"/>
          <a:ext cx="0" cy="0"/>
          <a:chOff x="0" y="0"/>
          <a:chExt cx="0" cy="0"/>
        </a:xfrm>
      </p:grpSpPr>
      <p:sp>
        <p:nvSpPr>
          <p:cNvPr id="172" name="Google Shape;172;p21"/>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dirty="0"/>
              <a:t>Week 19 - Feedback</a:t>
            </a:r>
            <a:endParaRPr dirty="0"/>
          </a:p>
        </p:txBody>
      </p:sp>
      <p:sp>
        <p:nvSpPr>
          <p:cNvPr id="173" name="Google Shape;173;p21"/>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dirty="0"/>
              <a:t>manager, colleague, or team member feedback</a:t>
            </a:r>
            <a:endParaRPr dirty="0"/>
          </a:p>
        </p:txBody>
      </p:sp>
      <p:sp>
        <p:nvSpPr>
          <p:cNvPr id="174" name="Google Shape;174;p21"/>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p>
            <a:pPr marL="182880" lvl="0" indent="-154940"/>
            <a:r>
              <a:rPr lang="en-GB" b="1" dirty="0"/>
              <a:t>D</a:t>
            </a:r>
            <a:r>
              <a:rPr lang="en" b="1" dirty="0"/>
              <a:t>ate: </a:t>
            </a:r>
            <a:r>
              <a:rPr lang="en" dirty="0"/>
              <a:t>17/09/2026</a:t>
            </a:r>
          </a:p>
          <a:p>
            <a:pPr marL="182880" lvl="0" indent="-154940"/>
            <a:r>
              <a:rPr lang="en" b="1" dirty="0"/>
              <a:t>Feedback from</a:t>
            </a:r>
            <a:r>
              <a:rPr lang="en" b="1" dirty="0" smtClean="0"/>
              <a:t>: </a:t>
            </a:r>
            <a:r>
              <a:rPr lang="en-GB" dirty="0"/>
              <a:t>Karna </a:t>
            </a:r>
            <a:r>
              <a:rPr lang="en-GB" dirty="0" err="1"/>
              <a:t>Rewatkar</a:t>
            </a:r>
            <a:r>
              <a:rPr lang="en-GB" dirty="0"/>
              <a:t> (Supervisor)</a:t>
            </a:r>
            <a:endParaRPr lang="en" dirty="0"/>
          </a:p>
          <a:p>
            <a:pPr marL="182880" lvl="0" indent="-154940"/>
            <a:r>
              <a:rPr lang="en" b="1" dirty="0"/>
              <a:t>Feedback</a:t>
            </a:r>
            <a:r>
              <a:rPr lang="en" b="1" dirty="0" smtClean="0"/>
              <a:t>: </a:t>
            </a:r>
            <a:r>
              <a:rPr lang="en-GB" dirty="0"/>
              <a:t>The full draft is in good shape, and the Discussion chapter does a good job of tying H1 through H4 into one coherent narrative rather than treating them as four separate results. A handful of numbers didn't quite match between the Results and Discussion sections, which is a common issue at this stage of writing and worth doing one more full pass to catch. Once that's cleaned up, this reads as a complete and well-argued thesis.</a:t>
            </a:r>
            <a:endParaRPr lang="en" dirty="0"/>
          </a:p>
          <a:p>
            <a:pPr marL="182880" lvl="0" indent="-154940"/>
            <a:r>
              <a:rPr lang="en" b="1" dirty="0"/>
              <a:t>Related to what task: </a:t>
            </a:r>
            <a:r>
              <a:rPr lang="en-GB" dirty="0" smtClean="0"/>
              <a:t>Full </a:t>
            </a:r>
            <a:r>
              <a:rPr lang="en-GB" dirty="0"/>
              <a:t>thesis draft (Results-Conclusion).</a:t>
            </a:r>
            <a:endParaRPr lang="en" dirty="0"/>
          </a:p>
          <a:p>
            <a:pPr marL="182880" lvl="0" indent="-154940"/>
            <a:r>
              <a:rPr lang="en" b="1" dirty="0"/>
              <a:t>Response/action coming forward from this: </a:t>
            </a:r>
            <a:r>
              <a:rPr lang="en-GB" dirty="0" smtClean="0"/>
              <a:t>Completed </a:t>
            </a:r>
            <a:r>
              <a:rPr lang="en-GB" dirty="0"/>
              <a:t>a full consistency pass before submission.</a:t>
            </a:r>
          </a:p>
          <a:p>
            <a:pPr marL="182880" lvl="0" indent="-154940" algn="l" rtl="0">
              <a:spcBef>
                <a:spcPts val="0"/>
              </a:spcBef>
              <a:spcAft>
                <a:spcPts val="0"/>
              </a:spcAft>
              <a:buSzPts val="1000"/>
              <a:buChar char="●"/>
            </a:pPr>
            <a:endParaRPr lang="en" b="1" dirty="0"/>
          </a:p>
        </p:txBody>
      </p:sp>
      <p:sp>
        <p:nvSpPr>
          <p:cNvPr id="175" name="Google Shape;175;p21"/>
          <p:cNvSpPr txBox="1">
            <a:spLocks noGrp="1"/>
          </p:cNvSpPr>
          <p:nvPr>
            <p:ph type="title" idx="4"/>
          </p:nvPr>
        </p:nvSpPr>
        <p:spPr>
          <a:xfrm>
            <a:off x="7068300" y="165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2/2</a:t>
            </a:r>
            <a:endParaRPr/>
          </a:p>
        </p:txBody>
      </p:sp>
      <p:sp>
        <p:nvSpPr>
          <p:cNvPr id="176" name="Google Shape;176;p21"/>
          <p:cNvSpPr txBox="1">
            <a:spLocks noGrp="1"/>
          </p:cNvSpPr>
          <p:nvPr>
            <p:ph type="title" idx="3"/>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sz="2400" dirty="0"/>
              <a:t>19</a:t>
            </a:r>
            <a:endParaRPr sz="2400" dirty="0"/>
          </a:p>
        </p:txBody>
      </p:sp>
    </p:spTree>
    <p:extLst>
      <p:ext uri="{BB962C8B-B14F-4D97-AF65-F5344CB8AC3E}">
        <p14:creationId xmlns:p14="http://schemas.microsoft.com/office/powerpoint/2010/main" val="1558567068"/>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Shape 159"/>
        <p:cNvGrpSpPr/>
        <p:nvPr/>
      </p:nvGrpSpPr>
      <p:grpSpPr>
        <a:xfrm>
          <a:off x="0" y="0"/>
          <a:ext cx="0" cy="0"/>
          <a:chOff x="0" y="0"/>
          <a:chExt cx="0" cy="0"/>
        </a:xfrm>
      </p:grpSpPr>
      <p:sp>
        <p:nvSpPr>
          <p:cNvPr id="160" name="Google Shape;160;p20"/>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r>
              <a:rPr lang="en" dirty="0"/>
              <a:t>Week 20 - Log</a:t>
            </a:r>
            <a:endParaRPr lang="en-US" dirty="0"/>
          </a:p>
        </p:txBody>
      </p:sp>
      <p:sp>
        <p:nvSpPr>
          <p:cNvPr id="161" name="Google Shape;161;p20"/>
          <p:cNvSpPr txBox="1">
            <a:spLocks noGrp="1"/>
          </p:cNvSpPr>
          <p:nvPr>
            <p:ph type="subTitle" idx="4"/>
          </p:nvPr>
        </p:nvSpPr>
        <p:spPr>
          <a:xfrm>
            <a:off x="4663440" y="758952"/>
            <a:ext cx="42978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Reflection</a:t>
            </a:r>
            <a:endParaRPr/>
          </a:p>
        </p:txBody>
      </p:sp>
      <p:sp>
        <p:nvSpPr>
          <p:cNvPr id="162" name="Google Shape;162;p20"/>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What did you do?</a:t>
            </a:r>
            <a:endParaRPr/>
          </a:p>
        </p:txBody>
      </p:sp>
      <p:sp>
        <p:nvSpPr>
          <p:cNvPr id="163" name="Google Shape;163;p20"/>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dirty="0"/>
              <a:t>What goal(s) did you set for this week</a:t>
            </a:r>
            <a:r>
              <a:rPr lang="en" dirty="0" smtClean="0"/>
              <a:t>?</a:t>
            </a:r>
          </a:p>
          <a:p>
            <a:pPr marL="27940" lvl="0" indent="0">
              <a:buNone/>
            </a:pPr>
            <a:r>
              <a:rPr lang="en" dirty="0" smtClean="0"/>
              <a:t>The goal for this week is to </a:t>
            </a:r>
            <a:r>
              <a:rPr lang="en-GB" dirty="0"/>
              <a:t>finish the Work Log, Learning Log and Assessment Rubric</a:t>
            </a:r>
            <a:r>
              <a:rPr lang="en-GB" dirty="0" smtClean="0"/>
              <a:t>.</a:t>
            </a:r>
          </a:p>
          <a:p>
            <a:pPr marL="27940" lvl="0" indent="0">
              <a:buNone/>
            </a:pPr>
            <a:endParaRPr dirty="0"/>
          </a:p>
          <a:p>
            <a:pPr marL="182880" lvl="0" indent="-154940" algn="l" rtl="0">
              <a:spcBef>
                <a:spcPts val="0"/>
              </a:spcBef>
              <a:spcAft>
                <a:spcPts val="0"/>
              </a:spcAft>
              <a:buSzPts val="1000"/>
              <a:buChar char="●"/>
            </a:pPr>
            <a:r>
              <a:rPr lang="en" dirty="0"/>
              <a:t>What have you actually been able to do? </a:t>
            </a:r>
            <a:endParaRPr lang="en" dirty="0" smtClean="0"/>
          </a:p>
          <a:p>
            <a:pPr marL="27940" lvl="0" indent="0">
              <a:buNone/>
            </a:pPr>
            <a:r>
              <a:rPr lang="en-GB" dirty="0" smtClean="0"/>
              <a:t>I </a:t>
            </a:r>
            <a:r>
              <a:rPr lang="en-GB" dirty="0"/>
              <a:t>finalised the 20-week Work Log, wrote all Learning Log entries, collected/organised evidence links, filled the Assessment Rubric across all five ILOs</a:t>
            </a:r>
            <a:r>
              <a:rPr lang="en-GB" dirty="0" smtClean="0"/>
              <a:t>.</a:t>
            </a:r>
          </a:p>
          <a:p>
            <a:pPr marL="27940" lvl="0" indent="0">
              <a:buNone/>
            </a:pPr>
            <a:endParaRPr dirty="0"/>
          </a:p>
          <a:p>
            <a:pPr marL="182880" lvl="0" indent="-154940" algn="l" rtl="0">
              <a:spcBef>
                <a:spcPts val="0"/>
              </a:spcBef>
              <a:spcAft>
                <a:spcPts val="0"/>
              </a:spcAft>
              <a:buSzPts val="1000"/>
              <a:buChar char="●"/>
            </a:pPr>
            <a:r>
              <a:rPr lang="en" dirty="0"/>
              <a:t>Showcase what tasks you have been working on this week and provide evidence for it</a:t>
            </a:r>
            <a:r>
              <a:rPr lang="en" dirty="0" smtClean="0"/>
              <a:t>.</a:t>
            </a:r>
          </a:p>
          <a:p>
            <a:pPr marL="27940" lvl="0" indent="0" algn="l" rtl="0">
              <a:spcBef>
                <a:spcPts val="0"/>
              </a:spcBef>
              <a:spcAft>
                <a:spcPts val="0"/>
              </a:spcAft>
              <a:buSzPts val="1000"/>
              <a:buNone/>
            </a:pPr>
            <a:endParaRPr lang="en" dirty="0" smtClean="0"/>
          </a:p>
          <a:p>
            <a:pPr marL="27940" lvl="0" indent="0">
              <a:buNone/>
            </a:pPr>
            <a:r>
              <a:rPr lang="en-GB" u="sng" dirty="0">
                <a:hlinkClick r:id="rId3"/>
              </a:rPr>
              <a:t>thesis/evidencing/</a:t>
            </a:r>
            <a:r>
              <a:rPr lang="en-GB" dirty="0"/>
              <a:t> </a:t>
            </a:r>
            <a:endParaRPr lang="en-GB" dirty="0" smtClean="0"/>
          </a:p>
          <a:p>
            <a:pPr marL="27940" lvl="0" indent="0">
              <a:buNone/>
            </a:pPr>
            <a:endParaRPr lang="en-GB" dirty="0"/>
          </a:p>
          <a:p>
            <a:pPr marL="27940" lvl="0" indent="0">
              <a:buNone/>
            </a:pPr>
            <a:r>
              <a:rPr lang="en-GB" dirty="0" smtClean="0">
                <a:hlinkClick r:id="rId4"/>
              </a:rPr>
              <a:t>WorkLog</a:t>
            </a:r>
            <a:endParaRPr lang="en" dirty="0"/>
          </a:p>
        </p:txBody>
      </p:sp>
      <p:sp>
        <p:nvSpPr>
          <p:cNvPr id="164" name="Google Shape;164;p20"/>
          <p:cNvSpPr txBox="1">
            <a:spLocks noGrp="1"/>
          </p:cNvSpPr>
          <p:nvPr>
            <p:ph type="body" idx="3"/>
          </p:nvPr>
        </p:nvSpPr>
        <p:spPr>
          <a:xfrm>
            <a:off x="4663450" y="1152698"/>
            <a:ext cx="4297800" cy="16257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dirty="0"/>
              <a:t>How did the week go? </a:t>
            </a:r>
            <a:endParaRPr lang="en" dirty="0" smtClean="0"/>
          </a:p>
          <a:p>
            <a:pPr marL="27940" lvl="0" indent="0">
              <a:buNone/>
            </a:pPr>
            <a:r>
              <a:rPr lang="en-GB" dirty="0" smtClean="0"/>
              <a:t>It was a </a:t>
            </a:r>
            <a:r>
              <a:rPr lang="en-GB" dirty="0"/>
              <a:t>satisfying final week </a:t>
            </a:r>
            <a:r>
              <a:rPr lang="en-GB" dirty="0" smtClean="0"/>
              <a:t>- </a:t>
            </a:r>
            <a:r>
              <a:rPr lang="en-GB" dirty="0"/>
              <a:t>the whole portfolio is complete and consistent</a:t>
            </a:r>
            <a:r>
              <a:rPr lang="en-GB" dirty="0" smtClean="0"/>
              <a:t>.</a:t>
            </a:r>
          </a:p>
          <a:p>
            <a:pPr marL="27940" lvl="0" indent="0">
              <a:buNone/>
            </a:pPr>
            <a:endParaRPr dirty="0"/>
          </a:p>
          <a:p>
            <a:pPr marL="182880" lvl="0" indent="-154940" algn="l" rtl="0">
              <a:spcBef>
                <a:spcPts val="0"/>
              </a:spcBef>
              <a:spcAft>
                <a:spcPts val="0"/>
              </a:spcAft>
              <a:buSzPts val="1000"/>
              <a:buChar char="●"/>
            </a:pPr>
            <a:r>
              <a:rPr lang="en" dirty="0"/>
              <a:t>What went well? </a:t>
            </a:r>
            <a:endParaRPr lang="en" dirty="0" smtClean="0"/>
          </a:p>
          <a:p>
            <a:pPr marL="27940" lvl="0" indent="0" algn="l" rtl="0">
              <a:spcBef>
                <a:spcPts val="0"/>
              </a:spcBef>
              <a:spcAft>
                <a:spcPts val="0"/>
              </a:spcAft>
              <a:buSzPts val="1000"/>
              <a:buNone/>
            </a:pPr>
            <a:r>
              <a:rPr lang="en" dirty="0" smtClean="0"/>
              <a:t>Finalizing Work and Learning Log on time.</a:t>
            </a:r>
          </a:p>
          <a:p>
            <a:pPr marL="27940" lvl="0" indent="0" algn="l" rtl="0">
              <a:spcBef>
                <a:spcPts val="0"/>
              </a:spcBef>
              <a:spcAft>
                <a:spcPts val="0"/>
              </a:spcAft>
              <a:buSzPts val="1000"/>
              <a:buNone/>
            </a:pPr>
            <a:endParaRPr dirty="0"/>
          </a:p>
          <a:p>
            <a:pPr marL="182880" lvl="0" indent="-154940"/>
            <a:r>
              <a:rPr lang="en" dirty="0"/>
              <a:t>What didn’t go so well? </a:t>
            </a:r>
          </a:p>
          <a:p>
            <a:pPr marL="27940" lvl="0" indent="0">
              <a:buNone/>
            </a:pPr>
            <a:r>
              <a:rPr lang="en-GB" dirty="0" smtClean="0"/>
              <a:t>checking </a:t>
            </a:r>
            <a:r>
              <a:rPr lang="en-GB" dirty="0"/>
              <a:t>every evidence link against the final, frozen files took longer than planned</a:t>
            </a:r>
            <a:r>
              <a:rPr lang="en-GB" dirty="0" smtClean="0"/>
              <a:t>.</a:t>
            </a:r>
          </a:p>
          <a:p>
            <a:pPr marL="27940" lvl="0" indent="0">
              <a:buNone/>
            </a:pPr>
            <a:endParaRPr dirty="0"/>
          </a:p>
          <a:p>
            <a:pPr marL="182880" lvl="0" indent="-154940" algn="l" rtl="0">
              <a:spcBef>
                <a:spcPts val="0"/>
              </a:spcBef>
              <a:spcAft>
                <a:spcPts val="0"/>
              </a:spcAft>
              <a:buSzPts val="1000"/>
              <a:buChar char="●"/>
            </a:pPr>
            <a:r>
              <a:rPr lang="en" dirty="0"/>
              <a:t>What did you learn? </a:t>
            </a:r>
            <a:endParaRPr lang="en" dirty="0" smtClean="0"/>
          </a:p>
          <a:p>
            <a:pPr marL="27940" lvl="0" indent="0">
              <a:buNone/>
            </a:pPr>
            <a:r>
              <a:rPr lang="en" dirty="0" smtClean="0"/>
              <a:t>I learnt that evidencing </a:t>
            </a:r>
            <a:r>
              <a:rPr lang="en-GB" dirty="0"/>
              <a:t>is much </a:t>
            </a:r>
            <a:r>
              <a:rPr lang="en-GB" dirty="0" smtClean="0"/>
              <a:t>easier if done divided on multiple tasks</a:t>
            </a:r>
          </a:p>
          <a:p>
            <a:pPr marL="27940" lvl="0" indent="0">
              <a:buNone/>
            </a:pPr>
            <a:endParaRPr dirty="0"/>
          </a:p>
          <a:p>
            <a:pPr marL="182880" lvl="0" indent="-154940" algn="l" rtl="0">
              <a:spcBef>
                <a:spcPts val="0"/>
              </a:spcBef>
              <a:spcAft>
                <a:spcPts val="0"/>
              </a:spcAft>
              <a:buSzPts val="1000"/>
              <a:buChar char="●"/>
            </a:pPr>
            <a:r>
              <a:rPr lang="en" dirty="0"/>
              <a:t>What could be added as an Action point looking forward to next week</a:t>
            </a:r>
            <a:r>
              <a:rPr lang="en" dirty="0" smtClean="0"/>
              <a:t>?</a:t>
            </a:r>
          </a:p>
          <a:p>
            <a:pPr marL="27940" lvl="0" indent="0" algn="l" rtl="0">
              <a:spcBef>
                <a:spcPts val="0"/>
              </a:spcBef>
              <a:spcAft>
                <a:spcPts val="0"/>
              </a:spcAft>
              <a:buSzPts val="1000"/>
              <a:buNone/>
            </a:pPr>
            <a:r>
              <a:rPr lang="en" dirty="0" smtClean="0"/>
              <a:t>Action point for next weeks is to prepare myself for the oral exam and its presentation.</a:t>
            </a:r>
            <a:endParaRPr dirty="0"/>
          </a:p>
        </p:txBody>
      </p:sp>
      <p:sp>
        <p:nvSpPr>
          <p:cNvPr id="165" name="Google Shape;165;p20"/>
          <p:cNvSpPr txBox="1">
            <a:spLocks noGrp="1"/>
          </p:cNvSpPr>
          <p:nvPr>
            <p:ph type="title" idx="6"/>
          </p:nvPr>
        </p:nvSpPr>
        <p:spPr>
          <a:xfrm>
            <a:off x="7068300" y="165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dirty="0"/>
              <a:t>1/2</a:t>
            </a:r>
            <a:endParaRPr dirty="0"/>
          </a:p>
        </p:txBody>
      </p:sp>
      <p:sp>
        <p:nvSpPr>
          <p:cNvPr id="166" name="Google Shape;166;p20"/>
          <p:cNvSpPr txBox="1">
            <a:spLocks noGrp="1"/>
          </p:cNvSpPr>
          <p:nvPr>
            <p:ph type="title" idx="5"/>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sz="2400" dirty="0"/>
              <a:t>20</a:t>
            </a:r>
            <a:endParaRPr sz="2400" dirty="0"/>
          </a:p>
        </p:txBody>
      </p:sp>
      <p:sp>
        <p:nvSpPr>
          <p:cNvPr id="167" name="Google Shape;167;p20"/>
          <p:cNvSpPr/>
          <p:nvPr/>
        </p:nvSpPr>
        <p:spPr>
          <a:xfrm>
            <a:off x="0" y="576072"/>
            <a:ext cx="9144000" cy="91500"/>
          </a:xfrm>
          <a:prstGeom prst="rect">
            <a:avLst/>
          </a:prstGeom>
          <a:solidFill>
            <a:srgbClr val="66666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993417588"/>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Shape 171"/>
        <p:cNvGrpSpPr/>
        <p:nvPr/>
      </p:nvGrpSpPr>
      <p:grpSpPr>
        <a:xfrm>
          <a:off x="0" y="0"/>
          <a:ext cx="0" cy="0"/>
          <a:chOff x="0" y="0"/>
          <a:chExt cx="0" cy="0"/>
        </a:xfrm>
      </p:grpSpPr>
      <p:sp>
        <p:nvSpPr>
          <p:cNvPr id="172" name="Google Shape;172;p21"/>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dirty="0"/>
              <a:t>Week 20 - Feedback</a:t>
            </a:r>
            <a:endParaRPr dirty="0"/>
          </a:p>
        </p:txBody>
      </p:sp>
      <p:sp>
        <p:nvSpPr>
          <p:cNvPr id="173" name="Google Shape;173;p21"/>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dirty="0"/>
              <a:t>manager, colleague, or team member feedback</a:t>
            </a:r>
            <a:endParaRPr dirty="0"/>
          </a:p>
        </p:txBody>
      </p:sp>
      <p:sp>
        <p:nvSpPr>
          <p:cNvPr id="174" name="Google Shape;174;p21"/>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p>
            <a:pPr marL="182880" lvl="0" indent="-154940"/>
            <a:r>
              <a:rPr lang="en-GB" b="1" dirty="0"/>
              <a:t>D</a:t>
            </a:r>
            <a:r>
              <a:rPr lang="en" b="1" dirty="0"/>
              <a:t>ate: </a:t>
            </a:r>
            <a:r>
              <a:rPr lang="en" dirty="0"/>
              <a:t>25/09/2026</a:t>
            </a:r>
          </a:p>
          <a:p>
            <a:pPr marL="182880" lvl="0" indent="-154940"/>
            <a:r>
              <a:rPr lang="en" b="1" dirty="0"/>
              <a:t>Feedback from</a:t>
            </a:r>
            <a:r>
              <a:rPr lang="en" b="1" dirty="0" smtClean="0"/>
              <a:t>: </a:t>
            </a:r>
            <a:r>
              <a:rPr lang="en-GB" b="1" dirty="0"/>
              <a:t> </a:t>
            </a:r>
            <a:r>
              <a:rPr lang="en-GB" dirty="0"/>
              <a:t>Karna </a:t>
            </a:r>
            <a:r>
              <a:rPr lang="en-GB" dirty="0" err="1"/>
              <a:t>Rewatkar</a:t>
            </a:r>
            <a:r>
              <a:rPr lang="en-GB" dirty="0"/>
              <a:t> (Supervisor)</a:t>
            </a:r>
            <a:endParaRPr lang="en" dirty="0"/>
          </a:p>
          <a:p>
            <a:pPr marL="182880" lvl="0" indent="-154940"/>
            <a:r>
              <a:rPr lang="en" b="1" dirty="0"/>
              <a:t>Feedback</a:t>
            </a:r>
            <a:r>
              <a:rPr lang="en" b="1" dirty="0" smtClean="0"/>
              <a:t>: </a:t>
            </a:r>
            <a:r>
              <a:rPr lang="en-GB" dirty="0"/>
              <a:t>The evidencing is thorough, and the fact that every claim traces back to a specific file, output, or thesis section makes it easy to verify where the work actually came from. It's clear the Work Log was kept up throughout rather than reconstructed at the end, which shows in how consistent the weekly entries are. This is ready for submission.</a:t>
            </a:r>
            <a:endParaRPr lang="en" dirty="0"/>
          </a:p>
          <a:p>
            <a:pPr marL="182880" lvl="0" indent="-154940"/>
            <a:r>
              <a:rPr lang="en" b="1" dirty="0"/>
              <a:t>Related to what task: </a:t>
            </a:r>
            <a:r>
              <a:rPr lang="en-GB" dirty="0" smtClean="0"/>
              <a:t>Final </a:t>
            </a:r>
            <a:r>
              <a:rPr lang="en-GB" dirty="0"/>
              <a:t>evidencing documents.</a:t>
            </a:r>
            <a:endParaRPr lang="en" dirty="0"/>
          </a:p>
          <a:p>
            <a:pPr marL="182880" lvl="0" indent="-154940" algn="l" rtl="0">
              <a:spcBef>
                <a:spcPts val="0"/>
              </a:spcBef>
              <a:spcAft>
                <a:spcPts val="0"/>
              </a:spcAft>
              <a:buSzPts val="1000"/>
              <a:buChar char="●"/>
            </a:pPr>
            <a:r>
              <a:rPr lang="en" b="1" dirty="0"/>
              <a:t>Response/action coming forward from this: </a:t>
            </a:r>
            <a:r>
              <a:rPr lang="en" dirty="0" smtClean="0"/>
              <a:t>The portfolio is finalized so now should focus on preparing for the oral exam</a:t>
            </a:r>
            <a:endParaRPr lang="en" dirty="0"/>
          </a:p>
        </p:txBody>
      </p:sp>
      <p:sp>
        <p:nvSpPr>
          <p:cNvPr id="175" name="Google Shape;175;p21"/>
          <p:cNvSpPr txBox="1">
            <a:spLocks noGrp="1"/>
          </p:cNvSpPr>
          <p:nvPr>
            <p:ph type="title" idx="4"/>
          </p:nvPr>
        </p:nvSpPr>
        <p:spPr>
          <a:xfrm>
            <a:off x="7068300" y="165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2/2</a:t>
            </a:r>
            <a:endParaRPr/>
          </a:p>
        </p:txBody>
      </p:sp>
      <p:sp>
        <p:nvSpPr>
          <p:cNvPr id="176" name="Google Shape;176;p21"/>
          <p:cNvSpPr txBox="1">
            <a:spLocks noGrp="1"/>
          </p:cNvSpPr>
          <p:nvPr>
            <p:ph type="title" idx="3"/>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sz="2400" dirty="0"/>
              <a:t>20</a:t>
            </a:r>
            <a:endParaRPr sz="2400" dirty="0"/>
          </a:p>
        </p:txBody>
      </p:sp>
    </p:spTree>
    <p:extLst>
      <p:ext uri="{BB962C8B-B14F-4D97-AF65-F5344CB8AC3E}">
        <p14:creationId xmlns:p14="http://schemas.microsoft.com/office/powerpoint/2010/main" val="1660643782"/>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Shape 107"/>
        <p:cNvGrpSpPr/>
        <p:nvPr/>
      </p:nvGrpSpPr>
      <p:grpSpPr>
        <a:xfrm>
          <a:off x="0" y="0"/>
          <a:ext cx="0" cy="0"/>
          <a:chOff x="0" y="0"/>
          <a:chExt cx="0" cy="0"/>
        </a:xfrm>
      </p:grpSpPr>
      <p:sp>
        <p:nvSpPr>
          <p:cNvPr id="108" name="Google Shape;108;p14"/>
          <p:cNvSpPr txBox="1">
            <a:spLocks noGrp="1"/>
          </p:cNvSpPr>
          <p:nvPr>
            <p:ph type="title"/>
          </p:nvPr>
        </p:nvSpPr>
        <p:spPr>
          <a:xfrm>
            <a:off x="274320" y="1745053"/>
            <a:ext cx="2560200" cy="15519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GB" b="1" dirty="0">
                <a:solidFill>
                  <a:schemeClr val="accent6">
                    <a:lumMod val="75000"/>
                  </a:schemeClr>
                </a:solidFill>
              </a:rPr>
              <a:t>You made it!</a:t>
            </a:r>
            <a:endParaRPr b="1" dirty="0">
              <a:solidFill>
                <a:schemeClr val="accent6">
                  <a:lumMod val="75000"/>
                </a:schemeClr>
              </a:solidFill>
            </a:endParaRPr>
          </a:p>
        </p:txBody>
      </p:sp>
      <p:sp>
        <p:nvSpPr>
          <p:cNvPr id="110" name="Google Shape;110;p14"/>
          <p:cNvSpPr txBox="1">
            <a:spLocks noGrp="1"/>
          </p:cNvSpPr>
          <p:nvPr>
            <p:ph type="body" idx="2"/>
          </p:nvPr>
        </p:nvSpPr>
        <p:spPr>
          <a:xfrm>
            <a:off x="3383280" y="274320"/>
            <a:ext cx="5486400" cy="45993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GB" sz="1200" b="1" dirty="0"/>
              <a:t>You made it to the end of your graduation project period, congratulations! Hopefully, you have learned a lot and you gained experience with the work field, working with other professionals and became more independent in your work. As a reminder, do not forget about the following deliverables:</a:t>
            </a:r>
          </a:p>
          <a:p>
            <a:pPr marL="0" lvl="0" indent="0" algn="l" rtl="0">
              <a:spcBef>
                <a:spcPts val="0"/>
              </a:spcBef>
              <a:spcAft>
                <a:spcPts val="0"/>
              </a:spcAft>
              <a:buNone/>
            </a:pPr>
            <a:endParaRPr lang="en-GB" sz="1200" b="1" dirty="0"/>
          </a:p>
          <a:p>
            <a:pPr marL="228600" lvl="0" indent="-228600" algn="l" rtl="0">
              <a:spcBef>
                <a:spcPts val="0"/>
              </a:spcBef>
              <a:spcAft>
                <a:spcPts val="0"/>
              </a:spcAft>
              <a:buAutoNum type="arabicParenR"/>
            </a:pPr>
            <a:r>
              <a:rPr lang="en-GB" sz="1200" dirty="0"/>
              <a:t>Remind your company supervisor about the 20</a:t>
            </a:r>
            <a:r>
              <a:rPr lang="en-GB" sz="1200" baseline="30000" dirty="0"/>
              <a:t>th</a:t>
            </a:r>
            <a:r>
              <a:rPr lang="en-GB" sz="1200" dirty="0"/>
              <a:t> week assessment. They should fill in the assessment sheet provided and discuss their outcomes with you. Reflect on their feedback and see how you improved yourself compared to the 10</a:t>
            </a:r>
            <a:r>
              <a:rPr lang="en-GB" sz="1200" baseline="30000" dirty="0"/>
              <a:t>th</a:t>
            </a:r>
            <a:r>
              <a:rPr lang="en-GB" sz="1200" dirty="0"/>
              <a:t> week feedback. Afterwards, your supervisor needs to send the signed version to your </a:t>
            </a:r>
            <a:r>
              <a:rPr lang="en-GB" sz="1200" dirty="0" err="1"/>
              <a:t>BUas</a:t>
            </a:r>
            <a:r>
              <a:rPr lang="en-GB" sz="1200" dirty="0"/>
              <a:t> supervisor! </a:t>
            </a:r>
            <a:br>
              <a:rPr lang="en-GB" sz="1200" dirty="0"/>
            </a:br>
            <a:endParaRPr lang="en-GB" sz="1200" dirty="0"/>
          </a:p>
          <a:p>
            <a:pPr marL="228600" lvl="0" indent="-228600" algn="l" rtl="0">
              <a:spcBef>
                <a:spcPts val="0"/>
              </a:spcBef>
              <a:spcAft>
                <a:spcPts val="0"/>
              </a:spcAft>
              <a:buAutoNum type="arabicParenR"/>
            </a:pPr>
            <a:r>
              <a:rPr lang="en-GB" sz="1200" dirty="0"/>
              <a:t>Plan a meeting with your company supervisor, your Buas supervisor and you to discuss the end of your graduation project. </a:t>
            </a:r>
            <a:br>
              <a:rPr lang="en-GB" sz="1200" dirty="0"/>
            </a:br>
            <a:endParaRPr lang="en-GB" sz="1200" dirty="0"/>
          </a:p>
          <a:p>
            <a:pPr marL="228600" lvl="0" indent="-228600" algn="l" rtl="0">
              <a:spcBef>
                <a:spcPts val="0"/>
              </a:spcBef>
              <a:spcAft>
                <a:spcPts val="0"/>
              </a:spcAft>
              <a:buAutoNum type="arabicParenR"/>
            </a:pPr>
            <a:r>
              <a:rPr lang="en-GB" sz="1200" dirty="0"/>
              <a:t>Do not forget to update your learning log! Make sure that the log is accessible for your Buas supervisor so they can have a look at what you have done.</a:t>
            </a:r>
          </a:p>
          <a:p>
            <a:pPr marL="228600" lvl="0" indent="-228600" algn="l" rtl="0">
              <a:spcBef>
                <a:spcPts val="0"/>
              </a:spcBef>
              <a:spcAft>
                <a:spcPts val="0"/>
              </a:spcAft>
              <a:buAutoNum type="arabicParenR"/>
            </a:pPr>
            <a:endParaRPr lang="en-GB" sz="1200" dirty="0"/>
          </a:p>
          <a:p>
            <a:pPr marL="228600" lvl="0" indent="-228600" algn="l" rtl="0">
              <a:spcBef>
                <a:spcPts val="0"/>
              </a:spcBef>
              <a:spcAft>
                <a:spcPts val="0"/>
              </a:spcAft>
              <a:buAutoNum type="arabicParenR"/>
            </a:pPr>
            <a:r>
              <a:rPr lang="en-GB" sz="1200" dirty="0"/>
              <a:t>Finalize all the deliverables and hand them in on time! </a:t>
            </a:r>
          </a:p>
          <a:p>
            <a:pPr marL="228600" lvl="0" indent="-228600" algn="l" rtl="0">
              <a:spcBef>
                <a:spcPts val="0"/>
              </a:spcBef>
              <a:spcAft>
                <a:spcPts val="0"/>
              </a:spcAft>
              <a:buAutoNum type="arabicParenR"/>
            </a:pPr>
            <a:endParaRPr lang="en-GB" sz="1200" dirty="0"/>
          </a:p>
          <a:p>
            <a:pPr marL="228600" lvl="0" indent="-228600" algn="l" rtl="0">
              <a:spcBef>
                <a:spcPts val="0"/>
              </a:spcBef>
              <a:spcAft>
                <a:spcPts val="0"/>
              </a:spcAft>
              <a:buAutoNum type="arabicParenR"/>
            </a:pPr>
            <a:r>
              <a:rPr lang="en-GB" sz="1200" dirty="0"/>
              <a:t>Make sure to thank your supervisor at the company and other team members! Update your LinkedIn and maybe add your colleagues to further build your network.</a:t>
            </a:r>
          </a:p>
          <a:p>
            <a:pPr marL="0" lvl="0" indent="0" algn="l" rtl="0">
              <a:spcBef>
                <a:spcPts val="0"/>
              </a:spcBef>
              <a:spcAft>
                <a:spcPts val="0"/>
              </a:spcAft>
              <a:buNone/>
            </a:pPr>
            <a:endParaRPr lang="en-GB" sz="1200" dirty="0"/>
          </a:p>
        </p:txBody>
      </p:sp>
    </p:spTree>
    <p:extLst>
      <p:ext uri="{BB962C8B-B14F-4D97-AF65-F5344CB8AC3E}">
        <p14:creationId xmlns:p14="http://schemas.microsoft.com/office/powerpoint/2010/main" val="264356275"/>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Shape 355"/>
        <p:cNvGrpSpPr/>
        <p:nvPr/>
      </p:nvGrpSpPr>
      <p:grpSpPr>
        <a:xfrm>
          <a:off x="0" y="0"/>
          <a:ext cx="0" cy="0"/>
          <a:chOff x="0" y="0"/>
          <a:chExt cx="0" cy="0"/>
        </a:xfrm>
      </p:grpSpPr>
      <p:sp>
        <p:nvSpPr>
          <p:cNvPr id="356" name="Google Shape;356;p38"/>
          <p:cNvSpPr txBox="1">
            <a:spLocks noGrp="1"/>
          </p:cNvSpPr>
          <p:nvPr>
            <p:ph type="ctrTitle"/>
          </p:nvPr>
        </p:nvSpPr>
        <p:spPr>
          <a:xfrm>
            <a:off x="1828800" y="1453896"/>
            <a:ext cx="7315200" cy="1501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sz="6000" dirty="0"/>
              <a:t>Section </a:t>
            </a:r>
            <a:r>
              <a:rPr lang="en" dirty="0"/>
              <a:t>C</a:t>
            </a:r>
            <a:endParaRPr sz="6000" dirty="0"/>
          </a:p>
        </p:txBody>
      </p:sp>
      <p:sp>
        <p:nvSpPr>
          <p:cNvPr id="357" name="Google Shape;357;p38"/>
          <p:cNvSpPr txBox="1">
            <a:spLocks noGrp="1"/>
          </p:cNvSpPr>
          <p:nvPr>
            <p:ph type="subTitle" idx="1"/>
          </p:nvPr>
        </p:nvSpPr>
        <p:spPr>
          <a:xfrm>
            <a:off x="1828800" y="2953512"/>
            <a:ext cx="7315200" cy="685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dirty="0"/>
              <a:t>Progress</a:t>
            </a:r>
            <a:endParaRPr dirty="0"/>
          </a:p>
          <a:p>
            <a:pPr marL="0" lvl="0" indent="0" algn="ctr" rtl="0">
              <a:spcBef>
                <a:spcPts val="0"/>
              </a:spcBef>
              <a:spcAft>
                <a:spcPts val="0"/>
              </a:spcAft>
              <a:buNone/>
            </a:pPr>
            <a:r>
              <a:rPr lang="en" dirty="0"/>
              <a:t>Intended Learning Outcomes</a:t>
            </a:r>
            <a:endParaRPr sz="3000" dirty="0"/>
          </a:p>
        </p:txBody>
      </p:sp>
      <p:sp>
        <p:nvSpPr>
          <p:cNvPr id="358" name="Google Shape;358;p38"/>
          <p:cNvSpPr txBox="1"/>
          <p:nvPr/>
        </p:nvSpPr>
        <p:spPr>
          <a:xfrm>
            <a:off x="-420624" y="754575"/>
            <a:ext cx="3383400" cy="51207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r>
              <a:rPr lang="en" sz="40000" dirty="0">
                <a:solidFill>
                  <a:srgbClr val="999999"/>
                </a:solidFill>
                <a:latin typeface="Roboto"/>
                <a:ea typeface="Roboto"/>
                <a:cs typeface="Roboto"/>
              </a:rPr>
              <a:t>C</a:t>
            </a:r>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Shape 362">
          <a:extLst>
            <a:ext uri="{FF2B5EF4-FFF2-40B4-BE49-F238E27FC236}">
              <a16:creationId xmlns:a16="http://schemas.microsoft.com/office/drawing/2014/main" id="{295F5BAE-BA7D-E898-3F38-25CAB23A3D48}"/>
            </a:ext>
          </a:extLst>
        </p:cNvPr>
        <p:cNvGrpSpPr/>
        <p:nvPr/>
      </p:nvGrpSpPr>
      <p:grpSpPr>
        <a:xfrm>
          <a:off x="0" y="0"/>
          <a:ext cx="0" cy="0"/>
          <a:chOff x="0" y="0"/>
          <a:chExt cx="0" cy="0"/>
        </a:xfrm>
      </p:grpSpPr>
      <p:sp>
        <p:nvSpPr>
          <p:cNvPr id="363" name="Google Shape;363;p39">
            <a:extLst>
              <a:ext uri="{FF2B5EF4-FFF2-40B4-BE49-F238E27FC236}">
                <a16:creationId xmlns:a16="http://schemas.microsoft.com/office/drawing/2014/main" id="{1729EDB1-B126-19CD-A001-392E7030EEB2}"/>
              </a:ext>
            </a:extLst>
          </p:cNvPr>
          <p:cNvSpPr txBox="1">
            <a:spLocks noGrp="1"/>
          </p:cNvSpPr>
          <p:nvPr>
            <p:ph type="ctrTitle"/>
          </p:nvPr>
        </p:nvSpPr>
        <p:spPr>
          <a:xfrm>
            <a:off x="2286000" y="1104139"/>
            <a:ext cx="6400800" cy="1501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dirty="0"/>
              <a:t>ILO 1</a:t>
            </a:r>
            <a:endParaRPr dirty="0"/>
          </a:p>
        </p:txBody>
      </p:sp>
      <p:sp>
        <p:nvSpPr>
          <p:cNvPr id="364" name="Google Shape;364;p39">
            <a:extLst>
              <a:ext uri="{FF2B5EF4-FFF2-40B4-BE49-F238E27FC236}">
                <a16:creationId xmlns:a16="http://schemas.microsoft.com/office/drawing/2014/main" id="{4CDD4960-C537-A1AC-A736-420D31FDF211}"/>
              </a:ext>
            </a:extLst>
          </p:cNvPr>
          <p:cNvSpPr txBox="1">
            <a:spLocks noGrp="1"/>
          </p:cNvSpPr>
          <p:nvPr>
            <p:ph type="subTitle" idx="1"/>
          </p:nvPr>
        </p:nvSpPr>
        <p:spPr>
          <a:xfrm>
            <a:off x="2286000" y="2503171"/>
            <a:ext cx="6400800" cy="685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nl-NL" dirty="0"/>
              <a:t>Research</a:t>
            </a:r>
            <a:endParaRPr dirty="0"/>
          </a:p>
        </p:txBody>
      </p:sp>
      <p:sp>
        <p:nvSpPr>
          <p:cNvPr id="365" name="Google Shape;365;p39">
            <a:extLst>
              <a:ext uri="{FF2B5EF4-FFF2-40B4-BE49-F238E27FC236}">
                <a16:creationId xmlns:a16="http://schemas.microsoft.com/office/drawing/2014/main" id="{177721F2-072E-C20D-9BA3-4592D43D9756}"/>
              </a:ext>
            </a:extLst>
          </p:cNvPr>
          <p:cNvSpPr txBox="1">
            <a:spLocks noGrp="1"/>
          </p:cNvSpPr>
          <p:nvPr>
            <p:ph type="subTitle" idx="2"/>
          </p:nvPr>
        </p:nvSpPr>
        <p:spPr>
          <a:xfrm>
            <a:off x="3097824" y="3353563"/>
            <a:ext cx="5588976" cy="685800"/>
          </a:xfrm>
          <a:prstGeom prst="rect">
            <a:avLst/>
          </a:prstGeom>
        </p:spPr>
        <p:txBody>
          <a:bodyPr spcFirstLastPara="1" wrap="square" lIns="91425" tIns="91425" rIns="91425" bIns="91425" anchor="ctr" anchorCtr="0">
            <a:noAutofit/>
          </a:bodyPr>
          <a:lstStyle/>
          <a:p>
            <a:pPr marL="0" indent="0"/>
            <a:r>
              <a:rPr lang="en-US" dirty="0"/>
              <a:t>The student demonstrates the ability to conduct research according to data science and AI industry standards and apply knowledge in a professional context.</a:t>
            </a:r>
            <a:endParaRPr lang="nl-NL" dirty="0"/>
          </a:p>
        </p:txBody>
      </p:sp>
      <p:sp>
        <p:nvSpPr>
          <p:cNvPr id="366" name="Google Shape;366;p39">
            <a:extLst>
              <a:ext uri="{FF2B5EF4-FFF2-40B4-BE49-F238E27FC236}">
                <a16:creationId xmlns:a16="http://schemas.microsoft.com/office/drawing/2014/main" id="{2F48EDC3-8EBE-DB53-F444-215868F67080}"/>
              </a:ext>
            </a:extLst>
          </p:cNvPr>
          <p:cNvSpPr txBox="1"/>
          <p:nvPr/>
        </p:nvSpPr>
        <p:spPr>
          <a:xfrm>
            <a:off x="-420624" y="754575"/>
            <a:ext cx="3383400" cy="51207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r>
              <a:rPr lang="en" sz="40000">
                <a:solidFill>
                  <a:srgbClr val="999999"/>
                </a:solidFill>
                <a:latin typeface="Roboto"/>
                <a:ea typeface="Roboto"/>
                <a:cs typeface="Roboto"/>
                <a:sym typeface="Roboto"/>
              </a:rPr>
              <a:t>1</a:t>
            </a:r>
            <a:endParaRPr sz="40000">
              <a:solidFill>
                <a:srgbClr val="999999"/>
              </a:solidFill>
              <a:latin typeface="Roboto"/>
              <a:ea typeface="Roboto"/>
              <a:cs typeface="Roboto"/>
              <a:sym typeface="Roboto"/>
            </a:endParaRPr>
          </a:p>
        </p:txBody>
      </p:sp>
    </p:spTree>
    <p:extLst>
      <p:ext uri="{BB962C8B-B14F-4D97-AF65-F5344CB8AC3E}">
        <p14:creationId xmlns:p14="http://schemas.microsoft.com/office/powerpoint/2010/main" val="3668821994"/>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Shape 392"/>
        <p:cNvGrpSpPr/>
        <p:nvPr/>
      </p:nvGrpSpPr>
      <p:grpSpPr>
        <a:xfrm>
          <a:off x="0" y="0"/>
          <a:ext cx="0" cy="0"/>
          <a:chOff x="0" y="0"/>
          <a:chExt cx="0" cy="0"/>
        </a:xfrm>
      </p:grpSpPr>
      <p:sp>
        <p:nvSpPr>
          <p:cNvPr id="393" name="Google Shape;393;p42"/>
          <p:cNvSpPr txBox="1">
            <a:spLocks noGrp="1"/>
          </p:cNvSpPr>
          <p:nvPr>
            <p:ph type="title"/>
          </p:nvPr>
        </p:nvSpPr>
        <p:spPr>
          <a:xfrm>
            <a:off x="68250" y="0"/>
            <a:ext cx="777300" cy="5760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ILO 1</a:t>
            </a:r>
            <a:endParaRPr/>
          </a:p>
        </p:txBody>
      </p:sp>
      <p:sp>
        <p:nvSpPr>
          <p:cNvPr id="395" name="Google Shape;395;p42"/>
          <p:cNvSpPr txBox="1">
            <a:spLocks noGrp="1"/>
          </p:cNvSpPr>
          <p:nvPr>
            <p:ph type="body" idx="1"/>
          </p:nvPr>
        </p:nvSpPr>
        <p:spPr>
          <a:xfrm>
            <a:off x="182880" y="1069848"/>
            <a:ext cx="5486400" cy="3895200"/>
          </a:xfrm>
          <a:prstGeom prst="rect">
            <a:avLst/>
          </a:prstGeom>
        </p:spPr>
        <p:txBody>
          <a:bodyPr spcFirstLastPara="1" wrap="square" lIns="91425" tIns="91425" rIns="91425" bIns="91425" anchor="t" anchorCtr="0">
            <a:noAutofit/>
          </a:bodyPr>
          <a:lstStyle/>
          <a:p>
            <a:pPr marL="0" lvl="0" indent="0">
              <a:lnSpc>
                <a:spcPct val="115000"/>
              </a:lnSpc>
              <a:buNone/>
            </a:pPr>
            <a:r>
              <a:rPr lang="en-GB" sz="900" i="1" dirty="0">
                <a:solidFill>
                  <a:schemeClr val="lt1"/>
                </a:solidFill>
                <a:latin typeface="Helvetica Neue"/>
                <a:ea typeface="Helvetica Neue"/>
                <a:cs typeface="Helvetica Neue"/>
                <a:sym typeface="Helvetica Neue"/>
              </a:rPr>
              <a:t>I identified a real industry problem </a:t>
            </a:r>
            <a:r>
              <a:rPr lang="en-GB" sz="900" i="1" dirty="0" smtClean="0">
                <a:solidFill>
                  <a:schemeClr val="lt1"/>
                </a:solidFill>
                <a:latin typeface="Helvetica Neue"/>
                <a:ea typeface="Helvetica Neue"/>
                <a:cs typeface="Helvetica Neue"/>
                <a:sym typeface="Helvetica Neue"/>
              </a:rPr>
              <a:t>- </a:t>
            </a:r>
            <a:r>
              <a:rPr lang="en-GB" sz="900" i="1" dirty="0">
                <a:solidFill>
                  <a:schemeClr val="lt1"/>
                </a:solidFill>
                <a:latin typeface="Helvetica Neue"/>
                <a:ea typeface="Helvetica Neue"/>
                <a:cs typeface="Helvetica Neue"/>
                <a:sym typeface="Helvetica Neue"/>
              </a:rPr>
              <a:t>municipalities inspect roads manually, which is slow and reactive, and navigation apps route drivers without considering road condition. I researched the academic side too and found that existing computer vision work focuses on detecting road damage but rarely connects it to a decision-support system like routing. My literature review covered object detection (YOLO, Faster R-CNN), geospatial network analysis (</a:t>
            </a:r>
            <a:r>
              <a:rPr lang="en-GB" sz="900" i="1" dirty="0" err="1">
                <a:solidFill>
                  <a:schemeClr val="lt1"/>
                </a:solidFill>
                <a:latin typeface="Helvetica Neue"/>
                <a:ea typeface="Helvetica Neue"/>
                <a:cs typeface="Helvetica Neue"/>
                <a:sym typeface="Helvetica Neue"/>
              </a:rPr>
              <a:t>OSMnx</a:t>
            </a:r>
            <a:r>
              <a:rPr lang="en-GB" sz="900" i="1" dirty="0">
                <a:solidFill>
                  <a:schemeClr val="lt1"/>
                </a:solidFill>
                <a:latin typeface="Helvetica Neue"/>
                <a:ea typeface="Helvetica Neue"/>
                <a:cs typeface="Helvetica Neue"/>
                <a:sym typeface="Helvetica Neue"/>
              </a:rPr>
              <a:t>, </a:t>
            </a:r>
            <a:r>
              <a:rPr lang="en-GB" sz="900" i="1" dirty="0" err="1">
                <a:solidFill>
                  <a:schemeClr val="lt1"/>
                </a:solidFill>
                <a:latin typeface="Helvetica Neue"/>
                <a:ea typeface="Helvetica Neue"/>
                <a:cs typeface="Helvetica Neue"/>
                <a:sym typeface="Helvetica Neue"/>
              </a:rPr>
              <a:t>Dijkstra</a:t>
            </a:r>
            <a:r>
              <a:rPr lang="en-GB" sz="900" i="1" dirty="0">
                <a:solidFill>
                  <a:schemeClr val="lt1"/>
                </a:solidFill>
                <a:latin typeface="Helvetica Neue"/>
                <a:ea typeface="Helvetica Neue"/>
                <a:cs typeface="Helvetica Neue"/>
                <a:sym typeface="Helvetica Neue"/>
              </a:rPr>
              <a:t>/A*), and risk-aware routing, which showed a clear gap: no existing study combines detection, risk scoring, and routing into one working system. This gap is what Road Guard AI addresses</a:t>
            </a:r>
            <a:r>
              <a:rPr lang="en-GB" sz="900" i="1" dirty="0" smtClean="0">
                <a:solidFill>
                  <a:schemeClr val="lt1"/>
                </a:solidFill>
                <a:latin typeface="Helvetica Neue"/>
                <a:ea typeface="Helvetica Neue"/>
                <a:cs typeface="Helvetica Neue"/>
                <a:sym typeface="Helvetica Neue"/>
              </a:rPr>
              <a:t>.</a:t>
            </a:r>
          </a:p>
          <a:p>
            <a:pPr marL="0" lvl="0" indent="0">
              <a:lnSpc>
                <a:spcPct val="115000"/>
              </a:lnSpc>
              <a:buNone/>
            </a:pPr>
            <a:endParaRPr lang="en-GB" sz="900" i="1" dirty="0">
              <a:solidFill>
                <a:schemeClr val="lt1"/>
              </a:solidFill>
              <a:latin typeface="Helvetica Neue"/>
              <a:ea typeface="Helvetica Neue"/>
              <a:cs typeface="Helvetica Neue"/>
              <a:sym typeface="Helvetica Neue"/>
            </a:endParaRPr>
          </a:p>
          <a:p>
            <a:pPr marL="0" lvl="0" indent="0">
              <a:lnSpc>
                <a:spcPct val="115000"/>
              </a:lnSpc>
              <a:buNone/>
            </a:pPr>
            <a:endParaRPr lang="en-GB" sz="900" i="1" dirty="0" smtClean="0">
              <a:solidFill>
                <a:schemeClr val="lt1"/>
              </a:solidFill>
              <a:latin typeface="Helvetica Neue"/>
              <a:ea typeface="Helvetica Neue"/>
              <a:cs typeface="Helvetica Neue"/>
              <a:sym typeface="Helvetica Neue"/>
            </a:endParaRPr>
          </a:p>
          <a:p>
            <a:pPr marL="0" lvl="0" indent="0">
              <a:lnSpc>
                <a:spcPct val="115000"/>
              </a:lnSpc>
              <a:buNone/>
            </a:pPr>
            <a:endParaRPr lang="en-GB" sz="900" i="1" dirty="0">
              <a:solidFill>
                <a:schemeClr val="lt1"/>
              </a:solidFill>
              <a:latin typeface="Helvetica Neue"/>
              <a:ea typeface="Helvetica Neue"/>
              <a:cs typeface="Helvetica Neue"/>
              <a:sym typeface="Helvetica Neue"/>
            </a:endParaRPr>
          </a:p>
          <a:p>
            <a:pPr marL="0" lvl="0" indent="0">
              <a:lnSpc>
                <a:spcPct val="115000"/>
              </a:lnSpc>
              <a:buNone/>
            </a:pPr>
            <a:endParaRPr lang="en-GB" sz="900" i="1" dirty="0" smtClean="0">
              <a:solidFill>
                <a:schemeClr val="lt1"/>
              </a:solidFill>
              <a:latin typeface="Helvetica Neue"/>
              <a:ea typeface="Helvetica Neue"/>
              <a:cs typeface="Helvetica Neue"/>
              <a:sym typeface="Helvetica Neue"/>
            </a:endParaRPr>
          </a:p>
          <a:p>
            <a:pPr marL="0" lvl="0" indent="0">
              <a:lnSpc>
                <a:spcPct val="115000"/>
              </a:lnSpc>
              <a:buNone/>
            </a:pPr>
            <a:r>
              <a:rPr lang="en-GB" sz="900" i="1" dirty="0" smtClean="0">
                <a:solidFill>
                  <a:schemeClr val="lt1"/>
                </a:solidFill>
                <a:latin typeface="Helvetica Neue"/>
                <a:ea typeface="Helvetica Neue"/>
                <a:cs typeface="Helvetica Neue"/>
                <a:sym typeface="Helvetica Neue"/>
              </a:rPr>
              <a:t>Evidence 1 (Thesis section 1.1 and 2.5) – </a:t>
            </a:r>
            <a:r>
              <a:rPr lang="en-GB" sz="900" i="1" dirty="0" smtClean="0">
                <a:solidFill>
                  <a:schemeClr val="lt1"/>
                </a:solidFill>
                <a:latin typeface="Helvetica Neue"/>
                <a:ea typeface="Helvetica Neue"/>
                <a:cs typeface="Helvetica Neue"/>
                <a:sym typeface="Helvetica Neue"/>
                <a:hlinkClick r:id="rId3"/>
              </a:rPr>
              <a:t>Thesis</a:t>
            </a:r>
            <a:endParaRPr lang="en-GB" sz="900" i="1" dirty="0" smtClean="0">
              <a:solidFill>
                <a:schemeClr val="lt1"/>
              </a:solidFill>
              <a:latin typeface="Helvetica Neue"/>
              <a:ea typeface="Helvetica Neue"/>
              <a:cs typeface="Helvetica Neue"/>
              <a:sym typeface="Helvetica Neue"/>
            </a:endParaRPr>
          </a:p>
          <a:p>
            <a:pPr marL="0" lvl="0" indent="0">
              <a:lnSpc>
                <a:spcPct val="115000"/>
              </a:lnSpc>
              <a:buNone/>
            </a:pPr>
            <a:endParaRPr lang="en-GB" sz="900" i="1" dirty="0">
              <a:solidFill>
                <a:schemeClr val="lt1"/>
              </a:solidFill>
              <a:latin typeface="Helvetica Neue"/>
              <a:ea typeface="Helvetica Neue"/>
              <a:cs typeface="Helvetica Neue"/>
              <a:sym typeface="Helvetica Neue"/>
            </a:endParaRPr>
          </a:p>
          <a:p>
            <a:pPr marL="0" lvl="0" indent="0">
              <a:lnSpc>
                <a:spcPct val="115000"/>
              </a:lnSpc>
              <a:buNone/>
            </a:pPr>
            <a:r>
              <a:rPr lang="en-GB" sz="900" i="1" dirty="0" smtClean="0">
                <a:solidFill>
                  <a:schemeClr val="lt1"/>
                </a:solidFill>
                <a:latin typeface="Helvetica Neue"/>
                <a:ea typeface="Helvetica Neue"/>
                <a:cs typeface="Helvetica Neue"/>
                <a:sym typeface="Helvetica Neue"/>
              </a:rPr>
              <a:t>Evidence 2 (README.md - project overview) -  </a:t>
            </a:r>
            <a:r>
              <a:rPr lang="en-GB" sz="900" i="1" dirty="0" smtClean="0">
                <a:solidFill>
                  <a:schemeClr val="lt1"/>
                </a:solidFill>
                <a:latin typeface="Helvetica Neue"/>
                <a:ea typeface="Helvetica Neue"/>
                <a:cs typeface="Helvetica Neue"/>
                <a:sym typeface="Helvetica Neue"/>
                <a:hlinkClick r:id="rId4"/>
              </a:rPr>
              <a:t>README.md file</a:t>
            </a:r>
            <a:endParaRPr lang="en-GB" sz="900" i="1" dirty="0" smtClean="0">
              <a:solidFill>
                <a:schemeClr val="lt1"/>
              </a:solidFill>
              <a:latin typeface="Helvetica Neue"/>
              <a:ea typeface="Helvetica Neue"/>
              <a:cs typeface="Helvetica Neue"/>
              <a:sym typeface="Helvetica Neue"/>
            </a:endParaRPr>
          </a:p>
          <a:p>
            <a:pPr marL="0" lvl="0" indent="0">
              <a:lnSpc>
                <a:spcPct val="115000"/>
              </a:lnSpc>
              <a:buNone/>
            </a:pPr>
            <a:endParaRPr lang="en-GB" sz="900" i="1" dirty="0">
              <a:solidFill>
                <a:schemeClr val="lt1"/>
              </a:solidFill>
              <a:latin typeface="Helvetica Neue"/>
              <a:ea typeface="Helvetica Neue"/>
              <a:cs typeface="Helvetica Neue"/>
              <a:sym typeface="Helvetica Neue"/>
            </a:endParaRPr>
          </a:p>
          <a:p>
            <a:pPr marL="0" lvl="0" indent="0">
              <a:lnSpc>
                <a:spcPct val="115000"/>
              </a:lnSpc>
              <a:buNone/>
            </a:pPr>
            <a:r>
              <a:rPr lang="en-GB" sz="900" i="1" dirty="0" smtClean="0">
                <a:solidFill>
                  <a:schemeClr val="lt1"/>
                </a:solidFill>
                <a:latin typeface="Helvetica Neue"/>
                <a:ea typeface="Helvetica Neue"/>
                <a:cs typeface="Helvetica Neue"/>
                <a:sym typeface="Helvetica Neue"/>
              </a:rPr>
              <a:t>Evidence 3 (</a:t>
            </a:r>
            <a:r>
              <a:rPr lang="en-GB" sz="900" i="1" dirty="0" err="1" smtClean="0">
                <a:solidFill>
                  <a:schemeClr val="lt1"/>
                </a:solidFill>
                <a:latin typeface="Helvetica Neue"/>
                <a:ea typeface="Helvetica Neue"/>
                <a:cs typeface="Helvetica Neue"/>
                <a:sym typeface="Helvetica Neue"/>
              </a:rPr>
              <a:t>Map_risk_routing_explained</a:t>
            </a:r>
            <a:r>
              <a:rPr lang="en-GB" sz="900" i="1" dirty="0">
                <a:solidFill>
                  <a:schemeClr val="lt1"/>
                </a:solidFill>
                <a:latin typeface="Helvetica Neue"/>
                <a:ea typeface="Helvetica Neue"/>
                <a:cs typeface="Helvetica Neue"/>
                <a:sym typeface="Helvetica Neue"/>
              </a:rPr>
              <a:t> </a:t>
            </a:r>
            <a:r>
              <a:rPr lang="en-GB" sz="900" i="1" dirty="0" smtClean="0">
                <a:solidFill>
                  <a:schemeClr val="lt1"/>
                </a:solidFill>
                <a:latin typeface="Helvetica Neue"/>
                <a:ea typeface="Helvetica Neue"/>
                <a:cs typeface="Helvetica Neue"/>
                <a:sym typeface="Helvetica Neue"/>
              </a:rPr>
              <a:t>markdown file) – </a:t>
            </a:r>
            <a:r>
              <a:rPr lang="en-GB" sz="900" i="1" dirty="0" smtClean="0">
                <a:solidFill>
                  <a:schemeClr val="lt1"/>
                </a:solidFill>
                <a:latin typeface="Helvetica Neue"/>
                <a:ea typeface="Helvetica Neue"/>
                <a:cs typeface="Helvetica Neue"/>
                <a:sym typeface="Helvetica Neue"/>
                <a:hlinkClick r:id="rId5"/>
              </a:rPr>
              <a:t>map_risk_routing_explained.md</a:t>
            </a:r>
            <a:endParaRPr lang="en-GB" sz="900" i="1" dirty="0" smtClean="0">
              <a:solidFill>
                <a:schemeClr val="lt1"/>
              </a:solidFill>
              <a:latin typeface="Helvetica Neue"/>
              <a:ea typeface="Helvetica Neue"/>
              <a:cs typeface="Helvetica Neue"/>
              <a:sym typeface="Helvetica Neue"/>
            </a:endParaRPr>
          </a:p>
        </p:txBody>
      </p:sp>
      <p:sp>
        <p:nvSpPr>
          <p:cNvPr id="396" name="Google Shape;396;p42"/>
          <p:cNvSpPr txBox="1">
            <a:spLocks noGrp="1"/>
          </p:cNvSpPr>
          <p:nvPr>
            <p:ph type="title" idx="3"/>
          </p:nvPr>
        </p:nvSpPr>
        <p:spPr>
          <a:xfrm>
            <a:off x="2049462" y="82200"/>
            <a:ext cx="6663217" cy="5760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US" dirty="0"/>
              <a:t>Intended Learning Outcomes and Assessment Indicators for the purpose of obtaining a bachelor’s degree in Data </a:t>
            </a:r>
            <a:r>
              <a:rPr lang="en-US" dirty="0" err="1"/>
              <a:t>Scinece</a:t>
            </a:r>
            <a:r>
              <a:rPr lang="en-US" dirty="0"/>
              <a:t> and AI</a:t>
            </a:r>
            <a:endParaRPr lang="en-GB" dirty="0"/>
          </a:p>
        </p:txBody>
      </p:sp>
      <p:sp>
        <p:nvSpPr>
          <p:cNvPr id="397" name="Google Shape;397;p42"/>
          <p:cNvSpPr txBox="1">
            <a:spLocks noGrp="1"/>
          </p:cNvSpPr>
          <p:nvPr>
            <p:ph type="title" idx="4"/>
          </p:nvPr>
        </p:nvSpPr>
        <p:spPr>
          <a:xfrm>
            <a:off x="68250" y="576000"/>
            <a:ext cx="1981212" cy="4938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sz="2800" dirty="0"/>
              <a:t>Relevance</a:t>
            </a:r>
            <a:endParaRPr sz="2800" dirty="0"/>
          </a:p>
        </p:txBody>
      </p:sp>
      <p:sp>
        <p:nvSpPr>
          <p:cNvPr id="398" name="Google Shape;398;p42"/>
          <p:cNvSpPr txBox="1">
            <a:spLocks noGrp="1"/>
          </p:cNvSpPr>
          <p:nvPr>
            <p:ph type="title" idx="5"/>
          </p:nvPr>
        </p:nvSpPr>
        <p:spPr>
          <a:xfrm>
            <a:off x="2488951" y="576000"/>
            <a:ext cx="5854775" cy="493800"/>
          </a:xfrm>
          <a:prstGeom prst="rect">
            <a:avLst/>
          </a:prstGeom>
        </p:spPr>
        <p:txBody>
          <a:bodyPr spcFirstLastPara="1" wrap="square" lIns="91425" tIns="91425" rIns="91425" bIns="91425" anchor="ctr" anchorCtr="0">
            <a:noAutofit/>
          </a:bodyPr>
          <a:lstStyle/>
          <a:p>
            <a:r>
              <a:rPr lang="en-GB" dirty="0"/>
              <a:t>Students is able to clearly identify, </a:t>
            </a:r>
            <a:r>
              <a:rPr lang="en-GB" dirty="0" err="1"/>
              <a:t>analyze</a:t>
            </a:r>
            <a:r>
              <a:rPr lang="en-GB" dirty="0"/>
              <a:t>, and articulate a problem or issue that is relevant to the commissioned product, demonstrating extensive critical evaluation and understanding of its implications.</a:t>
            </a:r>
            <a:endParaRPr lang="nl-NL" dirty="0"/>
          </a:p>
        </p:txBody>
      </p:sp>
      <p:sp>
        <p:nvSpPr>
          <p:cNvPr id="399" name="Google Shape;399;p42"/>
          <p:cNvSpPr txBox="1">
            <a:spLocks noGrp="1"/>
          </p:cNvSpPr>
          <p:nvPr>
            <p:ph type="title" idx="6"/>
          </p:nvPr>
        </p:nvSpPr>
        <p:spPr>
          <a:xfrm>
            <a:off x="845550" y="0"/>
            <a:ext cx="1368600" cy="5760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US" sz="900" dirty="0"/>
              <a:t>Research</a:t>
            </a:r>
            <a:br>
              <a:rPr lang="en-US" sz="900" dirty="0"/>
            </a:br>
            <a:endParaRPr sz="900" dirty="0"/>
          </a:p>
        </p:txBody>
      </p:sp>
      <p:sp>
        <p:nvSpPr>
          <p:cNvPr id="7" name="TextBox 6">
            <a:extLst>
              <a:ext uri="{FF2B5EF4-FFF2-40B4-BE49-F238E27FC236}">
                <a16:creationId xmlns:a16="http://schemas.microsoft.com/office/drawing/2014/main" id="{2D93DE6F-3DFF-6961-EE62-4797770601EE}"/>
              </a:ext>
            </a:extLst>
          </p:cNvPr>
          <p:cNvSpPr txBox="1"/>
          <p:nvPr/>
        </p:nvSpPr>
        <p:spPr>
          <a:xfrm>
            <a:off x="8531799" y="134111"/>
            <a:ext cx="543951" cy="307777"/>
          </a:xfrm>
          <a:prstGeom prst="rect">
            <a:avLst/>
          </a:prstGeom>
          <a:noFill/>
        </p:spPr>
        <p:txBody>
          <a:bodyPr wrap="square">
            <a:spAutoFit/>
          </a:bodyPr>
          <a:lstStyle/>
          <a:p>
            <a:r>
              <a:rPr lang="en" dirty="0"/>
              <a:t>1/3</a:t>
            </a:r>
            <a:endParaRPr lang="en-GB" dirty="0"/>
          </a:p>
        </p:txBody>
      </p:sp>
      <p:pic>
        <p:nvPicPr>
          <p:cNvPr id="2" name="Picture 1"/>
          <p:cNvPicPr>
            <a:picLocks noChangeAspect="1"/>
          </p:cNvPicPr>
          <p:nvPr/>
        </p:nvPicPr>
        <p:blipFill>
          <a:blip r:embed="rId6"/>
          <a:stretch>
            <a:fillRect/>
          </a:stretch>
        </p:blipFill>
        <p:spPr>
          <a:xfrm>
            <a:off x="4790661" y="3887124"/>
            <a:ext cx="4225454" cy="882635"/>
          </a:xfrm>
          <a:prstGeom prst="rect">
            <a:avLst/>
          </a:prstGeom>
        </p:spPr>
      </p:pic>
      <p:pic>
        <p:nvPicPr>
          <p:cNvPr id="3" name="Picture 2"/>
          <p:cNvPicPr>
            <a:picLocks noChangeAspect="1"/>
          </p:cNvPicPr>
          <p:nvPr/>
        </p:nvPicPr>
        <p:blipFill>
          <a:blip r:embed="rId7"/>
          <a:stretch>
            <a:fillRect/>
          </a:stretch>
        </p:blipFill>
        <p:spPr>
          <a:xfrm>
            <a:off x="5669280" y="1129102"/>
            <a:ext cx="3531336" cy="2070808"/>
          </a:xfrm>
          <a:prstGeom prst="rect">
            <a:avLst/>
          </a:prstGeom>
        </p:spPr>
      </p:pic>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Shape 392">
          <a:extLst>
            <a:ext uri="{FF2B5EF4-FFF2-40B4-BE49-F238E27FC236}">
              <a16:creationId xmlns:a16="http://schemas.microsoft.com/office/drawing/2014/main" id="{FCF9FA16-64DC-9CAA-12A3-66CD60944E2B}"/>
            </a:ext>
          </a:extLst>
        </p:cNvPr>
        <p:cNvGrpSpPr/>
        <p:nvPr/>
      </p:nvGrpSpPr>
      <p:grpSpPr>
        <a:xfrm>
          <a:off x="0" y="0"/>
          <a:ext cx="0" cy="0"/>
          <a:chOff x="0" y="0"/>
          <a:chExt cx="0" cy="0"/>
        </a:xfrm>
      </p:grpSpPr>
      <p:sp>
        <p:nvSpPr>
          <p:cNvPr id="393" name="Google Shape;393;p42">
            <a:extLst>
              <a:ext uri="{FF2B5EF4-FFF2-40B4-BE49-F238E27FC236}">
                <a16:creationId xmlns:a16="http://schemas.microsoft.com/office/drawing/2014/main" id="{4B76868B-265F-A07C-272A-12BCFF07CE68}"/>
              </a:ext>
            </a:extLst>
          </p:cNvPr>
          <p:cNvSpPr txBox="1">
            <a:spLocks noGrp="1"/>
          </p:cNvSpPr>
          <p:nvPr>
            <p:ph type="title"/>
          </p:nvPr>
        </p:nvSpPr>
        <p:spPr>
          <a:xfrm>
            <a:off x="68250" y="0"/>
            <a:ext cx="777300" cy="5760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ILO 1</a:t>
            </a:r>
            <a:endParaRPr/>
          </a:p>
        </p:txBody>
      </p:sp>
      <p:sp>
        <p:nvSpPr>
          <p:cNvPr id="395" name="Google Shape;395;p42">
            <a:extLst>
              <a:ext uri="{FF2B5EF4-FFF2-40B4-BE49-F238E27FC236}">
                <a16:creationId xmlns:a16="http://schemas.microsoft.com/office/drawing/2014/main" id="{754AA99B-49CD-4E0D-DB2F-8891160D951E}"/>
              </a:ext>
            </a:extLst>
          </p:cNvPr>
          <p:cNvSpPr txBox="1">
            <a:spLocks noGrp="1"/>
          </p:cNvSpPr>
          <p:nvPr>
            <p:ph type="body" idx="1"/>
          </p:nvPr>
        </p:nvSpPr>
        <p:spPr>
          <a:xfrm>
            <a:off x="182880" y="1069848"/>
            <a:ext cx="5486400" cy="3895200"/>
          </a:xfrm>
          <a:prstGeom prst="rect">
            <a:avLst/>
          </a:prstGeom>
        </p:spPr>
        <p:txBody>
          <a:bodyPr spcFirstLastPara="1" wrap="square" lIns="91425" tIns="91425" rIns="91425" bIns="91425" anchor="t" anchorCtr="0">
            <a:noAutofit/>
          </a:bodyPr>
          <a:lstStyle/>
          <a:p>
            <a:pPr marL="0" lvl="0" indent="0">
              <a:lnSpc>
                <a:spcPct val="115000"/>
              </a:lnSpc>
              <a:buNone/>
            </a:pPr>
            <a:r>
              <a:rPr lang="en-GB" sz="900" i="1" dirty="0">
                <a:solidFill>
                  <a:schemeClr val="lt1"/>
                </a:solidFill>
                <a:latin typeface="Helvetica Neue"/>
                <a:ea typeface="Helvetica Neue"/>
                <a:cs typeface="Helvetica Neue"/>
                <a:sym typeface="Helvetica Neue"/>
              </a:rPr>
              <a:t>First, I built the datasets: a large public set of road-damage photos (RDD2022) plus photos I collected myself in Sofia, all labelled with bounding boxes around the damage.</a:t>
            </a:r>
          </a:p>
          <a:p>
            <a:pPr marL="0" lvl="0" indent="0">
              <a:lnSpc>
                <a:spcPct val="115000"/>
              </a:lnSpc>
              <a:buNone/>
            </a:pPr>
            <a:endParaRPr lang="en-GB" sz="900" i="1" dirty="0">
              <a:solidFill>
                <a:schemeClr val="lt1"/>
              </a:solidFill>
              <a:latin typeface="Helvetica Neue"/>
              <a:ea typeface="Helvetica Neue"/>
              <a:cs typeface="Helvetica Neue"/>
              <a:sym typeface="Helvetica Neue"/>
            </a:endParaRPr>
          </a:p>
          <a:p>
            <a:pPr marL="0" lvl="0" indent="0">
              <a:lnSpc>
                <a:spcPct val="115000"/>
              </a:lnSpc>
              <a:buNone/>
            </a:pPr>
            <a:r>
              <a:rPr lang="en-GB" sz="900" i="1" dirty="0">
                <a:solidFill>
                  <a:schemeClr val="lt1"/>
                </a:solidFill>
                <a:latin typeface="Helvetica Neue"/>
                <a:ea typeface="Helvetica Neue"/>
                <a:cs typeface="Helvetica Neue"/>
                <a:sym typeface="Helvetica Neue"/>
              </a:rPr>
              <a:t>Second, I trained two different object detection models, YOLOv8 and Faster R-CNN, on the same data so I could fairly compare them using standard scores like precision, recall, and </a:t>
            </a:r>
            <a:r>
              <a:rPr lang="en-GB" sz="900" i="1" dirty="0" err="1">
                <a:solidFill>
                  <a:schemeClr val="lt1"/>
                </a:solidFill>
                <a:latin typeface="Helvetica Neue"/>
                <a:ea typeface="Helvetica Neue"/>
                <a:cs typeface="Helvetica Neue"/>
                <a:sym typeface="Helvetica Neue"/>
              </a:rPr>
              <a:t>mAP</a:t>
            </a:r>
            <a:r>
              <a:rPr lang="en-GB" sz="900" i="1" dirty="0">
                <a:solidFill>
                  <a:schemeClr val="lt1"/>
                </a:solidFill>
                <a:latin typeface="Helvetica Neue"/>
                <a:ea typeface="Helvetica Neue"/>
                <a:cs typeface="Helvetica Neue"/>
                <a:sym typeface="Helvetica Neue"/>
              </a:rPr>
              <a:t>.</a:t>
            </a:r>
          </a:p>
          <a:p>
            <a:pPr marL="0" lvl="0" indent="0">
              <a:lnSpc>
                <a:spcPct val="115000"/>
              </a:lnSpc>
              <a:buNone/>
            </a:pPr>
            <a:endParaRPr lang="en-GB" sz="900" i="1" dirty="0">
              <a:solidFill>
                <a:schemeClr val="lt1"/>
              </a:solidFill>
              <a:latin typeface="Helvetica Neue"/>
              <a:ea typeface="Helvetica Neue"/>
              <a:cs typeface="Helvetica Neue"/>
              <a:sym typeface="Helvetica Neue"/>
            </a:endParaRPr>
          </a:p>
          <a:p>
            <a:pPr marL="0" lvl="0" indent="0">
              <a:lnSpc>
                <a:spcPct val="115000"/>
              </a:lnSpc>
              <a:buNone/>
            </a:pPr>
            <a:r>
              <a:rPr lang="en-GB" sz="900" i="1" dirty="0">
                <a:solidFill>
                  <a:schemeClr val="lt1"/>
                </a:solidFill>
                <a:latin typeface="Helvetica Neue"/>
                <a:ea typeface="Helvetica Neue"/>
                <a:cs typeface="Helvetica Neue"/>
                <a:sym typeface="Helvetica Neue"/>
              </a:rPr>
              <a:t>Third, I fine-tuned the models on my own Sofia photos, so they would also work well on real local roads, not just the public dataset.</a:t>
            </a:r>
          </a:p>
          <a:p>
            <a:pPr marL="0" lvl="0" indent="0">
              <a:lnSpc>
                <a:spcPct val="115000"/>
              </a:lnSpc>
              <a:buNone/>
            </a:pPr>
            <a:endParaRPr lang="en-GB" sz="900" i="1" dirty="0">
              <a:solidFill>
                <a:schemeClr val="lt1"/>
              </a:solidFill>
              <a:latin typeface="Helvetica Neue"/>
              <a:ea typeface="Helvetica Neue"/>
              <a:cs typeface="Helvetica Neue"/>
              <a:sym typeface="Helvetica Neue"/>
            </a:endParaRPr>
          </a:p>
          <a:p>
            <a:pPr marL="0" lvl="0" indent="0">
              <a:lnSpc>
                <a:spcPct val="115000"/>
              </a:lnSpc>
              <a:buNone/>
            </a:pPr>
            <a:r>
              <a:rPr lang="en-GB" sz="900" i="1" dirty="0">
                <a:solidFill>
                  <a:schemeClr val="lt1"/>
                </a:solidFill>
                <a:latin typeface="Helvetica Neue"/>
                <a:ea typeface="Helvetica Neue"/>
                <a:cs typeface="Helvetica Neue"/>
                <a:sym typeface="Helvetica Neue"/>
              </a:rPr>
              <a:t>Fourth, I </a:t>
            </a:r>
            <a:r>
              <a:rPr lang="en-GB" sz="900" i="1" dirty="0" smtClean="0">
                <a:solidFill>
                  <a:schemeClr val="lt1"/>
                </a:solidFill>
                <a:latin typeface="Helvetica Neue"/>
                <a:ea typeface="Helvetica Neue"/>
                <a:cs typeface="Helvetica Neue"/>
                <a:sym typeface="Helvetica Neue"/>
              </a:rPr>
              <a:t>built </a:t>
            </a:r>
            <a:r>
              <a:rPr lang="en-GB" sz="900" i="1" dirty="0">
                <a:solidFill>
                  <a:schemeClr val="lt1"/>
                </a:solidFill>
                <a:latin typeface="Helvetica Neue"/>
                <a:ea typeface="Helvetica Neue"/>
                <a:cs typeface="Helvetica Neue"/>
                <a:sym typeface="Helvetica Neue"/>
              </a:rPr>
              <a:t>rule-based risk score: each detected piece of damage gets a severity score based on its type and size, and these scores are combined per road segment.</a:t>
            </a:r>
          </a:p>
          <a:p>
            <a:pPr marL="0" lvl="0" indent="0">
              <a:lnSpc>
                <a:spcPct val="115000"/>
              </a:lnSpc>
              <a:buNone/>
            </a:pPr>
            <a:endParaRPr lang="en-GB" sz="900" i="1" dirty="0">
              <a:solidFill>
                <a:schemeClr val="lt1"/>
              </a:solidFill>
              <a:latin typeface="Helvetica Neue"/>
              <a:ea typeface="Helvetica Neue"/>
              <a:cs typeface="Helvetica Neue"/>
              <a:sym typeface="Helvetica Neue"/>
            </a:endParaRPr>
          </a:p>
          <a:p>
            <a:pPr marL="0" lvl="0" indent="0">
              <a:lnSpc>
                <a:spcPct val="115000"/>
              </a:lnSpc>
              <a:buNone/>
            </a:pPr>
            <a:r>
              <a:rPr lang="en-GB" sz="900" i="1" dirty="0">
                <a:solidFill>
                  <a:schemeClr val="lt1"/>
                </a:solidFill>
                <a:latin typeface="Helvetica Neue"/>
                <a:ea typeface="Helvetica Neue"/>
                <a:cs typeface="Helvetica Neue"/>
                <a:sym typeface="Helvetica Neue"/>
              </a:rPr>
              <a:t>Fifth, I matched each piece of damage to its real road on the map (using </a:t>
            </a:r>
            <a:r>
              <a:rPr lang="en-GB" sz="900" i="1" dirty="0" err="1">
                <a:solidFill>
                  <a:schemeClr val="lt1"/>
                </a:solidFill>
                <a:latin typeface="Helvetica Neue"/>
                <a:ea typeface="Helvetica Neue"/>
                <a:cs typeface="Helvetica Neue"/>
                <a:sym typeface="Helvetica Neue"/>
              </a:rPr>
              <a:t>OpenStreetMap</a:t>
            </a:r>
            <a:r>
              <a:rPr lang="en-GB" sz="900" i="1" dirty="0">
                <a:solidFill>
                  <a:schemeClr val="lt1"/>
                </a:solidFill>
                <a:latin typeface="Helvetica Neue"/>
                <a:ea typeface="Helvetica Neue"/>
                <a:cs typeface="Helvetica Neue"/>
                <a:sym typeface="Helvetica Neue"/>
              </a:rPr>
              <a:t>) and used the risk scores to build routes that avoid the riskiest roads, comparing them to the normal shortest route.</a:t>
            </a:r>
          </a:p>
          <a:p>
            <a:pPr marL="0" lvl="0" indent="0">
              <a:lnSpc>
                <a:spcPct val="115000"/>
              </a:lnSpc>
              <a:buNone/>
            </a:pPr>
            <a:endParaRPr lang="en-GB" sz="900" i="1" dirty="0">
              <a:solidFill>
                <a:schemeClr val="lt1"/>
              </a:solidFill>
              <a:latin typeface="Helvetica Neue"/>
              <a:ea typeface="Helvetica Neue"/>
              <a:cs typeface="Helvetica Neue"/>
              <a:sym typeface="Helvetica Neue"/>
            </a:endParaRPr>
          </a:p>
          <a:p>
            <a:pPr marL="0" lvl="0" indent="0">
              <a:lnSpc>
                <a:spcPct val="115000"/>
              </a:lnSpc>
              <a:buNone/>
            </a:pPr>
            <a:r>
              <a:rPr lang="en-GB" sz="900" i="1" dirty="0">
                <a:solidFill>
                  <a:schemeClr val="lt1"/>
                </a:solidFill>
                <a:latin typeface="Helvetica Neue"/>
                <a:ea typeface="Helvetica Neue"/>
                <a:cs typeface="Helvetica Neue"/>
                <a:sym typeface="Helvetica Neue"/>
              </a:rPr>
              <a:t>Sixth, I built all of this into a working app (</a:t>
            </a:r>
            <a:r>
              <a:rPr lang="en-GB" sz="900" i="1" dirty="0" err="1">
                <a:solidFill>
                  <a:schemeClr val="lt1"/>
                </a:solidFill>
                <a:latin typeface="Helvetica Neue"/>
                <a:ea typeface="Helvetica Neue"/>
                <a:cs typeface="Helvetica Neue"/>
                <a:sym typeface="Helvetica Neue"/>
              </a:rPr>
              <a:t>Streamlit</a:t>
            </a:r>
            <a:r>
              <a:rPr lang="en-GB" sz="900" i="1" dirty="0">
                <a:solidFill>
                  <a:schemeClr val="lt1"/>
                </a:solidFill>
                <a:latin typeface="Helvetica Neue"/>
                <a:ea typeface="Helvetica Neue"/>
                <a:cs typeface="Helvetica Neue"/>
                <a:sym typeface="Helvetica Neue"/>
              </a:rPr>
              <a:t>), so a user can upload a photo, see the damage and risk score, and get a safer route suggestion, not just read results in a notebook.</a:t>
            </a:r>
          </a:p>
          <a:p>
            <a:pPr marL="0" lvl="0" indent="0">
              <a:lnSpc>
                <a:spcPct val="115000"/>
              </a:lnSpc>
              <a:buNone/>
            </a:pPr>
            <a:endParaRPr lang="en-GB" sz="900" i="1" dirty="0">
              <a:solidFill>
                <a:schemeClr val="lt1"/>
              </a:solidFill>
              <a:latin typeface="Helvetica Neue"/>
              <a:ea typeface="Helvetica Neue"/>
              <a:cs typeface="Helvetica Neue"/>
              <a:sym typeface="Helvetica Neue"/>
            </a:endParaRPr>
          </a:p>
          <a:p>
            <a:pPr marL="0" lvl="0" indent="0">
              <a:lnSpc>
                <a:spcPct val="115000"/>
              </a:lnSpc>
              <a:buNone/>
            </a:pPr>
            <a:r>
              <a:rPr lang="en-GB" sz="900" i="1" dirty="0">
                <a:solidFill>
                  <a:schemeClr val="lt1"/>
                </a:solidFill>
                <a:latin typeface="Helvetica Neue"/>
                <a:ea typeface="Helvetica Neue"/>
                <a:cs typeface="Helvetica Neue"/>
                <a:sym typeface="Helvetica Neue"/>
              </a:rPr>
              <a:t>Finally, I tested everything in two ways. Numbers-based: comparing the models, the risk scores, and the routes against measurable criteria (</a:t>
            </a:r>
            <a:r>
              <a:rPr lang="en-GB" sz="900" i="1" dirty="0" smtClean="0">
                <a:solidFill>
                  <a:schemeClr val="lt1"/>
                </a:solidFill>
                <a:latin typeface="Helvetica Neue"/>
                <a:ea typeface="Helvetica Neue"/>
                <a:cs typeface="Helvetica Neue"/>
                <a:sym typeface="Helvetica Neue"/>
              </a:rPr>
              <a:t>H1-H4</a:t>
            </a:r>
            <a:r>
              <a:rPr lang="en-GB" sz="900" i="1" dirty="0">
                <a:solidFill>
                  <a:schemeClr val="lt1"/>
                </a:solidFill>
                <a:latin typeface="Helvetica Neue"/>
                <a:ea typeface="Helvetica Neue"/>
                <a:cs typeface="Helvetica Neue"/>
                <a:sym typeface="Helvetica Neue"/>
              </a:rPr>
              <a:t>). And people-based: ten people tried the real app and answered questions about whether the risk scores and routes made sense to them, so I could check that the system isn't just accurate on paper but also works for a real user.</a:t>
            </a:r>
            <a:endParaRPr sz="700" i="1" dirty="0">
              <a:solidFill>
                <a:schemeClr val="lt1"/>
              </a:solidFill>
              <a:latin typeface="Helvetica Neue"/>
              <a:ea typeface="Helvetica Neue"/>
              <a:cs typeface="Helvetica Neue"/>
              <a:sym typeface="Helvetica Neue"/>
            </a:endParaRPr>
          </a:p>
        </p:txBody>
      </p:sp>
      <p:sp>
        <p:nvSpPr>
          <p:cNvPr id="396" name="Google Shape;396;p42">
            <a:extLst>
              <a:ext uri="{FF2B5EF4-FFF2-40B4-BE49-F238E27FC236}">
                <a16:creationId xmlns:a16="http://schemas.microsoft.com/office/drawing/2014/main" id="{90365685-565A-A154-BB39-BB60757F018A}"/>
              </a:ext>
            </a:extLst>
          </p:cNvPr>
          <p:cNvSpPr txBox="1">
            <a:spLocks noGrp="1"/>
          </p:cNvSpPr>
          <p:nvPr>
            <p:ph type="title" idx="3"/>
          </p:nvPr>
        </p:nvSpPr>
        <p:spPr>
          <a:xfrm>
            <a:off x="2049461" y="0"/>
            <a:ext cx="6663217" cy="5760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US" dirty="0"/>
              <a:t>Intended Learning Outcomes and Assessment Indicators for the purpose of obtaining a bachelor’s degree in Data </a:t>
            </a:r>
            <a:r>
              <a:rPr lang="en-US" dirty="0" err="1"/>
              <a:t>Scinece</a:t>
            </a:r>
            <a:r>
              <a:rPr lang="en-US" dirty="0"/>
              <a:t> and AI</a:t>
            </a:r>
            <a:endParaRPr lang="en-GB" dirty="0"/>
          </a:p>
        </p:txBody>
      </p:sp>
      <p:sp>
        <p:nvSpPr>
          <p:cNvPr id="397" name="Google Shape;397;p42">
            <a:extLst>
              <a:ext uri="{FF2B5EF4-FFF2-40B4-BE49-F238E27FC236}">
                <a16:creationId xmlns:a16="http://schemas.microsoft.com/office/drawing/2014/main" id="{37A5E0AB-1078-F672-DBB3-847B17E31B2F}"/>
              </a:ext>
            </a:extLst>
          </p:cNvPr>
          <p:cNvSpPr txBox="1">
            <a:spLocks noGrp="1"/>
          </p:cNvSpPr>
          <p:nvPr>
            <p:ph type="title" idx="4"/>
          </p:nvPr>
        </p:nvSpPr>
        <p:spPr>
          <a:xfrm>
            <a:off x="68249" y="576000"/>
            <a:ext cx="2353795" cy="4938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sz="2800" dirty="0"/>
              <a:t>Methodology</a:t>
            </a:r>
            <a:endParaRPr sz="2800" dirty="0"/>
          </a:p>
        </p:txBody>
      </p:sp>
      <p:sp>
        <p:nvSpPr>
          <p:cNvPr id="398" name="Google Shape;398;p42">
            <a:extLst>
              <a:ext uri="{FF2B5EF4-FFF2-40B4-BE49-F238E27FC236}">
                <a16:creationId xmlns:a16="http://schemas.microsoft.com/office/drawing/2014/main" id="{D691AE9C-7F94-3244-8631-ECC0D2A3DF4A}"/>
              </a:ext>
            </a:extLst>
          </p:cNvPr>
          <p:cNvSpPr txBox="1">
            <a:spLocks noGrp="1"/>
          </p:cNvSpPr>
          <p:nvPr>
            <p:ph type="title" idx="5"/>
          </p:nvPr>
        </p:nvSpPr>
        <p:spPr>
          <a:xfrm>
            <a:off x="2488951" y="576000"/>
            <a:ext cx="5854775" cy="493800"/>
          </a:xfrm>
          <a:prstGeom prst="rect">
            <a:avLst/>
          </a:prstGeom>
        </p:spPr>
        <p:txBody>
          <a:bodyPr spcFirstLastPara="1" wrap="square" lIns="91425" tIns="91425" rIns="91425" bIns="91425" anchor="ctr" anchorCtr="0">
            <a:noAutofit/>
          </a:bodyPr>
          <a:lstStyle/>
          <a:p>
            <a:r>
              <a:rPr lang="en-GB" dirty="0"/>
              <a:t>Students is able to select and apply appropriate methodologies that align with the scope and expected outcomes of their research, effectively gathering extensive data from a wide variety of relevant sources.</a:t>
            </a:r>
            <a:endParaRPr lang="nl-NL" dirty="0"/>
          </a:p>
        </p:txBody>
      </p:sp>
      <p:sp>
        <p:nvSpPr>
          <p:cNvPr id="399" name="Google Shape;399;p42">
            <a:extLst>
              <a:ext uri="{FF2B5EF4-FFF2-40B4-BE49-F238E27FC236}">
                <a16:creationId xmlns:a16="http://schemas.microsoft.com/office/drawing/2014/main" id="{E2C5F091-595D-FD87-F026-2788346F76D6}"/>
              </a:ext>
            </a:extLst>
          </p:cNvPr>
          <p:cNvSpPr txBox="1">
            <a:spLocks noGrp="1"/>
          </p:cNvSpPr>
          <p:nvPr>
            <p:ph type="title" idx="6"/>
          </p:nvPr>
        </p:nvSpPr>
        <p:spPr>
          <a:xfrm>
            <a:off x="845550" y="0"/>
            <a:ext cx="1368600" cy="5760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US" sz="900" dirty="0"/>
              <a:t>Research</a:t>
            </a:r>
            <a:br>
              <a:rPr lang="en-US" sz="900" dirty="0"/>
            </a:br>
            <a:endParaRPr sz="900" dirty="0"/>
          </a:p>
        </p:txBody>
      </p:sp>
      <p:sp>
        <p:nvSpPr>
          <p:cNvPr id="2" name="TextBox 1">
            <a:extLst>
              <a:ext uri="{FF2B5EF4-FFF2-40B4-BE49-F238E27FC236}">
                <a16:creationId xmlns:a16="http://schemas.microsoft.com/office/drawing/2014/main" id="{27C4F6E0-E743-DF0C-D7EE-90433D3D4F13}"/>
              </a:ext>
            </a:extLst>
          </p:cNvPr>
          <p:cNvSpPr txBox="1"/>
          <p:nvPr/>
        </p:nvSpPr>
        <p:spPr>
          <a:xfrm>
            <a:off x="8531799" y="134111"/>
            <a:ext cx="543951" cy="307777"/>
          </a:xfrm>
          <a:prstGeom prst="rect">
            <a:avLst/>
          </a:prstGeom>
          <a:noFill/>
        </p:spPr>
        <p:txBody>
          <a:bodyPr wrap="square">
            <a:spAutoFit/>
          </a:bodyPr>
          <a:lstStyle/>
          <a:p>
            <a:r>
              <a:rPr lang="en" dirty="0"/>
              <a:t>2/3</a:t>
            </a:r>
            <a:endParaRPr lang="en-GB" dirty="0"/>
          </a:p>
        </p:txBody>
      </p:sp>
      <p:pic>
        <p:nvPicPr>
          <p:cNvPr id="4" name="Picture 3"/>
          <p:cNvPicPr>
            <a:picLocks noChangeAspect="1"/>
          </p:cNvPicPr>
          <p:nvPr/>
        </p:nvPicPr>
        <p:blipFill>
          <a:blip r:embed="rId3"/>
          <a:stretch>
            <a:fillRect/>
          </a:stretch>
        </p:blipFill>
        <p:spPr>
          <a:xfrm>
            <a:off x="5877338" y="1152000"/>
            <a:ext cx="3006701" cy="1847947"/>
          </a:xfrm>
          <a:prstGeom prst="rect">
            <a:avLst/>
          </a:prstGeom>
        </p:spPr>
      </p:pic>
      <p:pic>
        <p:nvPicPr>
          <p:cNvPr id="5" name="Picture 4"/>
          <p:cNvPicPr>
            <a:picLocks noChangeAspect="1"/>
          </p:cNvPicPr>
          <p:nvPr/>
        </p:nvPicPr>
        <p:blipFill>
          <a:blip r:embed="rId4"/>
          <a:stretch>
            <a:fillRect/>
          </a:stretch>
        </p:blipFill>
        <p:spPr>
          <a:xfrm>
            <a:off x="5877338" y="3140764"/>
            <a:ext cx="3026736" cy="1824283"/>
          </a:xfrm>
          <a:prstGeom prst="rect">
            <a:avLst/>
          </a:prstGeom>
        </p:spPr>
      </p:pic>
    </p:spTree>
    <p:extLst>
      <p:ext uri="{BB962C8B-B14F-4D97-AF65-F5344CB8AC3E}">
        <p14:creationId xmlns:p14="http://schemas.microsoft.com/office/powerpoint/2010/main" val="4291479091"/>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Shape 392">
          <a:extLst>
            <a:ext uri="{FF2B5EF4-FFF2-40B4-BE49-F238E27FC236}">
              <a16:creationId xmlns:a16="http://schemas.microsoft.com/office/drawing/2014/main" id="{FCF9FA16-64DC-9CAA-12A3-66CD60944E2B}"/>
            </a:ext>
          </a:extLst>
        </p:cNvPr>
        <p:cNvGrpSpPr/>
        <p:nvPr/>
      </p:nvGrpSpPr>
      <p:grpSpPr>
        <a:xfrm>
          <a:off x="0" y="0"/>
          <a:ext cx="0" cy="0"/>
          <a:chOff x="0" y="0"/>
          <a:chExt cx="0" cy="0"/>
        </a:xfrm>
      </p:grpSpPr>
      <p:sp>
        <p:nvSpPr>
          <p:cNvPr id="393" name="Google Shape;393;p42">
            <a:extLst>
              <a:ext uri="{FF2B5EF4-FFF2-40B4-BE49-F238E27FC236}">
                <a16:creationId xmlns:a16="http://schemas.microsoft.com/office/drawing/2014/main" id="{4B76868B-265F-A07C-272A-12BCFF07CE68}"/>
              </a:ext>
            </a:extLst>
          </p:cNvPr>
          <p:cNvSpPr txBox="1">
            <a:spLocks noGrp="1"/>
          </p:cNvSpPr>
          <p:nvPr>
            <p:ph type="title"/>
          </p:nvPr>
        </p:nvSpPr>
        <p:spPr>
          <a:xfrm>
            <a:off x="68250" y="0"/>
            <a:ext cx="777300" cy="5760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ILO 1</a:t>
            </a:r>
            <a:endParaRPr/>
          </a:p>
        </p:txBody>
      </p:sp>
      <p:sp>
        <p:nvSpPr>
          <p:cNvPr id="395" name="Google Shape;395;p42">
            <a:extLst>
              <a:ext uri="{FF2B5EF4-FFF2-40B4-BE49-F238E27FC236}">
                <a16:creationId xmlns:a16="http://schemas.microsoft.com/office/drawing/2014/main" id="{754AA99B-49CD-4E0D-DB2F-8891160D951E}"/>
              </a:ext>
            </a:extLst>
          </p:cNvPr>
          <p:cNvSpPr txBox="1">
            <a:spLocks noGrp="1"/>
          </p:cNvSpPr>
          <p:nvPr>
            <p:ph type="body" idx="1"/>
          </p:nvPr>
        </p:nvSpPr>
        <p:spPr>
          <a:xfrm>
            <a:off x="182880" y="1069848"/>
            <a:ext cx="5486400" cy="3895200"/>
          </a:xfrm>
          <a:prstGeom prst="rect">
            <a:avLst/>
          </a:prstGeom>
        </p:spPr>
        <p:txBody>
          <a:bodyPr spcFirstLastPara="1" wrap="square" lIns="91425" tIns="91425" rIns="91425" bIns="91425" anchor="t" anchorCtr="0">
            <a:noAutofit/>
          </a:bodyPr>
          <a:lstStyle/>
          <a:p>
            <a:pPr marL="0" indent="0">
              <a:lnSpc>
                <a:spcPct val="115000"/>
              </a:lnSpc>
              <a:buNone/>
            </a:pPr>
            <a:r>
              <a:rPr lang="en-GB" sz="900" dirty="0">
                <a:solidFill>
                  <a:schemeClr val="bg1"/>
                </a:solidFill>
              </a:rPr>
              <a:t>Evidence 4 (</a:t>
            </a:r>
            <a:r>
              <a:rPr lang="en-GB" sz="900" dirty="0" err="1">
                <a:solidFill>
                  <a:schemeClr val="bg1"/>
                </a:solidFill>
              </a:rPr>
              <a:t>YoLo</a:t>
            </a:r>
            <a:r>
              <a:rPr lang="en-GB" sz="900" dirty="0">
                <a:solidFill>
                  <a:schemeClr val="bg1"/>
                </a:solidFill>
              </a:rPr>
              <a:t> large dataset training </a:t>
            </a:r>
            <a:r>
              <a:rPr lang="en-GB" sz="900" dirty="0" smtClean="0">
                <a:solidFill>
                  <a:schemeClr val="bg1"/>
                </a:solidFill>
              </a:rPr>
              <a:t>notebook) - </a:t>
            </a:r>
            <a:r>
              <a:rPr lang="en-GB" sz="900" dirty="0" err="1" smtClean="0">
                <a:solidFill>
                  <a:schemeClr val="bg1"/>
                </a:solidFill>
                <a:hlinkClick r:id="rId3"/>
              </a:rPr>
              <a:t>YoLo</a:t>
            </a:r>
            <a:r>
              <a:rPr lang="en-GB" sz="900" dirty="0" smtClean="0">
                <a:solidFill>
                  <a:schemeClr val="bg1"/>
                </a:solidFill>
                <a:hlinkClick r:id="rId3"/>
              </a:rPr>
              <a:t> Large Training</a:t>
            </a:r>
            <a:endParaRPr lang="en-GB" sz="900" dirty="0" smtClean="0">
              <a:solidFill>
                <a:schemeClr val="bg1"/>
              </a:solidFill>
            </a:endParaRPr>
          </a:p>
          <a:p>
            <a:pPr marL="0" indent="0">
              <a:lnSpc>
                <a:spcPct val="115000"/>
              </a:lnSpc>
              <a:buNone/>
            </a:pPr>
            <a:endParaRPr lang="en-GB" sz="900" dirty="0">
              <a:solidFill>
                <a:schemeClr val="bg1"/>
              </a:solidFill>
            </a:endParaRPr>
          </a:p>
          <a:p>
            <a:pPr marL="0" indent="0">
              <a:lnSpc>
                <a:spcPct val="115000"/>
              </a:lnSpc>
              <a:buNone/>
            </a:pPr>
            <a:r>
              <a:rPr lang="en-GB" sz="900" dirty="0" smtClean="0">
                <a:solidFill>
                  <a:schemeClr val="bg1"/>
                </a:solidFill>
              </a:rPr>
              <a:t>Evidence 5 (Faster RNN large dataset training notebook) - </a:t>
            </a:r>
            <a:r>
              <a:rPr lang="en-GB" sz="900" dirty="0" smtClean="0">
                <a:solidFill>
                  <a:schemeClr val="bg1"/>
                </a:solidFill>
                <a:hlinkClick r:id="rId4"/>
              </a:rPr>
              <a:t>Faster RNN Large Training</a:t>
            </a:r>
            <a:endParaRPr lang="en-GB" sz="900" dirty="0" smtClean="0">
              <a:solidFill>
                <a:schemeClr val="bg1"/>
              </a:solidFill>
            </a:endParaRPr>
          </a:p>
          <a:p>
            <a:pPr marL="0" indent="0">
              <a:lnSpc>
                <a:spcPct val="115000"/>
              </a:lnSpc>
              <a:buNone/>
            </a:pPr>
            <a:endParaRPr lang="en-GB" sz="900" dirty="0">
              <a:solidFill>
                <a:schemeClr val="bg1"/>
              </a:solidFill>
            </a:endParaRPr>
          </a:p>
          <a:p>
            <a:pPr marL="0" indent="0">
              <a:lnSpc>
                <a:spcPct val="115000"/>
              </a:lnSpc>
              <a:buNone/>
            </a:pPr>
            <a:r>
              <a:rPr lang="en-GB" sz="900" dirty="0" smtClean="0">
                <a:solidFill>
                  <a:schemeClr val="bg1"/>
                </a:solidFill>
              </a:rPr>
              <a:t>Evidence 6 (Risk scoring scripts) – </a:t>
            </a:r>
            <a:r>
              <a:rPr lang="en-GB" sz="900" dirty="0" smtClean="0">
                <a:solidFill>
                  <a:schemeClr val="bg1"/>
                </a:solidFill>
                <a:hlinkClick r:id="rId5"/>
              </a:rPr>
              <a:t>scoring.py</a:t>
            </a:r>
            <a:endParaRPr lang="en-GB" sz="900" dirty="0" smtClean="0">
              <a:solidFill>
                <a:schemeClr val="bg1"/>
              </a:solidFill>
            </a:endParaRPr>
          </a:p>
          <a:p>
            <a:pPr marL="0" indent="0">
              <a:lnSpc>
                <a:spcPct val="115000"/>
              </a:lnSpc>
              <a:buNone/>
            </a:pPr>
            <a:endParaRPr lang="en-GB" sz="900" dirty="0">
              <a:solidFill>
                <a:schemeClr val="bg1"/>
              </a:solidFill>
            </a:endParaRPr>
          </a:p>
          <a:p>
            <a:pPr marL="0" indent="0">
              <a:lnSpc>
                <a:spcPct val="115000"/>
              </a:lnSpc>
              <a:buNone/>
            </a:pPr>
            <a:r>
              <a:rPr lang="en-GB" sz="900" dirty="0" smtClean="0">
                <a:solidFill>
                  <a:schemeClr val="bg1"/>
                </a:solidFill>
              </a:rPr>
              <a:t>Evidence 7 (Routing scripts) – </a:t>
            </a:r>
            <a:r>
              <a:rPr lang="en-GB" sz="900" dirty="0" smtClean="0">
                <a:solidFill>
                  <a:schemeClr val="bg1"/>
                </a:solidFill>
                <a:hlinkClick r:id="rId6"/>
              </a:rPr>
              <a:t>router.py</a:t>
            </a:r>
            <a:endParaRPr lang="en-GB" sz="900" dirty="0" smtClean="0">
              <a:solidFill>
                <a:schemeClr val="bg1"/>
              </a:solidFill>
            </a:endParaRPr>
          </a:p>
          <a:p>
            <a:pPr marL="0" indent="0">
              <a:lnSpc>
                <a:spcPct val="115000"/>
              </a:lnSpc>
              <a:buNone/>
            </a:pPr>
            <a:endParaRPr lang="en-GB" sz="900" dirty="0" smtClean="0">
              <a:solidFill>
                <a:schemeClr val="bg1"/>
              </a:solidFill>
            </a:endParaRPr>
          </a:p>
          <a:p>
            <a:pPr marL="0" indent="0">
              <a:lnSpc>
                <a:spcPct val="115000"/>
              </a:lnSpc>
              <a:buNone/>
            </a:pPr>
            <a:r>
              <a:rPr lang="en-GB" sz="900" dirty="0" smtClean="0">
                <a:solidFill>
                  <a:schemeClr val="bg1"/>
                </a:solidFill>
              </a:rPr>
              <a:t>Evidence 8 (Raw survey responses) – </a:t>
            </a:r>
            <a:r>
              <a:rPr lang="en-GB" sz="900" dirty="0" smtClean="0">
                <a:solidFill>
                  <a:schemeClr val="bg1"/>
                </a:solidFill>
                <a:hlinkClick r:id="rId7"/>
              </a:rPr>
              <a:t>raw_survey_responses</a:t>
            </a:r>
            <a:endParaRPr lang="en-GB" sz="900" dirty="0" smtClean="0">
              <a:solidFill>
                <a:schemeClr val="bg1"/>
              </a:solidFill>
            </a:endParaRPr>
          </a:p>
          <a:p>
            <a:pPr marL="0" indent="0">
              <a:lnSpc>
                <a:spcPct val="115000"/>
              </a:lnSpc>
              <a:buNone/>
            </a:pPr>
            <a:endParaRPr lang="en-GB" sz="900" dirty="0">
              <a:solidFill>
                <a:schemeClr val="bg1"/>
              </a:solidFill>
            </a:endParaRPr>
          </a:p>
          <a:p>
            <a:pPr marL="0" indent="0">
              <a:lnSpc>
                <a:spcPct val="115000"/>
              </a:lnSpc>
              <a:buNone/>
            </a:pPr>
            <a:r>
              <a:rPr lang="en-GB" sz="900" dirty="0" smtClean="0">
                <a:solidFill>
                  <a:schemeClr val="bg1"/>
                </a:solidFill>
              </a:rPr>
              <a:t>Evidence </a:t>
            </a:r>
            <a:r>
              <a:rPr lang="en-GB" sz="900" dirty="0">
                <a:solidFill>
                  <a:schemeClr val="bg1"/>
                </a:solidFill>
              </a:rPr>
              <a:t>9 (Thematic analysis) </a:t>
            </a:r>
            <a:r>
              <a:rPr lang="en-GB" sz="900" dirty="0" smtClean="0">
                <a:solidFill>
                  <a:schemeClr val="bg1"/>
                </a:solidFill>
              </a:rPr>
              <a:t>- </a:t>
            </a:r>
            <a:r>
              <a:rPr lang="en-GB" sz="900" dirty="0" smtClean="0">
                <a:solidFill>
                  <a:schemeClr val="bg1"/>
                </a:solidFill>
                <a:hlinkClick r:id="rId8"/>
              </a:rPr>
              <a:t>Thematic analysis</a:t>
            </a:r>
            <a:endParaRPr lang="en-GB" sz="900" dirty="0">
              <a:solidFill>
                <a:schemeClr val="bg1"/>
              </a:solidFill>
            </a:endParaRPr>
          </a:p>
          <a:p>
            <a:pPr marL="0" indent="0">
              <a:lnSpc>
                <a:spcPct val="115000"/>
              </a:lnSpc>
              <a:buNone/>
            </a:pPr>
            <a:endParaRPr lang="en-GB" sz="900" dirty="0" smtClean="0">
              <a:solidFill>
                <a:schemeClr val="bg1"/>
              </a:solidFill>
            </a:endParaRPr>
          </a:p>
          <a:p>
            <a:pPr marL="0" indent="0">
              <a:lnSpc>
                <a:spcPct val="115000"/>
              </a:lnSpc>
              <a:buNone/>
            </a:pPr>
            <a:r>
              <a:rPr lang="en-GB" sz="900" dirty="0" smtClean="0">
                <a:solidFill>
                  <a:schemeClr val="bg1"/>
                </a:solidFill>
              </a:rPr>
              <a:t>Evidence 10 (Geospatial matching) -  </a:t>
            </a:r>
            <a:r>
              <a:rPr lang="en-GB" sz="900" dirty="0" smtClean="0">
                <a:solidFill>
                  <a:schemeClr val="bg1"/>
                </a:solidFill>
                <a:hlinkClick r:id="rId9"/>
              </a:rPr>
              <a:t>matching.py</a:t>
            </a:r>
            <a:endParaRPr lang="en-GB" sz="900" dirty="0" smtClean="0">
              <a:solidFill>
                <a:schemeClr val="bg1"/>
              </a:solidFill>
            </a:endParaRPr>
          </a:p>
          <a:p>
            <a:pPr marL="0" indent="0">
              <a:lnSpc>
                <a:spcPct val="115000"/>
              </a:lnSpc>
              <a:buNone/>
            </a:pPr>
            <a:endParaRPr lang="en-GB" sz="900" dirty="0">
              <a:solidFill>
                <a:schemeClr val="bg1"/>
              </a:solidFill>
            </a:endParaRPr>
          </a:p>
          <a:p>
            <a:pPr marL="0" indent="0">
              <a:lnSpc>
                <a:spcPct val="115000"/>
              </a:lnSpc>
              <a:buNone/>
            </a:pPr>
            <a:r>
              <a:rPr lang="en-GB" sz="900" dirty="0" smtClean="0">
                <a:solidFill>
                  <a:schemeClr val="bg1"/>
                </a:solidFill>
              </a:rPr>
              <a:t>Evidence 11 (Final hypothesis testing) - </a:t>
            </a:r>
            <a:r>
              <a:rPr lang="en-GB" sz="900" dirty="0" smtClean="0">
                <a:solidFill>
                  <a:schemeClr val="bg1"/>
                </a:solidFill>
                <a:hlinkClick r:id="rId10"/>
              </a:rPr>
              <a:t>Hypothesis testing notebook</a:t>
            </a:r>
            <a:endParaRPr lang="en-GB" sz="900" dirty="0" smtClean="0">
              <a:solidFill>
                <a:schemeClr val="bg1"/>
              </a:solidFill>
            </a:endParaRPr>
          </a:p>
          <a:p>
            <a:pPr marL="0" indent="0">
              <a:lnSpc>
                <a:spcPct val="115000"/>
              </a:lnSpc>
              <a:buNone/>
            </a:pPr>
            <a:endParaRPr lang="en-GB" sz="900" dirty="0">
              <a:solidFill>
                <a:schemeClr val="bg1"/>
              </a:solidFill>
            </a:endParaRPr>
          </a:p>
          <a:p>
            <a:pPr marL="0" indent="0">
              <a:lnSpc>
                <a:spcPct val="115000"/>
              </a:lnSpc>
              <a:buNone/>
            </a:pPr>
            <a:r>
              <a:rPr lang="en-GB" sz="900" dirty="0" smtClean="0">
                <a:solidFill>
                  <a:schemeClr val="bg1"/>
                </a:solidFill>
              </a:rPr>
              <a:t>Evidence 12 (Analysis script for qualitative study) -  </a:t>
            </a:r>
            <a:r>
              <a:rPr lang="en-GB" sz="900" dirty="0" smtClean="0">
                <a:solidFill>
                  <a:schemeClr val="bg1"/>
                </a:solidFill>
                <a:hlinkClick r:id="rId11"/>
              </a:rPr>
              <a:t>analyze_script</a:t>
            </a:r>
            <a:endParaRPr lang="en-GB" sz="700" i="1" dirty="0">
              <a:solidFill>
                <a:schemeClr val="lt1"/>
              </a:solidFill>
              <a:latin typeface="Helvetica Neue"/>
              <a:sym typeface="Helvetica Neue"/>
            </a:endParaRPr>
          </a:p>
          <a:p>
            <a:pPr marL="0" indent="0">
              <a:lnSpc>
                <a:spcPct val="115000"/>
              </a:lnSpc>
              <a:buNone/>
            </a:pPr>
            <a:endParaRPr lang="en-GB" sz="700" i="1" dirty="0" smtClean="0">
              <a:solidFill>
                <a:schemeClr val="lt1"/>
              </a:solidFill>
              <a:latin typeface="Helvetica Neue"/>
              <a:sym typeface="Helvetica Neue"/>
            </a:endParaRPr>
          </a:p>
          <a:p>
            <a:pPr marL="0" indent="0">
              <a:lnSpc>
                <a:spcPct val="115000"/>
              </a:lnSpc>
              <a:buNone/>
            </a:pPr>
            <a:r>
              <a:rPr lang="en-GB" sz="900" dirty="0" smtClean="0">
                <a:solidFill>
                  <a:schemeClr val="bg1"/>
                </a:solidFill>
              </a:rPr>
              <a:t>Evidence 13 (</a:t>
            </a:r>
            <a:r>
              <a:rPr lang="en-GB" sz="900" dirty="0" err="1" smtClean="0">
                <a:solidFill>
                  <a:schemeClr val="bg1"/>
                </a:solidFill>
              </a:rPr>
              <a:t>YoLo</a:t>
            </a:r>
            <a:r>
              <a:rPr lang="en-GB" sz="900" dirty="0" smtClean="0">
                <a:solidFill>
                  <a:schemeClr val="bg1"/>
                </a:solidFill>
              </a:rPr>
              <a:t> fine-tuned notebook) – </a:t>
            </a:r>
            <a:r>
              <a:rPr lang="en-GB" sz="900" dirty="0" smtClean="0">
                <a:solidFill>
                  <a:schemeClr val="bg1"/>
                </a:solidFill>
                <a:hlinkClick r:id="rId12"/>
              </a:rPr>
              <a:t>fine-tuned notebook </a:t>
            </a:r>
            <a:r>
              <a:rPr lang="en-GB" sz="900" dirty="0" err="1" smtClean="0">
                <a:solidFill>
                  <a:schemeClr val="bg1"/>
                </a:solidFill>
                <a:hlinkClick r:id="rId12"/>
              </a:rPr>
              <a:t>YoLo</a:t>
            </a:r>
            <a:endParaRPr lang="en-GB" sz="900" dirty="0" smtClean="0">
              <a:solidFill>
                <a:schemeClr val="bg1"/>
              </a:solidFill>
            </a:endParaRPr>
          </a:p>
          <a:p>
            <a:pPr marL="0" indent="0">
              <a:lnSpc>
                <a:spcPct val="115000"/>
              </a:lnSpc>
              <a:buNone/>
            </a:pPr>
            <a:endParaRPr lang="en-GB" sz="900" dirty="0">
              <a:solidFill>
                <a:schemeClr val="bg1"/>
              </a:solidFill>
            </a:endParaRPr>
          </a:p>
          <a:p>
            <a:pPr marL="0" indent="0">
              <a:lnSpc>
                <a:spcPct val="115000"/>
              </a:lnSpc>
              <a:buNone/>
            </a:pPr>
            <a:r>
              <a:rPr lang="en-GB" sz="900" dirty="0" smtClean="0">
                <a:solidFill>
                  <a:schemeClr val="bg1"/>
                </a:solidFill>
              </a:rPr>
              <a:t>Evidence 14 (Faster RNN fine-tuned notebook) – </a:t>
            </a:r>
            <a:r>
              <a:rPr lang="en-GB" sz="900" dirty="0" smtClean="0">
                <a:solidFill>
                  <a:schemeClr val="bg1"/>
                </a:solidFill>
                <a:hlinkClick r:id="rId13"/>
              </a:rPr>
              <a:t>fine-tuned notebook FRNN</a:t>
            </a:r>
            <a:endParaRPr lang="en-GB" sz="900" dirty="0" smtClean="0">
              <a:solidFill>
                <a:schemeClr val="bg1"/>
              </a:solidFill>
            </a:endParaRPr>
          </a:p>
          <a:p>
            <a:pPr marL="0" indent="0">
              <a:lnSpc>
                <a:spcPct val="115000"/>
              </a:lnSpc>
              <a:buNone/>
            </a:pPr>
            <a:endParaRPr lang="en-GB" sz="900" dirty="0">
              <a:solidFill>
                <a:schemeClr val="bg1"/>
              </a:solidFill>
            </a:endParaRPr>
          </a:p>
          <a:p>
            <a:pPr marL="0" indent="0">
              <a:lnSpc>
                <a:spcPct val="115000"/>
              </a:lnSpc>
              <a:buNone/>
            </a:pPr>
            <a:r>
              <a:rPr lang="en-GB" sz="900" dirty="0" smtClean="0">
                <a:solidFill>
                  <a:schemeClr val="bg1"/>
                </a:solidFill>
              </a:rPr>
              <a:t>Evidence 15 (</a:t>
            </a:r>
            <a:r>
              <a:rPr lang="en-GB" sz="900" dirty="0" err="1" smtClean="0">
                <a:solidFill>
                  <a:schemeClr val="bg1"/>
                </a:solidFill>
              </a:rPr>
              <a:t>Streamlit</a:t>
            </a:r>
            <a:r>
              <a:rPr lang="en-GB" sz="900" dirty="0" smtClean="0">
                <a:solidFill>
                  <a:schemeClr val="bg1"/>
                </a:solidFill>
              </a:rPr>
              <a:t> app </a:t>
            </a:r>
            <a:r>
              <a:rPr lang="en-GB" sz="900" dirty="0" err="1" smtClean="0">
                <a:solidFill>
                  <a:schemeClr val="bg1"/>
                </a:solidFill>
              </a:rPr>
              <a:t>entrypoint</a:t>
            </a:r>
            <a:r>
              <a:rPr lang="en-GB" sz="900" dirty="0" smtClean="0">
                <a:solidFill>
                  <a:schemeClr val="bg1"/>
                </a:solidFill>
              </a:rPr>
              <a:t>) – </a:t>
            </a:r>
            <a:r>
              <a:rPr lang="en-GB" sz="900" dirty="0" smtClean="0">
                <a:solidFill>
                  <a:schemeClr val="bg1"/>
                </a:solidFill>
                <a:hlinkClick r:id="rId14"/>
              </a:rPr>
              <a:t>app.py</a:t>
            </a:r>
            <a:endParaRPr lang="en-GB" sz="900" dirty="0" smtClean="0">
              <a:solidFill>
                <a:schemeClr val="bg1"/>
              </a:solidFill>
            </a:endParaRPr>
          </a:p>
          <a:p>
            <a:pPr marL="0" indent="0">
              <a:lnSpc>
                <a:spcPct val="115000"/>
              </a:lnSpc>
              <a:buNone/>
            </a:pPr>
            <a:endParaRPr lang="en-GB" sz="900" dirty="0">
              <a:solidFill>
                <a:schemeClr val="bg1"/>
              </a:solidFill>
            </a:endParaRPr>
          </a:p>
          <a:p>
            <a:pPr marL="0" indent="0">
              <a:lnSpc>
                <a:spcPct val="115000"/>
              </a:lnSpc>
              <a:buNone/>
            </a:pPr>
            <a:r>
              <a:rPr lang="en-GB" sz="900" dirty="0" smtClean="0">
                <a:solidFill>
                  <a:schemeClr val="bg1"/>
                </a:solidFill>
              </a:rPr>
              <a:t>Evidence 1 (Thesis Section 3) - </a:t>
            </a:r>
            <a:r>
              <a:rPr lang="en-GB" sz="900" dirty="0" smtClean="0">
                <a:solidFill>
                  <a:schemeClr val="bg1"/>
                </a:solidFill>
                <a:hlinkClick r:id="rId15"/>
              </a:rPr>
              <a:t>Thesis</a:t>
            </a:r>
            <a:endParaRPr lang="en-GB" sz="900" dirty="0">
              <a:solidFill>
                <a:schemeClr val="bg1"/>
              </a:solidFill>
            </a:endParaRPr>
          </a:p>
        </p:txBody>
      </p:sp>
      <p:sp>
        <p:nvSpPr>
          <p:cNvPr id="396" name="Google Shape;396;p42">
            <a:extLst>
              <a:ext uri="{FF2B5EF4-FFF2-40B4-BE49-F238E27FC236}">
                <a16:creationId xmlns:a16="http://schemas.microsoft.com/office/drawing/2014/main" id="{90365685-565A-A154-BB39-BB60757F018A}"/>
              </a:ext>
            </a:extLst>
          </p:cNvPr>
          <p:cNvSpPr txBox="1">
            <a:spLocks noGrp="1"/>
          </p:cNvSpPr>
          <p:nvPr>
            <p:ph type="title" idx="3"/>
          </p:nvPr>
        </p:nvSpPr>
        <p:spPr>
          <a:xfrm>
            <a:off x="2049461" y="0"/>
            <a:ext cx="6663217" cy="5760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US" dirty="0"/>
              <a:t>Intended Learning Outcomes and Assessment Indicators for the purpose of obtaining a bachelor’s degree in Data </a:t>
            </a:r>
            <a:r>
              <a:rPr lang="en-US" dirty="0" err="1"/>
              <a:t>Scinece</a:t>
            </a:r>
            <a:r>
              <a:rPr lang="en-US" dirty="0"/>
              <a:t> and AI</a:t>
            </a:r>
            <a:endParaRPr lang="en-GB" dirty="0"/>
          </a:p>
        </p:txBody>
      </p:sp>
      <p:sp>
        <p:nvSpPr>
          <p:cNvPr id="397" name="Google Shape;397;p42">
            <a:extLst>
              <a:ext uri="{FF2B5EF4-FFF2-40B4-BE49-F238E27FC236}">
                <a16:creationId xmlns:a16="http://schemas.microsoft.com/office/drawing/2014/main" id="{37A5E0AB-1078-F672-DBB3-847B17E31B2F}"/>
              </a:ext>
            </a:extLst>
          </p:cNvPr>
          <p:cNvSpPr txBox="1">
            <a:spLocks noGrp="1"/>
          </p:cNvSpPr>
          <p:nvPr>
            <p:ph type="title" idx="4"/>
          </p:nvPr>
        </p:nvSpPr>
        <p:spPr>
          <a:xfrm>
            <a:off x="68249" y="576000"/>
            <a:ext cx="2353795" cy="4938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sz="2800" dirty="0"/>
              <a:t>Methodology</a:t>
            </a:r>
            <a:endParaRPr sz="2800" dirty="0"/>
          </a:p>
        </p:txBody>
      </p:sp>
      <p:sp>
        <p:nvSpPr>
          <p:cNvPr id="398" name="Google Shape;398;p42">
            <a:extLst>
              <a:ext uri="{FF2B5EF4-FFF2-40B4-BE49-F238E27FC236}">
                <a16:creationId xmlns:a16="http://schemas.microsoft.com/office/drawing/2014/main" id="{D691AE9C-7F94-3244-8631-ECC0D2A3DF4A}"/>
              </a:ext>
            </a:extLst>
          </p:cNvPr>
          <p:cNvSpPr txBox="1">
            <a:spLocks noGrp="1"/>
          </p:cNvSpPr>
          <p:nvPr>
            <p:ph type="title" idx="5"/>
          </p:nvPr>
        </p:nvSpPr>
        <p:spPr>
          <a:xfrm>
            <a:off x="2488951" y="576000"/>
            <a:ext cx="5854775" cy="493800"/>
          </a:xfrm>
          <a:prstGeom prst="rect">
            <a:avLst/>
          </a:prstGeom>
        </p:spPr>
        <p:txBody>
          <a:bodyPr spcFirstLastPara="1" wrap="square" lIns="91425" tIns="91425" rIns="91425" bIns="91425" anchor="ctr" anchorCtr="0">
            <a:noAutofit/>
          </a:bodyPr>
          <a:lstStyle/>
          <a:p>
            <a:r>
              <a:rPr lang="en-GB" dirty="0"/>
              <a:t>Students is able to select and apply appropriate methodologies that align with the scope and expected outcomes of their research, effectively gathering extensive data from a wide variety of relevant sources.</a:t>
            </a:r>
            <a:endParaRPr lang="nl-NL" dirty="0"/>
          </a:p>
        </p:txBody>
      </p:sp>
      <p:sp>
        <p:nvSpPr>
          <p:cNvPr id="399" name="Google Shape;399;p42">
            <a:extLst>
              <a:ext uri="{FF2B5EF4-FFF2-40B4-BE49-F238E27FC236}">
                <a16:creationId xmlns:a16="http://schemas.microsoft.com/office/drawing/2014/main" id="{E2C5F091-595D-FD87-F026-2788346F76D6}"/>
              </a:ext>
            </a:extLst>
          </p:cNvPr>
          <p:cNvSpPr txBox="1">
            <a:spLocks noGrp="1"/>
          </p:cNvSpPr>
          <p:nvPr>
            <p:ph type="title" idx="6"/>
          </p:nvPr>
        </p:nvSpPr>
        <p:spPr>
          <a:xfrm>
            <a:off x="845550" y="0"/>
            <a:ext cx="1368600" cy="5760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US" sz="900" dirty="0"/>
              <a:t>Research</a:t>
            </a:r>
            <a:br>
              <a:rPr lang="en-US" sz="900" dirty="0"/>
            </a:br>
            <a:endParaRPr sz="900" dirty="0"/>
          </a:p>
        </p:txBody>
      </p:sp>
      <p:sp>
        <p:nvSpPr>
          <p:cNvPr id="2" name="TextBox 1">
            <a:extLst>
              <a:ext uri="{FF2B5EF4-FFF2-40B4-BE49-F238E27FC236}">
                <a16:creationId xmlns:a16="http://schemas.microsoft.com/office/drawing/2014/main" id="{27C4F6E0-E743-DF0C-D7EE-90433D3D4F13}"/>
              </a:ext>
            </a:extLst>
          </p:cNvPr>
          <p:cNvSpPr txBox="1"/>
          <p:nvPr/>
        </p:nvSpPr>
        <p:spPr>
          <a:xfrm>
            <a:off x="8531799" y="134111"/>
            <a:ext cx="543951" cy="307777"/>
          </a:xfrm>
          <a:prstGeom prst="rect">
            <a:avLst/>
          </a:prstGeom>
          <a:noFill/>
        </p:spPr>
        <p:txBody>
          <a:bodyPr wrap="square">
            <a:spAutoFit/>
          </a:bodyPr>
          <a:lstStyle/>
          <a:p>
            <a:r>
              <a:rPr lang="en" dirty="0"/>
              <a:t>2/3</a:t>
            </a:r>
            <a:endParaRPr lang="en-GB" dirty="0"/>
          </a:p>
        </p:txBody>
      </p:sp>
      <p:pic>
        <p:nvPicPr>
          <p:cNvPr id="4" name="Picture 3"/>
          <p:cNvPicPr>
            <a:picLocks noChangeAspect="1"/>
          </p:cNvPicPr>
          <p:nvPr/>
        </p:nvPicPr>
        <p:blipFill>
          <a:blip r:embed="rId16"/>
          <a:stretch>
            <a:fillRect/>
          </a:stretch>
        </p:blipFill>
        <p:spPr>
          <a:xfrm>
            <a:off x="5873695" y="1234154"/>
            <a:ext cx="3065889" cy="1420424"/>
          </a:xfrm>
          <a:prstGeom prst="rect">
            <a:avLst/>
          </a:prstGeom>
        </p:spPr>
      </p:pic>
      <p:pic>
        <p:nvPicPr>
          <p:cNvPr id="5" name="Picture 4"/>
          <p:cNvPicPr>
            <a:picLocks noChangeAspect="1"/>
          </p:cNvPicPr>
          <p:nvPr/>
        </p:nvPicPr>
        <p:blipFill>
          <a:blip r:embed="rId17"/>
          <a:stretch>
            <a:fillRect/>
          </a:stretch>
        </p:blipFill>
        <p:spPr>
          <a:xfrm>
            <a:off x="4189807" y="2654626"/>
            <a:ext cx="4954193" cy="2488874"/>
          </a:xfrm>
          <a:prstGeom prst="rect">
            <a:avLst/>
          </a:prstGeom>
        </p:spPr>
      </p:pic>
    </p:spTree>
    <p:extLst>
      <p:ext uri="{BB962C8B-B14F-4D97-AF65-F5344CB8AC3E}">
        <p14:creationId xmlns:p14="http://schemas.microsoft.com/office/powerpoint/2010/main" val="1847761322"/>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Shape 392">
          <a:extLst>
            <a:ext uri="{FF2B5EF4-FFF2-40B4-BE49-F238E27FC236}">
              <a16:creationId xmlns:a16="http://schemas.microsoft.com/office/drawing/2014/main" id="{B29A38E7-2F5C-AA10-8A47-70D257ACA440}"/>
            </a:ext>
          </a:extLst>
        </p:cNvPr>
        <p:cNvGrpSpPr/>
        <p:nvPr/>
      </p:nvGrpSpPr>
      <p:grpSpPr>
        <a:xfrm>
          <a:off x="0" y="0"/>
          <a:ext cx="0" cy="0"/>
          <a:chOff x="0" y="0"/>
          <a:chExt cx="0" cy="0"/>
        </a:xfrm>
      </p:grpSpPr>
      <p:sp>
        <p:nvSpPr>
          <p:cNvPr id="393" name="Google Shape;393;p42">
            <a:extLst>
              <a:ext uri="{FF2B5EF4-FFF2-40B4-BE49-F238E27FC236}">
                <a16:creationId xmlns:a16="http://schemas.microsoft.com/office/drawing/2014/main" id="{67AAD546-03DB-1CF1-B83B-4FD13E83D7E7}"/>
              </a:ext>
            </a:extLst>
          </p:cNvPr>
          <p:cNvSpPr txBox="1">
            <a:spLocks noGrp="1"/>
          </p:cNvSpPr>
          <p:nvPr>
            <p:ph type="title"/>
          </p:nvPr>
        </p:nvSpPr>
        <p:spPr>
          <a:xfrm>
            <a:off x="68250" y="0"/>
            <a:ext cx="777300" cy="5760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ILO 1</a:t>
            </a:r>
            <a:endParaRPr/>
          </a:p>
        </p:txBody>
      </p:sp>
      <p:sp>
        <p:nvSpPr>
          <p:cNvPr id="395" name="Google Shape;395;p42">
            <a:extLst>
              <a:ext uri="{FF2B5EF4-FFF2-40B4-BE49-F238E27FC236}">
                <a16:creationId xmlns:a16="http://schemas.microsoft.com/office/drawing/2014/main" id="{2B55FACA-86AD-5BB7-9A53-EB3D24BFEB70}"/>
              </a:ext>
            </a:extLst>
          </p:cNvPr>
          <p:cNvSpPr txBox="1">
            <a:spLocks noGrp="1"/>
          </p:cNvSpPr>
          <p:nvPr>
            <p:ph type="body" idx="1"/>
          </p:nvPr>
        </p:nvSpPr>
        <p:spPr>
          <a:xfrm>
            <a:off x="182880" y="1069848"/>
            <a:ext cx="5486400" cy="3895200"/>
          </a:xfrm>
          <a:prstGeom prst="rect">
            <a:avLst/>
          </a:prstGeom>
        </p:spPr>
        <p:txBody>
          <a:bodyPr spcFirstLastPara="1" wrap="square" lIns="91425" tIns="91425" rIns="91425" bIns="91425" anchor="t" anchorCtr="0">
            <a:noAutofit/>
          </a:bodyPr>
          <a:lstStyle/>
          <a:p>
            <a:pPr marL="0" lvl="0" indent="0">
              <a:lnSpc>
                <a:spcPct val="115000"/>
              </a:lnSpc>
              <a:buNone/>
            </a:pPr>
            <a:r>
              <a:rPr lang="en-GB" sz="900" i="1" dirty="0">
                <a:solidFill>
                  <a:schemeClr val="lt1"/>
                </a:solidFill>
                <a:latin typeface="Helvetica Neue"/>
                <a:ea typeface="Helvetica Neue"/>
                <a:cs typeface="Helvetica Neue"/>
                <a:sym typeface="Helvetica Neue"/>
              </a:rPr>
              <a:t>I used what I learned from the research to make real decisions in the actual product, not just in the thesis. For example, my results showed YOLOv8n was a better choice than Faster R-CNN for this project (similar accuracy, much faster), so the app only uses YOLOv8n. I also found that the model fine-tuned on my own Sofia photos works far better on real local roads than the model trained only on the public dataset, even though the public-only model scored slightly higher on the public benchmark, so I configured the app to use the fine-tuned model instead of the "best on paper" one. The risk scores and routing logic from my methodology are the actual logic running in the app that a user interacts with, not a separate experiment</a:t>
            </a:r>
            <a:r>
              <a:rPr lang="en-GB" sz="900" i="1" dirty="0" smtClean="0">
                <a:solidFill>
                  <a:schemeClr val="lt1"/>
                </a:solidFill>
                <a:latin typeface="Helvetica Neue"/>
                <a:ea typeface="Helvetica Neue"/>
                <a:cs typeface="Helvetica Neue"/>
                <a:sym typeface="Helvetica Neue"/>
              </a:rPr>
              <a:t>.</a:t>
            </a:r>
          </a:p>
          <a:p>
            <a:pPr marL="0" lvl="0" indent="0">
              <a:lnSpc>
                <a:spcPct val="115000"/>
              </a:lnSpc>
              <a:buNone/>
            </a:pPr>
            <a:endParaRPr lang="en-GB" sz="900" i="1" dirty="0">
              <a:solidFill>
                <a:schemeClr val="lt1"/>
              </a:solidFill>
              <a:latin typeface="Helvetica Neue"/>
              <a:ea typeface="Helvetica Neue"/>
              <a:cs typeface="Helvetica Neue"/>
              <a:sym typeface="Helvetica Neue"/>
            </a:endParaRPr>
          </a:p>
          <a:p>
            <a:pPr marL="0" lvl="0" indent="0">
              <a:lnSpc>
                <a:spcPct val="115000"/>
              </a:lnSpc>
              <a:buNone/>
            </a:pPr>
            <a:endParaRPr lang="en-GB" sz="900" i="1" dirty="0" smtClean="0">
              <a:solidFill>
                <a:schemeClr val="lt1"/>
              </a:solidFill>
              <a:latin typeface="Helvetica Neue"/>
              <a:ea typeface="Helvetica Neue"/>
              <a:cs typeface="Helvetica Neue"/>
              <a:sym typeface="Helvetica Neue"/>
            </a:endParaRPr>
          </a:p>
          <a:p>
            <a:pPr marL="0" indent="0">
              <a:lnSpc>
                <a:spcPct val="115000"/>
              </a:lnSpc>
              <a:buNone/>
            </a:pPr>
            <a:r>
              <a:rPr lang="en-GB" sz="900" i="1" dirty="0" smtClean="0">
                <a:solidFill>
                  <a:schemeClr val="lt1"/>
                </a:solidFill>
                <a:latin typeface="Helvetica Neue"/>
                <a:ea typeface="Helvetica Neue"/>
                <a:cs typeface="Helvetica Neue"/>
                <a:sym typeface="Helvetica Neue"/>
              </a:rPr>
              <a:t>Evidence 1 (Thesis section 5.6, section 3.5, 3.7, 4.1 ) – </a:t>
            </a:r>
            <a:r>
              <a:rPr lang="en-GB" sz="800" dirty="0">
                <a:solidFill>
                  <a:schemeClr val="bg1"/>
                </a:solidFill>
                <a:hlinkClick r:id="rId3"/>
              </a:rPr>
              <a:t>Thesis</a:t>
            </a:r>
            <a:endParaRPr lang="en-GB" sz="800" dirty="0">
              <a:solidFill>
                <a:schemeClr val="bg1"/>
              </a:solidFill>
            </a:endParaRPr>
          </a:p>
          <a:p>
            <a:pPr marL="0" indent="0">
              <a:lnSpc>
                <a:spcPct val="115000"/>
              </a:lnSpc>
              <a:buNone/>
            </a:pPr>
            <a:endParaRPr lang="en-GB" sz="700" i="1" dirty="0" smtClean="0">
              <a:solidFill>
                <a:schemeClr val="lt1"/>
              </a:solidFill>
              <a:latin typeface="Helvetica Neue"/>
              <a:sym typeface="Helvetica Neue"/>
            </a:endParaRPr>
          </a:p>
          <a:p>
            <a:pPr marL="0" indent="0">
              <a:lnSpc>
                <a:spcPct val="115000"/>
              </a:lnSpc>
              <a:buNone/>
            </a:pPr>
            <a:r>
              <a:rPr lang="en-GB" sz="900" i="1" dirty="0" smtClean="0">
                <a:solidFill>
                  <a:schemeClr val="lt1"/>
                </a:solidFill>
                <a:latin typeface="Helvetica Neue"/>
                <a:sym typeface="Helvetica Neue"/>
              </a:rPr>
              <a:t>Evidence 16 (app config file) – </a:t>
            </a:r>
            <a:r>
              <a:rPr lang="en-GB" sz="900" i="1" dirty="0" smtClean="0">
                <a:solidFill>
                  <a:schemeClr val="lt1"/>
                </a:solidFill>
                <a:latin typeface="Helvetica Neue"/>
                <a:sym typeface="Helvetica Neue"/>
                <a:hlinkClick r:id="rId4"/>
              </a:rPr>
              <a:t>config</a:t>
            </a:r>
            <a:endParaRPr lang="en-GB" sz="900" i="1" dirty="0" smtClean="0">
              <a:solidFill>
                <a:schemeClr val="lt1"/>
              </a:solidFill>
              <a:latin typeface="Helvetica Neue"/>
              <a:sym typeface="Helvetica Neue"/>
            </a:endParaRPr>
          </a:p>
          <a:p>
            <a:pPr marL="0" indent="0">
              <a:lnSpc>
                <a:spcPct val="115000"/>
              </a:lnSpc>
              <a:buNone/>
            </a:pPr>
            <a:endParaRPr lang="en-GB" sz="900" i="1" dirty="0">
              <a:solidFill>
                <a:schemeClr val="lt1"/>
              </a:solidFill>
              <a:latin typeface="Helvetica Neue"/>
              <a:sym typeface="Helvetica Neue"/>
            </a:endParaRPr>
          </a:p>
          <a:p>
            <a:pPr marL="0" indent="0">
              <a:lnSpc>
                <a:spcPct val="115000"/>
              </a:lnSpc>
              <a:buNone/>
            </a:pPr>
            <a:r>
              <a:rPr lang="en-GB" sz="900" i="1" dirty="0" smtClean="0">
                <a:solidFill>
                  <a:schemeClr val="lt1"/>
                </a:solidFill>
                <a:latin typeface="Helvetica Neue"/>
                <a:sym typeface="Helvetica Neue"/>
              </a:rPr>
              <a:t>Evidence 17 (model comparison after fine-tuning) - </a:t>
            </a:r>
            <a:r>
              <a:rPr lang="en-GB" sz="900" i="1" dirty="0" smtClean="0">
                <a:solidFill>
                  <a:schemeClr val="lt1"/>
                </a:solidFill>
                <a:latin typeface="Helvetica Neue"/>
                <a:sym typeface="Helvetica Neue"/>
                <a:hlinkClick r:id="rId5"/>
              </a:rPr>
              <a:t>model comparisson</a:t>
            </a:r>
            <a:endParaRPr lang="en-GB" sz="900" i="1" dirty="0" smtClean="0">
              <a:solidFill>
                <a:schemeClr val="lt1"/>
              </a:solidFill>
              <a:latin typeface="Helvetica Neue"/>
              <a:sym typeface="Helvetica Neue"/>
            </a:endParaRPr>
          </a:p>
        </p:txBody>
      </p:sp>
      <p:sp>
        <p:nvSpPr>
          <p:cNvPr id="396" name="Google Shape;396;p42">
            <a:extLst>
              <a:ext uri="{FF2B5EF4-FFF2-40B4-BE49-F238E27FC236}">
                <a16:creationId xmlns:a16="http://schemas.microsoft.com/office/drawing/2014/main" id="{62FED935-CDD3-C179-5D76-6A8CDF155D55}"/>
              </a:ext>
            </a:extLst>
          </p:cNvPr>
          <p:cNvSpPr txBox="1">
            <a:spLocks noGrp="1"/>
          </p:cNvSpPr>
          <p:nvPr>
            <p:ph type="title" idx="3"/>
          </p:nvPr>
        </p:nvSpPr>
        <p:spPr>
          <a:xfrm>
            <a:off x="2049461" y="0"/>
            <a:ext cx="6663217" cy="5760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US" dirty="0"/>
              <a:t>Intended Learning Outcomes and Assessment Indicators for the purpose of obtaining a bachelor’s degree in Data </a:t>
            </a:r>
            <a:r>
              <a:rPr lang="en-US" dirty="0" err="1"/>
              <a:t>Scinece</a:t>
            </a:r>
            <a:r>
              <a:rPr lang="en-US" dirty="0"/>
              <a:t> and AI</a:t>
            </a:r>
            <a:endParaRPr lang="en-GB" dirty="0"/>
          </a:p>
        </p:txBody>
      </p:sp>
      <p:sp>
        <p:nvSpPr>
          <p:cNvPr id="397" name="Google Shape;397;p42">
            <a:extLst>
              <a:ext uri="{FF2B5EF4-FFF2-40B4-BE49-F238E27FC236}">
                <a16:creationId xmlns:a16="http://schemas.microsoft.com/office/drawing/2014/main" id="{B8E4F657-7EE3-CBBF-BE9A-581C8907A4AB}"/>
              </a:ext>
            </a:extLst>
          </p:cNvPr>
          <p:cNvSpPr txBox="1">
            <a:spLocks noGrp="1"/>
          </p:cNvSpPr>
          <p:nvPr>
            <p:ph type="title" idx="4"/>
          </p:nvPr>
        </p:nvSpPr>
        <p:spPr>
          <a:xfrm>
            <a:off x="68250" y="576000"/>
            <a:ext cx="1981212" cy="4938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sz="2800" dirty="0"/>
              <a:t>Application</a:t>
            </a:r>
            <a:endParaRPr sz="2800" dirty="0"/>
          </a:p>
        </p:txBody>
      </p:sp>
      <p:sp>
        <p:nvSpPr>
          <p:cNvPr id="398" name="Google Shape;398;p42">
            <a:extLst>
              <a:ext uri="{FF2B5EF4-FFF2-40B4-BE49-F238E27FC236}">
                <a16:creationId xmlns:a16="http://schemas.microsoft.com/office/drawing/2014/main" id="{373DD8F2-EDDE-ACE7-8A72-12A315342119}"/>
              </a:ext>
            </a:extLst>
          </p:cNvPr>
          <p:cNvSpPr txBox="1">
            <a:spLocks noGrp="1"/>
          </p:cNvSpPr>
          <p:nvPr>
            <p:ph type="title" idx="5"/>
          </p:nvPr>
        </p:nvSpPr>
        <p:spPr>
          <a:xfrm>
            <a:off x="2488951" y="576000"/>
            <a:ext cx="5854775" cy="493800"/>
          </a:xfrm>
          <a:prstGeom prst="rect">
            <a:avLst/>
          </a:prstGeom>
        </p:spPr>
        <p:txBody>
          <a:bodyPr spcFirstLastPara="1" wrap="square" lIns="91425" tIns="91425" rIns="91425" bIns="91425" anchor="ctr" anchorCtr="0">
            <a:noAutofit/>
          </a:bodyPr>
          <a:lstStyle/>
          <a:p>
            <a:r>
              <a:rPr lang="en-GB" dirty="0"/>
              <a:t>Students is able to able to apply relevant data, appropriate models, and the knowledge and skills from the Data Science and AI curriculum to inform and support key decisions and evaluations related to a primary product or project.</a:t>
            </a:r>
            <a:endParaRPr lang="nl-NL" dirty="0"/>
          </a:p>
        </p:txBody>
      </p:sp>
      <p:sp>
        <p:nvSpPr>
          <p:cNvPr id="399" name="Google Shape;399;p42">
            <a:extLst>
              <a:ext uri="{FF2B5EF4-FFF2-40B4-BE49-F238E27FC236}">
                <a16:creationId xmlns:a16="http://schemas.microsoft.com/office/drawing/2014/main" id="{C031EB76-B59E-4FC6-2369-F18BD5AFA545}"/>
              </a:ext>
            </a:extLst>
          </p:cNvPr>
          <p:cNvSpPr txBox="1">
            <a:spLocks noGrp="1"/>
          </p:cNvSpPr>
          <p:nvPr>
            <p:ph type="title" idx="6"/>
          </p:nvPr>
        </p:nvSpPr>
        <p:spPr>
          <a:xfrm>
            <a:off x="845550" y="0"/>
            <a:ext cx="1368600" cy="5760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US" sz="900" dirty="0"/>
              <a:t>Research</a:t>
            </a:r>
            <a:br>
              <a:rPr lang="en-US" sz="900" dirty="0"/>
            </a:br>
            <a:endParaRPr sz="900" dirty="0"/>
          </a:p>
        </p:txBody>
      </p:sp>
      <p:sp>
        <p:nvSpPr>
          <p:cNvPr id="2" name="TextBox 1">
            <a:extLst>
              <a:ext uri="{FF2B5EF4-FFF2-40B4-BE49-F238E27FC236}">
                <a16:creationId xmlns:a16="http://schemas.microsoft.com/office/drawing/2014/main" id="{E063DA8C-82ED-A7FF-314E-06625FF7A6C3}"/>
              </a:ext>
            </a:extLst>
          </p:cNvPr>
          <p:cNvSpPr txBox="1"/>
          <p:nvPr/>
        </p:nvSpPr>
        <p:spPr>
          <a:xfrm>
            <a:off x="8531799" y="134111"/>
            <a:ext cx="543951" cy="307777"/>
          </a:xfrm>
          <a:prstGeom prst="rect">
            <a:avLst/>
          </a:prstGeom>
          <a:noFill/>
        </p:spPr>
        <p:txBody>
          <a:bodyPr wrap="square">
            <a:spAutoFit/>
          </a:bodyPr>
          <a:lstStyle/>
          <a:p>
            <a:r>
              <a:rPr lang="en" dirty="0"/>
              <a:t>3/3</a:t>
            </a:r>
            <a:endParaRPr lang="en-GB" dirty="0"/>
          </a:p>
        </p:txBody>
      </p:sp>
      <p:pic>
        <p:nvPicPr>
          <p:cNvPr id="3" name="Picture 2"/>
          <p:cNvPicPr>
            <a:picLocks noChangeAspect="1"/>
          </p:cNvPicPr>
          <p:nvPr/>
        </p:nvPicPr>
        <p:blipFill>
          <a:blip r:embed="rId6"/>
          <a:stretch>
            <a:fillRect/>
          </a:stretch>
        </p:blipFill>
        <p:spPr>
          <a:xfrm>
            <a:off x="3920088" y="2511287"/>
            <a:ext cx="5223912" cy="2579204"/>
          </a:xfrm>
          <a:prstGeom prst="rect">
            <a:avLst/>
          </a:prstGeom>
        </p:spPr>
      </p:pic>
    </p:spTree>
    <p:extLst>
      <p:ext uri="{BB962C8B-B14F-4D97-AF65-F5344CB8AC3E}">
        <p14:creationId xmlns:p14="http://schemas.microsoft.com/office/powerpoint/2010/main" val="1743877241"/>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Shape 392">
          <a:extLst>
            <a:ext uri="{FF2B5EF4-FFF2-40B4-BE49-F238E27FC236}">
              <a16:creationId xmlns:a16="http://schemas.microsoft.com/office/drawing/2014/main" id="{B29A38E7-2F5C-AA10-8A47-70D257ACA440}"/>
            </a:ext>
          </a:extLst>
        </p:cNvPr>
        <p:cNvGrpSpPr/>
        <p:nvPr/>
      </p:nvGrpSpPr>
      <p:grpSpPr>
        <a:xfrm>
          <a:off x="0" y="0"/>
          <a:ext cx="0" cy="0"/>
          <a:chOff x="0" y="0"/>
          <a:chExt cx="0" cy="0"/>
        </a:xfrm>
      </p:grpSpPr>
      <p:sp>
        <p:nvSpPr>
          <p:cNvPr id="393" name="Google Shape;393;p42">
            <a:extLst>
              <a:ext uri="{FF2B5EF4-FFF2-40B4-BE49-F238E27FC236}">
                <a16:creationId xmlns:a16="http://schemas.microsoft.com/office/drawing/2014/main" id="{67AAD546-03DB-1CF1-B83B-4FD13E83D7E7}"/>
              </a:ext>
            </a:extLst>
          </p:cNvPr>
          <p:cNvSpPr txBox="1">
            <a:spLocks noGrp="1"/>
          </p:cNvSpPr>
          <p:nvPr>
            <p:ph type="title"/>
          </p:nvPr>
        </p:nvSpPr>
        <p:spPr>
          <a:xfrm>
            <a:off x="68250" y="0"/>
            <a:ext cx="777300" cy="5760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ILO 1</a:t>
            </a:r>
            <a:endParaRPr/>
          </a:p>
        </p:txBody>
      </p:sp>
      <p:sp>
        <p:nvSpPr>
          <p:cNvPr id="396" name="Google Shape;396;p42">
            <a:extLst>
              <a:ext uri="{FF2B5EF4-FFF2-40B4-BE49-F238E27FC236}">
                <a16:creationId xmlns:a16="http://schemas.microsoft.com/office/drawing/2014/main" id="{62FED935-CDD3-C179-5D76-6A8CDF155D55}"/>
              </a:ext>
            </a:extLst>
          </p:cNvPr>
          <p:cNvSpPr txBox="1">
            <a:spLocks noGrp="1"/>
          </p:cNvSpPr>
          <p:nvPr>
            <p:ph type="title" idx="3"/>
          </p:nvPr>
        </p:nvSpPr>
        <p:spPr>
          <a:xfrm>
            <a:off x="2049461" y="0"/>
            <a:ext cx="6663217" cy="5760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US" dirty="0"/>
              <a:t>Intended Learning Outcomes and Assessment Indicators for the purpose of obtaining a bachelor’s degree in Data </a:t>
            </a:r>
            <a:r>
              <a:rPr lang="en-US" dirty="0" err="1"/>
              <a:t>Scinece</a:t>
            </a:r>
            <a:r>
              <a:rPr lang="en-US" dirty="0"/>
              <a:t> and AI</a:t>
            </a:r>
            <a:endParaRPr lang="en-GB" dirty="0"/>
          </a:p>
        </p:txBody>
      </p:sp>
      <p:sp>
        <p:nvSpPr>
          <p:cNvPr id="397" name="Google Shape;397;p42">
            <a:extLst>
              <a:ext uri="{FF2B5EF4-FFF2-40B4-BE49-F238E27FC236}">
                <a16:creationId xmlns:a16="http://schemas.microsoft.com/office/drawing/2014/main" id="{B8E4F657-7EE3-CBBF-BE9A-581C8907A4AB}"/>
              </a:ext>
            </a:extLst>
          </p:cNvPr>
          <p:cNvSpPr txBox="1">
            <a:spLocks noGrp="1"/>
          </p:cNvSpPr>
          <p:nvPr>
            <p:ph type="title" idx="4"/>
          </p:nvPr>
        </p:nvSpPr>
        <p:spPr>
          <a:xfrm>
            <a:off x="68250" y="576000"/>
            <a:ext cx="1981212" cy="4938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sz="2800" dirty="0"/>
              <a:t>Application</a:t>
            </a:r>
            <a:endParaRPr sz="2800" dirty="0"/>
          </a:p>
        </p:txBody>
      </p:sp>
      <p:sp>
        <p:nvSpPr>
          <p:cNvPr id="398" name="Google Shape;398;p42">
            <a:extLst>
              <a:ext uri="{FF2B5EF4-FFF2-40B4-BE49-F238E27FC236}">
                <a16:creationId xmlns:a16="http://schemas.microsoft.com/office/drawing/2014/main" id="{373DD8F2-EDDE-ACE7-8A72-12A315342119}"/>
              </a:ext>
            </a:extLst>
          </p:cNvPr>
          <p:cNvSpPr txBox="1">
            <a:spLocks noGrp="1"/>
          </p:cNvSpPr>
          <p:nvPr>
            <p:ph type="title" idx="5"/>
          </p:nvPr>
        </p:nvSpPr>
        <p:spPr>
          <a:xfrm>
            <a:off x="2488951" y="576000"/>
            <a:ext cx="5854775" cy="493800"/>
          </a:xfrm>
          <a:prstGeom prst="rect">
            <a:avLst/>
          </a:prstGeom>
        </p:spPr>
        <p:txBody>
          <a:bodyPr spcFirstLastPara="1" wrap="square" lIns="91425" tIns="91425" rIns="91425" bIns="91425" anchor="ctr" anchorCtr="0">
            <a:noAutofit/>
          </a:bodyPr>
          <a:lstStyle/>
          <a:p>
            <a:r>
              <a:rPr lang="en-GB" dirty="0"/>
              <a:t>Students is able to able to apply relevant data, appropriate models, and the knowledge and skills from the Data Science and AI curriculum to inform and support key decisions and evaluations related to a primary product or project.</a:t>
            </a:r>
            <a:endParaRPr lang="nl-NL" dirty="0"/>
          </a:p>
        </p:txBody>
      </p:sp>
      <p:sp>
        <p:nvSpPr>
          <p:cNvPr id="399" name="Google Shape;399;p42">
            <a:extLst>
              <a:ext uri="{FF2B5EF4-FFF2-40B4-BE49-F238E27FC236}">
                <a16:creationId xmlns:a16="http://schemas.microsoft.com/office/drawing/2014/main" id="{C031EB76-B59E-4FC6-2369-F18BD5AFA545}"/>
              </a:ext>
            </a:extLst>
          </p:cNvPr>
          <p:cNvSpPr txBox="1">
            <a:spLocks noGrp="1"/>
          </p:cNvSpPr>
          <p:nvPr>
            <p:ph type="title" idx="6"/>
          </p:nvPr>
        </p:nvSpPr>
        <p:spPr>
          <a:xfrm>
            <a:off x="845550" y="0"/>
            <a:ext cx="1368600" cy="5760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US" sz="900" dirty="0"/>
              <a:t>Research</a:t>
            </a:r>
            <a:br>
              <a:rPr lang="en-US" sz="900" dirty="0"/>
            </a:br>
            <a:endParaRPr sz="900" dirty="0"/>
          </a:p>
        </p:txBody>
      </p:sp>
      <p:sp>
        <p:nvSpPr>
          <p:cNvPr id="2" name="TextBox 1">
            <a:extLst>
              <a:ext uri="{FF2B5EF4-FFF2-40B4-BE49-F238E27FC236}">
                <a16:creationId xmlns:a16="http://schemas.microsoft.com/office/drawing/2014/main" id="{E063DA8C-82ED-A7FF-314E-06625FF7A6C3}"/>
              </a:ext>
            </a:extLst>
          </p:cNvPr>
          <p:cNvSpPr txBox="1"/>
          <p:nvPr/>
        </p:nvSpPr>
        <p:spPr>
          <a:xfrm>
            <a:off x="8531799" y="134111"/>
            <a:ext cx="543951" cy="307777"/>
          </a:xfrm>
          <a:prstGeom prst="rect">
            <a:avLst/>
          </a:prstGeom>
          <a:noFill/>
        </p:spPr>
        <p:txBody>
          <a:bodyPr wrap="square">
            <a:spAutoFit/>
          </a:bodyPr>
          <a:lstStyle/>
          <a:p>
            <a:r>
              <a:rPr lang="en" dirty="0"/>
              <a:t>3/3</a:t>
            </a:r>
            <a:endParaRPr lang="en-GB" dirty="0"/>
          </a:p>
        </p:txBody>
      </p:sp>
      <p:pic>
        <p:nvPicPr>
          <p:cNvPr id="9" name="Picture 8"/>
          <p:cNvPicPr>
            <a:picLocks noChangeAspect="1"/>
          </p:cNvPicPr>
          <p:nvPr/>
        </p:nvPicPr>
        <p:blipFill>
          <a:blip r:embed="rId3"/>
          <a:stretch>
            <a:fillRect/>
          </a:stretch>
        </p:blipFill>
        <p:spPr>
          <a:xfrm>
            <a:off x="1388532" y="1069800"/>
            <a:ext cx="6664962" cy="3872813"/>
          </a:xfrm>
          <a:prstGeom prst="rect">
            <a:avLst/>
          </a:prstGeom>
        </p:spPr>
      </p:pic>
    </p:spTree>
    <p:extLst>
      <p:ext uri="{BB962C8B-B14F-4D97-AF65-F5344CB8AC3E}">
        <p14:creationId xmlns:p14="http://schemas.microsoft.com/office/powerpoint/2010/main" val="2340920368"/>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Shape 362"/>
        <p:cNvGrpSpPr/>
        <p:nvPr/>
      </p:nvGrpSpPr>
      <p:grpSpPr>
        <a:xfrm>
          <a:off x="0" y="0"/>
          <a:ext cx="0" cy="0"/>
          <a:chOff x="0" y="0"/>
          <a:chExt cx="0" cy="0"/>
        </a:xfrm>
      </p:grpSpPr>
      <p:sp>
        <p:nvSpPr>
          <p:cNvPr id="363" name="Google Shape;363;p39"/>
          <p:cNvSpPr txBox="1">
            <a:spLocks noGrp="1"/>
          </p:cNvSpPr>
          <p:nvPr>
            <p:ph type="ctrTitle"/>
          </p:nvPr>
        </p:nvSpPr>
        <p:spPr>
          <a:xfrm>
            <a:off x="2286000" y="1104139"/>
            <a:ext cx="6400800" cy="1501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dirty="0"/>
              <a:t>ILO </a:t>
            </a:r>
            <a:r>
              <a:rPr lang="en-NL" dirty="0"/>
              <a:t>2</a:t>
            </a:r>
            <a:endParaRPr dirty="0"/>
          </a:p>
        </p:txBody>
      </p:sp>
      <p:sp>
        <p:nvSpPr>
          <p:cNvPr id="364" name="Google Shape;364;p39"/>
          <p:cNvSpPr txBox="1">
            <a:spLocks noGrp="1"/>
          </p:cNvSpPr>
          <p:nvPr>
            <p:ph type="subTitle" idx="1"/>
          </p:nvPr>
        </p:nvSpPr>
        <p:spPr>
          <a:xfrm>
            <a:off x="2286000" y="2503171"/>
            <a:ext cx="6400800" cy="685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nl-NL" dirty="0"/>
              <a:t>Product</a:t>
            </a:r>
            <a:endParaRPr dirty="0"/>
          </a:p>
        </p:txBody>
      </p:sp>
      <p:sp>
        <p:nvSpPr>
          <p:cNvPr id="365" name="Google Shape;365;p39"/>
          <p:cNvSpPr txBox="1">
            <a:spLocks noGrp="1"/>
          </p:cNvSpPr>
          <p:nvPr>
            <p:ph type="subTitle" idx="2"/>
          </p:nvPr>
        </p:nvSpPr>
        <p:spPr>
          <a:xfrm>
            <a:off x="3200400" y="3353563"/>
            <a:ext cx="5486400" cy="685800"/>
          </a:xfrm>
          <a:prstGeom prst="rect">
            <a:avLst/>
          </a:prstGeom>
        </p:spPr>
        <p:txBody>
          <a:bodyPr spcFirstLastPara="1" wrap="square" lIns="91425" tIns="91425" rIns="91425" bIns="91425" anchor="ctr" anchorCtr="0">
            <a:noAutofit/>
          </a:bodyPr>
          <a:lstStyle/>
          <a:p>
            <a:pPr marL="0" indent="0"/>
            <a:r>
              <a:rPr lang="en-US" dirty="0"/>
              <a:t>The student demonstrates the ability to create and deliver a professional product that meets the standards of the Data Science and AI industry.</a:t>
            </a:r>
          </a:p>
        </p:txBody>
      </p:sp>
      <p:sp>
        <p:nvSpPr>
          <p:cNvPr id="366" name="Google Shape;366;p39"/>
          <p:cNvSpPr txBox="1"/>
          <p:nvPr/>
        </p:nvSpPr>
        <p:spPr>
          <a:xfrm>
            <a:off x="-420624" y="754575"/>
            <a:ext cx="3383400" cy="51207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r>
              <a:rPr lang="en-NL" sz="40000" dirty="0">
                <a:solidFill>
                  <a:srgbClr val="999999"/>
                </a:solidFill>
                <a:latin typeface="Roboto"/>
                <a:ea typeface="Roboto"/>
                <a:cs typeface="Roboto"/>
                <a:sym typeface="Roboto"/>
              </a:rPr>
              <a:t>2</a:t>
            </a:r>
            <a:endParaRPr sz="40000" dirty="0">
              <a:solidFill>
                <a:srgbClr val="999999"/>
              </a:solidFill>
              <a:latin typeface="Roboto"/>
              <a:ea typeface="Roboto"/>
              <a:cs typeface="Roboto"/>
              <a:sym typeface="Roboto"/>
            </a:endParaRPr>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Shape 455"/>
        <p:cNvGrpSpPr/>
        <p:nvPr/>
      </p:nvGrpSpPr>
      <p:grpSpPr>
        <a:xfrm>
          <a:off x="0" y="0"/>
          <a:ext cx="0" cy="0"/>
          <a:chOff x="0" y="0"/>
          <a:chExt cx="0" cy="0"/>
        </a:xfrm>
      </p:grpSpPr>
      <p:sp>
        <p:nvSpPr>
          <p:cNvPr id="456" name="Google Shape;456;p48"/>
          <p:cNvSpPr txBox="1">
            <a:spLocks noGrp="1"/>
          </p:cNvSpPr>
          <p:nvPr>
            <p:ph type="title"/>
          </p:nvPr>
        </p:nvSpPr>
        <p:spPr>
          <a:xfrm>
            <a:off x="68250" y="0"/>
            <a:ext cx="777300" cy="5760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ILO 2</a:t>
            </a:r>
            <a:endParaRPr/>
          </a:p>
        </p:txBody>
      </p:sp>
      <p:sp>
        <p:nvSpPr>
          <p:cNvPr id="457" name="Google Shape;457;p48"/>
          <p:cNvSpPr txBox="1">
            <a:spLocks noGrp="1"/>
          </p:cNvSpPr>
          <p:nvPr>
            <p:ph type="title" idx="2"/>
          </p:nvPr>
        </p:nvSpPr>
        <p:spPr>
          <a:xfrm>
            <a:off x="7068300" y="0"/>
            <a:ext cx="1984200" cy="5760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dirty="0"/>
              <a:t>1/2</a:t>
            </a:r>
            <a:endParaRPr dirty="0"/>
          </a:p>
        </p:txBody>
      </p:sp>
      <p:sp>
        <p:nvSpPr>
          <p:cNvPr id="458" name="Google Shape;458;p48"/>
          <p:cNvSpPr txBox="1">
            <a:spLocks noGrp="1"/>
          </p:cNvSpPr>
          <p:nvPr>
            <p:ph type="body" idx="1"/>
          </p:nvPr>
        </p:nvSpPr>
        <p:spPr>
          <a:xfrm>
            <a:off x="182880" y="1069848"/>
            <a:ext cx="5486400" cy="3895200"/>
          </a:xfrm>
          <a:prstGeom prst="rect">
            <a:avLst/>
          </a:prstGeom>
        </p:spPr>
        <p:txBody>
          <a:bodyPr spcFirstLastPara="1" wrap="square" lIns="91425" tIns="91425" rIns="91425" bIns="91425" anchor="t" anchorCtr="0">
            <a:noAutofit/>
          </a:bodyPr>
          <a:lstStyle/>
          <a:p>
            <a:pPr marL="0" lvl="0" indent="0">
              <a:lnSpc>
                <a:spcPct val="115000"/>
              </a:lnSpc>
              <a:buNone/>
            </a:pPr>
            <a:r>
              <a:rPr lang="en-GB" sz="700" i="1" dirty="0">
                <a:solidFill>
                  <a:schemeClr val="lt1"/>
                </a:solidFill>
                <a:latin typeface="Helvetica Neue"/>
                <a:ea typeface="Helvetica Neue"/>
                <a:cs typeface="Helvetica Neue"/>
                <a:sym typeface="Helvetica Neue"/>
              </a:rPr>
              <a:t> </a:t>
            </a:r>
            <a:r>
              <a:rPr lang="en-GB" sz="900" i="1" dirty="0" smtClean="0">
                <a:solidFill>
                  <a:schemeClr val="lt1"/>
                </a:solidFill>
                <a:latin typeface="Helvetica Neue"/>
                <a:ea typeface="Helvetica Neue"/>
                <a:cs typeface="Helvetica Neue"/>
                <a:sym typeface="Helvetica Neue"/>
              </a:rPr>
              <a:t>The product </a:t>
            </a:r>
            <a:r>
              <a:rPr lang="en-GB" sz="900" i="1" dirty="0">
                <a:solidFill>
                  <a:schemeClr val="lt1"/>
                </a:solidFill>
                <a:latin typeface="Helvetica Neue"/>
                <a:ea typeface="Helvetica Neue"/>
                <a:cs typeface="Helvetica Neue"/>
                <a:sym typeface="Helvetica Neue"/>
              </a:rPr>
              <a:t>detects road damage automatically, shows it on a map so damage is easy to see by location, and generates an alternative route that avoids the riskiest roads. When I tested this with real data, risk-aware routes cut hazard exposure by about 46% on average compared to the shortest route, for only a small increase in distance. I also asked 10 people to try the real app and rate it </a:t>
            </a:r>
            <a:r>
              <a:rPr lang="en-GB" sz="900" i="1" dirty="0" smtClean="0">
                <a:solidFill>
                  <a:schemeClr val="lt1"/>
                </a:solidFill>
                <a:latin typeface="Helvetica Neue"/>
                <a:ea typeface="Helvetica Neue"/>
                <a:cs typeface="Helvetica Neue"/>
                <a:sym typeface="Helvetica Neue"/>
              </a:rPr>
              <a:t>- </a:t>
            </a:r>
            <a:r>
              <a:rPr lang="en-GB" sz="900" i="1" dirty="0">
                <a:solidFill>
                  <a:schemeClr val="lt1"/>
                </a:solidFill>
                <a:latin typeface="Helvetica Neue"/>
                <a:ea typeface="Helvetica Neue"/>
                <a:cs typeface="Helvetica Neue"/>
                <a:sym typeface="Helvetica Neue"/>
              </a:rPr>
              <a:t>most rated the risk scores, map, and route comparison as clear and useful (4.2–4.6 out of 5), which shows the product isn't just useful on paper but to actual users </a:t>
            </a:r>
            <a:r>
              <a:rPr lang="en-GB" sz="900" i="1" dirty="0" smtClean="0">
                <a:solidFill>
                  <a:schemeClr val="lt1"/>
                </a:solidFill>
                <a:latin typeface="Helvetica Neue"/>
                <a:ea typeface="Helvetica Neue"/>
                <a:cs typeface="Helvetica Neue"/>
                <a:sym typeface="Helvetica Neue"/>
              </a:rPr>
              <a:t>too.</a:t>
            </a:r>
          </a:p>
          <a:p>
            <a:pPr marL="0" lvl="0" indent="0">
              <a:lnSpc>
                <a:spcPct val="115000"/>
              </a:lnSpc>
              <a:buNone/>
            </a:pPr>
            <a:endParaRPr lang="en-GB" sz="900" i="1" dirty="0">
              <a:solidFill>
                <a:schemeClr val="lt1"/>
              </a:solidFill>
              <a:latin typeface="Helvetica Neue"/>
              <a:sym typeface="Helvetica Neue"/>
            </a:endParaRPr>
          </a:p>
          <a:p>
            <a:pPr marL="0" lvl="0" indent="0">
              <a:lnSpc>
                <a:spcPct val="115000"/>
              </a:lnSpc>
              <a:buNone/>
            </a:pPr>
            <a:endParaRPr lang="en-GB" sz="900" i="1" dirty="0" smtClean="0">
              <a:solidFill>
                <a:schemeClr val="lt1"/>
              </a:solidFill>
              <a:latin typeface="Helvetica Neue"/>
              <a:sym typeface="Helvetica Neue"/>
            </a:endParaRPr>
          </a:p>
          <a:p>
            <a:pPr marL="0" lvl="0" indent="0">
              <a:lnSpc>
                <a:spcPct val="115000"/>
              </a:lnSpc>
              <a:buNone/>
            </a:pPr>
            <a:endParaRPr lang="en-GB" sz="900" i="1" dirty="0">
              <a:solidFill>
                <a:schemeClr val="lt1"/>
              </a:solidFill>
              <a:latin typeface="Helvetica Neue"/>
              <a:sym typeface="Helvetica Neue"/>
            </a:endParaRPr>
          </a:p>
          <a:p>
            <a:pPr marL="0" lvl="0" indent="0">
              <a:lnSpc>
                <a:spcPct val="115000"/>
              </a:lnSpc>
              <a:buNone/>
            </a:pPr>
            <a:endParaRPr lang="en-GB" sz="900" i="1" dirty="0" smtClean="0">
              <a:solidFill>
                <a:schemeClr val="lt1"/>
              </a:solidFill>
              <a:latin typeface="Helvetica Neue"/>
              <a:sym typeface="Helvetica Neue"/>
            </a:endParaRPr>
          </a:p>
          <a:p>
            <a:pPr marL="0" lvl="0" indent="0">
              <a:lnSpc>
                <a:spcPct val="115000"/>
              </a:lnSpc>
              <a:buNone/>
            </a:pPr>
            <a:r>
              <a:rPr lang="en-GB" sz="900" i="1" dirty="0" smtClean="0">
                <a:solidFill>
                  <a:schemeClr val="lt1"/>
                </a:solidFill>
                <a:latin typeface="Helvetica Neue"/>
                <a:sym typeface="Helvetica Neue"/>
              </a:rPr>
              <a:t>Evidence 18 (Damage map example showcase) – </a:t>
            </a:r>
            <a:r>
              <a:rPr lang="en-GB" sz="900" i="1" dirty="0" smtClean="0">
                <a:solidFill>
                  <a:schemeClr val="lt1"/>
                </a:solidFill>
                <a:latin typeface="Helvetica Neue"/>
                <a:sym typeface="Helvetica Neue"/>
                <a:hlinkClick r:id="rId3"/>
              </a:rPr>
              <a:t>example</a:t>
            </a:r>
            <a:endParaRPr lang="en-GB" sz="900" i="1" dirty="0" smtClean="0">
              <a:solidFill>
                <a:schemeClr val="lt1"/>
              </a:solidFill>
              <a:latin typeface="Helvetica Neue"/>
              <a:sym typeface="Helvetica Neue"/>
            </a:endParaRPr>
          </a:p>
          <a:p>
            <a:pPr marL="0" lvl="0" indent="0">
              <a:lnSpc>
                <a:spcPct val="115000"/>
              </a:lnSpc>
              <a:buNone/>
            </a:pPr>
            <a:endParaRPr lang="en-GB" sz="900" i="1" dirty="0">
              <a:solidFill>
                <a:schemeClr val="lt1"/>
              </a:solidFill>
              <a:latin typeface="Helvetica Neue"/>
              <a:sym typeface="Helvetica Neue"/>
            </a:endParaRPr>
          </a:p>
          <a:p>
            <a:pPr marL="0" indent="0">
              <a:lnSpc>
                <a:spcPct val="115000"/>
              </a:lnSpc>
              <a:buNone/>
            </a:pPr>
            <a:r>
              <a:rPr lang="en-GB" sz="900" i="1" dirty="0" smtClean="0">
                <a:solidFill>
                  <a:schemeClr val="lt1"/>
                </a:solidFill>
                <a:latin typeface="Helvetica Neue"/>
                <a:sym typeface="Helvetica Neue"/>
              </a:rPr>
              <a:t>Evidence 1 (Thesis sections 4.1, 4.2) - </a:t>
            </a:r>
            <a:r>
              <a:rPr lang="en-GB" i="1" dirty="0" smtClean="0">
                <a:solidFill>
                  <a:schemeClr val="lt1"/>
                </a:solidFill>
                <a:latin typeface="Helvetica Neue"/>
                <a:ea typeface="Helvetica Neue"/>
                <a:cs typeface="Helvetica Neue"/>
                <a:sym typeface="Helvetica Neue"/>
                <a:hlinkClick r:id="rId4"/>
              </a:rPr>
              <a:t>Thesis</a:t>
            </a:r>
            <a:endParaRPr lang="en-GB" i="1" dirty="0" smtClean="0">
              <a:solidFill>
                <a:schemeClr val="lt1"/>
              </a:solidFill>
              <a:latin typeface="Helvetica Neue"/>
              <a:ea typeface="Helvetica Neue"/>
              <a:cs typeface="Helvetica Neue"/>
              <a:sym typeface="Helvetica Neue"/>
            </a:endParaRPr>
          </a:p>
          <a:p>
            <a:pPr marL="0" indent="0">
              <a:lnSpc>
                <a:spcPct val="115000"/>
              </a:lnSpc>
              <a:buNone/>
            </a:pPr>
            <a:endParaRPr lang="en-GB" i="1" dirty="0">
              <a:solidFill>
                <a:schemeClr val="lt1"/>
              </a:solidFill>
              <a:latin typeface="Helvetica Neue"/>
              <a:ea typeface="Helvetica Neue"/>
              <a:cs typeface="Helvetica Neue"/>
              <a:sym typeface="Helvetica Neue"/>
            </a:endParaRPr>
          </a:p>
          <a:p>
            <a:pPr marL="0" indent="0">
              <a:lnSpc>
                <a:spcPct val="115000"/>
              </a:lnSpc>
              <a:buNone/>
            </a:pPr>
            <a:r>
              <a:rPr lang="en-GB" sz="900" i="1" dirty="0" smtClean="0">
                <a:solidFill>
                  <a:schemeClr val="bg1"/>
                </a:solidFill>
                <a:latin typeface="Helvetica Neue" panose="020B0604020202020204" charset="0"/>
                <a:ea typeface="Roboto" panose="02000000000000000000" pitchFamily="2" charset="0"/>
              </a:rPr>
              <a:t>Evidence 8 (Raw survey responses) – </a:t>
            </a:r>
            <a:r>
              <a:rPr lang="en-GB" sz="900" i="1" dirty="0" smtClean="0">
                <a:solidFill>
                  <a:schemeClr val="bg1"/>
                </a:solidFill>
                <a:latin typeface="Helvetica Neue" panose="020B0604020202020204" charset="0"/>
                <a:ea typeface="Roboto" panose="02000000000000000000" pitchFamily="2" charset="0"/>
                <a:hlinkClick r:id="rId5"/>
              </a:rPr>
              <a:t>raw_survey_responses</a:t>
            </a:r>
            <a:endParaRPr lang="en-GB" sz="900" i="1" dirty="0" smtClean="0">
              <a:solidFill>
                <a:schemeClr val="bg1"/>
              </a:solidFill>
              <a:latin typeface="Helvetica Neue" panose="020B0604020202020204" charset="0"/>
              <a:ea typeface="Roboto" panose="02000000000000000000" pitchFamily="2" charset="0"/>
            </a:endParaRPr>
          </a:p>
          <a:p>
            <a:pPr marL="0" indent="0">
              <a:lnSpc>
                <a:spcPct val="115000"/>
              </a:lnSpc>
              <a:buNone/>
            </a:pPr>
            <a:endParaRPr lang="en-GB" sz="900" i="1" dirty="0" smtClean="0">
              <a:solidFill>
                <a:schemeClr val="bg1"/>
              </a:solidFill>
              <a:latin typeface="Helvetica Neue" panose="020B0604020202020204" charset="0"/>
              <a:ea typeface="Roboto" panose="02000000000000000000" pitchFamily="2" charset="0"/>
            </a:endParaRPr>
          </a:p>
          <a:p>
            <a:pPr marL="0" indent="0">
              <a:lnSpc>
                <a:spcPct val="115000"/>
              </a:lnSpc>
              <a:buNone/>
            </a:pPr>
            <a:r>
              <a:rPr lang="en-GB" sz="900" i="1" dirty="0">
                <a:solidFill>
                  <a:schemeClr val="bg1"/>
                </a:solidFill>
                <a:latin typeface="Helvetica Neue" panose="020B0604020202020204" charset="0"/>
              </a:rPr>
              <a:t>Evidence 9 (Thematic analysis) - </a:t>
            </a:r>
            <a:r>
              <a:rPr lang="en-GB" sz="900" i="1" dirty="0">
                <a:solidFill>
                  <a:schemeClr val="bg1"/>
                </a:solidFill>
                <a:latin typeface="Helvetica Neue" panose="020B0604020202020204" charset="0"/>
                <a:hlinkClick r:id="rId6"/>
              </a:rPr>
              <a:t>Thematic </a:t>
            </a:r>
            <a:r>
              <a:rPr lang="en-GB" sz="900" i="1" dirty="0" smtClean="0">
                <a:solidFill>
                  <a:schemeClr val="bg1"/>
                </a:solidFill>
                <a:latin typeface="Helvetica Neue" panose="020B0604020202020204" charset="0"/>
                <a:hlinkClick r:id="rId6"/>
              </a:rPr>
              <a:t>analysis</a:t>
            </a:r>
            <a:endParaRPr lang="en-GB" sz="900" i="1" dirty="0" smtClean="0">
              <a:solidFill>
                <a:schemeClr val="bg1"/>
              </a:solidFill>
              <a:latin typeface="Helvetica Neue" panose="020B0604020202020204" charset="0"/>
            </a:endParaRPr>
          </a:p>
          <a:p>
            <a:pPr marL="0" indent="0">
              <a:lnSpc>
                <a:spcPct val="115000"/>
              </a:lnSpc>
              <a:buNone/>
            </a:pPr>
            <a:endParaRPr lang="en-GB" sz="900" i="1" dirty="0">
              <a:solidFill>
                <a:schemeClr val="bg1"/>
              </a:solidFill>
              <a:latin typeface="Helvetica Neue" panose="020B0604020202020204" charset="0"/>
            </a:endParaRPr>
          </a:p>
          <a:p>
            <a:pPr marL="0" indent="0">
              <a:lnSpc>
                <a:spcPct val="115000"/>
              </a:lnSpc>
              <a:buNone/>
            </a:pPr>
            <a:r>
              <a:rPr lang="en-GB" sz="900" i="1" dirty="0" smtClean="0">
                <a:solidFill>
                  <a:schemeClr val="bg1"/>
                </a:solidFill>
                <a:latin typeface="Helvetica Neue" panose="020B0604020202020204" charset="0"/>
              </a:rPr>
              <a:t>Evidence 19 (H3 evaluation notebook) - </a:t>
            </a:r>
            <a:r>
              <a:rPr lang="en-GB" sz="900" i="1" dirty="0" smtClean="0">
                <a:solidFill>
                  <a:schemeClr val="bg1"/>
                </a:solidFill>
                <a:latin typeface="Helvetica Neue" panose="020B0604020202020204" charset="0"/>
                <a:hlinkClick r:id="rId7"/>
              </a:rPr>
              <a:t>H3 evaluation notebook</a:t>
            </a:r>
            <a:endParaRPr lang="en-GB" sz="900" i="1" dirty="0" smtClean="0">
              <a:solidFill>
                <a:schemeClr val="bg1"/>
              </a:solidFill>
              <a:latin typeface="Helvetica Neue" panose="020B0604020202020204" charset="0"/>
            </a:endParaRPr>
          </a:p>
          <a:p>
            <a:pPr marL="0" indent="0">
              <a:lnSpc>
                <a:spcPct val="115000"/>
              </a:lnSpc>
              <a:buNone/>
            </a:pPr>
            <a:endParaRPr lang="en-GB" sz="900" i="1" dirty="0">
              <a:solidFill>
                <a:schemeClr val="bg1"/>
              </a:solidFill>
              <a:latin typeface="Helvetica Neue" panose="020B0604020202020204" charset="0"/>
            </a:endParaRPr>
          </a:p>
          <a:p>
            <a:pPr marL="0" indent="0">
              <a:lnSpc>
                <a:spcPct val="115000"/>
              </a:lnSpc>
              <a:buNone/>
            </a:pPr>
            <a:r>
              <a:rPr lang="en-GB" sz="900" i="1" dirty="0" smtClean="0">
                <a:solidFill>
                  <a:schemeClr val="bg1"/>
                </a:solidFill>
                <a:latin typeface="Helvetica Neue" panose="020B0604020202020204" charset="0"/>
              </a:rPr>
              <a:t>Evidence 20 (h4 </a:t>
            </a:r>
            <a:r>
              <a:rPr lang="en-GB" sz="900" i="1" dirty="0" err="1" smtClean="0">
                <a:solidFill>
                  <a:schemeClr val="bg1"/>
                </a:solidFill>
                <a:latin typeface="Helvetica Neue" panose="020B0604020202020204" charset="0"/>
              </a:rPr>
              <a:t>heatmap</a:t>
            </a:r>
            <a:r>
              <a:rPr lang="en-GB" sz="900" i="1" dirty="0" smtClean="0">
                <a:solidFill>
                  <a:schemeClr val="bg1"/>
                </a:solidFill>
                <a:latin typeface="Helvetica Neue" panose="020B0604020202020204" charset="0"/>
              </a:rPr>
              <a:t> validation script) - </a:t>
            </a:r>
            <a:r>
              <a:rPr lang="en-GB" sz="900" i="1" dirty="0" smtClean="0">
                <a:solidFill>
                  <a:schemeClr val="bg1"/>
                </a:solidFill>
                <a:latin typeface="Helvetica Neue" panose="020B0604020202020204" charset="0"/>
                <a:hlinkClick r:id="rId8"/>
              </a:rPr>
              <a:t>evaluation_h4</a:t>
            </a:r>
            <a:endParaRPr lang="en-GB" sz="900" i="1" dirty="0" smtClean="0">
              <a:solidFill>
                <a:schemeClr val="bg1"/>
              </a:solidFill>
              <a:latin typeface="Helvetica Neue" panose="020B0604020202020204" charset="0"/>
            </a:endParaRPr>
          </a:p>
          <a:p>
            <a:pPr marL="0" indent="0">
              <a:lnSpc>
                <a:spcPct val="115000"/>
              </a:lnSpc>
              <a:buNone/>
            </a:pPr>
            <a:endParaRPr lang="en-GB" sz="900" i="1" dirty="0">
              <a:solidFill>
                <a:schemeClr val="bg1"/>
              </a:solidFill>
              <a:latin typeface="Helvetica Neue" panose="020B0604020202020204" charset="0"/>
            </a:endParaRPr>
          </a:p>
          <a:p>
            <a:pPr marL="0" indent="0">
              <a:lnSpc>
                <a:spcPct val="115000"/>
              </a:lnSpc>
              <a:buNone/>
            </a:pPr>
            <a:r>
              <a:rPr lang="en-GB" sz="900" i="1" dirty="0" smtClean="0">
                <a:solidFill>
                  <a:schemeClr val="bg1"/>
                </a:solidFill>
                <a:latin typeface="Helvetica Neue" panose="020B0604020202020204" charset="0"/>
              </a:rPr>
              <a:t>Evidence 21 (h4 evaluation results csv) - </a:t>
            </a:r>
            <a:r>
              <a:rPr lang="en-GB" sz="900" i="1" dirty="0" smtClean="0">
                <a:solidFill>
                  <a:schemeClr val="bg1"/>
                </a:solidFill>
                <a:latin typeface="Helvetica Neue" panose="020B0604020202020204" charset="0"/>
                <a:hlinkClick r:id="rId9"/>
              </a:rPr>
              <a:t>evaluation_results_h4.csv</a:t>
            </a:r>
            <a:endParaRPr lang="en-GB" sz="900" i="1" dirty="0" smtClean="0">
              <a:solidFill>
                <a:schemeClr val="bg1"/>
              </a:solidFill>
              <a:latin typeface="Helvetica Neue" panose="020B0604020202020204" charset="0"/>
            </a:endParaRPr>
          </a:p>
          <a:p>
            <a:pPr marL="0" indent="0">
              <a:lnSpc>
                <a:spcPct val="115000"/>
              </a:lnSpc>
              <a:buNone/>
            </a:pPr>
            <a:endParaRPr lang="en-GB" sz="900" i="1" dirty="0">
              <a:solidFill>
                <a:schemeClr val="bg1"/>
              </a:solidFill>
              <a:latin typeface="Helvetica Neue" panose="020B0604020202020204" charset="0"/>
            </a:endParaRPr>
          </a:p>
          <a:p>
            <a:pPr marL="0" indent="0">
              <a:lnSpc>
                <a:spcPct val="115000"/>
              </a:lnSpc>
              <a:buNone/>
            </a:pPr>
            <a:r>
              <a:rPr lang="en-GB" sz="900" i="1" dirty="0" smtClean="0">
                <a:solidFill>
                  <a:schemeClr val="bg1"/>
                </a:solidFill>
                <a:latin typeface="Helvetica Neue" panose="020B0604020202020204" charset="0"/>
              </a:rPr>
              <a:t>Evidence 22 (h2 evaluation results csv) - </a:t>
            </a:r>
            <a:r>
              <a:rPr lang="en-GB" sz="900" i="1" dirty="0" smtClean="0">
                <a:solidFill>
                  <a:schemeClr val="bg1"/>
                </a:solidFill>
                <a:latin typeface="Helvetica Neue" panose="020B0604020202020204" charset="0"/>
                <a:hlinkClick r:id="rId10"/>
              </a:rPr>
              <a:t>h2 evaluation results csv</a:t>
            </a:r>
            <a:endParaRPr lang="en-GB" sz="900" i="1" dirty="0">
              <a:solidFill>
                <a:schemeClr val="bg1"/>
              </a:solidFill>
              <a:latin typeface="Helvetica Neue" panose="020B0604020202020204" charset="0"/>
            </a:endParaRPr>
          </a:p>
          <a:p>
            <a:pPr marL="0" indent="0">
              <a:lnSpc>
                <a:spcPct val="115000"/>
              </a:lnSpc>
              <a:buNone/>
            </a:pPr>
            <a:endParaRPr lang="en-GB" sz="900" i="1" dirty="0">
              <a:solidFill>
                <a:schemeClr val="bg1"/>
              </a:solidFill>
              <a:latin typeface="Helvetica Neue" panose="020B0604020202020204" charset="0"/>
              <a:ea typeface="Roboto" panose="02000000000000000000" pitchFamily="2" charset="0"/>
            </a:endParaRPr>
          </a:p>
        </p:txBody>
      </p:sp>
      <p:sp>
        <p:nvSpPr>
          <p:cNvPr id="459" name="Google Shape;459;p48"/>
          <p:cNvSpPr txBox="1">
            <a:spLocks noGrp="1"/>
          </p:cNvSpPr>
          <p:nvPr>
            <p:ph type="title" idx="3"/>
          </p:nvPr>
        </p:nvSpPr>
        <p:spPr>
          <a:xfrm>
            <a:off x="2049461" y="0"/>
            <a:ext cx="5576290" cy="576000"/>
          </a:xfrm>
          <a:prstGeom prst="rect">
            <a:avLst/>
          </a:prstGeom>
        </p:spPr>
        <p:txBody>
          <a:bodyPr spcFirstLastPara="1" wrap="square" lIns="91425" tIns="91425" rIns="91425" bIns="91425" anchor="ctr" anchorCtr="0">
            <a:noAutofit/>
          </a:bodyPr>
          <a:lstStyle/>
          <a:p>
            <a:r>
              <a:rPr lang="en-US" dirty="0"/>
              <a:t>The student demonstrates the ability to create and deliver a professional product that meets the standards of the Data Science and AI industry.</a:t>
            </a:r>
            <a:endParaRPr lang="en-GB" dirty="0"/>
          </a:p>
        </p:txBody>
      </p:sp>
      <p:sp>
        <p:nvSpPr>
          <p:cNvPr id="460" name="Google Shape;460;p48"/>
          <p:cNvSpPr txBox="1">
            <a:spLocks noGrp="1"/>
          </p:cNvSpPr>
          <p:nvPr>
            <p:ph type="title" idx="4"/>
          </p:nvPr>
        </p:nvSpPr>
        <p:spPr>
          <a:xfrm>
            <a:off x="68249" y="576000"/>
            <a:ext cx="2063864" cy="4938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sz="2400" dirty="0"/>
              <a:t>Usefulness</a:t>
            </a:r>
            <a:endParaRPr sz="2400" dirty="0"/>
          </a:p>
        </p:txBody>
      </p:sp>
      <p:sp>
        <p:nvSpPr>
          <p:cNvPr id="461" name="Google Shape;461;p48"/>
          <p:cNvSpPr txBox="1">
            <a:spLocks noGrp="1"/>
          </p:cNvSpPr>
          <p:nvPr>
            <p:ph type="title" idx="5"/>
          </p:nvPr>
        </p:nvSpPr>
        <p:spPr>
          <a:xfrm>
            <a:off x="2132113" y="576000"/>
            <a:ext cx="6261550" cy="493800"/>
          </a:xfrm>
          <a:prstGeom prst="rect">
            <a:avLst/>
          </a:prstGeom>
        </p:spPr>
        <p:txBody>
          <a:bodyPr spcFirstLastPara="1" wrap="square" lIns="91425" tIns="91425" rIns="91425" bIns="91425" anchor="ctr" anchorCtr="0">
            <a:noAutofit/>
          </a:bodyPr>
          <a:lstStyle/>
          <a:p>
            <a:r>
              <a:rPr lang="en-GB" dirty="0"/>
              <a:t>Students is able to develop a product that appropriately and clearly achieves the identified goal, supported by thorough testing and evaluation with stakeholders</a:t>
            </a:r>
          </a:p>
        </p:txBody>
      </p:sp>
      <p:sp>
        <p:nvSpPr>
          <p:cNvPr id="462" name="Google Shape;462;p48"/>
          <p:cNvSpPr txBox="1">
            <a:spLocks noGrp="1"/>
          </p:cNvSpPr>
          <p:nvPr>
            <p:ph type="title" idx="6"/>
          </p:nvPr>
        </p:nvSpPr>
        <p:spPr>
          <a:xfrm>
            <a:off x="845550" y="0"/>
            <a:ext cx="1368600" cy="5760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US" sz="1100" dirty="0"/>
              <a:t>Product</a:t>
            </a:r>
            <a:endParaRPr sz="1100" dirty="0"/>
          </a:p>
        </p:txBody>
      </p:sp>
      <p:pic>
        <p:nvPicPr>
          <p:cNvPr id="9" name="Picture 8"/>
          <p:cNvPicPr>
            <a:picLocks noChangeAspect="1"/>
          </p:cNvPicPr>
          <p:nvPr/>
        </p:nvPicPr>
        <p:blipFill>
          <a:blip r:embed="rId11"/>
          <a:stretch>
            <a:fillRect/>
          </a:stretch>
        </p:blipFill>
        <p:spPr>
          <a:xfrm>
            <a:off x="4229973" y="2109652"/>
            <a:ext cx="4914027" cy="2855396"/>
          </a:xfrm>
          <a:prstGeom prst="rect">
            <a:avLst/>
          </a:prstGeom>
        </p:spPr>
      </p:pic>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Shape 455">
          <a:extLst>
            <a:ext uri="{FF2B5EF4-FFF2-40B4-BE49-F238E27FC236}">
              <a16:creationId xmlns:a16="http://schemas.microsoft.com/office/drawing/2014/main" id="{C6AB58CA-63ED-227A-387A-45495EA81792}"/>
            </a:ext>
          </a:extLst>
        </p:cNvPr>
        <p:cNvGrpSpPr/>
        <p:nvPr/>
      </p:nvGrpSpPr>
      <p:grpSpPr>
        <a:xfrm>
          <a:off x="0" y="0"/>
          <a:ext cx="0" cy="0"/>
          <a:chOff x="0" y="0"/>
          <a:chExt cx="0" cy="0"/>
        </a:xfrm>
      </p:grpSpPr>
      <p:sp>
        <p:nvSpPr>
          <p:cNvPr id="456" name="Google Shape;456;p48">
            <a:extLst>
              <a:ext uri="{FF2B5EF4-FFF2-40B4-BE49-F238E27FC236}">
                <a16:creationId xmlns:a16="http://schemas.microsoft.com/office/drawing/2014/main" id="{387F404A-6975-6198-85FC-E91555A6CAB0}"/>
              </a:ext>
            </a:extLst>
          </p:cNvPr>
          <p:cNvSpPr txBox="1">
            <a:spLocks noGrp="1"/>
          </p:cNvSpPr>
          <p:nvPr>
            <p:ph type="title"/>
          </p:nvPr>
        </p:nvSpPr>
        <p:spPr>
          <a:xfrm>
            <a:off x="68250" y="0"/>
            <a:ext cx="777300" cy="5760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ILO 2</a:t>
            </a:r>
            <a:endParaRPr/>
          </a:p>
        </p:txBody>
      </p:sp>
      <p:sp>
        <p:nvSpPr>
          <p:cNvPr id="457" name="Google Shape;457;p48">
            <a:extLst>
              <a:ext uri="{FF2B5EF4-FFF2-40B4-BE49-F238E27FC236}">
                <a16:creationId xmlns:a16="http://schemas.microsoft.com/office/drawing/2014/main" id="{ABE32A8C-EF47-3B69-31D1-9E7CAB2D3B06}"/>
              </a:ext>
            </a:extLst>
          </p:cNvPr>
          <p:cNvSpPr txBox="1">
            <a:spLocks noGrp="1"/>
          </p:cNvSpPr>
          <p:nvPr>
            <p:ph type="title" idx="2"/>
          </p:nvPr>
        </p:nvSpPr>
        <p:spPr>
          <a:xfrm>
            <a:off x="7068300" y="0"/>
            <a:ext cx="1984200" cy="5760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dirty="0"/>
              <a:t>2/2</a:t>
            </a:r>
            <a:endParaRPr dirty="0"/>
          </a:p>
        </p:txBody>
      </p:sp>
      <p:sp>
        <p:nvSpPr>
          <p:cNvPr id="458" name="Google Shape;458;p48">
            <a:extLst>
              <a:ext uri="{FF2B5EF4-FFF2-40B4-BE49-F238E27FC236}">
                <a16:creationId xmlns:a16="http://schemas.microsoft.com/office/drawing/2014/main" id="{244472F4-7C5A-E9B6-EF34-C8DB4CCE0035}"/>
              </a:ext>
            </a:extLst>
          </p:cNvPr>
          <p:cNvSpPr txBox="1">
            <a:spLocks noGrp="1"/>
          </p:cNvSpPr>
          <p:nvPr>
            <p:ph type="body" idx="1"/>
          </p:nvPr>
        </p:nvSpPr>
        <p:spPr>
          <a:xfrm>
            <a:off x="182880" y="1069848"/>
            <a:ext cx="5486400" cy="3895200"/>
          </a:xfrm>
          <a:prstGeom prst="rect">
            <a:avLst/>
          </a:prstGeom>
        </p:spPr>
        <p:txBody>
          <a:bodyPr spcFirstLastPara="1" wrap="square" lIns="91425" tIns="91425" rIns="91425" bIns="91425" anchor="t" anchorCtr="0">
            <a:noAutofit/>
          </a:bodyPr>
          <a:lstStyle/>
          <a:p>
            <a:pPr marL="0" lvl="0" indent="0">
              <a:lnSpc>
                <a:spcPct val="115000"/>
              </a:lnSpc>
              <a:buNone/>
            </a:pPr>
            <a:r>
              <a:rPr lang="en-GB" sz="900" i="1" dirty="0">
                <a:solidFill>
                  <a:schemeClr val="lt1"/>
                </a:solidFill>
                <a:latin typeface="Helvetica Neue"/>
                <a:ea typeface="Helvetica Neue"/>
                <a:cs typeface="Helvetica Neue"/>
                <a:sym typeface="Helvetica Neue"/>
              </a:rPr>
              <a:t>I built this as a real, structured software project, not a single long script. The code is split into clear modules (detection, risk scoring, geospatial matching, routing, the </a:t>
            </a:r>
            <a:r>
              <a:rPr lang="en-GB" sz="900" i="1" dirty="0" err="1">
                <a:solidFill>
                  <a:schemeClr val="lt1"/>
                </a:solidFill>
                <a:latin typeface="Helvetica Neue"/>
                <a:ea typeface="Helvetica Neue"/>
                <a:cs typeface="Helvetica Neue"/>
                <a:sym typeface="Helvetica Neue"/>
              </a:rPr>
              <a:t>Streamlit</a:t>
            </a:r>
            <a:r>
              <a:rPr lang="en-GB" sz="900" i="1" dirty="0">
                <a:solidFill>
                  <a:schemeClr val="lt1"/>
                </a:solidFill>
                <a:latin typeface="Helvetica Neue"/>
                <a:ea typeface="Helvetica Neue"/>
                <a:cs typeface="Helvetica Neue"/>
                <a:sym typeface="Helvetica Neue"/>
              </a:rPr>
              <a:t> app) so each part can be tested, reused, and understood on its own. I used established, industry-standard models (YOLOv8, Faster R-CNN) and tools (</a:t>
            </a:r>
            <a:r>
              <a:rPr lang="en-GB" sz="900" i="1" dirty="0" err="1">
                <a:solidFill>
                  <a:schemeClr val="lt1"/>
                </a:solidFill>
                <a:latin typeface="Helvetica Neue"/>
                <a:ea typeface="Helvetica Neue"/>
                <a:cs typeface="Helvetica Neue"/>
                <a:sym typeface="Helvetica Neue"/>
              </a:rPr>
              <a:t>Streamlit</a:t>
            </a:r>
            <a:r>
              <a:rPr lang="en-GB" sz="900" i="1" dirty="0">
                <a:solidFill>
                  <a:schemeClr val="lt1"/>
                </a:solidFill>
                <a:latin typeface="Helvetica Neue"/>
                <a:ea typeface="Helvetica Neue"/>
                <a:cs typeface="Helvetica Neue"/>
                <a:sym typeface="Helvetica Neue"/>
              </a:rPr>
              <a:t>, </a:t>
            </a:r>
            <a:r>
              <a:rPr lang="en-GB" sz="900" i="1" dirty="0" err="1">
                <a:solidFill>
                  <a:schemeClr val="lt1"/>
                </a:solidFill>
                <a:latin typeface="Helvetica Neue"/>
                <a:ea typeface="Helvetica Neue"/>
                <a:cs typeface="Helvetica Neue"/>
                <a:sym typeface="Helvetica Neue"/>
              </a:rPr>
              <a:t>OpenStreetMap</a:t>
            </a:r>
            <a:r>
              <a:rPr lang="en-GB" sz="900" i="1" dirty="0">
                <a:solidFill>
                  <a:schemeClr val="lt1"/>
                </a:solidFill>
                <a:latin typeface="Helvetica Neue"/>
                <a:ea typeface="Helvetica Neue"/>
                <a:cs typeface="Helvetica Neue"/>
                <a:sym typeface="Helvetica Neue"/>
              </a:rPr>
              <a:t>/</a:t>
            </a:r>
            <a:r>
              <a:rPr lang="en-GB" sz="900" i="1" dirty="0" err="1">
                <a:solidFill>
                  <a:schemeClr val="lt1"/>
                </a:solidFill>
                <a:latin typeface="Helvetica Neue"/>
                <a:ea typeface="Helvetica Neue"/>
                <a:cs typeface="Helvetica Neue"/>
                <a:sym typeface="Helvetica Neue"/>
              </a:rPr>
              <a:t>OSMnx</a:t>
            </a:r>
            <a:r>
              <a:rPr lang="en-GB" sz="900" i="1" dirty="0">
                <a:solidFill>
                  <a:schemeClr val="lt1"/>
                </a:solidFill>
                <a:latin typeface="Helvetica Neue"/>
                <a:ea typeface="Helvetica Neue"/>
                <a:cs typeface="Helvetica Neue"/>
                <a:sym typeface="Helvetica Neue"/>
              </a:rPr>
              <a:t>), and every model is evaluated with standard metrics (F1, mAP50-95) so performance claims are measurable, not just visual. The whole pipeline — detection, risk scoring, mapping, routing </a:t>
            </a:r>
            <a:r>
              <a:rPr lang="en-GB" sz="900" i="1" dirty="0" smtClean="0">
                <a:solidFill>
                  <a:schemeClr val="lt1"/>
                </a:solidFill>
                <a:latin typeface="Helvetica Neue"/>
                <a:ea typeface="Helvetica Neue"/>
                <a:cs typeface="Helvetica Neue"/>
                <a:sym typeface="Helvetica Neue"/>
              </a:rPr>
              <a:t>- </a:t>
            </a:r>
            <a:r>
              <a:rPr lang="en-GB" sz="900" i="1" dirty="0">
                <a:solidFill>
                  <a:schemeClr val="lt1"/>
                </a:solidFill>
                <a:latin typeface="Helvetica Neue"/>
                <a:ea typeface="Helvetica Neue"/>
                <a:cs typeface="Helvetica Neue"/>
                <a:sym typeface="Helvetica Neue"/>
              </a:rPr>
              <a:t>runs end to end as one working application, which is the real test of whether the "quality" is just in the code or also in the finished product</a:t>
            </a:r>
            <a:r>
              <a:rPr lang="en-GB" sz="900" i="1" dirty="0" smtClean="0">
                <a:solidFill>
                  <a:schemeClr val="lt1"/>
                </a:solidFill>
                <a:latin typeface="Helvetica Neue"/>
                <a:ea typeface="Helvetica Neue"/>
                <a:cs typeface="Helvetica Neue"/>
                <a:sym typeface="Helvetica Neue"/>
              </a:rPr>
              <a:t>.</a:t>
            </a:r>
          </a:p>
          <a:p>
            <a:pPr marL="0" lvl="0" indent="0">
              <a:lnSpc>
                <a:spcPct val="115000"/>
              </a:lnSpc>
              <a:buNone/>
            </a:pPr>
            <a:endParaRPr lang="en-GB" sz="900" i="1" dirty="0">
              <a:solidFill>
                <a:schemeClr val="lt1"/>
              </a:solidFill>
              <a:latin typeface="Helvetica Neue"/>
              <a:sym typeface="Helvetica Neue"/>
            </a:endParaRPr>
          </a:p>
          <a:p>
            <a:pPr marL="0" lvl="0" indent="0">
              <a:lnSpc>
                <a:spcPct val="115000"/>
              </a:lnSpc>
              <a:buNone/>
            </a:pPr>
            <a:endParaRPr lang="en-GB" sz="900" i="1" dirty="0" smtClean="0">
              <a:solidFill>
                <a:schemeClr val="lt1"/>
              </a:solidFill>
              <a:latin typeface="Helvetica Neue"/>
              <a:sym typeface="Helvetica Neue"/>
            </a:endParaRPr>
          </a:p>
          <a:p>
            <a:pPr marL="0" lvl="0" indent="0">
              <a:lnSpc>
                <a:spcPct val="115000"/>
              </a:lnSpc>
              <a:buNone/>
            </a:pPr>
            <a:endParaRPr lang="en-GB" sz="900" i="1" dirty="0">
              <a:solidFill>
                <a:schemeClr val="lt1"/>
              </a:solidFill>
              <a:latin typeface="Helvetica Neue"/>
              <a:sym typeface="Helvetica Neue"/>
            </a:endParaRPr>
          </a:p>
          <a:p>
            <a:pPr marL="0" lvl="0" indent="0">
              <a:lnSpc>
                <a:spcPct val="115000"/>
              </a:lnSpc>
              <a:buNone/>
            </a:pPr>
            <a:endParaRPr lang="en-GB" sz="900" i="1" dirty="0" smtClean="0">
              <a:solidFill>
                <a:schemeClr val="lt1"/>
              </a:solidFill>
              <a:latin typeface="Helvetica Neue"/>
              <a:sym typeface="Helvetica Neue"/>
            </a:endParaRPr>
          </a:p>
          <a:p>
            <a:pPr marL="0" lvl="0" indent="0">
              <a:lnSpc>
                <a:spcPct val="115000"/>
              </a:lnSpc>
              <a:buNone/>
            </a:pPr>
            <a:endParaRPr lang="en-GB" sz="900" i="1" dirty="0">
              <a:solidFill>
                <a:schemeClr val="lt1"/>
              </a:solidFill>
              <a:latin typeface="Helvetica Neue"/>
              <a:sym typeface="Helvetica Neue"/>
            </a:endParaRPr>
          </a:p>
          <a:p>
            <a:pPr marL="0" indent="0">
              <a:lnSpc>
                <a:spcPct val="115000"/>
              </a:lnSpc>
              <a:buNone/>
            </a:pPr>
            <a:r>
              <a:rPr lang="en-GB" sz="900" i="1" dirty="0">
                <a:solidFill>
                  <a:schemeClr val="lt1"/>
                </a:solidFill>
                <a:latin typeface="Helvetica Neue"/>
                <a:ea typeface="Helvetica Neue"/>
                <a:cs typeface="Helvetica Neue"/>
                <a:sym typeface="Helvetica Neue"/>
              </a:rPr>
              <a:t>Evidence 2 (README.md - project overview) -  </a:t>
            </a:r>
            <a:r>
              <a:rPr lang="en-GB" sz="900" i="1" dirty="0">
                <a:solidFill>
                  <a:schemeClr val="lt1"/>
                </a:solidFill>
                <a:latin typeface="Helvetica Neue"/>
                <a:ea typeface="Helvetica Neue"/>
                <a:cs typeface="Helvetica Neue"/>
                <a:sym typeface="Helvetica Neue"/>
                <a:hlinkClick r:id="rId3"/>
              </a:rPr>
              <a:t>README.md </a:t>
            </a:r>
            <a:r>
              <a:rPr lang="en-GB" sz="900" i="1" dirty="0" smtClean="0">
                <a:solidFill>
                  <a:schemeClr val="lt1"/>
                </a:solidFill>
                <a:latin typeface="Helvetica Neue"/>
                <a:ea typeface="Helvetica Neue"/>
                <a:cs typeface="Helvetica Neue"/>
                <a:sym typeface="Helvetica Neue"/>
                <a:hlinkClick r:id="rId3"/>
              </a:rPr>
              <a:t>file</a:t>
            </a:r>
            <a:endParaRPr lang="en-GB" sz="900" i="1" dirty="0" smtClean="0">
              <a:solidFill>
                <a:schemeClr val="lt1"/>
              </a:solidFill>
              <a:latin typeface="Helvetica Neue"/>
              <a:ea typeface="Helvetica Neue"/>
              <a:cs typeface="Helvetica Neue"/>
              <a:sym typeface="Helvetica Neue"/>
            </a:endParaRPr>
          </a:p>
          <a:p>
            <a:pPr marL="0" indent="0">
              <a:lnSpc>
                <a:spcPct val="115000"/>
              </a:lnSpc>
              <a:buNone/>
            </a:pPr>
            <a:endParaRPr lang="en-GB" sz="1100" dirty="0">
              <a:cs typeface="Helvetica Neue"/>
            </a:endParaRPr>
          </a:p>
          <a:p>
            <a:pPr marL="0" indent="0">
              <a:lnSpc>
                <a:spcPct val="115000"/>
              </a:lnSpc>
              <a:buNone/>
            </a:pPr>
            <a:r>
              <a:rPr lang="en-GB" sz="900" i="1" dirty="0" smtClean="0">
                <a:solidFill>
                  <a:schemeClr val="lt1"/>
                </a:solidFill>
                <a:latin typeface="Helvetica Neue"/>
                <a:ea typeface="Helvetica Neue"/>
                <a:cs typeface="Helvetica Neue"/>
                <a:sym typeface="Helvetica Neue"/>
              </a:rPr>
              <a:t>Evidence 23 (source codes folder) - </a:t>
            </a:r>
            <a:r>
              <a:rPr lang="en-GB" sz="900" i="1" dirty="0" err="1" smtClean="0">
                <a:solidFill>
                  <a:schemeClr val="lt1"/>
                </a:solidFill>
                <a:latin typeface="Helvetica Neue"/>
                <a:ea typeface="Helvetica Neue"/>
                <a:cs typeface="Helvetica Neue"/>
                <a:sym typeface="Helvetica Neue"/>
                <a:hlinkClick r:id="rId4"/>
              </a:rPr>
              <a:t>src</a:t>
            </a:r>
            <a:r>
              <a:rPr lang="en-GB" sz="900" i="1" dirty="0" smtClean="0">
                <a:solidFill>
                  <a:schemeClr val="lt1"/>
                </a:solidFill>
                <a:latin typeface="Helvetica Neue"/>
                <a:ea typeface="Helvetica Neue"/>
                <a:cs typeface="Helvetica Neue"/>
                <a:sym typeface="Helvetica Neue"/>
                <a:hlinkClick r:id="rId4"/>
              </a:rPr>
              <a:t>/</a:t>
            </a:r>
            <a:endParaRPr lang="en-GB" sz="900" i="1" dirty="0" smtClean="0">
              <a:solidFill>
                <a:schemeClr val="lt1"/>
              </a:solidFill>
              <a:latin typeface="Helvetica Neue"/>
              <a:ea typeface="Helvetica Neue"/>
              <a:cs typeface="Helvetica Neue"/>
              <a:sym typeface="Helvetica Neue"/>
            </a:endParaRPr>
          </a:p>
          <a:p>
            <a:pPr marL="0" indent="0">
              <a:lnSpc>
                <a:spcPct val="115000"/>
              </a:lnSpc>
              <a:buNone/>
            </a:pPr>
            <a:endParaRPr lang="en-GB" sz="900" i="1" dirty="0" smtClean="0">
              <a:solidFill>
                <a:schemeClr val="lt1"/>
              </a:solidFill>
              <a:latin typeface="Helvetica Neue"/>
              <a:ea typeface="Helvetica Neue"/>
              <a:cs typeface="Helvetica Neue"/>
              <a:sym typeface="Helvetica Neue"/>
            </a:endParaRPr>
          </a:p>
          <a:p>
            <a:pPr marL="0" indent="0">
              <a:lnSpc>
                <a:spcPct val="115000"/>
              </a:lnSpc>
              <a:buNone/>
            </a:pPr>
            <a:r>
              <a:rPr lang="en-GB" sz="900" i="1" dirty="0" smtClean="0">
                <a:solidFill>
                  <a:schemeClr val="lt1"/>
                </a:solidFill>
                <a:latin typeface="Helvetica Neue"/>
                <a:ea typeface="Helvetica Neue"/>
                <a:cs typeface="Helvetica Neue"/>
                <a:sym typeface="Helvetica Neue"/>
              </a:rPr>
              <a:t>Evidence 24 (requirement.txt file) – </a:t>
            </a:r>
            <a:r>
              <a:rPr lang="en-GB" sz="900" i="1" dirty="0" smtClean="0">
                <a:solidFill>
                  <a:schemeClr val="lt1"/>
                </a:solidFill>
                <a:latin typeface="Helvetica Neue"/>
                <a:ea typeface="Helvetica Neue"/>
                <a:cs typeface="Helvetica Neue"/>
                <a:sym typeface="Helvetica Neue"/>
                <a:hlinkClick r:id="rId5"/>
              </a:rPr>
              <a:t>requirements.txt</a:t>
            </a:r>
            <a:endParaRPr lang="en-GB" sz="900" i="1" dirty="0" smtClean="0">
              <a:solidFill>
                <a:schemeClr val="lt1"/>
              </a:solidFill>
              <a:latin typeface="Helvetica Neue"/>
              <a:ea typeface="Helvetica Neue"/>
              <a:cs typeface="Helvetica Neue"/>
              <a:sym typeface="Helvetica Neue"/>
            </a:endParaRPr>
          </a:p>
          <a:p>
            <a:pPr marL="0" indent="0">
              <a:lnSpc>
                <a:spcPct val="115000"/>
              </a:lnSpc>
              <a:buNone/>
            </a:pPr>
            <a:endParaRPr lang="en-GB" sz="900" i="1" dirty="0" smtClean="0">
              <a:solidFill>
                <a:schemeClr val="lt1"/>
              </a:solidFill>
              <a:latin typeface="Helvetica Neue"/>
              <a:ea typeface="Helvetica Neue"/>
              <a:cs typeface="Helvetica Neue"/>
              <a:sym typeface="Helvetica Neue"/>
            </a:endParaRPr>
          </a:p>
          <a:p>
            <a:pPr marL="0" indent="0">
              <a:lnSpc>
                <a:spcPct val="115000"/>
              </a:lnSpc>
              <a:buNone/>
            </a:pPr>
            <a:r>
              <a:rPr lang="en-GB" sz="900" i="1" dirty="0" smtClean="0">
                <a:solidFill>
                  <a:schemeClr val="bg1"/>
                </a:solidFill>
                <a:latin typeface="Helvetica Neue" panose="020B0604020202020204" charset="0"/>
              </a:rPr>
              <a:t>Evidence 15 (</a:t>
            </a:r>
            <a:r>
              <a:rPr lang="en-GB" sz="900" i="1" dirty="0" err="1" smtClean="0">
                <a:solidFill>
                  <a:schemeClr val="bg1"/>
                </a:solidFill>
                <a:latin typeface="Helvetica Neue" panose="020B0604020202020204" charset="0"/>
              </a:rPr>
              <a:t>Streamlit</a:t>
            </a:r>
            <a:r>
              <a:rPr lang="en-GB" sz="900" i="1" dirty="0" smtClean="0">
                <a:solidFill>
                  <a:schemeClr val="bg1"/>
                </a:solidFill>
                <a:latin typeface="Helvetica Neue" panose="020B0604020202020204" charset="0"/>
              </a:rPr>
              <a:t> app </a:t>
            </a:r>
            <a:r>
              <a:rPr lang="en-GB" sz="900" i="1" dirty="0" err="1" smtClean="0">
                <a:solidFill>
                  <a:schemeClr val="bg1"/>
                </a:solidFill>
                <a:latin typeface="Helvetica Neue" panose="020B0604020202020204" charset="0"/>
              </a:rPr>
              <a:t>entrypoint</a:t>
            </a:r>
            <a:r>
              <a:rPr lang="en-GB" sz="900" i="1" dirty="0" smtClean="0">
                <a:solidFill>
                  <a:schemeClr val="bg1"/>
                </a:solidFill>
                <a:latin typeface="Helvetica Neue" panose="020B0604020202020204" charset="0"/>
              </a:rPr>
              <a:t>) – </a:t>
            </a:r>
            <a:r>
              <a:rPr lang="en-GB" sz="900" i="1" dirty="0" smtClean="0">
                <a:solidFill>
                  <a:schemeClr val="bg1"/>
                </a:solidFill>
                <a:latin typeface="Helvetica Neue" panose="020B0604020202020204" charset="0"/>
                <a:hlinkClick r:id="rId6"/>
              </a:rPr>
              <a:t>app.py</a:t>
            </a:r>
            <a:endParaRPr lang="en-GB" sz="900" i="1" dirty="0" smtClean="0">
              <a:solidFill>
                <a:schemeClr val="bg1"/>
              </a:solidFill>
              <a:latin typeface="Helvetica Neue" panose="020B0604020202020204" charset="0"/>
            </a:endParaRPr>
          </a:p>
          <a:p>
            <a:pPr marL="0" indent="0">
              <a:lnSpc>
                <a:spcPct val="115000"/>
              </a:lnSpc>
              <a:buNone/>
            </a:pPr>
            <a:endParaRPr lang="en-GB" sz="900" i="1" dirty="0">
              <a:solidFill>
                <a:schemeClr val="bg1"/>
              </a:solidFill>
              <a:latin typeface="Helvetica Neue" panose="020B0604020202020204" charset="0"/>
            </a:endParaRPr>
          </a:p>
          <a:p>
            <a:pPr marL="0" indent="0">
              <a:lnSpc>
                <a:spcPct val="115000"/>
              </a:lnSpc>
              <a:buNone/>
            </a:pPr>
            <a:r>
              <a:rPr lang="en-GB" sz="900" i="1" dirty="0" smtClean="0">
                <a:solidFill>
                  <a:schemeClr val="bg1"/>
                </a:solidFill>
                <a:latin typeface="Helvetica Neue" panose="020B0604020202020204" charset="0"/>
              </a:rPr>
              <a:t>Evidence 1 (Thesis) – </a:t>
            </a:r>
            <a:r>
              <a:rPr lang="en-GB" sz="900" i="1" dirty="0" smtClean="0">
                <a:solidFill>
                  <a:schemeClr val="bg1"/>
                </a:solidFill>
                <a:latin typeface="Helvetica Neue" panose="020B0604020202020204" charset="0"/>
                <a:hlinkClick r:id="rId7"/>
              </a:rPr>
              <a:t>Thesis</a:t>
            </a:r>
            <a:endParaRPr lang="en-GB" sz="900" i="1" dirty="0" smtClean="0">
              <a:solidFill>
                <a:schemeClr val="bg1"/>
              </a:solidFill>
              <a:latin typeface="Helvetica Neue" panose="020B0604020202020204" charset="0"/>
            </a:endParaRPr>
          </a:p>
          <a:p>
            <a:pPr marL="0" indent="0">
              <a:lnSpc>
                <a:spcPct val="115000"/>
              </a:lnSpc>
              <a:buNone/>
            </a:pPr>
            <a:endParaRPr lang="en-GB" sz="900" i="1" dirty="0">
              <a:solidFill>
                <a:schemeClr val="bg1"/>
              </a:solidFill>
              <a:latin typeface="Helvetica Neue" panose="020B0604020202020204" charset="0"/>
            </a:endParaRPr>
          </a:p>
          <a:p>
            <a:pPr marL="0" indent="0">
              <a:lnSpc>
                <a:spcPct val="115000"/>
              </a:lnSpc>
              <a:buNone/>
            </a:pPr>
            <a:r>
              <a:rPr lang="en-GB" sz="900" i="1" dirty="0">
                <a:solidFill>
                  <a:schemeClr val="bg1"/>
                </a:solidFill>
                <a:latin typeface="Helvetica Neue" panose="020B0604020202020204" charset="0"/>
                <a:ea typeface="Roboto" panose="02000000000000000000" pitchFamily="2" charset="0"/>
              </a:rPr>
              <a:t>Evidence 8 (Raw survey responses) – </a:t>
            </a:r>
            <a:r>
              <a:rPr lang="en-GB" sz="900" i="1" dirty="0">
                <a:solidFill>
                  <a:schemeClr val="bg1"/>
                </a:solidFill>
                <a:latin typeface="Helvetica Neue" panose="020B0604020202020204" charset="0"/>
                <a:ea typeface="Roboto" panose="02000000000000000000" pitchFamily="2" charset="0"/>
                <a:hlinkClick r:id="rId8"/>
              </a:rPr>
              <a:t>raw_survey_responses</a:t>
            </a:r>
            <a:endParaRPr lang="en-GB" sz="900" i="1" dirty="0">
              <a:solidFill>
                <a:schemeClr val="bg1"/>
              </a:solidFill>
              <a:latin typeface="Helvetica Neue" panose="020B0604020202020204" charset="0"/>
              <a:ea typeface="Roboto" panose="02000000000000000000" pitchFamily="2" charset="0"/>
            </a:endParaRPr>
          </a:p>
          <a:p>
            <a:pPr marL="0" indent="0">
              <a:lnSpc>
                <a:spcPct val="115000"/>
              </a:lnSpc>
              <a:buNone/>
            </a:pPr>
            <a:endParaRPr lang="en-GB" sz="900" i="1" dirty="0">
              <a:solidFill>
                <a:schemeClr val="bg1"/>
              </a:solidFill>
              <a:latin typeface="Helvetica Neue" panose="020B0604020202020204" charset="0"/>
              <a:ea typeface="Roboto" panose="02000000000000000000" pitchFamily="2" charset="0"/>
            </a:endParaRPr>
          </a:p>
          <a:p>
            <a:pPr marL="0" indent="0">
              <a:lnSpc>
                <a:spcPct val="115000"/>
              </a:lnSpc>
              <a:buNone/>
            </a:pPr>
            <a:r>
              <a:rPr lang="en-GB" sz="900" i="1" dirty="0">
                <a:solidFill>
                  <a:schemeClr val="bg1"/>
                </a:solidFill>
                <a:latin typeface="Helvetica Neue" panose="020B0604020202020204" charset="0"/>
              </a:rPr>
              <a:t>Evidence 9 (Thematic analysis) - </a:t>
            </a:r>
            <a:r>
              <a:rPr lang="en-GB" sz="900" i="1" dirty="0">
                <a:solidFill>
                  <a:schemeClr val="bg1"/>
                </a:solidFill>
                <a:latin typeface="Helvetica Neue" panose="020B0604020202020204" charset="0"/>
                <a:hlinkClick r:id="rId9"/>
              </a:rPr>
              <a:t>Thematic analysis</a:t>
            </a:r>
            <a:endParaRPr lang="en-GB" sz="900" i="1" dirty="0">
              <a:solidFill>
                <a:schemeClr val="bg1"/>
              </a:solidFill>
              <a:latin typeface="Helvetica Neue" panose="020B0604020202020204" charset="0"/>
            </a:endParaRPr>
          </a:p>
          <a:p>
            <a:pPr marL="0" indent="0">
              <a:lnSpc>
                <a:spcPct val="115000"/>
              </a:lnSpc>
              <a:buNone/>
            </a:pPr>
            <a:endParaRPr lang="en-GB" sz="900" i="1" dirty="0" smtClean="0">
              <a:solidFill>
                <a:schemeClr val="bg1"/>
              </a:solidFill>
              <a:latin typeface="Helvetica Neue" panose="020B0604020202020204" charset="0"/>
            </a:endParaRPr>
          </a:p>
          <a:p>
            <a:pPr marL="0" indent="0">
              <a:lnSpc>
                <a:spcPct val="115000"/>
              </a:lnSpc>
              <a:buNone/>
            </a:pPr>
            <a:endParaRPr lang="en-GB" sz="600" i="1" dirty="0">
              <a:solidFill>
                <a:schemeClr val="lt1"/>
              </a:solidFill>
              <a:latin typeface="Helvetica Neue"/>
              <a:ea typeface="Helvetica Neue"/>
              <a:cs typeface="Helvetica Neue"/>
              <a:sym typeface="Helvetica Neue"/>
            </a:endParaRPr>
          </a:p>
        </p:txBody>
      </p:sp>
      <p:sp>
        <p:nvSpPr>
          <p:cNvPr id="459" name="Google Shape;459;p48">
            <a:extLst>
              <a:ext uri="{FF2B5EF4-FFF2-40B4-BE49-F238E27FC236}">
                <a16:creationId xmlns:a16="http://schemas.microsoft.com/office/drawing/2014/main" id="{88D6A412-48D3-9FC0-1E65-63222226BEFD}"/>
              </a:ext>
            </a:extLst>
          </p:cNvPr>
          <p:cNvSpPr txBox="1">
            <a:spLocks noGrp="1"/>
          </p:cNvSpPr>
          <p:nvPr>
            <p:ph type="title" idx="3"/>
          </p:nvPr>
        </p:nvSpPr>
        <p:spPr>
          <a:xfrm>
            <a:off x="2049461" y="0"/>
            <a:ext cx="5576290" cy="576000"/>
          </a:xfrm>
          <a:prstGeom prst="rect">
            <a:avLst/>
          </a:prstGeom>
        </p:spPr>
        <p:txBody>
          <a:bodyPr spcFirstLastPara="1" wrap="square" lIns="91425" tIns="91425" rIns="91425" bIns="91425" anchor="ctr" anchorCtr="0">
            <a:noAutofit/>
          </a:bodyPr>
          <a:lstStyle/>
          <a:p>
            <a:r>
              <a:rPr lang="en-US" dirty="0"/>
              <a:t>The student demonstrates the ability to create and deliver a professional product that meets the standards of the Data Science and AI industry.</a:t>
            </a:r>
            <a:endParaRPr lang="en-GB" dirty="0"/>
          </a:p>
        </p:txBody>
      </p:sp>
      <p:sp>
        <p:nvSpPr>
          <p:cNvPr id="460" name="Google Shape;460;p48">
            <a:extLst>
              <a:ext uri="{FF2B5EF4-FFF2-40B4-BE49-F238E27FC236}">
                <a16:creationId xmlns:a16="http://schemas.microsoft.com/office/drawing/2014/main" id="{0485BE02-178C-5FA8-0FCB-2A699F44536F}"/>
              </a:ext>
            </a:extLst>
          </p:cNvPr>
          <p:cNvSpPr txBox="1">
            <a:spLocks noGrp="1"/>
          </p:cNvSpPr>
          <p:nvPr>
            <p:ph type="title" idx="4"/>
          </p:nvPr>
        </p:nvSpPr>
        <p:spPr>
          <a:xfrm>
            <a:off x="68249" y="576000"/>
            <a:ext cx="2063864" cy="4938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sz="2400" dirty="0"/>
              <a:t>Quality</a:t>
            </a:r>
            <a:endParaRPr sz="2400" dirty="0"/>
          </a:p>
        </p:txBody>
      </p:sp>
      <p:sp>
        <p:nvSpPr>
          <p:cNvPr id="461" name="Google Shape;461;p48">
            <a:extLst>
              <a:ext uri="{FF2B5EF4-FFF2-40B4-BE49-F238E27FC236}">
                <a16:creationId xmlns:a16="http://schemas.microsoft.com/office/drawing/2014/main" id="{7BC43B53-29F8-A116-93D4-2B20C1FC7E71}"/>
              </a:ext>
            </a:extLst>
          </p:cNvPr>
          <p:cNvSpPr txBox="1">
            <a:spLocks noGrp="1"/>
          </p:cNvSpPr>
          <p:nvPr>
            <p:ph type="title" idx="5"/>
          </p:nvPr>
        </p:nvSpPr>
        <p:spPr>
          <a:xfrm>
            <a:off x="2132113" y="576000"/>
            <a:ext cx="6261550" cy="493800"/>
          </a:xfrm>
          <a:prstGeom prst="rect">
            <a:avLst/>
          </a:prstGeom>
        </p:spPr>
        <p:txBody>
          <a:bodyPr spcFirstLastPara="1" wrap="square" lIns="91425" tIns="91425" rIns="91425" bIns="91425" anchor="ctr" anchorCtr="0">
            <a:noAutofit/>
          </a:bodyPr>
          <a:lstStyle/>
          <a:p>
            <a:r>
              <a:rPr lang="en-GB" dirty="0"/>
              <a:t>Students is able to develop a professional-quality product that meets industry standards and is ready for use in its intended purpose</a:t>
            </a:r>
          </a:p>
        </p:txBody>
      </p:sp>
      <p:sp>
        <p:nvSpPr>
          <p:cNvPr id="462" name="Google Shape;462;p48">
            <a:extLst>
              <a:ext uri="{FF2B5EF4-FFF2-40B4-BE49-F238E27FC236}">
                <a16:creationId xmlns:a16="http://schemas.microsoft.com/office/drawing/2014/main" id="{6E650C45-4FBD-13A6-35A7-63BC9D545147}"/>
              </a:ext>
            </a:extLst>
          </p:cNvPr>
          <p:cNvSpPr txBox="1">
            <a:spLocks noGrp="1"/>
          </p:cNvSpPr>
          <p:nvPr>
            <p:ph type="title" idx="6"/>
          </p:nvPr>
        </p:nvSpPr>
        <p:spPr>
          <a:xfrm>
            <a:off x="845550" y="0"/>
            <a:ext cx="1368600" cy="5760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US" sz="1100" dirty="0"/>
              <a:t>Product</a:t>
            </a:r>
            <a:endParaRPr sz="1100" dirty="0"/>
          </a:p>
        </p:txBody>
      </p:sp>
      <p:pic>
        <p:nvPicPr>
          <p:cNvPr id="2" name="Picture 1"/>
          <p:cNvPicPr>
            <a:picLocks noChangeAspect="1"/>
          </p:cNvPicPr>
          <p:nvPr/>
        </p:nvPicPr>
        <p:blipFill>
          <a:blip r:embed="rId10"/>
          <a:stretch>
            <a:fillRect/>
          </a:stretch>
        </p:blipFill>
        <p:spPr>
          <a:xfrm>
            <a:off x="3419061" y="3738309"/>
            <a:ext cx="2185886" cy="1018236"/>
          </a:xfrm>
          <a:prstGeom prst="rect">
            <a:avLst/>
          </a:prstGeom>
        </p:spPr>
      </p:pic>
      <p:pic>
        <p:nvPicPr>
          <p:cNvPr id="3" name="Picture 2"/>
          <p:cNvPicPr>
            <a:picLocks noChangeAspect="1"/>
          </p:cNvPicPr>
          <p:nvPr/>
        </p:nvPicPr>
        <p:blipFill>
          <a:blip r:embed="rId11"/>
          <a:stretch>
            <a:fillRect/>
          </a:stretch>
        </p:blipFill>
        <p:spPr>
          <a:xfrm>
            <a:off x="5730664" y="1069800"/>
            <a:ext cx="3413336" cy="3686745"/>
          </a:xfrm>
          <a:prstGeom prst="rect">
            <a:avLst/>
          </a:prstGeom>
        </p:spPr>
      </p:pic>
    </p:spTree>
    <p:extLst>
      <p:ext uri="{BB962C8B-B14F-4D97-AF65-F5344CB8AC3E}">
        <p14:creationId xmlns:p14="http://schemas.microsoft.com/office/powerpoint/2010/main" val="2279390845"/>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Shape 466"/>
        <p:cNvGrpSpPr/>
        <p:nvPr/>
      </p:nvGrpSpPr>
      <p:grpSpPr>
        <a:xfrm>
          <a:off x="0" y="0"/>
          <a:ext cx="0" cy="0"/>
          <a:chOff x="0" y="0"/>
          <a:chExt cx="0" cy="0"/>
        </a:xfrm>
      </p:grpSpPr>
      <p:sp>
        <p:nvSpPr>
          <p:cNvPr id="467" name="Google Shape;467;p49"/>
          <p:cNvSpPr txBox="1">
            <a:spLocks noGrp="1"/>
          </p:cNvSpPr>
          <p:nvPr>
            <p:ph type="ctrTitle"/>
          </p:nvPr>
        </p:nvSpPr>
        <p:spPr>
          <a:xfrm>
            <a:off x="2286000" y="1104139"/>
            <a:ext cx="6400800" cy="1501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dirty="0"/>
              <a:t>ILO 3</a:t>
            </a:r>
            <a:endParaRPr dirty="0"/>
          </a:p>
        </p:txBody>
      </p:sp>
      <p:sp>
        <p:nvSpPr>
          <p:cNvPr id="468" name="Google Shape;468;p49"/>
          <p:cNvSpPr txBox="1">
            <a:spLocks noGrp="1"/>
          </p:cNvSpPr>
          <p:nvPr>
            <p:ph type="subTitle" idx="1"/>
          </p:nvPr>
        </p:nvSpPr>
        <p:spPr>
          <a:xfrm>
            <a:off x="2286000" y="2503171"/>
            <a:ext cx="6400800" cy="685800"/>
          </a:xfrm>
          <a:prstGeom prst="rect">
            <a:avLst/>
          </a:prstGeom>
        </p:spPr>
        <p:txBody>
          <a:bodyPr spcFirstLastPara="1" wrap="square" lIns="91425" tIns="91425" rIns="91425" bIns="91425" anchor="ctr" anchorCtr="0">
            <a:noAutofit/>
          </a:bodyPr>
          <a:lstStyle/>
          <a:p>
            <a:pPr marL="0" indent="0"/>
            <a:r>
              <a:rPr lang="en-US" dirty="0"/>
              <a:t>Project Management</a:t>
            </a:r>
            <a:endParaRPr dirty="0"/>
          </a:p>
        </p:txBody>
      </p:sp>
      <p:sp>
        <p:nvSpPr>
          <p:cNvPr id="469" name="Google Shape;469;p49"/>
          <p:cNvSpPr txBox="1">
            <a:spLocks noGrp="1"/>
          </p:cNvSpPr>
          <p:nvPr>
            <p:ph type="subTitle" idx="2"/>
          </p:nvPr>
        </p:nvSpPr>
        <p:spPr>
          <a:xfrm>
            <a:off x="3200400" y="3353563"/>
            <a:ext cx="5486400" cy="685800"/>
          </a:xfrm>
          <a:prstGeom prst="rect">
            <a:avLst/>
          </a:prstGeom>
        </p:spPr>
        <p:txBody>
          <a:bodyPr spcFirstLastPara="1" wrap="square" lIns="91425" tIns="91425" rIns="91425" bIns="91425" anchor="ctr" anchorCtr="0">
            <a:noAutofit/>
          </a:bodyPr>
          <a:lstStyle/>
          <a:p>
            <a:pPr marL="0" indent="0"/>
            <a:r>
              <a:rPr lang="en-US" dirty="0"/>
              <a:t>The student demonstrates the ability to manage the process that leads to the completion of the product in a professional manner and according to industry standards.</a:t>
            </a:r>
            <a:endParaRPr lang="nl-NL" dirty="0"/>
          </a:p>
        </p:txBody>
      </p:sp>
      <p:sp>
        <p:nvSpPr>
          <p:cNvPr id="470" name="Google Shape;470;p49"/>
          <p:cNvSpPr txBox="1"/>
          <p:nvPr/>
        </p:nvSpPr>
        <p:spPr>
          <a:xfrm>
            <a:off x="-420624" y="749808"/>
            <a:ext cx="3383400" cy="51207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r>
              <a:rPr lang="en" sz="40000">
                <a:solidFill>
                  <a:srgbClr val="999999"/>
                </a:solidFill>
                <a:latin typeface="Roboto"/>
                <a:ea typeface="Roboto"/>
                <a:cs typeface="Roboto"/>
                <a:sym typeface="Roboto"/>
              </a:rPr>
              <a:t>3</a:t>
            </a:r>
            <a:endParaRPr sz="40000">
              <a:solidFill>
                <a:srgbClr val="999999"/>
              </a:solidFill>
              <a:latin typeface="Roboto"/>
              <a:ea typeface="Roboto"/>
              <a:cs typeface="Roboto"/>
              <a:sym typeface="Roboto"/>
            </a:endParaRPr>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Shape 474"/>
        <p:cNvGrpSpPr/>
        <p:nvPr/>
      </p:nvGrpSpPr>
      <p:grpSpPr>
        <a:xfrm>
          <a:off x="0" y="0"/>
          <a:ext cx="0" cy="0"/>
          <a:chOff x="0" y="0"/>
          <a:chExt cx="0" cy="0"/>
        </a:xfrm>
      </p:grpSpPr>
      <p:sp>
        <p:nvSpPr>
          <p:cNvPr id="475" name="Google Shape;475;p50"/>
          <p:cNvSpPr txBox="1">
            <a:spLocks noGrp="1"/>
          </p:cNvSpPr>
          <p:nvPr>
            <p:ph type="title"/>
          </p:nvPr>
        </p:nvSpPr>
        <p:spPr>
          <a:xfrm>
            <a:off x="68250" y="0"/>
            <a:ext cx="777300" cy="5760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dirty="0"/>
              <a:t>ILO 3</a:t>
            </a:r>
            <a:endParaRPr dirty="0"/>
          </a:p>
        </p:txBody>
      </p:sp>
      <p:sp>
        <p:nvSpPr>
          <p:cNvPr id="476" name="Google Shape;476;p50"/>
          <p:cNvSpPr txBox="1">
            <a:spLocks noGrp="1"/>
          </p:cNvSpPr>
          <p:nvPr>
            <p:ph type="title" idx="2"/>
          </p:nvPr>
        </p:nvSpPr>
        <p:spPr>
          <a:xfrm>
            <a:off x="7068300" y="0"/>
            <a:ext cx="1984200" cy="5760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dirty="0"/>
              <a:t>1/3</a:t>
            </a:r>
            <a:endParaRPr dirty="0"/>
          </a:p>
        </p:txBody>
      </p:sp>
      <p:sp>
        <p:nvSpPr>
          <p:cNvPr id="477" name="Google Shape;477;p50"/>
          <p:cNvSpPr txBox="1">
            <a:spLocks noGrp="1"/>
          </p:cNvSpPr>
          <p:nvPr>
            <p:ph type="body" idx="1"/>
          </p:nvPr>
        </p:nvSpPr>
        <p:spPr>
          <a:xfrm>
            <a:off x="182880" y="1069848"/>
            <a:ext cx="5486400" cy="3895200"/>
          </a:xfrm>
          <a:prstGeom prst="rect">
            <a:avLst/>
          </a:prstGeom>
        </p:spPr>
        <p:txBody>
          <a:bodyPr spcFirstLastPara="1" wrap="square" lIns="91425" tIns="91425" rIns="91425" bIns="91425" anchor="t" anchorCtr="0">
            <a:noAutofit/>
          </a:bodyPr>
          <a:lstStyle/>
          <a:p>
            <a:pPr marL="0" lvl="0" indent="0">
              <a:lnSpc>
                <a:spcPct val="115000"/>
              </a:lnSpc>
              <a:buNone/>
            </a:pPr>
            <a:r>
              <a:rPr lang="en-GB" sz="900" i="1" dirty="0">
                <a:solidFill>
                  <a:schemeClr val="lt1"/>
                </a:solidFill>
                <a:latin typeface="Helvetica Neue"/>
                <a:ea typeface="Helvetica Neue"/>
                <a:cs typeface="Helvetica Neue"/>
                <a:sym typeface="Helvetica Neue"/>
              </a:rPr>
              <a:t>I managed the project in clear, planned phases rather than working ad hoc: literature review and dataset prep first, then model training, then risk scoring and geospatial integration, then routing and system integration, then evaluation and final reporting, matching the phased roadmap from my approved proposal</a:t>
            </a:r>
            <a:r>
              <a:rPr lang="en-GB" sz="900" i="1" dirty="0" smtClean="0">
                <a:solidFill>
                  <a:schemeClr val="lt1"/>
                </a:solidFill>
                <a:latin typeface="Helvetica Neue"/>
                <a:ea typeface="Helvetica Neue"/>
                <a:cs typeface="Helvetica Neue"/>
                <a:sym typeface="Helvetica Neue"/>
              </a:rPr>
              <a:t>.</a:t>
            </a:r>
            <a:endParaRPr lang="en-GB" sz="900" i="1" dirty="0">
              <a:solidFill>
                <a:schemeClr val="lt1"/>
              </a:solidFill>
              <a:latin typeface="Helvetica Neue"/>
              <a:ea typeface="Helvetica Neue"/>
              <a:cs typeface="Helvetica Neue"/>
              <a:sym typeface="Helvetica Neue"/>
            </a:endParaRPr>
          </a:p>
          <a:p>
            <a:pPr marL="0" lvl="0" indent="0">
              <a:lnSpc>
                <a:spcPct val="115000"/>
              </a:lnSpc>
              <a:buNone/>
            </a:pPr>
            <a:r>
              <a:rPr lang="en-GB" sz="900" i="1" dirty="0">
                <a:solidFill>
                  <a:schemeClr val="lt1"/>
                </a:solidFill>
                <a:latin typeface="Helvetica Neue"/>
                <a:ea typeface="Helvetica Neue"/>
                <a:cs typeface="Helvetica Neue"/>
                <a:sym typeface="Helvetica Neue"/>
              </a:rPr>
              <a:t>The model development wasn't a single pass </a:t>
            </a:r>
            <a:r>
              <a:rPr lang="en-GB" sz="900" i="1" dirty="0" smtClean="0">
                <a:solidFill>
                  <a:schemeClr val="lt1"/>
                </a:solidFill>
                <a:latin typeface="Helvetica Neue"/>
                <a:ea typeface="Helvetica Neue"/>
                <a:cs typeface="Helvetica Neue"/>
                <a:sym typeface="Helvetica Neue"/>
              </a:rPr>
              <a:t>- </a:t>
            </a:r>
            <a:r>
              <a:rPr lang="en-GB" sz="900" i="1" dirty="0">
                <a:solidFill>
                  <a:schemeClr val="lt1"/>
                </a:solidFill>
                <a:latin typeface="Helvetica Neue"/>
                <a:ea typeface="Helvetica Neue"/>
                <a:cs typeface="Helvetica Neue"/>
                <a:sym typeface="Helvetica Neue"/>
              </a:rPr>
              <a:t>after getting an initial pipeline working on a small dataset, I iterated several times with progressively larger and better data to improve the models: first a small sample, then a medium-sized dataset, then the full large RDD2022 dataset, and finally fine-tuning on photos I collected myself in Sofia so the models would work well on real local roads, not just the public benchmark. Each iteration's results fed into the decision to do the next one</a:t>
            </a:r>
            <a:r>
              <a:rPr lang="en-GB" sz="900" i="1" dirty="0" smtClean="0">
                <a:solidFill>
                  <a:schemeClr val="lt1"/>
                </a:solidFill>
                <a:latin typeface="Helvetica Neue"/>
                <a:ea typeface="Helvetica Neue"/>
                <a:cs typeface="Helvetica Neue"/>
                <a:sym typeface="Helvetica Neue"/>
              </a:rPr>
              <a:t>.</a:t>
            </a:r>
            <a:endParaRPr lang="en-GB" sz="900" i="1" dirty="0">
              <a:solidFill>
                <a:schemeClr val="lt1"/>
              </a:solidFill>
              <a:latin typeface="Helvetica Neue"/>
              <a:ea typeface="Helvetica Neue"/>
              <a:cs typeface="Helvetica Neue"/>
              <a:sym typeface="Helvetica Neue"/>
            </a:endParaRPr>
          </a:p>
          <a:p>
            <a:pPr marL="0" lvl="0" indent="0">
              <a:lnSpc>
                <a:spcPct val="115000"/>
              </a:lnSpc>
              <a:buNone/>
            </a:pPr>
            <a:r>
              <a:rPr lang="en-GB" sz="900" i="1" dirty="0">
                <a:solidFill>
                  <a:schemeClr val="lt1"/>
                </a:solidFill>
                <a:latin typeface="Helvetica Neue"/>
                <a:ea typeface="Helvetica Neue"/>
                <a:cs typeface="Helvetica Neue"/>
                <a:sym typeface="Helvetica Neue"/>
              </a:rPr>
              <a:t>I tracked actual weekly progress in a Work Log, and had regular update meetings with my supervisor throughout the project to check progress and get feedback, logged as check-in points in the same Work Log alongside the weekly tasks</a:t>
            </a:r>
            <a:r>
              <a:rPr lang="en-GB" sz="900" i="1" dirty="0" smtClean="0">
                <a:solidFill>
                  <a:schemeClr val="lt1"/>
                </a:solidFill>
                <a:latin typeface="Helvetica Neue"/>
                <a:ea typeface="Helvetica Neue"/>
                <a:cs typeface="Helvetica Neue"/>
                <a:sym typeface="Helvetica Neue"/>
              </a:rPr>
              <a:t>.</a:t>
            </a:r>
          </a:p>
          <a:p>
            <a:pPr marL="0" lvl="0" indent="0">
              <a:lnSpc>
                <a:spcPct val="115000"/>
              </a:lnSpc>
              <a:buNone/>
            </a:pPr>
            <a:endParaRPr lang="en-GB" sz="900" i="1" dirty="0">
              <a:solidFill>
                <a:schemeClr val="lt1"/>
              </a:solidFill>
              <a:latin typeface="Helvetica Neue"/>
              <a:ea typeface="Helvetica Neue"/>
              <a:cs typeface="Helvetica Neue"/>
              <a:sym typeface="Helvetica Neue"/>
            </a:endParaRPr>
          </a:p>
          <a:p>
            <a:pPr marL="0" lvl="0" indent="0">
              <a:lnSpc>
                <a:spcPct val="115000"/>
              </a:lnSpc>
              <a:buNone/>
            </a:pPr>
            <a:r>
              <a:rPr lang="en-GB" sz="900" i="1" dirty="0" smtClean="0">
                <a:solidFill>
                  <a:schemeClr val="lt1"/>
                </a:solidFill>
                <a:latin typeface="Helvetica Neue"/>
                <a:ea typeface="Helvetica Neue"/>
                <a:cs typeface="Helvetica Neue"/>
                <a:sym typeface="Helvetica Neue"/>
              </a:rPr>
              <a:t>Evidence 25 (WorkLog) – </a:t>
            </a:r>
            <a:r>
              <a:rPr lang="en-GB" sz="900" i="1" dirty="0" smtClean="0">
                <a:solidFill>
                  <a:schemeClr val="lt1"/>
                </a:solidFill>
                <a:latin typeface="Helvetica Neue"/>
                <a:ea typeface="Helvetica Neue"/>
                <a:cs typeface="Helvetica Neue"/>
                <a:sym typeface="Helvetica Neue"/>
                <a:hlinkClick r:id="rId3"/>
              </a:rPr>
              <a:t>WorkLog</a:t>
            </a:r>
            <a:endParaRPr lang="en-GB" sz="900" i="1" dirty="0" smtClean="0">
              <a:solidFill>
                <a:schemeClr val="lt1"/>
              </a:solidFill>
              <a:latin typeface="Helvetica Neue"/>
              <a:ea typeface="Helvetica Neue"/>
              <a:cs typeface="Helvetica Neue"/>
              <a:sym typeface="Helvetica Neue"/>
            </a:endParaRPr>
          </a:p>
          <a:p>
            <a:pPr marL="0" indent="0">
              <a:lnSpc>
                <a:spcPct val="115000"/>
              </a:lnSpc>
              <a:buNone/>
            </a:pPr>
            <a:r>
              <a:rPr lang="en-GB" sz="900" i="1" dirty="0">
                <a:solidFill>
                  <a:schemeClr val="bg1"/>
                </a:solidFill>
                <a:latin typeface="Helvetica Neue" panose="020B0604020202020204" charset="0"/>
              </a:rPr>
              <a:t>Evidence 1 (Thesis) – </a:t>
            </a:r>
            <a:r>
              <a:rPr lang="en-GB" sz="900" i="1" dirty="0" smtClean="0">
                <a:solidFill>
                  <a:schemeClr val="bg1"/>
                </a:solidFill>
                <a:latin typeface="Helvetica Neue" panose="020B0604020202020204" charset="0"/>
                <a:hlinkClick r:id="rId4"/>
              </a:rPr>
              <a:t>Thesis</a:t>
            </a:r>
            <a:endParaRPr lang="en-GB" sz="900" i="1" dirty="0" smtClean="0">
              <a:solidFill>
                <a:schemeClr val="lt1"/>
              </a:solidFill>
              <a:latin typeface="Helvetica Neue"/>
              <a:ea typeface="Helvetica Neue"/>
              <a:cs typeface="Helvetica Neue"/>
              <a:sym typeface="Helvetica Neue"/>
            </a:endParaRPr>
          </a:p>
          <a:p>
            <a:pPr marL="0" lvl="0" indent="0">
              <a:lnSpc>
                <a:spcPct val="115000"/>
              </a:lnSpc>
              <a:buNone/>
            </a:pPr>
            <a:r>
              <a:rPr lang="en-GB" sz="900" i="1" dirty="0" smtClean="0">
                <a:solidFill>
                  <a:schemeClr val="lt1"/>
                </a:solidFill>
                <a:latin typeface="Helvetica Neue"/>
                <a:ea typeface="Helvetica Neue"/>
                <a:cs typeface="Helvetica Neue"/>
                <a:sym typeface="Helvetica Neue"/>
              </a:rPr>
              <a:t>Evidence 28 (Comprehensive week by week plan made at the beginning) – in Evidence ZIP</a:t>
            </a:r>
          </a:p>
          <a:p>
            <a:pPr marL="0" lvl="0" indent="0">
              <a:lnSpc>
                <a:spcPct val="115000"/>
              </a:lnSpc>
              <a:buNone/>
            </a:pPr>
            <a:endParaRPr lang="en-GB" sz="900" i="1" dirty="0">
              <a:solidFill>
                <a:schemeClr val="lt1"/>
              </a:solidFill>
              <a:latin typeface="Helvetica Neue"/>
              <a:ea typeface="Helvetica Neue"/>
              <a:cs typeface="Helvetica Neue"/>
              <a:sym typeface="Helvetica Neue"/>
            </a:endParaRPr>
          </a:p>
          <a:p>
            <a:pPr marL="0" lvl="0" indent="0">
              <a:lnSpc>
                <a:spcPct val="115000"/>
              </a:lnSpc>
              <a:buNone/>
            </a:pPr>
            <a:r>
              <a:rPr lang="en-GB" sz="900" i="1" dirty="0" err="1" smtClean="0">
                <a:solidFill>
                  <a:schemeClr val="lt1"/>
                </a:solidFill>
                <a:latin typeface="Helvetica Neue"/>
                <a:ea typeface="Helvetica Neue"/>
                <a:cs typeface="Helvetica Neue"/>
                <a:sym typeface="Helvetica Neue"/>
              </a:rPr>
              <a:t>YoLo</a:t>
            </a:r>
            <a:r>
              <a:rPr lang="en-GB" sz="900" i="1" dirty="0" smtClean="0">
                <a:solidFill>
                  <a:schemeClr val="lt1"/>
                </a:solidFill>
                <a:latin typeface="Helvetica Neue"/>
                <a:ea typeface="Helvetica Neue"/>
                <a:cs typeface="Helvetica Neue"/>
                <a:sym typeface="Helvetica Neue"/>
              </a:rPr>
              <a:t> training notebook sequence:</a:t>
            </a:r>
          </a:p>
          <a:p>
            <a:pPr marL="0" lvl="0" indent="0">
              <a:lnSpc>
                <a:spcPct val="115000"/>
              </a:lnSpc>
              <a:buNone/>
            </a:pPr>
            <a:endParaRPr lang="en-GB" sz="900" i="1" dirty="0" smtClean="0">
              <a:solidFill>
                <a:schemeClr val="lt1"/>
              </a:solidFill>
              <a:latin typeface="Helvetica Neue"/>
              <a:ea typeface="Helvetica Neue"/>
              <a:cs typeface="Helvetica Neue"/>
              <a:sym typeface="Helvetica Neue"/>
            </a:endParaRPr>
          </a:p>
          <a:p>
            <a:pPr marL="0" lvl="0" indent="0">
              <a:lnSpc>
                <a:spcPct val="115000"/>
              </a:lnSpc>
              <a:buNone/>
            </a:pPr>
            <a:r>
              <a:rPr lang="en-GB" sz="900" i="1" dirty="0" smtClean="0">
                <a:solidFill>
                  <a:schemeClr val="lt1"/>
                </a:solidFill>
                <a:latin typeface="Helvetica Neue" panose="020B0604020202020204" charset="0"/>
                <a:ea typeface="Helvetica Neue"/>
                <a:cs typeface="Helvetica Neue"/>
                <a:sym typeface="Helvetica Neue"/>
              </a:rPr>
              <a:t>Evidence 26 (</a:t>
            </a:r>
            <a:r>
              <a:rPr lang="en-GB" sz="900" i="1" dirty="0" err="1" smtClean="0">
                <a:solidFill>
                  <a:schemeClr val="lt1"/>
                </a:solidFill>
                <a:latin typeface="Helvetica Neue" panose="020B0604020202020204" charset="0"/>
                <a:ea typeface="Helvetica Neue"/>
                <a:cs typeface="Helvetica Neue"/>
                <a:sym typeface="Helvetica Neue"/>
              </a:rPr>
              <a:t>YoLo</a:t>
            </a:r>
            <a:r>
              <a:rPr lang="en-GB" sz="900" i="1" dirty="0" smtClean="0">
                <a:solidFill>
                  <a:schemeClr val="lt1"/>
                </a:solidFill>
                <a:latin typeface="Helvetica Neue" panose="020B0604020202020204" charset="0"/>
                <a:ea typeface="Helvetica Neue"/>
                <a:cs typeface="Helvetica Neue"/>
                <a:sym typeface="Helvetica Neue"/>
              </a:rPr>
              <a:t> training small sample dataset) – </a:t>
            </a:r>
            <a:r>
              <a:rPr lang="en-GB" sz="900" i="1" dirty="0" smtClean="0">
                <a:solidFill>
                  <a:schemeClr val="lt1"/>
                </a:solidFill>
                <a:latin typeface="Helvetica Neue" panose="020B0604020202020204" charset="0"/>
                <a:ea typeface="Helvetica Neue"/>
                <a:cs typeface="Helvetica Neue"/>
                <a:sym typeface="Helvetica Neue"/>
                <a:hlinkClick r:id="rId5"/>
              </a:rPr>
              <a:t>03_first_yolo_training_sample_dataset</a:t>
            </a:r>
            <a:endParaRPr lang="en-GB" sz="900" i="1" dirty="0" smtClean="0">
              <a:solidFill>
                <a:schemeClr val="lt1"/>
              </a:solidFill>
              <a:latin typeface="Helvetica Neue" panose="020B0604020202020204" charset="0"/>
              <a:ea typeface="Helvetica Neue"/>
              <a:cs typeface="Helvetica Neue"/>
              <a:sym typeface="Helvetica Neue"/>
            </a:endParaRPr>
          </a:p>
          <a:p>
            <a:pPr marL="0" lvl="0" indent="0">
              <a:lnSpc>
                <a:spcPct val="115000"/>
              </a:lnSpc>
              <a:buNone/>
            </a:pPr>
            <a:r>
              <a:rPr lang="en-GB" sz="900" i="1" dirty="0" smtClean="0">
                <a:solidFill>
                  <a:schemeClr val="lt1"/>
                </a:solidFill>
                <a:latin typeface="Helvetica Neue" panose="020B0604020202020204" charset="0"/>
                <a:ea typeface="Helvetica Neue"/>
                <a:cs typeface="Helvetica Neue"/>
                <a:sym typeface="Helvetica Neue"/>
              </a:rPr>
              <a:t>Evidence 27 (</a:t>
            </a:r>
            <a:r>
              <a:rPr lang="en-GB" sz="900" i="1" dirty="0" err="1" smtClean="0">
                <a:solidFill>
                  <a:schemeClr val="lt1"/>
                </a:solidFill>
                <a:latin typeface="Helvetica Neue" panose="020B0604020202020204" charset="0"/>
                <a:ea typeface="Helvetica Neue"/>
                <a:cs typeface="Helvetica Neue"/>
                <a:sym typeface="Helvetica Neue"/>
              </a:rPr>
              <a:t>YoLo</a:t>
            </a:r>
            <a:r>
              <a:rPr lang="en-GB" sz="900" i="1" dirty="0" smtClean="0">
                <a:solidFill>
                  <a:schemeClr val="lt1"/>
                </a:solidFill>
                <a:latin typeface="Helvetica Neue" panose="020B0604020202020204" charset="0"/>
                <a:ea typeface="Helvetica Neue"/>
                <a:cs typeface="Helvetica Neue"/>
                <a:sym typeface="Helvetica Neue"/>
              </a:rPr>
              <a:t> medium dataset training notebook) </a:t>
            </a:r>
            <a:r>
              <a:rPr lang="en-GB" sz="900" i="1" dirty="0">
                <a:solidFill>
                  <a:schemeClr val="lt1"/>
                </a:solidFill>
                <a:latin typeface="Helvetica Neue" panose="020B0604020202020204" charset="0"/>
                <a:ea typeface="Helvetica Neue"/>
                <a:cs typeface="Helvetica Neue"/>
                <a:sym typeface="Helvetica Neue"/>
              </a:rPr>
              <a:t>- </a:t>
            </a:r>
            <a:r>
              <a:rPr lang="en-GB" sz="900" i="1" dirty="0">
                <a:solidFill>
                  <a:schemeClr val="lt1"/>
                </a:solidFill>
                <a:latin typeface="Helvetica Neue" panose="020B0604020202020204" charset="0"/>
                <a:ea typeface="Helvetica Neue"/>
                <a:cs typeface="Helvetica Neue"/>
                <a:sym typeface="Helvetica Neue"/>
                <a:hlinkClick r:id="rId6"/>
              </a:rPr>
              <a:t>05_yolov8n_retrain_medium_dataset</a:t>
            </a:r>
            <a:endParaRPr lang="en-GB" sz="900" i="1" dirty="0">
              <a:solidFill>
                <a:schemeClr val="lt1"/>
              </a:solidFill>
              <a:latin typeface="Helvetica Neue" panose="020B0604020202020204" charset="0"/>
              <a:ea typeface="Helvetica Neue"/>
              <a:cs typeface="Helvetica Neue"/>
              <a:sym typeface="Helvetica Neue"/>
            </a:endParaRPr>
          </a:p>
          <a:p>
            <a:pPr marL="0" indent="0">
              <a:lnSpc>
                <a:spcPct val="115000"/>
              </a:lnSpc>
              <a:buNone/>
            </a:pPr>
            <a:r>
              <a:rPr lang="en-GB" sz="900" i="1" dirty="0">
                <a:solidFill>
                  <a:schemeClr val="bg1"/>
                </a:solidFill>
                <a:latin typeface="Helvetica Neue" panose="020B0604020202020204" charset="0"/>
              </a:rPr>
              <a:t>Evidence 4 (</a:t>
            </a:r>
            <a:r>
              <a:rPr lang="en-GB" sz="900" i="1" dirty="0" err="1">
                <a:solidFill>
                  <a:schemeClr val="bg1"/>
                </a:solidFill>
                <a:latin typeface="Helvetica Neue" panose="020B0604020202020204" charset="0"/>
              </a:rPr>
              <a:t>YoLo</a:t>
            </a:r>
            <a:r>
              <a:rPr lang="en-GB" sz="900" i="1" dirty="0">
                <a:solidFill>
                  <a:schemeClr val="bg1"/>
                </a:solidFill>
                <a:latin typeface="Helvetica Neue" panose="020B0604020202020204" charset="0"/>
              </a:rPr>
              <a:t> large dataset training notebook) - </a:t>
            </a:r>
            <a:r>
              <a:rPr lang="en-GB" sz="900" i="1" dirty="0" err="1">
                <a:solidFill>
                  <a:schemeClr val="bg1"/>
                </a:solidFill>
                <a:latin typeface="Helvetica Neue" panose="020B0604020202020204" charset="0"/>
                <a:hlinkClick r:id="rId7"/>
              </a:rPr>
              <a:t>YoLo</a:t>
            </a:r>
            <a:r>
              <a:rPr lang="en-GB" sz="900" i="1" dirty="0">
                <a:solidFill>
                  <a:schemeClr val="bg1"/>
                </a:solidFill>
                <a:latin typeface="Helvetica Neue" panose="020B0604020202020204" charset="0"/>
                <a:hlinkClick r:id="rId7"/>
              </a:rPr>
              <a:t> Large Training</a:t>
            </a:r>
            <a:endParaRPr lang="en-GB" sz="900" i="1" dirty="0">
              <a:solidFill>
                <a:schemeClr val="bg1"/>
              </a:solidFill>
              <a:latin typeface="Helvetica Neue" panose="020B0604020202020204" charset="0"/>
            </a:endParaRPr>
          </a:p>
          <a:p>
            <a:pPr marL="0" indent="0">
              <a:lnSpc>
                <a:spcPct val="115000"/>
              </a:lnSpc>
              <a:buNone/>
            </a:pPr>
            <a:r>
              <a:rPr lang="en-GB" sz="900" i="1" dirty="0">
                <a:solidFill>
                  <a:schemeClr val="bg1"/>
                </a:solidFill>
                <a:latin typeface="Helvetica Neue" panose="020B0604020202020204" charset="0"/>
              </a:rPr>
              <a:t>Evidence 13 (</a:t>
            </a:r>
            <a:r>
              <a:rPr lang="en-GB" sz="900" i="1" dirty="0" err="1">
                <a:solidFill>
                  <a:schemeClr val="bg1"/>
                </a:solidFill>
                <a:latin typeface="Helvetica Neue" panose="020B0604020202020204" charset="0"/>
              </a:rPr>
              <a:t>YoLo</a:t>
            </a:r>
            <a:r>
              <a:rPr lang="en-GB" sz="900" i="1" dirty="0">
                <a:solidFill>
                  <a:schemeClr val="bg1"/>
                </a:solidFill>
                <a:latin typeface="Helvetica Neue" panose="020B0604020202020204" charset="0"/>
              </a:rPr>
              <a:t> fine-tuned notebook) – </a:t>
            </a:r>
            <a:r>
              <a:rPr lang="en-GB" sz="900" i="1" dirty="0">
                <a:solidFill>
                  <a:schemeClr val="bg1"/>
                </a:solidFill>
                <a:latin typeface="Helvetica Neue" panose="020B0604020202020204" charset="0"/>
                <a:hlinkClick r:id="rId8"/>
              </a:rPr>
              <a:t>fine-tuned notebook </a:t>
            </a:r>
            <a:r>
              <a:rPr lang="en-GB" sz="900" i="1" dirty="0" err="1" smtClean="0">
                <a:solidFill>
                  <a:schemeClr val="bg1"/>
                </a:solidFill>
                <a:latin typeface="Helvetica Neue" panose="020B0604020202020204" charset="0"/>
                <a:hlinkClick r:id="rId8"/>
              </a:rPr>
              <a:t>YoLo</a:t>
            </a:r>
            <a:endParaRPr lang="en-GB" sz="900" i="1" dirty="0" smtClean="0">
              <a:solidFill>
                <a:schemeClr val="bg1"/>
              </a:solidFill>
              <a:latin typeface="Helvetica Neue" panose="020B0604020202020204" charset="0"/>
            </a:endParaRPr>
          </a:p>
          <a:p>
            <a:pPr marL="0" indent="0">
              <a:lnSpc>
                <a:spcPct val="115000"/>
              </a:lnSpc>
              <a:buNone/>
            </a:pPr>
            <a:endParaRPr lang="en-GB" sz="900" i="1" dirty="0">
              <a:solidFill>
                <a:schemeClr val="bg1"/>
              </a:solidFill>
              <a:latin typeface="Helvetica Neue" panose="020B0604020202020204" charset="0"/>
            </a:endParaRPr>
          </a:p>
        </p:txBody>
      </p:sp>
      <p:sp>
        <p:nvSpPr>
          <p:cNvPr id="479" name="Google Shape;479;p50"/>
          <p:cNvSpPr txBox="1">
            <a:spLocks noGrp="1"/>
          </p:cNvSpPr>
          <p:nvPr>
            <p:ph type="title" idx="4"/>
          </p:nvPr>
        </p:nvSpPr>
        <p:spPr>
          <a:xfrm>
            <a:off x="68249" y="576000"/>
            <a:ext cx="1885445" cy="4938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sz="2400" dirty="0">
                <a:solidFill>
                  <a:srgbClr val="FFFFFF"/>
                </a:solidFill>
              </a:rPr>
              <a:t>Process</a:t>
            </a:r>
            <a:endParaRPr sz="2400" dirty="0">
              <a:solidFill>
                <a:srgbClr val="FFFFFF"/>
              </a:solidFill>
            </a:endParaRPr>
          </a:p>
        </p:txBody>
      </p:sp>
      <p:sp>
        <p:nvSpPr>
          <p:cNvPr id="480" name="Google Shape;480;p50"/>
          <p:cNvSpPr txBox="1">
            <a:spLocks noGrp="1"/>
          </p:cNvSpPr>
          <p:nvPr>
            <p:ph type="title" idx="5"/>
          </p:nvPr>
        </p:nvSpPr>
        <p:spPr>
          <a:xfrm>
            <a:off x="1784194" y="576000"/>
            <a:ext cx="7118940" cy="493800"/>
          </a:xfrm>
          <a:prstGeom prst="rect">
            <a:avLst/>
          </a:prstGeom>
        </p:spPr>
        <p:txBody>
          <a:bodyPr spcFirstLastPara="1" wrap="square" lIns="91425" tIns="91425" rIns="91425" bIns="91425" anchor="ctr" anchorCtr="0">
            <a:noAutofit/>
          </a:bodyPr>
          <a:lstStyle/>
          <a:p>
            <a:r>
              <a:rPr lang="en-GB" dirty="0"/>
              <a:t>Students is able to implement all appropriate phases of product development excellently, adhering to professional standards throughout the process.</a:t>
            </a:r>
          </a:p>
        </p:txBody>
      </p:sp>
      <p:sp>
        <p:nvSpPr>
          <p:cNvPr id="8" name="Google Shape;459;p48">
            <a:extLst>
              <a:ext uri="{FF2B5EF4-FFF2-40B4-BE49-F238E27FC236}">
                <a16:creationId xmlns:a16="http://schemas.microsoft.com/office/drawing/2014/main" id="{DE8B85CC-86BE-FFBA-5E25-9E5D1318CD48}"/>
              </a:ext>
            </a:extLst>
          </p:cNvPr>
          <p:cNvSpPr txBox="1">
            <a:spLocks noGrp="1"/>
          </p:cNvSpPr>
          <p:nvPr>
            <p:ph type="title" idx="3"/>
          </p:nvPr>
        </p:nvSpPr>
        <p:spPr>
          <a:xfrm>
            <a:off x="2049461" y="0"/>
            <a:ext cx="5051635" cy="576000"/>
          </a:xfrm>
          <a:prstGeom prst="rect">
            <a:avLst/>
          </a:prstGeom>
        </p:spPr>
        <p:txBody>
          <a:bodyPr spcFirstLastPara="1" wrap="square" lIns="91425" tIns="91425" rIns="91425" bIns="91425" anchor="ctr" anchorCtr="0">
            <a:noAutofit/>
          </a:bodyPr>
          <a:lstStyle/>
          <a:p>
            <a:pPr marL="0" indent="0"/>
            <a:r>
              <a:rPr lang="en-US" dirty="0"/>
              <a:t>The student demonstrates the ability to manage the process that leads to the completion of the product in a professional manner and according to industry standards.</a:t>
            </a:r>
            <a:endParaRPr lang="nl-NL" dirty="0"/>
          </a:p>
        </p:txBody>
      </p:sp>
      <p:sp>
        <p:nvSpPr>
          <p:cNvPr id="4" name="Google Shape;462;p48">
            <a:extLst>
              <a:ext uri="{FF2B5EF4-FFF2-40B4-BE49-F238E27FC236}">
                <a16:creationId xmlns:a16="http://schemas.microsoft.com/office/drawing/2014/main" id="{4B1AFA75-0BFC-2AF2-8AED-33D45D7F8644}"/>
              </a:ext>
            </a:extLst>
          </p:cNvPr>
          <p:cNvSpPr txBox="1">
            <a:spLocks noGrp="1"/>
          </p:cNvSpPr>
          <p:nvPr>
            <p:ph type="title" idx="6"/>
          </p:nvPr>
        </p:nvSpPr>
        <p:spPr>
          <a:xfrm>
            <a:off x="845550" y="0"/>
            <a:ext cx="1368600" cy="576000"/>
          </a:xfrm>
          <a:prstGeom prst="rect">
            <a:avLst/>
          </a:prstGeom>
        </p:spPr>
        <p:txBody>
          <a:bodyPr spcFirstLastPara="1" wrap="square" lIns="91425" tIns="91425" rIns="91425" bIns="91425" anchor="ctr" anchorCtr="0">
            <a:noAutofit/>
          </a:bodyPr>
          <a:lstStyle/>
          <a:p>
            <a:pPr marL="0" indent="0"/>
            <a:r>
              <a:rPr lang="en-US" sz="1400" dirty="0"/>
              <a:t>Project Management</a:t>
            </a:r>
          </a:p>
        </p:txBody>
      </p:sp>
      <p:pic>
        <p:nvPicPr>
          <p:cNvPr id="2" name="Picture 1"/>
          <p:cNvPicPr>
            <a:picLocks noChangeAspect="1"/>
          </p:cNvPicPr>
          <p:nvPr/>
        </p:nvPicPr>
        <p:blipFill>
          <a:blip r:embed="rId9"/>
          <a:stretch>
            <a:fillRect/>
          </a:stretch>
        </p:blipFill>
        <p:spPr>
          <a:xfrm>
            <a:off x="5648373" y="3369618"/>
            <a:ext cx="3275668" cy="876191"/>
          </a:xfrm>
          <a:prstGeom prst="rect">
            <a:avLst/>
          </a:prstGeom>
        </p:spPr>
      </p:pic>
      <p:pic>
        <p:nvPicPr>
          <p:cNvPr id="3" name="Picture 2"/>
          <p:cNvPicPr>
            <a:picLocks noChangeAspect="1"/>
          </p:cNvPicPr>
          <p:nvPr/>
        </p:nvPicPr>
        <p:blipFill>
          <a:blip r:embed="rId10"/>
          <a:stretch>
            <a:fillRect/>
          </a:stretch>
        </p:blipFill>
        <p:spPr>
          <a:xfrm>
            <a:off x="5063460" y="4271675"/>
            <a:ext cx="4075272" cy="871825"/>
          </a:xfrm>
          <a:prstGeom prst="rect">
            <a:avLst/>
          </a:prstGeom>
        </p:spPr>
      </p:pic>
      <p:pic>
        <p:nvPicPr>
          <p:cNvPr id="6" name="Picture 5"/>
          <p:cNvPicPr>
            <a:picLocks noChangeAspect="1"/>
          </p:cNvPicPr>
          <p:nvPr/>
        </p:nvPicPr>
        <p:blipFill>
          <a:blip r:embed="rId11"/>
          <a:stretch>
            <a:fillRect/>
          </a:stretch>
        </p:blipFill>
        <p:spPr>
          <a:xfrm>
            <a:off x="5618922" y="1069800"/>
            <a:ext cx="3433578" cy="2273952"/>
          </a:xfrm>
          <a:prstGeom prst="rect">
            <a:avLst/>
          </a:prstGeom>
        </p:spPr>
      </p:pic>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Shape 474"/>
        <p:cNvGrpSpPr/>
        <p:nvPr/>
      </p:nvGrpSpPr>
      <p:grpSpPr>
        <a:xfrm>
          <a:off x="0" y="0"/>
          <a:ext cx="0" cy="0"/>
          <a:chOff x="0" y="0"/>
          <a:chExt cx="0" cy="0"/>
        </a:xfrm>
      </p:grpSpPr>
      <p:sp>
        <p:nvSpPr>
          <p:cNvPr id="475" name="Google Shape;475;p50"/>
          <p:cNvSpPr txBox="1">
            <a:spLocks noGrp="1"/>
          </p:cNvSpPr>
          <p:nvPr>
            <p:ph type="title"/>
          </p:nvPr>
        </p:nvSpPr>
        <p:spPr>
          <a:xfrm>
            <a:off x="68250" y="0"/>
            <a:ext cx="777300" cy="5760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dirty="0"/>
              <a:t>ILO 3</a:t>
            </a:r>
            <a:endParaRPr dirty="0"/>
          </a:p>
        </p:txBody>
      </p:sp>
      <p:sp>
        <p:nvSpPr>
          <p:cNvPr id="476" name="Google Shape;476;p50"/>
          <p:cNvSpPr txBox="1">
            <a:spLocks noGrp="1"/>
          </p:cNvSpPr>
          <p:nvPr>
            <p:ph type="title" idx="2"/>
          </p:nvPr>
        </p:nvSpPr>
        <p:spPr>
          <a:xfrm>
            <a:off x="7068300" y="0"/>
            <a:ext cx="1984200" cy="5760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dirty="0"/>
              <a:t>1/3</a:t>
            </a:r>
            <a:endParaRPr dirty="0"/>
          </a:p>
        </p:txBody>
      </p:sp>
      <p:sp>
        <p:nvSpPr>
          <p:cNvPr id="479" name="Google Shape;479;p50"/>
          <p:cNvSpPr txBox="1">
            <a:spLocks noGrp="1"/>
          </p:cNvSpPr>
          <p:nvPr>
            <p:ph type="title" idx="4"/>
          </p:nvPr>
        </p:nvSpPr>
        <p:spPr>
          <a:xfrm>
            <a:off x="68249" y="576000"/>
            <a:ext cx="1885445" cy="4938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sz="2400" dirty="0">
                <a:solidFill>
                  <a:srgbClr val="FFFFFF"/>
                </a:solidFill>
              </a:rPr>
              <a:t>Process</a:t>
            </a:r>
            <a:endParaRPr sz="2400" dirty="0">
              <a:solidFill>
                <a:srgbClr val="FFFFFF"/>
              </a:solidFill>
            </a:endParaRPr>
          </a:p>
        </p:txBody>
      </p:sp>
      <p:sp>
        <p:nvSpPr>
          <p:cNvPr id="480" name="Google Shape;480;p50"/>
          <p:cNvSpPr txBox="1">
            <a:spLocks noGrp="1"/>
          </p:cNvSpPr>
          <p:nvPr>
            <p:ph type="title" idx="5"/>
          </p:nvPr>
        </p:nvSpPr>
        <p:spPr>
          <a:xfrm>
            <a:off x="1784194" y="576000"/>
            <a:ext cx="7118940" cy="493800"/>
          </a:xfrm>
          <a:prstGeom prst="rect">
            <a:avLst/>
          </a:prstGeom>
        </p:spPr>
        <p:txBody>
          <a:bodyPr spcFirstLastPara="1" wrap="square" lIns="91425" tIns="91425" rIns="91425" bIns="91425" anchor="ctr" anchorCtr="0">
            <a:noAutofit/>
          </a:bodyPr>
          <a:lstStyle/>
          <a:p>
            <a:r>
              <a:rPr lang="en-GB" dirty="0"/>
              <a:t>Students is able to implement all appropriate phases of product development excellently, adhering to professional standards throughout the process.</a:t>
            </a:r>
          </a:p>
        </p:txBody>
      </p:sp>
      <p:sp>
        <p:nvSpPr>
          <p:cNvPr id="8" name="Google Shape;459;p48">
            <a:extLst>
              <a:ext uri="{FF2B5EF4-FFF2-40B4-BE49-F238E27FC236}">
                <a16:creationId xmlns:a16="http://schemas.microsoft.com/office/drawing/2014/main" id="{DE8B85CC-86BE-FFBA-5E25-9E5D1318CD48}"/>
              </a:ext>
            </a:extLst>
          </p:cNvPr>
          <p:cNvSpPr txBox="1">
            <a:spLocks noGrp="1"/>
          </p:cNvSpPr>
          <p:nvPr>
            <p:ph type="title" idx="3"/>
          </p:nvPr>
        </p:nvSpPr>
        <p:spPr>
          <a:xfrm>
            <a:off x="2049461" y="0"/>
            <a:ext cx="5051635" cy="576000"/>
          </a:xfrm>
          <a:prstGeom prst="rect">
            <a:avLst/>
          </a:prstGeom>
        </p:spPr>
        <p:txBody>
          <a:bodyPr spcFirstLastPara="1" wrap="square" lIns="91425" tIns="91425" rIns="91425" bIns="91425" anchor="ctr" anchorCtr="0">
            <a:noAutofit/>
          </a:bodyPr>
          <a:lstStyle/>
          <a:p>
            <a:pPr marL="0" indent="0"/>
            <a:r>
              <a:rPr lang="en-US" dirty="0"/>
              <a:t>The student demonstrates the ability to manage the process that leads to the completion of the product in a professional manner and according to industry standards.</a:t>
            </a:r>
            <a:endParaRPr lang="nl-NL" dirty="0"/>
          </a:p>
        </p:txBody>
      </p:sp>
      <p:sp>
        <p:nvSpPr>
          <p:cNvPr id="4" name="Google Shape;462;p48">
            <a:extLst>
              <a:ext uri="{FF2B5EF4-FFF2-40B4-BE49-F238E27FC236}">
                <a16:creationId xmlns:a16="http://schemas.microsoft.com/office/drawing/2014/main" id="{4B1AFA75-0BFC-2AF2-8AED-33D45D7F8644}"/>
              </a:ext>
            </a:extLst>
          </p:cNvPr>
          <p:cNvSpPr txBox="1">
            <a:spLocks noGrp="1"/>
          </p:cNvSpPr>
          <p:nvPr>
            <p:ph type="title" idx="6"/>
          </p:nvPr>
        </p:nvSpPr>
        <p:spPr>
          <a:xfrm>
            <a:off x="845550" y="0"/>
            <a:ext cx="1368600" cy="576000"/>
          </a:xfrm>
          <a:prstGeom prst="rect">
            <a:avLst/>
          </a:prstGeom>
        </p:spPr>
        <p:txBody>
          <a:bodyPr spcFirstLastPara="1" wrap="square" lIns="91425" tIns="91425" rIns="91425" bIns="91425" anchor="ctr" anchorCtr="0">
            <a:noAutofit/>
          </a:bodyPr>
          <a:lstStyle/>
          <a:p>
            <a:pPr marL="0" indent="0"/>
            <a:r>
              <a:rPr lang="en-US" sz="1400" dirty="0"/>
              <a:t>Project Management</a:t>
            </a:r>
          </a:p>
        </p:txBody>
      </p:sp>
      <p:pic>
        <p:nvPicPr>
          <p:cNvPr id="7" name="Picture 6"/>
          <p:cNvPicPr>
            <a:picLocks noChangeAspect="1"/>
          </p:cNvPicPr>
          <p:nvPr/>
        </p:nvPicPr>
        <p:blipFill>
          <a:blip r:embed="rId3"/>
          <a:stretch>
            <a:fillRect/>
          </a:stretch>
        </p:blipFill>
        <p:spPr>
          <a:xfrm>
            <a:off x="1212573" y="1152000"/>
            <a:ext cx="6767654" cy="3644563"/>
          </a:xfrm>
          <a:prstGeom prst="rect">
            <a:avLst/>
          </a:prstGeom>
        </p:spPr>
      </p:pic>
      <p:sp>
        <p:nvSpPr>
          <p:cNvPr id="9" name="TextBox 8"/>
          <p:cNvSpPr txBox="1"/>
          <p:nvPr/>
        </p:nvSpPr>
        <p:spPr>
          <a:xfrm>
            <a:off x="2016725" y="4796563"/>
            <a:ext cx="5117106" cy="307777"/>
          </a:xfrm>
          <a:prstGeom prst="rect">
            <a:avLst/>
          </a:prstGeom>
          <a:noFill/>
        </p:spPr>
        <p:txBody>
          <a:bodyPr wrap="none" rtlCol="0">
            <a:spAutoFit/>
          </a:bodyPr>
          <a:lstStyle/>
          <a:p>
            <a:r>
              <a:rPr lang="en-GB" dirty="0" smtClean="0">
                <a:solidFill>
                  <a:schemeClr val="bg1"/>
                </a:solidFill>
              </a:rPr>
              <a:t>Planned final product architecture before the execution started</a:t>
            </a:r>
            <a:endParaRPr lang="en-GB" dirty="0">
              <a:solidFill>
                <a:schemeClr val="bg1"/>
              </a:solidFill>
            </a:endParaRPr>
          </a:p>
        </p:txBody>
      </p:sp>
    </p:spTree>
    <p:extLst>
      <p:ext uri="{BB962C8B-B14F-4D97-AF65-F5344CB8AC3E}">
        <p14:creationId xmlns:p14="http://schemas.microsoft.com/office/powerpoint/2010/main" val="645842350"/>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Shape 474">
          <a:extLst>
            <a:ext uri="{FF2B5EF4-FFF2-40B4-BE49-F238E27FC236}">
              <a16:creationId xmlns:a16="http://schemas.microsoft.com/office/drawing/2014/main" id="{17D9BCB1-0555-2AC7-7BC1-F3F5B5E9A4B1}"/>
            </a:ext>
          </a:extLst>
        </p:cNvPr>
        <p:cNvGrpSpPr/>
        <p:nvPr/>
      </p:nvGrpSpPr>
      <p:grpSpPr>
        <a:xfrm>
          <a:off x="0" y="0"/>
          <a:ext cx="0" cy="0"/>
          <a:chOff x="0" y="0"/>
          <a:chExt cx="0" cy="0"/>
        </a:xfrm>
      </p:grpSpPr>
      <p:sp>
        <p:nvSpPr>
          <p:cNvPr id="475" name="Google Shape;475;p50">
            <a:extLst>
              <a:ext uri="{FF2B5EF4-FFF2-40B4-BE49-F238E27FC236}">
                <a16:creationId xmlns:a16="http://schemas.microsoft.com/office/drawing/2014/main" id="{7B712E37-5400-B9BC-9549-D7BA4A248F70}"/>
              </a:ext>
            </a:extLst>
          </p:cNvPr>
          <p:cNvSpPr txBox="1">
            <a:spLocks noGrp="1"/>
          </p:cNvSpPr>
          <p:nvPr>
            <p:ph type="title"/>
          </p:nvPr>
        </p:nvSpPr>
        <p:spPr>
          <a:xfrm>
            <a:off x="68250" y="0"/>
            <a:ext cx="777300" cy="5760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dirty="0"/>
              <a:t>ILO 3</a:t>
            </a:r>
            <a:endParaRPr dirty="0"/>
          </a:p>
        </p:txBody>
      </p:sp>
      <p:sp>
        <p:nvSpPr>
          <p:cNvPr id="476" name="Google Shape;476;p50">
            <a:extLst>
              <a:ext uri="{FF2B5EF4-FFF2-40B4-BE49-F238E27FC236}">
                <a16:creationId xmlns:a16="http://schemas.microsoft.com/office/drawing/2014/main" id="{EE3DAEA9-929D-CE57-6E07-ADD4E57E2730}"/>
              </a:ext>
            </a:extLst>
          </p:cNvPr>
          <p:cNvSpPr txBox="1">
            <a:spLocks noGrp="1"/>
          </p:cNvSpPr>
          <p:nvPr>
            <p:ph type="title" idx="2"/>
          </p:nvPr>
        </p:nvSpPr>
        <p:spPr>
          <a:xfrm>
            <a:off x="7068300" y="0"/>
            <a:ext cx="1984200" cy="5760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dirty="0"/>
              <a:t>2/3</a:t>
            </a:r>
            <a:endParaRPr dirty="0"/>
          </a:p>
        </p:txBody>
      </p:sp>
      <p:sp>
        <p:nvSpPr>
          <p:cNvPr id="477" name="Google Shape;477;p50">
            <a:extLst>
              <a:ext uri="{FF2B5EF4-FFF2-40B4-BE49-F238E27FC236}">
                <a16:creationId xmlns:a16="http://schemas.microsoft.com/office/drawing/2014/main" id="{36C05713-6FC2-CBB7-83CE-69E63C9843F5}"/>
              </a:ext>
            </a:extLst>
          </p:cNvPr>
          <p:cNvSpPr txBox="1">
            <a:spLocks noGrp="1"/>
          </p:cNvSpPr>
          <p:nvPr>
            <p:ph type="body" idx="1"/>
          </p:nvPr>
        </p:nvSpPr>
        <p:spPr>
          <a:xfrm>
            <a:off x="182880" y="1069848"/>
            <a:ext cx="5486400" cy="3895200"/>
          </a:xfrm>
          <a:prstGeom prst="rect">
            <a:avLst/>
          </a:prstGeom>
        </p:spPr>
        <p:txBody>
          <a:bodyPr spcFirstLastPara="1" wrap="square" lIns="91425" tIns="91425" rIns="91425" bIns="91425" anchor="t" anchorCtr="0">
            <a:noAutofit/>
          </a:bodyPr>
          <a:lstStyle/>
          <a:p>
            <a:pPr marL="0" lvl="0" indent="0">
              <a:lnSpc>
                <a:spcPct val="115000"/>
              </a:lnSpc>
              <a:buNone/>
            </a:pPr>
            <a:r>
              <a:rPr lang="en-GB" sz="900" i="1" dirty="0">
                <a:solidFill>
                  <a:schemeClr val="lt1"/>
                </a:solidFill>
                <a:latin typeface="Helvetica Neue"/>
                <a:ea typeface="Helvetica Neue"/>
                <a:cs typeface="Helvetica Neue"/>
                <a:sym typeface="Helvetica Neue"/>
              </a:rPr>
              <a:t>Problem-solving was a constant part of this project, not a one-off event. Two examples stand out. First, my initial test of risk-aware routing used 40 random routes, but almost none of them crossed a road with any recorded damage, so there was nothing for the system to actually avoid </a:t>
            </a:r>
            <a:r>
              <a:rPr lang="en-GB" sz="900" i="1" dirty="0" smtClean="0">
                <a:solidFill>
                  <a:schemeClr val="lt1"/>
                </a:solidFill>
                <a:latin typeface="Helvetica Neue"/>
                <a:ea typeface="Helvetica Neue"/>
                <a:cs typeface="Helvetica Neue"/>
                <a:sym typeface="Helvetica Neue"/>
              </a:rPr>
              <a:t>- </a:t>
            </a:r>
            <a:r>
              <a:rPr lang="en-GB" sz="900" i="1" dirty="0">
                <a:solidFill>
                  <a:schemeClr val="lt1"/>
                </a:solidFill>
                <a:latin typeface="Helvetica Neue"/>
                <a:ea typeface="Helvetica Neue"/>
                <a:cs typeface="Helvetica Neue"/>
                <a:sym typeface="Helvetica Neue"/>
              </a:rPr>
              <a:t>I solved this by collecting more real data in one specific neighbourhood until there was enough recorded risk to properly test routing. Second, one of my hypotheses (H2, about risk-scoring accuracy) didn't fully pass, so instead of assuming the risk-scoring logic itself was wrong, I dug into exactly where the errors came from. The scores it did give were almost always correct, it was just missing some damage, which pointed to the detection model's recall as the real cause, not the risk-scoring rule, and a usability tester independently noticed the same thing. That's a diagnosed problem with evidence pointing at the real cause, not just a guess</a:t>
            </a:r>
            <a:r>
              <a:rPr lang="en-GB" sz="900" i="1" dirty="0" smtClean="0">
                <a:solidFill>
                  <a:schemeClr val="lt1"/>
                </a:solidFill>
                <a:latin typeface="Helvetica Neue"/>
                <a:ea typeface="Helvetica Neue"/>
                <a:cs typeface="Helvetica Neue"/>
                <a:sym typeface="Helvetica Neue"/>
              </a:rPr>
              <a:t>.</a:t>
            </a:r>
          </a:p>
          <a:p>
            <a:pPr marL="0" lvl="0" indent="0">
              <a:lnSpc>
                <a:spcPct val="115000"/>
              </a:lnSpc>
              <a:buNone/>
            </a:pPr>
            <a:endParaRPr lang="en-GB" sz="900" i="1" dirty="0">
              <a:solidFill>
                <a:schemeClr val="lt1"/>
              </a:solidFill>
              <a:latin typeface="Helvetica Neue"/>
              <a:ea typeface="Helvetica Neue"/>
              <a:cs typeface="Helvetica Neue"/>
              <a:sym typeface="Helvetica Neue"/>
            </a:endParaRPr>
          </a:p>
          <a:p>
            <a:pPr marL="0" lvl="0" indent="0">
              <a:lnSpc>
                <a:spcPct val="115000"/>
              </a:lnSpc>
              <a:buNone/>
            </a:pPr>
            <a:endParaRPr lang="en-GB" sz="900" i="1" dirty="0" smtClean="0">
              <a:solidFill>
                <a:schemeClr val="lt1"/>
              </a:solidFill>
              <a:latin typeface="Helvetica Neue"/>
              <a:ea typeface="Helvetica Neue"/>
              <a:cs typeface="Helvetica Neue"/>
              <a:sym typeface="Helvetica Neue"/>
            </a:endParaRPr>
          </a:p>
          <a:p>
            <a:pPr marL="0" indent="0">
              <a:lnSpc>
                <a:spcPct val="115000"/>
              </a:lnSpc>
              <a:buNone/>
            </a:pPr>
            <a:r>
              <a:rPr lang="en-GB" sz="900" i="1" dirty="0">
                <a:solidFill>
                  <a:schemeClr val="bg1"/>
                </a:solidFill>
                <a:latin typeface="Helvetica Neue" panose="020B0604020202020204" charset="0"/>
              </a:rPr>
              <a:t>Evidence 1 (</a:t>
            </a:r>
            <a:r>
              <a:rPr lang="en-GB" sz="900" i="1" dirty="0" smtClean="0">
                <a:solidFill>
                  <a:schemeClr val="bg1"/>
                </a:solidFill>
                <a:latin typeface="Helvetica Neue" panose="020B0604020202020204" charset="0"/>
              </a:rPr>
              <a:t>Thesis Section 4.1.5 and 5.3) </a:t>
            </a:r>
            <a:r>
              <a:rPr lang="en-GB" sz="900" i="1" dirty="0">
                <a:solidFill>
                  <a:schemeClr val="bg1"/>
                </a:solidFill>
                <a:latin typeface="Helvetica Neue" panose="020B0604020202020204" charset="0"/>
              </a:rPr>
              <a:t>– </a:t>
            </a:r>
            <a:r>
              <a:rPr lang="en-GB" sz="900" i="1" dirty="0" smtClean="0">
                <a:solidFill>
                  <a:schemeClr val="bg1"/>
                </a:solidFill>
                <a:latin typeface="Helvetica Neue" panose="020B0604020202020204" charset="0"/>
                <a:hlinkClick r:id="rId3"/>
              </a:rPr>
              <a:t>Thesis</a:t>
            </a:r>
            <a:endParaRPr lang="en-GB" sz="900" i="1" dirty="0" smtClean="0">
              <a:solidFill>
                <a:schemeClr val="bg1"/>
              </a:solidFill>
              <a:latin typeface="Helvetica Neue" panose="020B0604020202020204" charset="0"/>
            </a:endParaRPr>
          </a:p>
          <a:p>
            <a:pPr marL="0" indent="0">
              <a:lnSpc>
                <a:spcPct val="115000"/>
              </a:lnSpc>
              <a:buNone/>
            </a:pPr>
            <a:endParaRPr lang="en-GB" sz="900" i="1" dirty="0">
              <a:solidFill>
                <a:schemeClr val="bg1"/>
              </a:solidFill>
              <a:latin typeface="Helvetica Neue" panose="020B0604020202020204" charset="0"/>
              <a:ea typeface="Helvetica Neue"/>
              <a:cs typeface="Helvetica Neue"/>
              <a:sym typeface="Helvetica Neue"/>
            </a:endParaRPr>
          </a:p>
          <a:p>
            <a:pPr marL="0" indent="0">
              <a:lnSpc>
                <a:spcPct val="115000"/>
              </a:lnSpc>
              <a:buNone/>
            </a:pPr>
            <a:r>
              <a:rPr lang="en-GB" sz="900" i="1" dirty="0" smtClean="0">
                <a:solidFill>
                  <a:schemeClr val="bg1"/>
                </a:solidFill>
                <a:latin typeface="Helvetica Neue" panose="020B0604020202020204" charset="0"/>
                <a:ea typeface="Helvetica Neue"/>
                <a:cs typeface="Helvetica Neue"/>
                <a:sym typeface="Helvetica Neue"/>
              </a:rPr>
              <a:t>Evidence 29 (Script for creation of the large dataset with explanations on class balance) - </a:t>
            </a:r>
            <a:r>
              <a:rPr lang="en-GB" sz="900" i="1" dirty="0" smtClean="0">
                <a:latin typeface="Helvetica Neue" panose="020B0604020202020204" charset="0"/>
                <a:hlinkClick r:id="rId4"/>
              </a:rPr>
              <a:t>create_rdd2022_4classes_large.py</a:t>
            </a:r>
            <a:endParaRPr lang="en-GB" sz="900" i="1" dirty="0" smtClean="0">
              <a:latin typeface="Helvetica Neue" panose="020B0604020202020204" charset="0"/>
            </a:endParaRPr>
          </a:p>
          <a:p>
            <a:pPr marL="0" indent="0">
              <a:lnSpc>
                <a:spcPct val="115000"/>
              </a:lnSpc>
              <a:buNone/>
            </a:pPr>
            <a:endParaRPr lang="en-GB" sz="900" i="1" dirty="0">
              <a:latin typeface="Helvetica Neue" panose="020B0604020202020204" charset="0"/>
            </a:endParaRPr>
          </a:p>
          <a:p>
            <a:pPr marL="0" indent="0">
              <a:lnSpc>
                <a:spcPct val="115000"/>
              </a:lnSpc>
              <a:buNone/>
            </a:pPr>
            <a:r>
              <a:rPr lang="en-GB" sz="900" i="1" dirty="0" smtClean="0">
                <a:latin typeface="Helvetica Neue" panose="020B0604020202020204" charset="0"/>
              </a:rPr>
              <a:t>Evidence </a:t>
            </a:r>
            <a:r>
              <a:rPr lang="en-GB" sz="900" i="1" dirty="0">
                <a:latin typeface="Helvetica Neue" panose="020B0604020202020204" charset="0"/>
              </a:rPr>
              <a:t>30 </a:t>
            </a:r>
            <a:r>
              <a:rPr lang="en-GB" sz="900" i="1" dirty="0" smtClean="0">
                <a:latin typeface="Helvetica Neue" panose="020B0604020202020204" charset="0"/>
              </a:rPr>
              <a:t>(the script </a:t>
            </a:r>
            <a:r>
              <a:rPr lang="en-GB" sz="900" i="1" dirty="0">
                <a:latin typeface="Helvetica Neue" panose="020B0604020202020204" charset="0"/>
              </a:rPr>
              <a:t>that found these </a:t>
            </a:r>
            <a:r>
              <a:rPr lang="en-GB" sz="900" i="1" dirty="0" smtClean="0">
                <a:latin typeface="Helvetica Neue" panose="020B0604020202020204" charset="0"/>
              </a:rPr>
              <a:t>imbalances) - </a:t>
            </a:r>
            <a:r>
              <a:rPr lang="en-GB" sz="900" i="1" dirty="0" smtClean="0">
                <a:latin typeface="Helvetica Neue" panose="020B0604020202020204" charset="0"/>
                <a:hlinkClick r:id="rId5"/>
              </a:rPr>
              <a:t>inspect_rdd2022.py</a:t>
            </a:r>
            <a:endParaRPr lang="en-GB" sz="900" i="1" dirty="0" smtClean="0">
              <a:latin typeface="Helvetica Neue" panose="020B0604020202020204" charset="0"/>
            </a:endParaRPr>
          </a:p>
          <a:p>
            <a:pPr marL="0" indent="0">
              <a:lnSpc>
                <a:spcPct val="115000"/>
              </a:lnSpc>
              <a:buNone/>
            </a:pPr>
            <a:endParaRPr lang="en-GB" sz="900" i="1" dirty="0">
              <a:solidFill>
                <a:schemeClr val="lt1"/>
              </a:solidFill>
              <a:latin typeface="Helvetica Neue"/>
              <a:ea typeface="Helvetica Neue"/>
              <a:cs typeface="Helvetica Neue"/>
              <a:sym typeface="Helvetica Neue"/>
            </a:endParaRPr>
          </a:p>
          <a:p>
            <a:pPr marL="0" lvl="0" indent="0">
              <a:lnSpc>
                <a:spcPct val="115000"/>
              </a:lnSpc>
              <a:buNone/>
            </a:pPr>
            <a:endParaRPr sz="900" i="1" dirty="0">
              <a:solidFill>
                <a:schemeClr val="lt1"/>
              </a:solidFill>
              <a:latin typeface="Helvetica Neue"/>
              <a:ea typeface="Helvetica Neue"/>
              <a:cs typeface="Helvetica Neue"/>
              <a:sym typeface="Helvetica Neue"/>
            </a:endParaRPr>
          </a:p>
        </p:txBody>
      </p:sp>
      <p:sp>
        <p:nvSpPr>
          <p:cNvPr id="479" name="Google Shape;479;p50">
            <a:extLst>
              <a:ext uri="{FF2B5EF4-FFF2-40B4-BE49-F238E27FC236}">
                <a16:creationId xmlns:a16="http://schemas.microsoft.com/office/drawing/2014/main" id="{830F7524-DBA7-0A98-33B1-25DCDB22A871}"/>
              </a:ext>
            </a:extLst>
          </p:cNvPr>
          <p:cNvSpPr txBox="1">
            <a:spLocks noGrp="1"/>
          </p:cNvSpPr>
          <p:nvPr>
            <p:ph type="title" idx="4"/>
          </p:nvPr>
        </p:nvSpPr>
        <p:spPr>
          <a:xfrm>
            <a:off x="68249" y="576000"/>
            <a:ext cx="2300270" cy="4938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sz="1800" dirty="0">
                <a:solidFill>
                  <a:srgbClr val="FFFFFF"/>
                </a:solidFill>
              </a:rPr>
              <a:t>Risk Management</a:t>
            </a:r>
            <a:endParaRPr sz="1800" dirty="0">
              <a:solidFill>
                <a:srgbClr val="FFFFFF"/>
              </a:solidFill>
            </a:endParaRPr>
          </a:p>
        </p:txBody>
      </p:sp>
      <p:sp>
        <p:nvSpPr>
          <p:cNvPr id="480" name="Google Shape;480;p50">
            <a:extLst>
              <a:ext uri="{FF2B5EF4-FFF2-40B4-BE49-F238E27FC236}">
                <a16:creationId xmlns:a16="http://schemas.microsoft.com/office/drawing/2014/main" id="{D3C916F0-FB6A-F672-EE61-F7DEFEC7B901}"/>
              </a:ext>
            </a:extLst>
          </p:cNvPr>
          <p:cNvSpPr txBox="1">
            <a:spLocks noGrp="1"/>
          </p:cNvSpPr>
          <p:nvPr>
            <p:ph type="title" idx="5"/>
          </p:nvPr>
        </p:nvSpPr>
        <p:spPr>
          <a:xfrm>
            <a:off x="2368520" y="576000"/>
            <a:ext cx="6396340" cy="493800"/>
          </a:xfrm>
          <a:prstGeom prst="rect">
            <a:avLst/>
          </a:prstGeom>
        </p:spPr>
        <p:txBody>
          <a:bodyPr spcFirstLastPara="1" wrap="square" lIns="91425" tIns="91425" rIns="91425" bIns="91425" anchor="ctr" anchorCtr="0">
            <a:noAutofit/>
          </a:bodyPr>
          <a:lstStyle/>
          <a:p>
            <a:r>
              <a:rPr lang="en-GB" dirty="0"/>
              <a:t>Students is be able to implement a professional problem-solving process, thoroughly supported by an appropriate framework or model to </a:t>
            </a:r>
            <a:r>
              <a:rPr lang="en-GB" dirty="0" err="1"/>
              <a:t>analyze</a:t>
            </a:r>
            <a:r>
              <a:rPr lang="en-GB" dirty="0"/>
              <a:t> and address encountered problems.</a:t>
            </a:r>
          </a:p>
        </p:txBody>
      </p:sp>
      <p:sp>
        <p:nvSpPr>
          <p:cNvPr id="8" name="Google Shape;459;p48">
            <a:extLst>
              <a:ext uri="{FF2B5EF4-FFF2-40B4-BE49-F238E27FC236}">
                <a16:creationId xmlns:a16="http://schemas.microsoft.com/office/drawing/2014/main" id="{9104081E-5C83-4D26-DFC4-D9374F846419}"/>
              </a:ext>
            </a:extLst>
          </p:cNvPr>
          <p:cNvSpPr txBox="1">
            <a:spLocks noGrp="1"/>
          </p:cNvSpPr>
          <p:nvPr>
            <p:ph type="title" idx="3"/>
          </p:nvPr>
        </p:nvSpPr>
        <p:spPr>
          <a:xfrm>
            <a:off x="2049461" y="0"/>
            <a:ext cx="5051635" cy="576000"/>
          </a:xfrm>
          <a:prstGeom prst="rect">
            <a:avLst/>
          </a:prstGeom>
        </p:spPr>
        <p:txBody>
          <a:bodyPr spcFirstLastPara="1" wrap="square" lIns="91425" tIns="91425" rIns="91425" bIns="91425" anchor="ctr" anchorCtr="0">
            <a:noAutofit/>
          </a:bodyPr>
          <a:lstStyle/>
          <a:p>
            <a:pPr marL="0" indent="0"/>
            <a:r>
              <a:rPr lang="en-US" dirty="0"/>
              <a:t>The student demonstrates the ability to manage the process that leads to the completion of the product in a professional manner and according to industry standards.</a:t>
            </a:r>
            <a:endParaRPr lang="nl-NL" dirty="0"/>
          </a:p>
        </p:txBody>
      </p:sp>
      <p:sp>
        <p:nvSpPr>
          <p:cNvPr id="4" name="Google Shape;462;p48">
            <a:extLst>
              <a:ext uri="{FF2B5EF4-FFF2-40B4-BE49-F238E27FC236}">
                <a16:creationId xmlns:a16="http://schemas.microsoft.com/office/drawing/2014/main" id="{A6719589-295D-40A8-CBF6-9251C2D48027}"/>
              </a:ext>
            </a:extLst>
          </p:cNvPr>
          <p:cNvSpPr txBox="1">
            <a:spLocks noGrp="1"/>
          </p:cNvSpPr>
          <p:nvPr>
            <p:ph type="title" idx="6"/>
          </p:nvPr>
        </p:nvSpPr>
        <p:spPr>
          <a:xfrm>
            <a:off x="845550" y="0"/>
            <a:ext cx="1368600" cy="576000"/>
          </a:xfrm>
          <a:prstGeom prst="rect">
            <a:avLst/>
          </a:prstGeom>
        </p:spPr>
        <p:txBody>
          <a:bodyPr spcFirstLastPara="1" wrap="square" lIns="91425" tIns="91425" rIns="91425" bIns="91425" anchor="ctr" anchorCtr="0">
            <a:noAutofit/>
          </a:bodyPr>
          <a:lstStyle/>
          <a:p>
            <a:pPr marL="0" indent="0"/>
            <a:r>
              <a:rPr lang="en-US" sz="1400" dirty="0"/>
              <a:t>Project Management</a:t>
            </a:r>
          </a:p>
        </p:txBody>
      </p:sp>
      <p:pic>
        <p:nvPicPr>
          <p:cNvPr id="3" name="Picture 2"/>
          <p:cNvPicPr>
            <a:picLocks noChangeAspect="1"/>
          </p:cNvPicPr>
          <p:nvPr/>
        </p:nvPicPr>
        <p:blipFill>
          <a:blip r:embed="rId6"/>
          <a:stretch>
            <a:fillRect/>
          </a:stretch>
        </p:blipFill>
        <p:spPr>
          <a:xfrm>
            <a:off x="5747361" y="1427609"/>
            <a:ext cx="3396639" cy="2714439"/>
          </a:xfrm>
          <a:prstGeom prst="rect">
            <a:avLst/>
          </a:prstGeom>
        </p:spPr>
      </p:pic>
    </p:spTree>
    <p:extLst>
      <p:ext uri="{BB962C8B-B14F-4D97-AF65-F5344CB8AC3E}">
        <p14:creationId xmlns:p14="http://schemas.microsoft.com/office/powerpoint/2010/main" val="2273580030"/>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Shape 466"/>
        <p:cNvGrpSpPr/>
        <p:nvPr/>
      </p:nvGrpSpPr>
      <p:grpSpPr>
        <a:xfrm>
          <a:off x="0" y="0"/>
          <a:ext cx="0" cy="0"/>
          <a:chOff x="0" y="0"/>
          <a:chExt cx="0" cy="0"/>
        </a:xfrm>
      </p:grpSpPr>
      <p:sp>
        <p:nvSpPr>
          <p:cNvPr id="467" name="Google Shape;467;p49"/>
          <p:cNvSpPr txBox="1">
            <a:spLocks noGrp="1"/>
          </p:cNvSpPr>
          <p:nvPr>
            <p:ph type="ctrTitle"/>
          </p:nvPr>
        </p:nvSpPr>
        <p:spPr>
          <a:xfrm>
            <a:off x="2286000" y="1104139"/>
            <a:ext cx="6400800" cy="1501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dirty="0"/>
              <a:t>ILO 4</a:t>
            </a:r>
            <a:endParaRPr dirty="0"/>
          </a:p>
        </p:txBody>
      </p:sp>
      <p:sp>
        <p:nvSpPr>
          <p:cNvPr id="468" name="Google Shape;468;p49"/>
          <p:cNvSpPr txBox="1">
            <a:spLocks noGrp="1"/>
          </p:cNvSpPr>
          <p:nvPr>
            <p:ph type="subTitle" idx="1"/>
          </p:nvPr>
        </p:nvSpPr>
        <p:spPr>
          <a:xfrm>
            <a:off x="2286000" y="2503171"/>
            <a:ext cx="6400800" cy="685800"/>
          </a:xfrm>
          <a:prstGeom prst="rect">
            <a:avLst/>
          </a:prstGeom>
        </p:spPr>
        <p:txBody>
          <a:bodyPr spcFirstLastPara="1" wrap="square" lIns="91425" tIns="91425" rIns="91425" bIns="91425" anchor="ctr" anchorCtr="0">
            <a:noAutofit/>
          </a:bodyPr>
          <a:lstStyle/>
          <a:p>
            <a:pPr marL="0" indent="0"/>
            <a:r>
              <a:rPr lang="en-US" dirty="0"/>
              <a:t>Professionalism</a:t>
            </a:r>
          </a:p>
        </p:txBody>
      </p:sp>
      <p:sp>
        <p:nvSpPr>
          <p:cNvPr id="469" name="Google Shape;469;p49"/>
          <p:cNvSpPr txBox="1">
            <a:spLocks noGrp="1"/>
          </p:cNvSpPr>
          <p:nvPr>
            <p:ph type="subTitle" idx="2"/>
          </p:nvPr>
        </p:nvSpPr>
        <p:spPr>
          <a:xfrm>
            <a:off x="3200400" y="3353563"/>
            <a:ext cx="5486400" cy="685800"/>
          </a:xfrm>
          <a:prstGeom prst="rect">
            <a:avLst/>
          </a:prstGeom>
        </p:spPr>
        <p:txBody>
          <a:bodyPr spcFirstLastPara="1" wrap="square" lIns="91425" tIns="91425" rIns="91425" bIns="91425" anchor="ctr" anchorCtr="0">
            <a:noAutofit/>
          </a:bodyPr>
          <a:lstStyle/>
          <a:p>
            <a:pPr marL="0" indent="0"/>
            <a:r>
              <a:rPr lang="en-US" dirty="0"/>
              <a:t>The student demonstrates the ability to professionally communicate and collaborate in a business/research context</a:t>
            </a:r>
            <a:endParaRPr lang="nl-NL" dirty="0"/>
          </a:p>
        </p:txBody>
      </p:sp>
      <p:sp>
        <p:nvSpPr>
          <p:cNvPr id="470" name="Google Shape;470;p49"/>
          <p:cNvSpPr txBox="1"/>
          <p:nvPr/>
        </p:nvSpPr>
        <p:spPr>
          <a:xfrm>
            <a:off x="-420624" y="749808"/>
            <a:ext cx="3383400" cy="51207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r>
              <a:rPr lang="en" sz="40000">
                <a:solidFill>
                  <a:srgbClr val="999999"/>
                </a:solidFill>
                <a:latin typeface="Roboto"/>
                <a:ea typeface="Roboto"/>
                <a:cs typeface="Roboto"/>
                <a:sym typeface="Roboto"/>
              </a:rPr>
              <a:t>4</a:t>
            </a:r>
            <a:endParaRPr sz="40000">
              <a:solidFill>
                <a:srgbClr val="999999"/>
              </a:solidFill>
              <a:latin typeface="Roboto"/>
              <a:ea typeface="Roboto"/>
              <a:cs typeface="Roboto"/>
              <a:sym typeface="Roboto"/>
            </a:endParaRPr>
          </a:p>
        </p:txBody>
      </p:sp>
    </p:spTree>
    <p:extLst>
      <p:ext uri="{BB962C8B-B14F-4D97-AF65-F5344CB8AC3E}">
        <p14:creationId xmlns:p14="http://schemas.microsoft.com/office/powerpoint/2010/main" val="4111561620"/>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Shape 474"/>
        <p:cNvGrpSpPr/>
        <p:nvPr/>
      </p:nvGrpSpPr>
      <p:grpSpPr>
        <a:xfrm>
          <a:off x="0" y="0"/>
          <a:ext cx="0" cy="0"/>
          <a:chOff x="0" y="0"/>
          <a:chExt cx="0" cy="0"/>
        </a:xfrm>
      </p:grpSpPr>
      <p:sp>
        <p:nvSpPr>
          <p:cNvPr id="475" name="Google Shape;475;p50"/>
          <p:cNvSpPr txBox="1">
            <a:spLocks noGrp="1"/>
          </p:cNvSpPr>
          <p:nvPr>
            <p:ph type="title"/>
          </p:nvPr>
        </p:nvSpPr>
        <p:spPr>
          <a:xfrm>
            <a:off x="68250" y="0"/>
            <a:ext cx="777300" cy="5760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ILO 4</a:t>
            </a:r>
            <a:endParaRPr/>
          </a:p>
        </p:txBody>
      </p:sp>
      <p:sp>
        <p:nvSpPr>
          <p:cNvPr id="476" name="Google Shape;476;p50"/>
          <p:cNvSpPr txBox="1">
            <a:spLocks noGrp="1"/>
          </p:cNvSpPr>
          <p:nvPr>
            <p:ph type="title" idx="2"/>
          </p:nvPr>
        </p:nvSpPr>
        <p:spPr>
          <a:xfrm>
            <a:off x="7068300" y="0"/>
            <a:ext cx="1984200" cy="5760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dirty="0"/>
              <a:t>1/3</a:t>
            </a:r>
            <a:endParaRPr dirty="0"/>
          </a:p>
        </p:txBody>
      </p:sp>
      <p:sp>
        <p:nvSpPr>
          <p:cNvPr id="477" name="Google Shape;477;p50"/>
          <p:cNvSpPr txBox="1">
            <a:spLocks noGrp="1"/>
          </p:cNvSpPr>
          <p:nvPr>
            <p:ph type="body" idx="1"/>
          </p:nvPr>
        </p:nvSpPr>
        <p:spPr>
          <a:xfrm>
            <a:off x="182880" y="1069848"/>
            <a:ext cx="5486400" cy="3895200"/>
          </a:xfrm>
          <a:prstGeom prst="rect">
            <a:avLst/>
          </a:prstGeom>
        </p:spPr>
        <p:txBody>
          <a:bodyPr spcFirstLastPara="1" wrap="square" lIns="91425" tIns="91425" rIns="91425" bIns="91425" anchor="t" anchorCtr="0">
            <a:noAutofit/>
          </a:bodyPr>
          <a:lstStyle/>
          <a:p>
            <a:pPr marL="0" lvl="0" indent="0">
              <a:lnSpc>
                <a:spcPct val="115000"/>
              </a:lnSpc>
              <a:buNone/>
            </a:pPr>
            <a:r>
              <a:rPr lang="en-GB" sz="900" i="1" dirty="0">
                <a:solidFill>
                  <a:schemeClr val="lt1"/>
                </a:solidFill>
                <a:latin typeface="Helvetica Neue"/>
                <a:ea typeface="Helvetica Neue"/>
                <a:cs typeface="Helvetica Neue"/>
                <a:sym typeface="Helvetica Neue"/>
              </a:rPr>
              <a:t>Even though this is an individual project, I didn't build it in isolation. I had regular supervisor meetings throughout the project to get guidance on methodology and direction. Before starting, I got structured feedback from two peers in the capstone community on my proposal, and I documented exactly how I changed the project in response (for example, defining "hazard" precisely after one reviewer pointed out it was vague). Later, I also gathered feedback from potential end users: ten people tested the actual app and told me what was clear, what they trusted, and what confused them, which is the kind of outside input the system needed to be useful beyond just my own judgement</a:t>
            </a:r>
            <a:r>
              <a:rPr lang="en-GB" sz="900" i="1" dirty="0" smtClean="0">
                <a:solidFill>
                  <a:schemeClr val="lt1"/>
                </a:solidFill>
                <a:latin typeface="Helvetica Neue"/>
                <a:ea typeface="Helvetica Neue"/>
                <a:cs typeface="Helvetica Neue"/>
                <a:sym typeface="Helvetica Neue"/>
              </a:rPr>
              <a:t>.</a:t>
            </a:r>
          </a:p>
          <a:p>
            <a:pPr marL="0" lvl="0" indent="0">
              <a:lnSpc>
                <a:spcPct val="115000"/>
              </a:lnSpc>
              <a:buNone/>
            </a:pPr>
            <a:endParaRPr lang="en-GB" sz="900" i="1" dirty="0">
              <a:solidFill>
                <a:schemeClr val="lt1"/>
              </a:solidFill>
              <a:latin typeface="Helvetica Neue"/>
              <a:ea typeface="Helvetica Neue"/>
              <a:cs typeface="Helvetica Neue"/>
              <a:sym typeface="Helvetica Neue"/>
            </a:endParaRPr>
          </a:p>
          <a:p>
            <a:pPr marL="0" lvl="0" indent="0">
              <a:lnSpc>
                <a:spcPct val="115000"/>
              </a:lnSpc>
              <a:buNone/>
            </a:pPr>
            <a:endParaRPr lang="en-GB" sz="900" i="1" dirty="0" smtClean="0">
              <a:solidFill>
                <a:schemeClr val="lt1"/>
              </a:solidFill>
              <a:latin typeface="Helvetica Neue"/>
              <a:ea typeface="Helvetica Neue"/>
              <a:cs typeface="Helvetica Neue"/>
              <a:sym typeface="Helvetica Neue"/>
            </a:endParaRPr>
          </a:p>
          <a:p>
            <a:pPr marL="0" indent="0">
              <a:lnSpc>
                <a:spcPct val="115000"/>
              </a:lnSpc>
              <a:buNone/>
            </a:pPr>
            <a:r>
              <a:rPr lang="en-GB" sz="900" i="1" dirty="0">
                <a:solidFill>
                  <a:schemeClr val="bg1"/>
                </a:solidFill>
                <a:latin typeface="Helvetica Neue" panose="020B0604020202020204" charset="0"/>
              </a:rPr>
              <a:t>Evidence 8 (Raw survey responses) – </a:t>
            </a:r>
            <a:r>
              <a:rPr lang="en-GB" sz="900" i="1" dirty="0">
                <a:solidFill>
                  <a:schemeClr val="bg1"/>
                </a:solidFill>
                <a:latin typeface="Helvetica Neue" panose="020B0604020202020204" charset="0"/>
                <a:hlinkClick r:id="rId3"/>
              </a:rPr>
              <a:t>raw_survey_responses</a:t>
            </a:r>
            <a:endParaRPr lang="en-GB" sz="900" i="1" dirty="0">
              <a:solidFill>
                <a:schemeClr val="bg1"/>
              </a:solidFill>
              <a:latin typeface="Helvetica Neue" panose="020B0604020202020204" charset="0"/>
            </a:endParaRPr>
          </a:p>
          <a:p>
            <a:pPr marL="0" indent="0">
              <a:lnSpc>
                <a:spcPct val="115000"/>
              </a:lnSpc>
              <a:buNone/>
            </a:pPr>
            <a:endParaRPr lang="en-GB" sz="900" i="1" dirty="0">
              <a:solidFill>
                <a:schemeClr val="bg1"/>
              </a:solidFill>
              <a:latin typeface="Helvetica Neue" panose="020B0604020202020204" charset="0"/>
            </a:endParaRPr>
          </a:p>
          <a:p>
            <a:pPr marL="0" indent="0">
              <a:lnSpc>
                <a:spcPct val="115000"/>
              </a:lnSpc>
              <a:buNone/>
            </a:pPr>
            <a:r>
              <a:rPr lang="en-GB" sz="900" i="1" dirty="0">
                <a:solidFill>
                  <a:schemeClr val="bg1"/>
                </a:solidFill>
                <a:latin typeface="Helvetica Neue" panose="020B0604020202020204" charset="0"/>
              </a:rPr>
              <a:t>Evidence 9 (Thematic analysis) - </a:t>
            </a:r>
            <a:r>
              <a:rPr lang="en-GB" sz="900" i="1" dirty="0">
                <a:solidFill>
                  <a:schemeClr val="bg1"/>
                </a:solidFill>
                <a:latin typeface="Helvetica Neue" panose="020B0604020202020204" charset="0"/>
                <a:hlinkClick r:id="rId4"/>
              </a:rPr>
              <a:t>Thematic </a:t>
            </a:r>
            <a:r>
              <a:rPr lang="en-GB" sz="900" i="1" dirty="0" smtClean="0">
                <a:solidFill>
                  <a:schemeClr val="bg1"/>
                </a:solidFill>
                <a:latin typeface="Helvetica Neue" panose="020B0604020202020204" charset="0"/>
                <a:hlinkClick r:id="rId4"/>
              </a:rPr>
              <a:t>analysis</a:t>
            </a:r>
            <a:endParaRPr lang="en-GB" sz="900" i="1" dirty="0" smtClean="0">
              <a:solidFill>
                <a:schemeClr val="bg1"/>
              </a:solidFill>
              <a:latin typeface="Helvetica Neue" panose="020B0604020202020204" charset="0"/>
            </a:endParaRPr>
          </a:p>
          <a:p>
            <a:pPr marL="0" indent="0">
              <a:lnSpc>
                <a:spcPct val="115000"/>
              </a:lnSpc>
              <a:buNone/>
            </a:pPr>
            <a:endParaRPr lang="en-GB" sz="900" i="1" dirty="0">
              <a:solidFill>
                <a:schemeClr val="bg1"/>
              </a:solidFill>
              <a:latin typeface="Helvetica Neue" panose="020B0604020202020204" charset="0"/>
            </a:endParaRPr>
          </a:p>
          <a:p>
            <a:pPr marL="0" indent="0">
              <a:lnSpc>
                <a:spcPct val="115000"/>
              </a:lnSpc>
              <a:buNone/>
            </a:pPr>
            <a:r>
              <a:rPr lang="en-GB" sz="900" i="1" dirty="0">
                <a:solidFill>
                  <a:schemeClr val="bg1"/>
                </a:solidFill>
                <a:latin typeface="Helvetica Neue" panose="020B0604020202020204" charset="0"/>
              </a:rPr>
              <a:t>Evidence 1 (Thesis) – </a:t>
            </a:r>
            <a:r>
              <a:rPr lang="en-GB" sz="900" i="1" dirty="0" smtClean="0">
                <a:solidFill>
                  <a:schemeClr val="bg1"/>
                </a:solidFill>
                <a:latin typeface="Helvetica Neue" panose="020B0604020202020204" charset="0"/>
                <a:hlinkClick r:id="rId5"/>
              </a:rPr>
              <a:t>Thesis</a:t>
            </a:r>
            <a:endParaRPr lang="en-GB" sz="900" i="1" dirty="0" smtClean="0">
              <a:solidFill>
                <a:schemeClr val="bg1"/>
              </a:solidFill>
              <a:latin typeface="Helvetica Neue" panose="020B0604020202020204" charset="0"/>
            </a:endParaRPr>
          </a:p>
          <a:p>
            <a:pPr marL="0" lvl="0" indent="0">
              <a:lnSpc>
                <a:spcPct val="115000"/>
              </a:lnSpc>
              <a:buNone/>
            </a:pPr>
            <a:endParaRPr lang="en-GB" sz="900" i="1" dirty="0" smtClean="0">
              <a:solidFill>
                <a:schemeClr val="lt1"/>
              </a:solidFill>
              <a:latin typeface="Helvetica Neue"/>
              <a:ea typeface="Helvetica Neue"/>
              <a:cs typeface="Helvetica Neue"/>
              <a:sym typeface="Helvetica Neue"/>
            </a:endParaRPr>
          </a:p>
          <a:p>
            <a:pPr marL="0" lvl="0" indent="0">
              <a:lnSpc>
                <a:spcPct val="115000"/>
              </a:lnSpc>
              <a:buNone/>
            </a:pPr>
            <a:r>
              <a:rPr lang="en-GB" sz="900" i="1" dirty="0" smtClean="0">
                <a:solidFill>
                  <a:schemeClr val="lt1"/>
                </a:solidFill>
                <a:latin typeface="Helvetica Neue"/>
                <a:ea typeface="Helvetica Neue"/>
                <a:cs typeface="Helvetica Neue"/>
                <a:sym typeface="Helvetica Neue"/>
              </a:rPr>
              <a:t>Evidenced from the feedbacks under each week of the Learning Log and their reflections</a:t>
            </a:r>
            <a:endParaRPr lang="en-GB" sz="900" i="1" dirty="0">
              <a:solidFill>
                <a:schemeClr val="lt1"/>
              </a:solidFill>
              <a:latin typeface="Helvetica Neue"/>
              <a:ea typeface="Helvetica Neue"/>
              <a:cs typeface="Helvetica Neue"/>
              <a:sym typeface="Helvetica Neue"/>
            </a:endParaRPr>
          </a:p>
          <a:p>
            <a:pPr marL="0" lvl="0" indent="0">
              <a:lnSpc>
                <a:spcPct val="115000"/>
              </a:lnSpc>
              <a:buNone/>
            </a:pPr>
            <a:endParaRPr lang="en-GB" sz="900" i="1" dirty="0" smtClean="0">
              <a:solidFill>
                <a:schemeClr val="lt1"/>
              </a:solidFill>
              <a:latin typeface="Helvetica Neue"/>
              <a:ea typeface="Helvetica Neue"/>
              <a:cs typeface="Helvetica Neue"/>
              <a:sym typeface="Helvetica Neue"/>
            </a:endParaRPr>
          </a:p>
          <a:p>
            <a:pPr marL="0" lvl="0" indent="0">
              <a:lnSpc>
                <a:spcPct val="115000"/>
              </a:lnSpc>
              <a:buNone/>
            </a:pPr>
            <a:r>
              <a:rPr lang="en-GB" sz="900" i="1" dirty="0" smtClean="0">
                <a:solidFill>
                  <a:schemeClr val="lt1"/>
                </a:solidFill>
                <a:latin typeface="Helvetica Neue"/>
                <a:ea typeface="Helvetica Neue"/>
                <a:cs typeface="Helvetica Neue"/>
                <a:sym typeface="Helvetica Neue"/>
              </a:rPr>
              <a:t>Evidenced in the calendar screenshot from slide 62</a:t>
            </a:r>
            <a:endParaRPr lang="en-GB" sz="900" i="1" dirty="0">
              <a:solidFill>
                <a:schemeClr val="lt1"/>
              </a:solidFill>
              <a:latin typeface="Helvetica Neue"/>
              <a:ea typeface="Helvetica Neue"/>
              <a:cs typeface="Helvetica Neue"/>
              <a:sym typeface="Helvetica Neue"/>
            </a:endParaRPr>
          </a:p>
          <a:p>
            <a:pPr marL="0" lvl="0" indent="0">
              <a:lnSpc>
                <a:spcPct val="115000"/>
              </a:lnSpc>
              <a:buNone/>
            </a:pPr>
            <a:endParaRPr sz="700" i="1" dirty="0">
              <a:solidFill>
                <a:schemeClr val="lt1"/>
              </a:solidFill>
              <a:latin typeface="Helvetica Neue"/>
              <a:ea typeface="Helvetica Neue"/>
              <a:cs typeface="Helvetica Neue"/>
              <a:sym typeface="Helvetica Neue"/>
            </a:endParaRPr>
          </a:p>
        </p:txBody>
      </p:sp>
      <p:sp>
        <p:nvSpPr>
          <p:cNvPr id="479" name="Google Shape;479;p50"/>
          <p:cNvSpPr txBox="1">
            <a:spLocks noGrp="1"/>
          </p:cNvSpPr>
          <p:nvPr>
            <p:ph type="title" idx="4"/>
          </p:nvPr>
        </p:nvSpPr>
        <p:spPr>
          <a:xfrm>
            <a:off x="68250" y="576000"/>
            <a:ext cx="2072784" cy="4938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sz="1800" dirty="0">
                <a:solidFill>
                  <a:srgbClr val="FFFFFF"/>
                </a:solidFill>
              </a:rPr>
              <a:t>Collaboration</a:t>
            </a:r>
            <a:endParaRPr sz="1800" dirty="0">
              <a:solidFill>
                <a:srgbClr val="FFFFFF"/>
              </a:solidFill>
            </a:endParaRPr>
          </a:p>
        </p:txBody>
      </p:sp>
      <p:sp>
        <p:nvSpPr>
          <p:cNvPr id="480" name="Google Shape;480;p50"/>
          <p:cNvSpPr txBox="1">
            <a:spLocks noGrp="1"/>
          </p:cNvSpPr>
          <p:nvPr>
            <p:ph type="title" idx="5"/>
          </p:nvPr>
        </p:nvSpPr>
        <p:spPr>
          <a:xfrm>
            <a:off x="1998299" y="576000"/>
            <a:ext cx="6162451" cy="493800"/>
          </a:xfrm>
          <a:prstGeom prst="rect">
            <a:avLst/>
          </a:prstGeom>
        </p:spPr>
        <p:txBody>
          <a:bodyPr spcFirstLastPara="1" wrap="square" lIns="91425" tIns="91425" rIns="91425" bIns="91425" anchor="ctr" anchorCtr="0">
            <a:noAutofit/>
          </a:bodyPr>
          <a:lstStyle/>
          <a:p>
            <a:r>
              <a:rPr lang="en-GB" dirty="0"/>
              <a:t>Students is able to effectively engage key stakeholders and a broader network of experts throughout the process, aligning with industry expectations</a:t>
            </a:r>
            <a:endParaRPr lang="nl-NL" dirty="0"/>
          </a:p>
        </p:txBody>
      </p:sp>
      <p:sp>
        <p:nvSpPr>
          <p:cNvPr id="7" name="Google Shape;459;p48">
            <a:extLst>
              <a:ext uri="{FF2B5EF4-FFF2-40B4-BE49-F238E27FC236}">
                <a16:creationId xmlns:a16="http://schemas.microsoft.com/office/drawing/2014/main" id="{53BB9E1B-97C5-2DA9-6DD8-8B90626EFB7C}"/>
              </a:ext>
            </a:extLst>
          </p:cNvPr>
          <p:cNvSpPr txBox="1">
            <a:spLocks noGrp="1"/>
          </p:cNvSpPr>
          <p:nvPr>
            <p:ph type="title" idx="3"/>
          </p:nvPr>
        </p:nvSpPr>
        <p:spPr>
          <a:xfrm>
            <a:off x="2049461" y="0"/>
            <a:ext cx="5826455" cy="576000"/>
          </a:xfrm>
          <a:prstGeom prst="rect">
            <a:avLst/>
          </a:prstGeom>
        </p:spPr>
        <p:txBody>
          <a:bodyPr spcFirstLastPara="1" wrap="square" lIns="91425" tIns="91425" rIns="91425" bIns="91425" anchor="ctr" anchorCtr="0">
            <a:noAutofit/>
          </a:bodyPr>
          <a:lstStyle/>
          <a:p>
            <a:pPr marL="0" indent="0"/>
            <a:r>
              <a:rPr lang="en-US" dirty="0"/>
              <a:t>The student demonstrates the ability to professionally communicate and collaborate in a business/research context</a:t>
            </a:r>
            <a:endParaRPr lang="nl-NL" dirty="0"/>
          </a:p>
        </p:txBody>
      </p:sp>
      <p:sp>
        <p:nvSpPr>
          <p:cNvPr id="2" name="Google Shape;462;p48">
            <a:extLst>
              <a:ext uri="{FF2B5EF4-FFF2-40B4-BE49-F238E27FC236}">
                <a16:creationId xmlns:a16="http://schemas.microsoft.com/office/drawing/2014/main" id="{0DF68E2A-4FDB-D5FA-06F1-F3DB970B9CD1}"/>
              </a:ext>
            </a:extLst>
          </p:cNvPr>
          <p:cNvSpPr txBox="1">
            <a:spLocks noGrp="1"/>
          </p:cNvSpPr>
          <p:nvPr>
            <p:ph type="title" idx="6"/>
          </p:nvPr>
        </p:nvSpPr>
        <p:spPr>
          <a:xfrm>
            <a:off x="845550" y="39077"/>
            <a:ext cx="1368600" cy="576000"/>
          </a:xfrm>
          <a:prstGeom prst="rect">
            <a:avLst/>
          </a:prstGeom>
        </p:spPr>
        <p:txBody>
          <a:bodyPr spcFirstLastPara="1" wrap="square" lIns="91425" tIns="91425" rIns="91425" bIns="91425" anchor="ctr" anchorCtr="0">
            <a:noAutofit/>
          </a:bodyPr>
          <a:lstStyle/>
          <a:p>
            <a:r>
              <a:rPr lang="en-US" sz="1100" dirty="0" err="1"/>
              <a:t>Professionalizm</a:t>
            </a:r>
            <a:endParaRPr lang="en-US" sz="1100" dirty="0"/>
          </a:p>
        </p:txBody>
      </p:sp>
      <p:pic>
        <p:nvPicPr>
          <p:cNvPr id="3" name="Picture 2"/>
          <p:cNvPicPr>
            <a:picLocks noChangeAspect="1"/>
          </p:cNvPicPr>
          <p:nvPr/>
        </p:nvPicPr>
        <p:blipFill>
          <a:blip r:embed="rId6"/>
          <a:stretch>
            <a:fillRect/>
          </a:stretch>
        </p:blipFill>
        <p:spPr>
          <a:xfrm>
            <a:off x="5824836" y="1152000"/>
            <a:ext cx="3293585" cy="3340487"/>
          </a:xfrm>
          <a:prstGeom prst="rect">
            <a:avLst/>
          </a:prstGeom>
        </p:spPr>
      </p:pic>
      <p:sp>
        <p:nvSpPr>
          <p:cNvPr id="4" name="TextBox 3"/>
          <p:cNvSpPr txBox="1"/>
          <p:nvPr/>
        </p:nvSpPr>
        <p:spPr>
          <a:xfrm>
            <a:off x="6321313" y="4574687"/>
            <a:ext cx="2300630" cy="276999"/>
          </a:xfrm>
          <a:prstGeom prst="rect">
            <a:avLst/>
          </a:prstGeom>
          <a:noFill/>
        </p:spPr>
        <p:txBody>
          <a:bodyPr wrap="none" rtlCol="0">
            <a:spAutoFit/>
          </a:bodyPr>
          <a:lstStyle/>
          <a:p>
            <a:r>
              <a:rPr lang="en-GB" sz="1200" dirty="0" smtClean="0">
                <a:solidFill>
                  <a:schemeClr val="bg1"/>
                </a:solidFill>
              </a:rPr>
              <a:t>Feedback I got on the proposal</a:t>
            </a:r>
            <a:endParaRPr lang="en-GB" sz="1200" dirty="0">
              <a:solidFill>
                <a:schemeClr val="bg1"/>
              </a:solidFill>
            </a:endParaRPr>
          </a:p>
        </p:txBody>
      </p:sp>
      <p:pic>
        <p:nvPicPr>
          <p:cNvPr id="5" name="Picture 4"/>
          <p:cNvPicPr>
            <a:picLocks noChangeAspect="1"/>
          </p:cNvPicPr>
          <p:nvPr/>
        </p:nvPicPr>
        <p:blipFill>
          <a:blip r:embed="rId7"/>
          <a:stretch>
            <a:fillRect/>
          </a:stretch>
        </p:blipFill>
        <p:spPr>
          <a:xfrm>
            <a:off x="3068819" y="3715109"/>
            <a:ext cx="2756017" cy="1353378"/>
          </a:xfrm>
          <a:prstGeom prst="rect">
            <a:avLst/>
          </a:prstGeom>
        </p:spPr>
      </p:pic>
    </p:spTree>
    <p:extLst>
      <p:ext uri="{BB962C8B-B14F-4D97-AF65-F5344CB8AC3E}">
        <p14:creationId xmlns:p14="http://schemas.microsoft.com/office/powerpoint/2010/main" val="3889067802"/>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Shape 474">
          <a:extLst>
            <a:ext uri="{FF2B5EF4-FFF2-40B4-BE49-F238E27FC236}">
              <a16:creationId xmlns:a16="http://schemas.microsoft.com/office/drawing/2014/main" id="{6E61D359-B2F9-8FF4-37F1-9D84EA845400}"/>
            </a:ext>
          </a:extLst>
        </p:cNvPr>
        <p:cNvGrpSpPr/>
        <p:nvPr/>
      </p:nvGrpSpPr>
      <p:grpSpPr>
        <a:xfrm>
          <a:off x="0" y="0"/>
          <a:ext cx="0" cy="0"/>
          <a:chOff x="0" y="0"/>
          <a:chExt cx="0" cy="0"/>
        </a:xfrm>
      </p:grpSpPr>
      <p:sp>
        <p:nvSpPr>
          <p:cNvPr id="475" name="Google Shape;475;p50">
            <a:extLst>
              <a:ext uri="{FF2B5EF4-FFF2-40B4-BE49-F238E27FC236}">
                <a16:creationId xmlns:a16="http://schemas.microsoft.com/office/drawing/2014/main" id="{860824A7-EFCD-8BC6-F804-426B2D83A225}"/>
              </a:ext>
            </a:extLst>
          </p:cNvPr>
          <p:cNvSpPr txBox="1">
            <a:spLocks noGrp="1"/>
          </p:cNvSpPr>
          <p:nvPr>
            <p:ph type="title"/>
          </p:nvPr>
        </p:nvSpPr>
        <p:spPr>
          <a:xfrm>
            <a:off x="68250" y="0"/>
            <a:ext cx="777300" cy="5760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dirty="0"/>
              <a:t>ILO 4</a:t>
            </a:r>
            <a:endParaRPr dirty="0"/>
          </a:p>
        </p:txBody>
      </p:sp>
      <p:sp>
        <p:nvSpPr>
          <p:cNvPr id="476" name="Google Shape;476;p50">
            <a:extLst>
              <a:ext uri="{FF2B5EF4-FFF2-40B4-BE49-F238E27FC236}">
                <a16:creationId xmlns:a16="http://schemas.microsoft.com/office/drawing/2014/main" id="{AE57B895-CC07-E50E-2C0B-4B1CA43C87F4}"/>
              </a:ext>
            </a:extLst>
          </p:cNvPr>
          <p:cNvSpPr txBox="1">
            <a:spLocks noGrp="1"/>
          </p:cNvSpPr>
          <p:nvPr>
            <p:ph type="title" idx="2"/>
          </p:nvPr>
        </p:nvSpPr>
        <p:spPr>
          <a:xfrm>
            <a:off x="7068300" y="0"/>
            <a:ext cx="1984200" cy="5760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dirty="0"/>
              <a:t>2/3</a:t>
            </a:r>
            <a:endParaRPr dirty="0"/>
          </a:p>
        </p:txBody>
      </p:sp>
      <p:sp>
        <p:nvSpPr>
          <p:cNvPr id="477" name="Google Shape;477;p50">
            <a:extLst>
              <a:ext uri="{FF2B5EF4-FFF2-40B4-BE49-F238E27FC236}">
                <a16:creationId xmlns:a16="http://schemas.microsoft.com/office/drawing/2014/main" id="{2EB17D5F-AE6A-92C6-5089-ACB59D1DFBF0}"/>
              </a:ext>
            </a:extLst>
          </p:cNvPr>
          <p:cNvSpPr txBox="1">
            <a:spLocks noGrp="1"/>
          </p:cNvSpPr>
          <p:nvPr>
            <p:ph type="body" idx="1"/>
          </p:nvPr>
        </p:nvSpPr>
        <p:spPr>
          <a:xfrm>
            <a:off x="182880" y="1069848"/>
            <a:ext cx="5486400" cy="3895200"/>
          </a:xfrm>
          <a:prstGeom prst="rect">
            <a:avLst/>
          </a:prstGeom>
        </p:spPr>
        <p:txBody>
          <a:bodyPr spcFirstLastPara="1" wrap="square" lIns="91425" tIns="91425" rIns="91425" bIns="91425" anchor="t" anchorCtr="0">
            <a:noAutofit/>
          </a:bodyPr>
          <a:lstStyle/>
          <a:p>
            <a:pPr marL="0" lvl="0" indent="0">
              <a:lnSpc>
                <a:spcPct val="115000"/>
              </a:lnSpc>
              <a:buNone/>
            </a:pPr>
            <a:r>
              <a:rPr lang="en-GB" sz="900" i="1" dirty="0">
                <a:solidFill>
                  <a:schemeClr val="lt1"/>
                </a:solidFill>
                <a:latin typeface="Helvetica Neue"/>
                <a:ea typeface="Helvetica Neue"/>
                <a:cs typeface="Helvetica Neue"/>
                <a:sym typeface="Helvetica Neue"/>
              </a:rPr>
              <a:t> I worked through it properly in the thesis's own Ethical Considerations section, covering both legal and ethical angles. On the legal side, since my photos were collected in Bulgaria (EU), I checked what GDPR actually requires: GPS coordinates and any incidentally captured faces or licence plates count as personal data, and I was honest that this prototype doesn't yet have a lawful basis, privacy notice, or data-deletion process in place, and stated exactly what a municipality would need before real deployment. On the ethics side, I acknowledged real gaps rather than hiding them: no automatic face/plate blurring is implemented yet, the dataset has geographic bias, and the system can miss real damage, so I was explicit that its outputs should be treated as decision support for a human, not a final safety judgement on their own</a:t>
            </a:r>
            <a:r>
              <a:rPr lang="en-GB" sz="900" i="1" dirty="0" smtClean="0">
                <a:solidFill>
                  <a:schemeClr val="lt1"/>
                </a:solidFill>
                <a:latin typeface="Helvetica Neue"/>
                <a:ea typeface="Helvetica Neue"/>
                <a:cs typeface="Helvetica Neue"/>
                <a:sym typeface="Helvetica Neue"/>
              </a:rPr>
              <a:t>.</a:t>
            </a:r>
          </a:p>
          <a:p>
            <a:pPr marL="0" lvl="0" indent="0">
              <a:lnSpc>
                <a:spcPct val="115000"/>
              </a:lnSpc>
              <a:buNone/>
            </a:pPr>
            <a:endParaRPr lang="en-GB" sz="900" i="1" dirty="0">
              <a:solidFill>
                <a:schemeClr val="lt1"/>
              </a:solidFill>
              <a:latin typeface="Helvetica Neue"/>
              <a:ea typeface="Helvetica Neue"/>
              <a:cs typeface="Helvetica Neue"/>
              <a:sym typeface="Helvetica Neue"/>
            </a:endParaRPr>
          </a:p>
          <a:p>
            <a:pPr marL="0" lvl="0" indent="0">
              <a:lnSpc>
                <a:spcPct val="115000"/>
              </a:lnSpc>
              <a:buNone/>
            </a:pPr>
            <a:endParaRPr lang="en-GB" sz="900" i="1" dirty="0" smtClean="0">
              <a:solidFill>
                <a:schemeClr val="lt1"/>
              </a:solidFill>
              <a:latin typeface="Helvetica Neue"/>
              <a:ea typeface="Helvetica Neue"/>
              <a:cs typeface="Helvetica Neue"/>
              <a:sym typeface="Helvetica Neue"/>
            </a:endParaRPr>
          </a:p>
          <a:p>
            <a:pPr marL="0" lvl="0" indent="0">
              <a:lnSpc>
                <a:spcPct val="115000"/>
              </a:lnSpc>
              <a:buNone/>
            </a:pPr>
            <a:endParaRPr lang="en-GB" sz="900" i="1" dirty="0">
              <a:solidFill>
                <a:schemeClr val="lt1"/>
              </a:solidFill>
              <a:latin typeface="Helvetica Neue"/>
              <a:ea typeface="Helvetica Neue"/>
              <a:cs typeface="Helvetica Neue"/>
              <a:sym typeface="Helvetica Neue"/>
            </a:endParaRPr>
          </a:p>
          <a:p>
            <a:pPr marL="0" indent="0">
              <a:lnSpc>
                <a:spcPct val="115000"/>
              </a:lnSpc>
              <a:buNone/>
            </a:pPr>
            <a:r>
              <a:rPr lang="en-GB" sz="900" i="1" dirty="0">
                <a:solidFill>
                  <a:schemeClr val="bg1"/>
                </a:solidFill>
                <a:latin typeface="Helvetica Neue" panose="020B0604020202020204" charset="0"/>
              </a:rPr>
              <a:t>Evidence 1 (</a:t>
            </a:r>
            <a:r>
              <a:rPr lang="en-GB" sz="900" i="1" dirty="0" smtClean="0">
                <a:solidFill>
                  <a:schemeClr val="bg1"/>
                </a:solidFill>
                <a:latin typeface="Helvetica Neue" panose="020B0604020202020204" charset="0"/>
              </a:rPr>
              <a:t>Thesis Section 6 – Ethical Considerations) </a:t>
            </a:r>
            <a:r>
              <a:rPr lang="en-GB" sz="900" i="1" dirty="0">
                <a:solidFill>
                  <a:schemeClr val="bg1"/>
                </a:solidFill>
                <a:latin typeface="Helvetica Neue" panose="020B0604020202020204" charset="0"/>
              </a:rPr>
              <a:t>– </a:t>
            </a:r>
            <a:r>
              <a:rPr lang="en-GB" sz="900" i="1" dirty="0">
                <a:solidFill>
                  <a:schemeClr val="bg1"/>
                </a:solidFill>
                <a:latin typeface="Helvetica Neue" panose="020B0604020202020204" charset="0"/>
                <a:hlinkClick r:id="rId3"/>
              </a:rPr>
              <a:t>Thesis</a:t>
            </a:r>
            <a:endParaRPr lang="en-GB" sz="900" i="1" dirty="0">
              <a:solidFill>
                <a:schemeClr val="lt1"/>
              </a:solidFill>
              <a:latin typeface="Helvetica Neue"/>
              <a:ea typeface="Helvetica Neue"/>
              <a:cs typeface="Helvetica Neue"/>
              <a:sym typeface="Helvetica Neue"/>
            </a:endParaRPr>
          </a:p>
          <a:p>
            <a:pPr marL="0" lvl="0" indent="0">
              <a:lnSpc>
                <a:spcPct val="115000"/>
              </a:lnSpc>
              <a:buNone/>
            </a:pPr>
            <a:endParaRPr sz="900" i="1" dirty="0">
              <a:solidFill>
                <a:schemeClr val="lt1"/>
              </a:solidFill>
              <a:latin typeface="Helvetica Neue"/>
              <a:ea typeface="Helvetica Neue"/>
              <a:cs typeface="Helvetica Neue"/>
              <a:sym typeface="Helvetica Neue"/>
            </a:endParaRPr>
          </a:p>
        </p:txBody>
      </p:sp>
      <p:sp>
        <p:nvSpPr>
          <p:cNvPr id="479" name="Google Shape;479;p50">
            <a:extLst>
              <a:ext uri="{FF2B5EF4-FFF2-40B4-BE49-F238E27FC236}">
                <a16:creationId xmlns:a16="http://schemas.microsoft.com/office/drawing/2014/main" id="{4942D1AF-E758-5EC2-2251-DA008FABC936}"/>
              </a:ext>
            </a:extLst>
          </p:cNvPr>
          <p:cNvSpPr txBox="1">
            <a:spLocks noGrp="1"/>
          </p:cNvSpPr>
          <p:nvPr>
            <p:ph type="title" idx="4"/>
          </p:nvPr>
        </p:nvSpPr>
        <p:spPr>
          <a:xfrm>
            <a:off x="68249" y="576000"/>
            <a:ext cx="2300270" cy="4938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GB" sz="1800" dirty="0">
                <a:solidFill>
                  <a:srgbClr val="FFFFFF"/>
                </a:solidFill>
              </a:rPr>
              <a:t>Ethics &amp; Legal</a:t>
            </a:r>
            <a:endParaRPr sz="1800" dirty="0">
              <a:solidFill>
                <a:srgbClr val="FFFFFF"/>
              </a:solidFill>
            </a:endParaRPr>
          </a:p>
        </p:txBody>
      </p:sp>
      <p:sp>
        <p:nvSpPr>
          <p:cNvPr id="480" name="Google Shape;480;p50">
            <a:extLst>
              <a:ext uri="{FF2B5EF4-FFF2-40B4-BE49-F238E27FC236}">
                <a16:creationId xmlns:a16="http://schemas.microsoft.com/office/drawing/2014/main" id="{5BFC4CD0-264F-C9BB-5428-C9D7F451CA38}"/>
              </a:ext>
            </a:extLst>
          </p:cNvPr>
          <p:cNvSpPr txBox="1">
            <a:spLocks noGrp="1"/>
          </p:cNvSpPr>
          <p:nvPr>
            <p:ph type="title" idx="5"/>
          </p:nvPr>
        </p:nvSpPr>
        <p:spPr>
          <a:xfrm>
            <a:off x="2368520" y="576000"/>
            <a:ext cx="6396340" cy="493800"/>
          </a:xfrm>
          <a:prstGeom prst="rect">
            <a:avLst/>
          </a:prstGeom>
        </p:spPr>
        <p:txBody>
          <a:bodyPr spcFirstLastPara="1" wrap="square" lIns="91425" tIns="91425" rIns="91425" bIns="91425" anchor="ctr" anchorCtr="0">
            <a:noAutofit/>
          </a:bodyPr>
          <a:lstStyle/>
          <a:p>
            <a:r>
              <a:rPr lang="en-GB" dirty="0"/>
              <a:t>The student is able to evaluate and apply ethical and legal frameworks and methodologies in alignment with industry standards, demonstrating how these principles inform and guide decisions made in their projects or portfolios</a:t>
            </a:r>
          </a:p>
        </p:txBody>
      </p:sp>
      <p:sp>
        <p:nvSpPr>
          <p:cNvPr id="8" name="Google Shape;459;p48">
            <a:extLst>
              <a:ext uri="{FF2B5EF4-FFF2-40B4-BE49-F238E27FC236}">
                <a16:creationId xmlns:a16="http://schemas.microsoft.com/office/drawing/2014/main" id="{CB63CC33-2C94-737E-31F7-1C7DB9C19F27}"/>
              </a:ext>
            </a:extLst>
          </p:cNvPr>
          <p:cNvSpPr txBox="1">
            <a:spLocks noGrp="1"/>
          </p:cNvSpPr>
          <p:nvPr>
            <p:ph type="title" idx="3"/>
          </p:nvPr>
        </p:nvSpPr>
        <p:spPr>
          <a:xfrm>
            <a:off x="2314320" y="0"/>
            <a:ext cx="5051635" cy="576000"/>
          </a:xfrm>
          <a:prstGeom prst="rect">
            <a:avLst/>
          </a:prstGeom>
        </p:spPr>
        <p:txBody>
          <a:bodyPr spcFirstLastPara="1" wrap="square" lIns="91425" tIns="91425" rIns="91425" bIns="91425" anchor="ctr" anchorCtr="0">
            <a:noAutofit/>
          </a:bodyPr>
          <a:lstStyle/>
          <a:p>
            <a:pPr marL="0" indent="0"/>
            <a:r>
              <a:rPr lang="en-US" dirty="0"/>
              <a:t>The student demonstrates the ability to professionally communicate and collaborate in a business/research context</a:t>
            </a:r>
            <a:endParaRPr lang="nl-NL" dirty="0"/>
          </a:p>
        </p:txBody>
      </p:sp>
      <p:sp>
        <p:nvSpPr>
          <p:cNvPr id="4" name="Google Shape;462;p48">
            <a:extLst>
              <a:ext uri="{FF2B5EF4-FFF2-40B4-BE49-F238E27FC236}">
                <a16:creationId xmlns:a16="http://schemas.microsoft.com/office/drawing/2014/main" id="{6DD9938A-0032-481C-42A8-B06E9CAD45D8}"/>
              </a:ext>
            </a:extLst>
          </p:cNvPr>
          <p:cNvSpPr txBox="1">
            <a:spLocks noGrp="1"/>
          </p:cNvSpPr>
          <p:nvPr>
            <p:ph type="title" idx="6"/>
          </p:nvPr>
        </p:nvSpPr>
        <p:spPr>
          <a:xfrm>
            <a:off x="845549" y="0"/>
            <a:ext cx="1468769" cy="576000"/>
          </a:xfrm>
          <a:prstGeom prst="rect">
            <a:avLst/>
          </a:prstGeom>
        </p:spPr>
        <p:txBody>
          <a:bodyPr spcFirstLastPara="1" wrap="square" lIns="91425" tIns="91425" rIns="91425" bIns="91425" anchor="ctr" anchorCtr="0">
            <a:noAutofit/>
          </a:bodyPr>
          <a:lstStyle/>
          <a:p>
            <a:pPr marL="0" indent="0"/>
            <a:r>
              <a:rPr lang="en-US" sz="1400" dirty="0"/>
              <a:t>Professionalism</a:t>
            </a:r>
          </a:p>
        </p:txBody>
      </p:sp>
      <p:pic>
        <p:nvPicPr>
          <p:cNvPr id="3" name="Picture 2"/>
          <p:cNvPicPr>
            <a:picLocks noChangeAspect="1"/>
          </p:cNvPicPr>
          <p:nvPr/>
        </p:nvPicPr>
        <p:blipFill>
          <a:blip r:embed="rId4"/>
          <a:stretch>
            <a:fillRect/>
          </a:stretch>
        </p:blipFill>
        <p:spPr>
          <a:xfrm>
            <a:off x="7441733" y="1069800"/>
            <a:ext cx="1702267" cy="4073700"/>
          </a:xfrm>
          <a:prstGeom prst="rect">
            <a:avLst/>
          </a:prstGeom>
        </p:spPr>
      </p:pic>
      <p:pic>
        <p:nvPicPr>
          <p:cNvPr id="5" name="Picture 4"/>
          <p:cNvPicPr>
            <a:picLocks noChangeAspect="1"/>
          </p:cNvPicPr>
          <p:nvPr/>
        </p:nvPicPr>
        <p:blipFill>
          <a:blip r:embed="rId5"/>
          <a:stretch>
            <a:fillRect/>
          </a:stretch>
        </p:blipFill>
        <p:spPr>
          <a:xfrm>
            <a:off x="5739465" y="1069800"/>
            <a:ext cx="1702267" cy="3748485"/>
          </a:xfrm>
          <a:prstGeom prst="rect">
            <a:avLst/>
          </a:prstGeom>
        </p:spPr>
      </p:pic>
    </p:spTree>
    <p:extLst>
      <p:ext uri="{BB962C8B-B14F-4D97-AF65-F5344CB8AC3E}">
        <p14:creationId xmlns:p14="http://schemas.microsoft.com/office/powerpoint/2010/main" val="2086742544"/>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Shape 474">
          <a:extLst>
            <a:ext uri="{FF2B5EF4-FFF2-40B4-BE49-F238E27FC236}">
              <a16:creationId xmlns:a16="http://schemas.microsoft.com/office/drawing/2014/main" id="{28E4A57D-E8FD-038B-6B2F-CFEAE839F1DD}"/>
            </a:ext>
          </a:extLst>
        </p:cNvPr>
        <p:cNvGrpSpPr/>
        <p:nvPr/>
      </p:nvGrpSpPr>
      <p:grpSpPr>
        <a:xfrm>
          <a:off x="0" y="0"/>
          <a:ext cx="0" cy="0"/>
          <a:chOff x="0" y="0"/>
          <a:chExt cx="0" cy="0"/>
        </a:xfrm>
      </p:grpSpPr>
      <p:sp>
        <p:nvSpPr>
          <p:cNvPr id="475" name="Google Shape;475;p50">
            <a:extLst>
              <a:ext uri="{FF2B5EF4-FFF2-40B4-BE49-F238E27FC236}">
                <a16:creationId xmlns:a16="http://schemas.microsoft.com/office/drawing/2014/main" id="{4478063A-CF62-907E-E10C-CDC65F5EE15F}"/>
              </a:ext>
            </a:extLst>
          </p:cNvPr>
          <p:cNvSpPr txBox="1">
            <a:spLocks noGrp="1"/>
          </p:cNvSpPr>
          <p:nvPr>
            <p:ph type="title"/>
          </p:nvPr>
        </p:nvSpPr>
        <p:spPr>
          <a:xfrm>
            <a:off x="68250" y="0"/>
            <a:ext cx="777300" cy="5760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dirty="0"/>
              <a:t>ILO 4</a:t>
            </a:r>
            <a:endParaRPr dirty="0"/>
          </a:p>
        </p:txBody>
      </p:sp>
      <p:sp>
        <p:nvSpPr>
          <p:cNvPr id="476" name="Google Shape;476;p50">
            <a:extLst>
              <a:ext uri="{FF2B5EF4-FFF2-40B4-BE49-F238E27FC236}">
                <a16:creationId xmlns:a16="http://schemas.microsoft.com/office/drawing/2014/main" id="{9ED2B224-643D-95B0-B276-EC21B7C0AAE2}"/>
              </a:ext>
            </a:extLst>
          </p:cNvPr>
          <p:cNvSpPr txBox="1">
            <a:spLocks noGrp="1"/>
          </p:cNvSpPr>
          <p:nvPr>
            <p:ph type="title" idx="2"/>
          </p:nvPr>
        </p:nvSpPr>
        <p:spPr>
          <a:xfrm>
            <a:off x="7068300" y="0"/>
            <a:ext cx="1984200" cy="5760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dirty="0"/>
              <a:t>3/3</a:t>
            </a:r>
            <a:endParaRPr dirty="0"/>
          </a:p>
        </p:txBody>
      </p:sp>
      <p:sp>
        <p:nvSpPr>
          <p:cNvPr id="477" name="Google Shape;477;p50">
            <a:extLst>
              <a:ext uri="{FF2B5EF4-FFF2-40B4-BE49-F238E27FC236}">
                <a16:creationId xmlns:a16="http://schemas.microsoft.com/office/drawing/2014/main" id="{3045061A-096A-1216-9B4D-68C76B030F0E}"/>
              </a:ext>
            </a:extLst>
          </p:cNvPr>
          <p:cNvSpPr txBox="1">
            <a:spLocks noGrp="1"/>
          </p:cNvSpPr>
          <p:nvPr>
            <p:ph type="body" idx="1"/>
          </p:nvPr>
        </p:nvSpPr>
        <p:spPr>
          <a:xfrm>
            <a:off x="182881" y="1069848"/>
            <a:ext cx="3607242" cy="3895200"/>
          </a:xfrm>
          <a:prstGeom prst="rect">
            <a:avLst/>
          </a:prstGeom>
        </p:spPr>
        <p:txBody>
          <a:bodyPr spcFirstLastPara="1" wrap="square" lIns="91425" tIns="91425" rIns="91425" bIns="91425" anchor="t" anchorCtr="0">
            <a:noAutofit/>
          </a:bodyPr>
          <a:lstStyle/>
          <a:p>
            <a:pPr marL="0" indent="0">
              <a:lnSpc>
                <a:spcPct val="115000"/>
              </a:lnSpc>
              <a:buNone/>
            </a:pPr>
            <a:r>
              <a:rPr lang="en-GB" sz="900" i="1" dirty="0" smtClean="0">
                <a:solidFill>
                  <a:schemeClr val="lt1"/>
                </a:solidFill>
                <a:latin typeface="Helvetica Neue"/>
                <a:ea typeface="Helvetica Neue"/>
                <a:cs typeface="Helvetica Neue"/>
                <a:sym typeface="Helvetica Neue"/>
              </a:rPr>
              <a:t>I </a:t>
            </a:r>
            <a:r>
              <a:rPr lang="en-GB" sz="900" i="1" dirty="0">
                <a:solidFill>
                  <a:schemeClr val="lt1"/>
                </a:solidFill>
                <a:latin typeface="Helvetica Neue"/>
                <a:ea typeface="Helvetica Neue"/>
                <a:cs typeface="Helvetica Neue"/>
                <a:sym typeface="Helvetica Neue"/>
              </a:rPr>
              <a:t>explained the same technical system in different ways depending on who's reading it. The thesis itself uses full academic structure and terminology for an academic audience. But I also wrote a separate plain-language explainer document that walks through exactly how the detection - risk score - map - routing pipeline works, written so a non-technical person could understand the logic without reading any code. Alongside that, I used visualizations throughout - maps, charts, and before/after comparisons - instead of just numbers in tables, since a picture of a risk-coloured map or a shortest-vs-safer route comparison communicates the result faster than a table of numbers would.</a:t>
            </a:r>
          </a:p>
          <a:p>
            <a:pPr marL="0" indent="0">
              <a:lnSpc>
                <a:spcPct val="115000"/>
              </a:lnSpc>
              <a:buNone/>
            </a:pPr>
            <a:endParaRPr lang="en-GB" sz="900" i="1" dirty="0" smtClean="0">
              <a:solidFill>
                <a:schemeClr val="lt1"/>
              </a:solidFill>
              <a:latin typeface="Helvetica Neue"/>
              <a:ea typeface="Helvetica Neue"/>
              <a:cs typeface="Helvetica Neue"/>
              <a:sym typeface="Helvetica Neue"/>
            </a:endParaRPr>
          </a:p>
          <a:p>
            <a:pPr marL="0" indent="0">
              <a:lnSpc>
                <a:spcPct val="115000"/>
              </a:lnSpc>
              <a:buNone/>
            </a:pPr>
            <a:endParaRPr lang="en-GB" sz="900" i="1" dirty="0">
              <a:solidFill>
                <a:schemeClr val="lt1"/>
              </a:solidFill>
              <a:latin typeface="Helvetica Neue"/>
              <a:ea typeface="Helvetica Neue"/>
              <a:cs typeface="Helvetica Neue"/>
              <a:sym typeface="Helvetica Neue"/>
            </a:endParaRPr>
          </a:p>
          <a:p>
            <a:pPr marL="0" indent="0">
              <a:lnSpc>
                <a:spcPct val="115000"/>
              </a:lnSpc>
              <a:buNone/>
            </a:pPr>
            <a:endParaRPr lang="en-GB" sz="900" i="1" dirty="0">
              <a:solidFill>
                <a:schemeClr val="lt1"/>
              </a:solidFill>
              <a:latin typeface="Helvetica Neue"/>
              <a:ea typeface="Helvetica Neue"/>
              <a:cs typeface="Helvetica Neue"/>
              <a:sym typeface="Helvetica Neue"/>
            </a:endParaRPr>
          </a:p>
          <a:p>
            <a:pPr marL="0" indent="0">
              <a:lnSpc>
                <a:spcPct val="115000"/>
              </a:lnSpc>
              <a:buNone/>
            </a:pPr>
            <a:endParaRPr lang="en-GB" sz="900" i="1" dirty="0" smtClean="0">
              <a:solidFill>
                <a:schemeClr val="lt1"/>
              </a:solidFill>
              <a:latin typeface="Helvetica Neue"/>
              <a:ea typeface="Helvetica Neue"/>
              <a:cs typeface="Helvetica Neue"/>
              <a:sym typeface="Helvetica Neue"/>
            </a:endParaRPr>
          </a:p>
          <a:p>
            <a:pPr marL="0" indent="0">
              <a:lnSpc>
                <a:spcPct val="115000"/>
              </a:lnSpc>
              <a:buNone/>
            </a:pPr>
            <a:r>
              <a:rPr lang="en-GB" sz="900" i="1" dirty="0" smtClean="0">
                <a:solidFill>
                  <a:schemeClr val="lt1"/>
                </a:solidFill>
                <a:latin typeface="Helvetica Neue"/>
                <a:ea typeface="Helvetica Neue"/>
                <a:cs typeface="Helvetica Neue"/>
                <a:sym typeface="Helvetica Neue"/>
              </a:rPr>
              <a:t>Evidence 1 (Thesis) – </a:t>
            </a:r>
            <a:r>
              <a:rPr lang="en-GB" sz="900" i="1" dirty="0" smtClean="0">
                <a:solidFill>
                  <a:schemeClr val="lt1"/>
                </a:solidFill>
                <a:latin typeface="Helvetica Neue"/>
                <a:ea typeface="Helvetica Neue"/>
                <a:cs typeface="Helvetica Neue"/>
                <a:sym typeface="Helvetica Neue"/>
                <a:hlinkClick r:id="rId3"/>
              </a:rPr>
              <a:t>Thesis</a:t>
            </a:r>
            <a:endParaRPr lang="en-GB" sz="900" i="1" dirty="0" smtClean="0">
              <a:solidFill>
                <a:schemeClr val="lt1"/>
              </a:solidFill>
              <a:latin typeface="Helvetica Neue"/>
              <a:ea typeface="Helvetica Neue"/>
              <a:cs typeface="Helvetica Neue"/>
              <a:sym typeface="Helvetica Neue"/>
            </a:endParaRPr>
          </a:p>
          <a:p>
            <a:pPr marL="0" indent="0">
              <a:lnSpc>
                <a:spcPct val="115000"/>
              </a:lnSpc>
              <a:buNone/>
            </a:pPr>
            <a:endParaRPr lang="en-GB" sz="900" i="1" dirty="0" smtClean="0">
              <a:solidFill>
                <a:schemeClr val="lt1"/>
              </a:solidFill>
              <a:latin typeface="Helvetica Neue"/>
              <a:ea typeface="Helvetica Neue"/>
              <a:cs typeface="Helvetica Neue"/>
              <a:sym typeface="Helvetica Neue"/>
            </a:endParaRPr>
          </a:p>
          <a:p>
            <a:pPr marL="0" lvl="0" indent="0">
              <a:lnSpc>
                <a:spcPct val="115000"/>
              </a:lnSpc>
              <a:buNone/>
            </a:pPr>
            <a:r>
              <a:rPr lang="en-GB" sz="900" i="1" dirty="0">
                <a:solidFill>
                  <a:schemeClr val="lt1"/>
                </a:solidFill>
                <a:latin typeface="Helvetica Neue"/>
                <a:ea typeface="Helvetica Neue"/>
                <a:cs typeface="Helvetica Neue"/>
                <a:sym typeface="Helvetica Neue"/>
              </a:rPr>
              <a:t>Evidence 2 (README.md - project overview) -  </a:t>
            </a:r>
            <a:r>
              <a:rPr lang="en-GB" sz="900" i="1" dirty="0">
                <a:solidFill>
                  <a:schemeClr val="lt1"/>
                </a:solidFill>
                <a:latin typeface="Helvetica Neue"/>
                <a:ea typeface="Helvetica Neue"/>
                <a:cs typeface="Helvetica Neue"/>
                <a:sym typeface="Helvetica Neue"/>
                <a:hlinkClick r:id="rId4"/>
              </a:rPr>
              <a:t>README.md </a:t>
            </a:r>
            <a:r>
              <a:rPr lang="en-GB" sz="900" i="1" dirty="0" smtClean="0">
                <a:solidFill>
                  <a:schemeClr val="lt1"/>
                </a:solidFill>
                <a:latin typeface="Helvetica Neue"/>
                <a:ea typeface="Helvetica Neue"/>
                <a:cs typeface="Helvetica Neue"/>
                <a:sym typeface="Helvetica Neue"/>
                <a:hlinkClick r:id="rId4"/>
              </a:rPr>
              <a:t>file</a:t>
            </a:r>
            <a:endParaRPr lang="en-GB" sz="900" i="1" dirty="0" smtClean="0">
              <a:solidFill>
                <a:schemeClr val="lt1"/>
              </a:solidFill>
              <a:latin typeface="Helvetica Neue"/>
              <a:ea typeface="Helvetica Neue"/>
              <a:cs typeface="Helvetica Neue"/>
              <a:sym typeface="Helvetica Neue"/>
            </a:endParaRPr>
          </a:p>
          <a:p>
            <a:pPr marL="0" lvl="0" indent="0">
              <a:lnSpc>
                <a:spcPct val="115000"/>
              </a:lnSpc>
              <a:buNone/>
            </a:pPr>
            <a:endParaRPr lang="en-GB" sz="900" i="1" dirty="0">
              <a:solidFill>
                <a:schemeClr val="lt1"/>
              </a:solidFill>
              <a:latin typeface="Helvetica Neue"/>
              <a:ea typeface="Helvetica Neue"/>
              <a:cs typeface="Helvetica Neue"/>
              <a:sym typeface="Helvetica Neue"/>
            </a:endParaRPr>
          </a:p>
          <a:p>
            <a:pPr marL="0" indent="0">
              <a:lnSpc>
                <a:spcPct val="115000"/>
              </a:lnSpc>
              <a:buNone/>
            </a:pPr>
            <a:r>
              <a:rPr lang="en-GB" sz="900" i="1" dirty="0" smtClean="0">
                <a:solidFill>
                  <a:schemeClr val="lt1"/>
                </a:solidFill>
                <a:latin typeface="Helvetica Neue"/>
                <a:ea typeface="Helvetica Neue"/>
                <a:cs typeface="Helvetica Neue"/>
                <a:sym typeface="Helvetica Neue"/>
              </a:rPr>
              <a:t>Evidence </a:t>
            </a:r>
            <a:r>
              <a:rPr lang="en-GB" sz="900" i="1" dirty="0">
                <a:solidFill>
                  <a:schemeClr val="lt1"/>
                </a:solidFill>
                <a:latin typeface="Helvetica Neue"/>
                <a:ea typeface="Helvetica Neue"/>
                <a:cs typeface="Helvetica Neue"/>
                <a:sym typeface="Helvetica Neue"/>
              </a:rPr>
              <a:t>3 (</a:t>
            </a:r>
            <a:r>
              <a:rPr lang="en-GB" sz="900" i="1" dirty="0" err="1">
                <a:solidFill>
                  <a:schemeClr val="lt1"/>
                </a:solidFill>
                <a:latin typeface="Helvetica Neue"/>
                <a:ea typeface="Helvetica Neue"/>
                <a:cs typeface="Helvetica Neue"/>
                <a:sym typeface="Helvetica Neue"/>
              </a:rPr>
              <a:t>Map_risk_routing_explained</a:t>
            </a:r>
            <a:r>
              <a:rPr lang="en-GB" sz="900" i="1" dirty="0">
                <a:solidFill>
                  <a:schemeClr val="lt1"/>
                </a:solidFill>
                <a:latin typeface="Helvetica Neue"/>
                <a:ea typeface="Helvetica Neue"/>
                <a:cs typeface="Helvetica Neue"/>
                <a:sym typeface="Helvetica Neue"/>
              </a:rPr>
              <a:t> markdown file) – </a:t>
            </a:r>
            <a:r>
              <a:rPr lang="en-GB" sz="900" i="1" dirty="0" smtClean="0">
                <a:solidFill>
                  <a:schemeClr val="lt1"/>
                </a:solidFill>
                <a:latin typeface="Helvetica Neue"/>
                <a:ea typeface="Helvetica Neue"/>
                <a:cs typeface="Helvetica Neue"/>
                <a:sym typeface="Helvetica Neue"/>
                <a:hlinkClick r:id="rId5"/>
              </a:rPr>
              <a:t>map_risk_routing_explained.md</a:t>
            </a:r>
            <a:endParaRPr lang="en-GB" sz="900" i="1" dirty="0" smtClean="0">
              <a:solidFill>
                <a:schemeClr val="lt1"/>
              </a:solidFill>
              <a:latin typeface="Helvetica Neue"/>
              <a:ea typeface="Helvetica Neue"/>
              <a:cs typeface="Helvetica Neue"/>
              <a:sym typeface="Helvetica Neue"/>
            </a:endParaRPr>
          </a:p>
          <a:p>
            <a:pPr marL="0" indent="0">
              <a:lnSpc>
                <a:spcPct val="115000"/>
              </a:lnSpc>
              <a:buNone/>
            </a:pPr>
            <a:endParaRPr lang="en-GB" sz="900" i="1" dirty="0">
              <a:solidFill>
                <a:schemeClr val="lt1"/>
              </a:solidFill>
              <a:latin typeface="Helvetica Neue"/>
              <a:ea typeface="Helvetica Neue"/>
              <a:cs typeface="Helvetica Neue"/>
              <a:sym typeface="Helvetica Neue"/>
            </a:endParaRPr>
          </a:p>
          <a:p>
            <a:pPr marL="0" indent="0">
              <a:lnSpc>
                <a:spcPct val="115000"/>
              </a:lnSpc>
              <a:buNone/>
            </a:pPr>
            <a:r>
              <a:rPr lang="en-GB" sz="900" i="1" dirty="0" smtClean="0">
                <a:solidFill>
                  <a:schemeClr val="lt1"/>
                </a:solidFill>
                <a:latin typeface="Helvetica Neue"/>
                <a:ea typeface="Helvetica Neue"/>
                <a:cs typeface="Helvetica Neue"/>
                <a:sym typeface="Helvetica Neue"/>
              </a:rPr>
              <a:t>Evidence 23 (all scripts in the source folder have suitable notes and </a:t>
            </a:r>
            <a:r>
              <a:rPr lang="en-GB" sz="900" i="1" dirty="0" err="1" smtClean="0">
                <a:solidFill>
                  <a:schemeClr val="lt1"/>
                </a:solidFill>
                <a:latin typeface="Helvetica Neue"/>
                <a:ea typeface="Helvetica Neue"/>
                <a:cs typeface="Helvetica Neue"/>
                <a:sym typeface="Helvetica Neue"/>
              </a:rPr>
              <a:t>docstrings</a:t>
            </a:r>
            <a:r>
              <a:rPr lang="en-GB" sz="900" i="1" dirty="0" smtClean="0">
                <a:solidFill>
                  <a:schemeClr val="lt1"/>
                </a:solidFill>
                <a:latin typeface="Helvetica Neue"/>
                <a:ea typeface="Helvetica Neue"/>
                <a:cs typeface="Helvetica Neue"/>
                <a:sym typeface="Helvetica Neue"/>
              </a:rPr>
              <a:t> to communicate their purposes, setting and findings) - </a:t>
            </a:r>
            <a:r>
              <a:rPr lang="en-GB" sz="900" i="1" dirty="0" err="1">
                <a:solidFill>
                  <a:schemeClr val="lt1"/>
                </a:solidFill>
                <a:latin typeface="Helvetica Neue"/>
                <a:ea typeface="Helvetica Neue"/>
                <a:cs typeface="Helvetica Neue"/>
                <a:sym typeface="Helvetica Neue"/>
                <a:hlinkClick r:id="rId6"/>
              </a:rPr>
              <a:t>src</a:t>
            </a:r>
            <a:r>
              <a:rPr lang="en-GB" sz="900" i="1" dirty="0">
                <a:solidFill>
                  <a:schemeClr val="lt1"/>
                </a:solidFill>
                <a:latin typeface="Helvetica Neue"/>
                <a:ea typeface="Helvetica Neue"/>
                <a:cs typeface="Helvetica Neue"/>
                <a:sym typeface="Helvetica Neue"/>
                <a:hlinkClick r:id="rId6"/>
              </a:rPr>
              <a:t>/</a:t>
            </a:r>
            <a:endParaRPr lang="en-GB" sz="900" i="1" dirty="0">
              <a:solidFill>
                <a:schemeClr val="lt1"/>
              </a:solidFill>
              <a:latin typeface="Helvetica Neue"/>
              <a:ea typeface="Helvetica Neue"/>
              <a:cs typeface="Helvetica Neue"/>
              <a:sym typeface="Helvetica Neue"/>
            </a:endParaRPr>
          </a:p>
          <a:p>
            <a:pPr marL="0" indent="0">
              <a:lnSpc>
                <a:spcPct val="115000"/>
              </a:lnSpc>
              <a:buNone/>
            </a:pPr>
            <a:endParaRPr lang="en-GB" sz="900" i="1" dirty="0">
              <a:solidFill>
                <a:schemeClr val="lt1"/>
              </a:solidFill>
              <a:latin typeface="Helvetica Neue"/>
              <a:ea typeface="Helvetica Neue"/>
              <a:cs typeface="Helvetica Neue"/>
              <a:sym typeface="Helvetica Neue"/>
            </a:endParaRPr>
          </a:p>
          <a:p>
            <a:pPr marL="0" lvl="0" indent="0" algn="l" rtl="0">
              <a:lnSpc>
                <a:spcPct val="115000"/>
              </a:lnSpc>
              <a:spcBef>
                <a:spcPts val="0"/>
              </a:spcBef>
              <a:spcAft>
                <a:spcPts val="0"/>
              </a:spcAft>
              <a:buNone/>
            </a:pPr>
            <a:endParaRPr lang="en-GB" sz="900" i="1" dirty="0" smtClean="0">
              <a:solidFill>
                <a:schemeClr val="lt1"/>
              </a:solidFill>
              <a:latin typeface="Helvetica Neue"/>
              <a:ea typeface="Helvetica Neue"/>
              <a:cs typeface="Helvetica Neue"/>
              <a:sym typeface="Helvetica Neue"/>
            </a:endParaRPr>
          </a:p>
        </p:txBody>
      </p:sp>
      <p:sp>
        <p:nvSpPr>
          <p:cNvPr id="479" name="Google Shape;479;p50">
            <a:extLst>
              <a:ext uri="{FF2B5EF4-FFF2-40B4-BE49-F238E27FC236}">
                <a16:creationId xmlns:a16="http://schemas.microsoft.com/office/drawing/2014/main" id="{999E417F-D7F4-B13C-8589-EDFE7ECA2CDE}"/>
              </a:ext>
            </a:extLst>
          </p:cNvPr>
          <p:cNvSpPr txBox="1">
            <a:spLocks noGrp="1"/>
          </p:cNvSpPr>
          <p:nvPr>
            <p:ph type="title" idx="4"/>
          </p:nvPr>
        </p:nvSpPr>
        <p:spPr>
          <a:xfrm>
            <a:off x="68250" y="576000"/>
            <a:ext cx="2072784" cy="4938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sz="1800" dirty="0">
                <a:solidFill>
                  <a:srgbClr val="FFFFFF"/>
                </a:solidFill>
              </a:rPr>
              <a:t>Communication</a:t>
            </a:r>
            <a:endParaRPr sz="1800" dirty="0">
              <a:solidFill>
                <a:srgbClr val="FFFFFF"/>
              </a:solidFill>
            </a:endParaRPr>
          </a:p>
        </p:txBody>
      </p:sp>
      <p:sp>
        <p:nvSpPr>
          <p:cNvPr id="480" name="Google Shape;480;p50">
            <a:extLst>
              <a:ext uri="{FF2B5EF4-FFF2-40B4-BE49-F238E27FC236}">
                <a16:creationId xmlns:a16="http://schemas.microsoft.com/office/drawing/2014/main" id="{D9A8002D-E519-7407-7DDD-E1B65C7F5446}"/>
              </a:ext>
            </a:extLst>
          </p:cNvPr>
          <p:cNvSpPr txBox="1">
            <a:spLocks noGrp="1"/>
          </p:cNvSpPr>
          <p:nvPr>
            <p:ph type="title" idx="5"/>
          </p:nvPr>
        </p:nvSpPr>
        <p:spPr>
          <a:xfrm>
            <a:off x="1998299" y="576000"/>
            <a:ext cx="6162451" cy="493800"/>
          </a:xfrm>
          <a:prstGeom prst="rect">
            <a:avLst/>
          </a:prstGeom>
        </p:spPr>
        <p:txBody>
          <a:bodyPr spcFirstLastPara="1" wrap="square" lIns="91425" tIns="91425" rIns="91425" bIns="91425" anchor="ctr" anchorCtr="0">
            <a:noAutofit/>
          </a:bodyPr>
          <a:lstStyle/>
          <a:p>
            <a:r>
              <a:rPr lang="en-GB" dirty="0"/>
              <a:t>Students is able to effectively communicate complex information, ideas, problems, and solutions to both specialist and non-specialist audiences in a clear and engaging manner.</a:t>
            </a:r>
            <a:endParaRPr lang="nl-NL" dirty="0"/>
          </a:p>
        </p:txBody>
      </p:sp>
      <p:sp>
        <p:nvSpPr>
          <p:cNvPr id="7" name="Google Shape;459;p48">
            <a:extLst>
              <a:ext uri="{FF2B5EF4-FFF2-40B4-BE49-F238E27FC236}">
                <a16:creationId xmlns:a16="http://schemas.microsoft.com/office/drawing/2014/main" id="{A47B4753-3CDE-BD59-5C62-F3F81B6E1163}"/>
              </a:ext>
            </a:extLst>
          </p:cNvPr>
          <p:cNvSpPr txBox="1">
            <a:spLocks noGrp="1"/>
          </p:cNvSpPr>
          <p:nvPr>
            <p:ph type="title" idx="3"/>
          </p:nvPr>
        </p:nvSpPr>
        <p:spPr>
          <a:xfrm>
            <a:off x="2049461" y="0"/>
            <a:ext cx="5826455" cy="576000"/>
          </a:xfrm>
          <a:prstGeom prst="rect">
            <a:avLst/>
          </a:prstGeom>
        </p:spPr>
        <p:txBody>
          <a:bodyPr spcFirstLastPara="1" wrap="square" lIns="91425" tIns="91425" rIns="91425" bIns="91425" anchor="ctr" anchorCtr="0">
            <a:noAutofit/>
          </a:bodyPr>
          <a:lstStyle/>
          <a:p>
            <a:pPr marL="0" indent="0"/>
            <a:r>
              <a:rPr lang="en-US" dirty="0"/>
              <a:t>The student demonstrates the ability to professionally communicate and collaborate in a business/research context</a:t>
            </a:r>
            <a:endParaRPr lang="nl-NL" dirty="0"/>
          </a:p>
        </p:txBody>
      </p:sp>
      <p:sp>
        <p:nvSpPr>
          <p:cNvPr id="2" name="Google Shape;462;p48">
            <a:extLst>
              <a:ext uri="{FF2B5EF4-FFF2-40B4-BE49-F238E27FC236}">
                <a16:creationId xmlns:a16="http://schemas.microsoft.com/office/drawing/2014/main" id="{F875C590-16CF-4BC9-2D58-83481D589700}"/>
              </a:ext>
            </a:extLst>
          </p:cNvPr>
          <p:cNvSpPr txBox="1">
            <a:spLocks noGrp="1"/>
          </p:cNvSpPr>
          <p:nvPr>
            <p:ph type="title" idx="6"/>
          </p:nvPr>
        </p:nvSpPr>
        <p:spPr>
          <a:xfrm>
            <a:off x="845550" y="39077"/>
            <a:ext cx="1368600" cy="576000"/>
          </a:xfrm>
          <a:prstGeom prst="rect">
            <a:avLst/>
          </a:prstGeom>
        </p:spPr>
        <p:txBody>
          <a:bodyPr spcFirstLastPara="1" wrap="square" lIns="91425" tIns="91425" rIns="91425" bIns="91425" anchor="ctr" anchorCtr="0">
            <a:noAutofit/>
          </a:bodyPr>
          <a:lstStyle/>
          <a:p>
            <a:r>
              <a:rPr lang="en-US" sz="1100" dirty="0"/>
              <a:t>Professionalism</a:t>
            </a:r>
          </a:p>
        </p:txBody>
      </p:sp>
      <p:pic>
        <p:nvPicPr>
          <p:cNvPr id="3" name="Picture 2"/>
          <p:cNvPicPr>
            <a:picLocks noChangeAspect="1"/>
          </p:cNvPicPr>
          <p:nvPr/>
        </p:nvPicPr>
        <p:blipFill>
          <a:blip r:embed="rId7"/>
          <a:stretch>
            <a:fillRect/>
          </a:stretch>
        </p:blipFill>
        <p:spPr>
          <a:xfrm>
            <a:off x="6404422" y="1069800"/>
            <a:ext cx="2739578" cy="3151017"/>
          </a:xfrm>
          <a:prstGeom prst="rect">
            <a:avLst/>
          </a:prstGeom>
        </p:spPr>
      </p:pic>
      <p:pic>
        <p:nvPicPr>
          <p:cNvPr id="4" name="Picture 3"/>
          <p:cNvPicPr>
            <a:picLocks noChangeAspect="1"/>
          </p:cNvPicPr>
          <p:nvPr/>
        </p:nvPicPr>
        <p:blipFill>
          <a:blip r:embed="rId8"/>
          <a:stretch>
            <a:fillRect/>
          </a:stretch>
        </p:blipFill>
        <p:spPr>
          <a:xfrm>
            <a:off x="3741831" y="2120639"/>
            <a:ext cx="2675386" cy="2100178"/>
          </a:xfrm>
          <a:prstGeom prst="rect">
            <a:avLst/>
          </a:prstGeom>
        </p:spPr>
      </p:pic>
    </p:spTree>
    <p:extLst>
      <p:ext uri="{BB962C8B-B14F-4D97-AF65-F5344CB8AC3E}">
        <p14:creationId xmlns:p14="http://schemas.microsoft.com/office/powerpoint/2010/main" val="2138115048"/>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Shape 466"/>
        <p:cNvGrpSpPr/>
        <p:nvPr/>
      </p:nvGrpSpPr>
      <p:grpSpPr>
        <a:xfrm>
          <a:off x="0" y="0"/>
          <a:ext cx="0" cy="0"/>
          <a:chOff x="0" y="0"/>
          <a:chExt cx="0" cy="0"/>
        </a:xfrm>
      </p:grpSpPr>
      <p:sp>
        <p:nvSpPr>
          <p:cNvPr id="467" name="Google Shape;467;p49"/>
          <p:cNvSpPr txBox="1">
            <a:spLocks noGrp="1"/>
          </p:cNvSpPr>
          <p:nvPr>
            <p:ph type="ctrTitle"/>
          </p:nvPr>
        </p:nvSpPr>
        <p:spPr>
          <a:xfrm>
            <a:off x="2286000" y="1104139"/>
            <a:ext cx="6400800" cy="1501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dirty="0"/>
              <a:t>ILO 5</a:t>
            </a:r>
            <a:endParaRPr dirty="0"/>
          </a:p>
        </p:txBody>
      </p:sp>
      <p:sp>
        <p:nvSpPr>
          <p:cNvPr id="468" name="Google Shape;468;p49"/>
          <p:cNvSpPr txBox="1">
            <a:spLocks noGrp="1"/>
          </p:cNvSpPr>
          <p:nvPr>
            <p:ph type="subTitle" idx="1"/>
          </p:nvPr>
        </p:nvSpPr>
        <p:spPr>
          <a:xfrm>
            <a:off x="2286000" y="2503171"/>
            <a:ext cx="6400800" cy="685800"/>
          </a:xfrm>
          <a:prstGeom prst="rect">
            <a:avLst/>
          </a:prstGeom>
        </p:spPr>
        <p:txBody>
          <a:bodyPr spcFirstLastPara="1" wrap="square" lIns="91425" tIns="91425" rIns="91425" bIns="91425" anchor="ctr" anchorCtr="0">
            <a:noAutofit/>
          </a:bodyPr>
          <a:lstStyle/>
          <a:p>
            <a:pPr marL="0" indent="0"/>
            <a:r>
              <a:rPr lang="en-US" dirty="0"/>
              <a:t>Learning</a:t>
            </a:r>
          </a:p>
        </p:txBody>
      </p:sp>
      <p:sp>
        <p:nvSpPr>
          <p:cNvPr id="469" name="Google Shape;469;p49"/>
          <p:cNvSpPr txBox="1">
            <a:spLocks noGrp="1"/>
          </p:cNvSpPr>
          <p:nvPr>
            <p:ph type="subTitle" idx="2"/>
          </p:nvPr>
        </p:nvSpPr>
        <p:spPr>
          <a:xfrm>
            <a:off x="3200400" y="3353563"/>
            <a:ext cx="5486400" cy="685800"/>
          </a:xfrm>
          <a:prstGeom prst="rect">
            <a:avLst/>
          </a:prstGeom>
        </p:spPr>
        <p:txBody>
          <a:bodyPr spcFirstLastPara="1" wrap="square" lIns="91425" tIns="91425" rIns="91425" bIns="91425" anchor="ctr" anchorCtr="0">
            <a:noAutofit/>
          </a:bodyPr>
          <a:lstStyle/>
          <a:p>
            <a:pPr marL="0" indent="0"/>
            <a:r>
              <a:rPr lang="en-US" dirty="0"/>
              <a:t>The student demonstrates the ability to systematically reflect, learn, and request feedback on professional products, processes, and behavior, and apply where appropriate.</a:t>
            </a:r>
            <a:endParaRPr lang="nl-NL" dirty="0"/>
          </a:p>
        </p:txBody>
      </p:sp>
      <p:sp>
        <p:nvSpPr>
          <p:cNvPr id="470" name="Google Shape;470;p49"/>
          <p:cNvSpPr txBox="1"/>
          <p:nvPr/>
        </p:nvSpPr>
        <p:spPr>
          <a:xfrm>
            <a:off x="-420624" y="749808"/>
            <a:ext cx="3383400" cy="51207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r>
              <a:rPr lang="en" sz="40000" dirty="0">
                <a:solidFill>
                  <a:srgbClr val="999999"/>
                </a:solidFill>
                <a:latin typeface="Roboto"/>
                <a:ea typeface="Roboto"/>
                <a:cs typeface="Roboto"/>
              </a:rPr>
              <a:t>5</a:t>
            </a:r>
          </a:p>
        </p:txBody>
      </p:sp>
    </p:spTree>
    <p:extLst>
      <p:ext uri="{BB962C8B-B14F-4D97-AF65-F5344CB8AC3E}">
        <p14:creationId xmlns:p14="http://schemas.microsoft.com/office/powerpoint/2010/main" val="3369105654"/>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Shape 474"/>
        <p:cNvGrpSpPr/>
        <p:nvPr/>
      </p:nvGrpSpPr>
      <p:grpSpPr>
        <a:xfrm>
          <a:off x="0" y="0"/>
          <a:ext cx="0" cy="0"/>
          <a:chOff x="0" y="0"/>
          <a:chExt cx="0" cy="0"/>
        </a:xfrm>
      </p:grpSpPr>
      <p:sp>
        <p:nvSpPr>
          <p:cNvPr id="475" name="Google Shape;475;p50"/>
          <p:cNvSpPr txBox="1">
            <a:spLocks noGrp="1"/>
          </p:cNvSpPr>
          <p:nvPr>
            <p:ph type="title"/>
          </p:nvPr>
        </p:nvSpPr>
        <p:spPr>
          <a:xfrm>
            <a:off x="68250" y="0"/>
            <a:ext cx="777300" cy="5760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dirty="0"/>
              <a:t>ILO 5</a:t>
            </a:r>
            <a:endParaRPr dirty="0"/>
          </a:p>
        </p:txBody>
      </p:sp>
      <p:sp>
        <p:nvSpPr>
          <p:cNvPr id="476" name="Google Shape;476;p50"/>
          <p:cNvSpPr txBox="1">
            <a:spLocks noGrp="1"/>
          </p:cNvSpPr>
          <p:nvPr>
            <p:ph type="title" idx="2"/>
          </p:nvPr>
        </p:nvSpPr>
        <p:spPr>
          <a:xfrm>
            <a:off x="7068300" y="0"/>
            <a:ext cx="1984200" cy="5760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dirty="0"/>
              <a:t>1/2</a:t>
            </a:r>
            <a:endParaRPr dirty="0"/>
          </a:p>
        </p:txBody>
      </p:sp>
      <p:sp>
        <p:nvSpPr>
          <p:cNvPr id="477" name="Google Shape;477;p50"/>
          <p:cNvSpPr txBox="1">
            <a:spLocks noGrp="1"/>
          </p:cNvSpPr>
          <p:nvPr>
            <p:ph type="body" idx="1"/>
          </p:nvPr>
        </p:nvSpPr>
        <p:spPr>
          <a:xfrm>
            <a:off x="182880" y="1069848"/>
            <a:ext cx="3024929" cy="3895200"/>
          </a:xfrm>
          <a:prstGeom prst="rect">
            <a:avLst/>
          </a:prstGeom>
        </p:spPr>
        <p:txBody>
          <a:bodyPr spcFirstLastPara="1" wrap="square" lIns="91425" tIns="91425" rIns="91425" bIns="91425" anchor="t" anchorCtr="0">
            <a:noAutofit/>
          </a:bodyPr>
          <a:lstStyle/>
          <a:p>
            <a:pPr marL="0" lvl="0" indent="0">
              <a:lnSpc>
                <a:spcPct val="115000"/>
              </a:lnSpc>
              <a:buNone/>
            </a:pPr>
            <a:r>
              <a:rPr lang="en-GB" sz="900" i="1" dirty="0">
                <a:solidFill>
                  <a:schemeClr val="lt1"/>
                </a:solidFill>
                <a:latin typeface="Helvetica Neue"/>
                <a:ea typeface="Helvetica Neue"/>
                <a:cs typeface="Helvetica Neue"/>
                <a:sym typeface="Helvetica Neue"/>
              </a:rPr>
              <a:t>I asked for feedback at multiple points, not just once. Before starting, I got structured feedback from two peers on my proposal and documented how I changed the project because of it. Throughout the project, I had regular check-in meetings with my supervisor to discuss progress and decisions, logged alongside my weekly tasks. Near the end, I also asked ten potential users to test the actual app and tell me what was confusing, what they trusted, and what they'd want improved, so I wasn't just relying on my own judgement about whether the system worked well</a:t>
            </a:r>
            <a:r>
              <a:rPr lang="en-GB" sz="900" i="1" dirty="0" smtClean="0">
                <a:solidFill>
                  <a:schemeClr val="lt1"/>
                </a:solidFill>
                <a:latin typeface="Helvetica Neue"/>
                <a:ea typeface="Helvetica Neue"/>
                <a:cs typeface="Helvetica Neue"/>
                <a:sym typeface="Helvetica Neue"/>
              </a:rPr>
              <a:t>.</a:t>
            </a:r>
          </a:p>
          <a:p>
            <a:pPr marL="0" lvl="0" indent="0">
              <a:lnSpc>
                <a:spcPct val="115000"/>
              </a:lnSpc>
              <a:buNone/>
            </a:pPr>
            <a:endParaRPr lang="en-GB" sz="900" i="1" dirty="0">
              <a:solidFill>
                <a:schemeClr val="lt1"/>
              </a:solidFill>
              <a:latin typeface="Helvetica Neue"/>
              <a:ea typeface="Helvetica Neue"/>
              <a:cs typeface="Helvetica Neue"/>
              <a:sym typeface="Helvetica Neue"/>
            </a:endParaRPr>
          </a:p>
          <a:p>
            <a:pPr marL="0" lvl="0" indent="0">
              <a:lnSpc>
                <a:spcPct val="115000"/>
              </a:lnSpc>
              <a:buNone/>
            </a:pPr>
            <a:endParaRPr lang="en-GB" sz="900" i="1" dirty="0" smtClean="0">
              <a:solidFill>
                <a:schemeClr val="lt1"/>
              </a:solidFill>
              <a:latin typeface="Helvetica Neue"/>
              <a:ea typeface="Helvetica Neue"/>
              <a:cs typeface="Helvetica Neue"/>
              <a:sym typeface="Helvetica Neue"/>
            </a:endParaRPr>
          </a:p>
          <a:p>
            <a:pPr marL="0" lvl="0" indent="0">
              <a:lnSpc>
                <a:spcPct val="115000"/>
              </a:lnSpc>
              <a:buNone/>
            </a:pPr>
            <a:endParaRPr lang="en-GB" sz="900" i="1" dirty="0">
              <a:solidFill>
                <a:schemeClr val="lt1"/>
              </a:solidFill>
              <a:latin typeface="Helvetica Neue"/>
              <a:ea typeface="Helvetica Neue"/>
              <a:cs typeface="Helvetica Neue"/>
              <a:sym typeface="Helvetica Neue"/>
            </a:endParaRPr>
          </a:p>
          <a:p>
            <a:pPr marL="0" lvl="0" indent="0">
              <a:lnSpc>
                <a:spcPct val="115000"/>
              </a:lnSpc>
              <a:buNone/>
            </a:pPr>
            <a:endParaRPr lang="en-GB" sz="900" i="1" dirty="0" smtClean="0">
              <a:solidFill>
                <a:schemeClr val="lt1"/>
              </a:solidFill>
              <a:latin typeface="Helvetica Neue"/>
              <a:ea typeface="Helvetica Neue"/>
              <a:cs typeface="Helvetica Neue"/>
              <a:sym typeface="Helvetica Neue"/>
            </a:endParaRPr>
          </a:p>
          <a:p>
            <a:pPr marL="0" indent="0">
              <a:lnSpc>
                <a:spcPct val="115000"/>
              </a:lnSpc>
              <a:buNone/>
            </a:pPr>
            <a:r>
              <a:rPr lang="en-GB" sz="800" i="1" dirty="0">
                <a:solidFill>
                  <a:schemeClr val="bg1"/>
                </a:solidFill>
                <a:latin typeface="Helvetica Neue" panose="020B0604020202020204" charset="0"/>
              </a:rPr>
              <a:t>Evidence 8 (Raw survey responses) – </a:t>
            </a:r>
            <a:r>
              <a:rPr lang="en-GB" sz="800" i="1" dirty="0">
                <a:solidFill>
                  <a:schemeClr val="bg1"/>
                </a:solidFill>
                <a:latin typeface="Helvetica Neue" panose="020B0604020202020204" charset="0"/>
                <a:hlinkClick r:id="rId3"/>
              </a:rPr>
              <a:t>raw_survey_responses</a:t>
            </a:r>
            <a:endParaRPr lang="en-GB" sz="800" i="1" dirty="0">
              <a:solidFill>
                <a:schemeClr val="bg1"/>
              </a:solidFill>
              <a:latin typeface="Helvetica Neue" panose="020B0604020202020204" charset="0"/>
            </a:endParaRPr>
          </a:p>
          <a:p>
            <a:pPr marL="0" indent="0">
              <a:lnSpc>
                <a:spcPct val="115000"/>
              </a:lnSpc>
              <a:buNone/>
            </a:pPr>
            <a:endParaRPr lang="en-GB" sz="800" i="1" dirty="0">
              <a:solidFill>
                <a:schemeClr val="bg1"/>
              </a:solidFill>
              <a:latin typeface="Helvetica Neue" panose="020B0604020202020204" charset="0"/>
            </a:endParaRPr>
          </a:p>
          <a:p>
            <a:pPr marL="0" indent="0">
              <a:lnSpc>
                <a:spcPct val="115000"/>
              </a:lnSpc>
              <a:buNone/>
            </a:pPr>
            <a:r>
              <a:rPr lang="en-GB" sz="800" i="1" dirty="0">
                <a:solidFill>
                  <a:schemeClr val="bg1"/>
                </a:solidFill>
                <a:latin typeface="Helvetica Neue" panose="020B0604020202020204" charset="0"/>
              </a:rPr>
              <a:t>Evidence 9 (Thematic analysis) - </a:t>
            </a:r>
            <a:r>
              <a:rPr lang="en-GB" sz="800" i="1" dirty="0">
                <a:solidFill>
                  <a:schemeClr val="bg1"/>
                </a:solidFill>
                <a:latin typeface="Helvetica Neue" panose="020B0604020202020204" charset="0"/>
                <a:hlinkClick r:id="rId4"/>
              </a:rPr>
              <a:t>Thematic analysis</a:t>
            </a:r>
            <a:endParaRPr lang="en-GB" sz="800" i="1" dirty="0">
              <a:solidFill>
                <a:schemeClr val="bg1"/>
              </a:solidFill>
              <a:latin typeface="Helvetica Neue" panose="020B0604020202020204" charset="0"/>
            </a:endParaRPr>
          </a:p>
          <a:p>
            <a:pPr marL="0" lvl="0" indent="0">
              <a:lnSpc>
                <a:spcPct val="115000"/>
              </a:lnSpc>
              <a:buNone/>
            </a:pPr>
            <a:endParaRPr lang="en-GB" sz="700" i="1" dirty="0" smtClean="0">
              <a:solidFill>
                <a:schemeClr val="lt1"/>
              </a:solidFill>
              <a:latin typeface="Helvetica Neue"/>
              <a:ea typeface="Helvetica Neue"/>
              <a:cs typeface="Helvetica Neue"/>
              <a:sym typeface="Helvetica Neue"/>
            </a:endParaRPr>
          </a:p>
          <a:p>
            <a:pPr marL="0" lvl="0" indent="0">
              <a:lnSpc>
                <a:spcPct val="115000"/>
              </a:lnSpc>
              <a:buNone/>
            </a:pPr>
            <a:r>
              <a:rPr lang="en-GB" sz="800" i="1" dirty="0">
                <a:solidFill>
                  <a:schemeClr val="lt1"/>
                </a:solidFill>
                <a:latin typeface="Helvetica Neue"/>
                <a:ea typeface="Helvetica Neue"/>
                <a:cs typeface="Helvetica Neue"/>
                <a:sym typeface="Helvetica Neue"/>
              </a:rPr>
              <a:t>Evidence 25 (WorkLog) – </a:t>
            </a:r>
            <a:r>
              <a:rPr lang="en-GB" sz="800" i="1" dirty="0" smtClean="0">
                <a:solidFill>
                  <a:schemeClr val="lt1"/>
                </a:solidFill>
                <a:latin typeface="Helvetica Neue"/>
                <a:ea typeface="Helvetica Neue"/>
                <a:cs typeface="Helvetica Neue"/>
                <a:sym typeface="Helvetica Neue"/>
                <a:hlinkClick r:id="rId5"/>
              </a:rPr>
              <a:t>WorkLog</a:t>
            </a:r>
            <a:endParaRPr lang="en-GB" sz="800" i="1" dirty="0" smtClean="0">
              <a:solidFill>
                <a:schemeClr val="lt1"/>
              </a:solidFill>
              <a:latin typeface="Helvetica Neue"/>
              <a:ea typeface="Helvetica Neue"/>
              <a:cs typeface="Helvetica Neue"/>
              <a:sym typeface="Helvetica Neue"/>
            </a:endParaRPr>
          </a:p>
          <a:p>
            <a:pPr marL="0" lvl="0" indent="0">
              <a:lnSpc>
                <a:spcPct val="115000"/>
              </a:lnSpc>
              <a:buNone/>
            </a:pPr>
            <a:endParaRPr lang="en-GB" sz="800" i="1" dirty="0">
              <a:solidFill>
                <a:schemeClr val="lt1"/>
              </a:solidFill>
              <a:latin typeface="Helvetica Neue"/>
              <a:ea typeface="Helvetica Neue"/>
              <a:cs typeface="Helvetica Neue"/>
              <a:sym typeface="Helvetica Neue"/>
            </a:endParaRPr>
          </a:p>
          <a:p>
            <a:pPr marL="0" indent="0">
              <a:lnSpc>
                <a:spcPct val="115000"/>
              </a:lnSpc>
              <a:buNone/>
            </a:pPr>
            <a:r>
              <a:rPr lang="en-GB" sz="800" i="1" dirty="0">
                <a:solidFill>
                  <a:schemeClr val="bg1"/>
                </a:solidFill>
                <a:latin typeface="Helvetica Neue" panose="020B0604020202020204" charset="0"/>
              </a:rPr>
              <a:t>Evidence 1 (Thesis) – </a:t>
            </a:r>
            <a:r>
              <a:rPr lang="en-GB" sz="800" i="1" dirty="0">
                <a:solidFill>
                  <a:schemeClr val="bg1"/>
                </a:solidFill>
                <a:latin typeface="Helvetica Neue" panose="020B0604020202020204" charset="0"/>
                <a:hlinkClick r:id="rId6"/>
              </a:rPr>
              <a:t>Thesis</a:t>
            </a:r>
            <a:endParaRPr lang="en-GB" sz="800" i="1" dirty="0">
              <a:solidFill>
                <a:schemeClr val="lt1"/>
              </a:solidFill>
              <a:latin typeface="Helvetica Neue"/>
              <a:ea typeface="Helvetica Neue"/>
              <a:cs typeface="Helvetica Neue"/>
              <a:sym typeface="Helvetica Neue"/>
            </a:endParaRPr>
          </a:p>
          <a:p>
            <a:pPr marL="0" lvl="0" indent="0">
              <a:lnSpc>
                <a:spcPct val="115000"/>
              </a:lnSpc>
              <a:buNone/>
            </a:pPr>
            <a:endParaRPr lang="en-GB" sz="700" i="1" dirty="0" smtClean="0">
              <a:solidFill>
                <a:schemeClr val="lt1"/>
              </a:solidFill>
              <a:latin typeface="Helvetica Neue"/>
              <a:ea typeface="Helvetica Neue"/>
              <a:cs typeface="Helvetica Neue"/>
              <a:sym typeface="Helvetica Neue"/>
            </a:endParaRPr>
          </a:p>
          <a:p>
            <a:pPr marL="0" lvl="0" indent="0">
              <a:lnSpc>
                <a:spcPct val="115000"/>
              </a:lnSpc>
              <a:buNone/>
            </a:pPr>
            <a:r>
              <a:rPr lang="en-GB" sz="900" i="1" dirty="0">
                <a:solidFill>
                  <a:schemeClr val="lt1"/>
                </a:solidFill>
                <a:latin typeface="Helvetica Neue"/>
                <a:ea typeface="Helvetica Neue"/>
                <a:cs typeface="Helvetica Neue"/>
                <a:sym typeface="Helvetica Neue"/>
              </a:rPr>
              <a:t>Evidenced from the feedbacks under each week of the Learning Log and their reflections</a:t>
            </a:r>
          </a:p>
        </p:txBody>
      </p:sp>
      <p:sp>
        <p:nvSpPr>
          <p:cNvPr id="479" name="Google Shape;479;p50"/>
          <p:cNvSpPr txBox="1">
            <a:spLocks noGrp="1"/>
          </p:cNvSpPr>
          <p:nvPr>
            <p:ph type="title" idx="4"/>
          </p:nvPr>
        </p:nvSpPr>
        <p:spPr>
          <a:xfrm>
            <a:off x="68249" y="576000"/>
            <a:ext cx="1898575" cy="4938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sz="2800" dirty="0"/>
              <a:t>Feedback</a:t>
            </a:r>
            <a:endParaRPr lang="en" sz="2800" dirty="0">
              <a:solidFill>
                <a:srgbClr val="FFFFFF"/>
              </a:solidFill>
            </a:endParaRPr>
          </a:p>
        </p:txBody>
      </p:sp>
      <p:sp>
        <p:nvSpPr>
          <p:cNvPr id="480" name="Google Shape;480;p50"/>
          <p:cNvSpPr txBox="1">
            <a:spLocks noGrp="1"/>
          </p:cNvSpPr>
          <p:nvPr>
            <p:ph type="title" idx="5"/>
          </p:nvPr>
        </p:nvSpPr>
        <p:spPr>
          <a:xfrm>
            <a:off x="2214150" y="576000"/>
            <a:ext cx="5946599" cy="493800"/>
          </a:xfrm>
          <a:prstGeom prst="rect">
            <a:avLst/>
          </a:prstGeom>
        </p:spPr>
        <p:txBody>
          <a:bodyPr spcFirstLastPara="1" wrap="square" lIns="91425" tIns="91425" rIns="91425" bIns="91425" anchor="ctr" anchorCtr="0">
            <a:noAutofit/>
          </a:bodyPr>
          <a:lstStyle/>
          <a:p>
            <a:r>
              <a:rPr lang="en-GB" dirty="0"/>
              <a:t>Students is able to implement appropriate methods for requesting feedback from experts and stakeholders, enabling them to critically reflect on their professional products, processes, and </a:t>
            </a:r>
            <a:r>
              <a:rPr lang="en-GB" dirty="0" err="1"/>
              <a:t>behavior</a:t>
            </a:r>
            <a:r>
              <a:rPr lang="en-GB" dirty="0"/>
              <a:t>.</a:t>
            </a:r>
            <a:endParaRPr lang="nl-NL" dirty="0"/>
          </a:p>
        </p:txBody>
      </p:sp>
      <p:sp>
        <p:nvSpPr>
          <p:cNvPr id="7" name="Google Shape;459;p48">
            <a:extLst>
              <a:ext uri="{FF2B5EF4-FFF2-40B4-BE49-F238E27FC236}">
                <a16:creationId xmlns:a16="http://schemas.microsoft.com/office/drawing/2014/main" id="{53BB9E1B-97C5-2DA9-6DD8-8B90626EFB7C}"/>
              </a:ext>
            </a:extLst>
          </p:cNvPr>
          <p:cNvSpPr txBox="1">
            <a:spLocks noGrp="1"/>
          </p:cNvSpPr>
          <p:nvPr>
            <p:ph type="title" idx="3"/>
          </p:nvPr>
        </p:nvSpPr>
        <p:spPr>
          <a:xfrm>
            <a:off x="2049461" y="0"/>
            <a:ext cx="5127715" cy="576000"/>
          </a:xfrm>
          <a:prstGeom prst="rect">
            <a:avLst/>
          </a:prstGeom>
        </p:spPr>
        <p:txBody>
          <a:bodyPr spcFirstLastPara="1" wrap="square" lIns="91425" tIns="91425" rIns="91425" bIns="91425" anchor="ctr" anchorCtr="0">
            <a:noAutofit/>
          </a:bodyPr>
          <a:lstStyle/>
          <a:p>
            <a:r>
              <a:rPr lang="en-US" dirty="0"/>
              <a:t>The student demonstrates the ability to systematically reflect, learn, and request feedback on professional products, processes, and behavior, and apply where appropriate.</a:t>
            </a:r>
            <a:endParaRPr lang="nl-NL" dirty="0"/>
          </a:p>
        </p:txBody>
      </p:sp>
      <p:sp>
        <p:nvSpPr>
          <p:cNvPr id="2" name="Google Shape;462;p48">
            <a:extLst>
              <a:ext uri="{FF2B5EF4-FFF2-40B4-BE49-F238E27FC236}">
                <a16:creationId xmlns:a16="http://schemas.microsoft.com/office/drawing/2014/main" id="{0DF68E2A-4FDB-D5FA-06F1-F3DB970B9CD1}"/>
              </a:ext>
            </a:extLst>
          </p:cNvPr>
          <p:cNvSpPr txBox="1">
            <a:spLocks noGrp="1"/>
          </p:cNvSpPr>
          <p:nvPr>
            <p:ph type="title" idx="6"/>
          </p:nvPr>
        </p:nvSpPr>
        <p:spPr>
          <a:xfrm>
            <a:off x="845550" y="0"/>
            <a:ext cx="1368600" cy="576000"/>
          </a:xfrm>
          <a:prstGeom prst="rect">
            <a:avLst/>
          </a:prstGeom>
        </p:spPr>
        <p:txBody>
          <a:bodyPr spcFirstLastPara="1" wrap="square" lIns="91425" tIns="91425" rIns="91425" bIns="91425" anchor="ctr" anchorCtr="0">
            <a:noAutofit/>
          </a:bodyPr>
          <a:lstStyle/>
          <a:p>
            <a:r>
              <a:rPr lang="en-US" sz="1100" dirty="0"/>
              <a:t>Learning</a:t>
            </a:r>
          </a:p>
        </p:txBody>
      </p:sp>
      <p:pic>
        <p:nvPicPr>
          <p:cNvPr id="9" name="Picture 8"/>
          <p:cNvPicPr>
            <a:picLocks noChangeAspect="1"/>
          </p:cNvPicPr>
          <p:nvPr/>
        </p:nvPicPr>
        <p:blipFill>
          <a:blip r:embed="rId7"/>
          <a:stretch>
            <a:fillRect/>
          </a:stretch>
        </p:blipFill>
        <p:spPr>
          <a:xfrm>
            <a:off x="6500191" y="2767735"/>
            <a:ext cx="2643809" cy="2375765"/>
          </a:xfrm>
          <a:prstGeom prst="rect">
            <a:avLst/>
          </a:prstGeom>
        </p:spPr>
      </p:pic>
      <p:pic>
        <p:nvPicPr>
          <p:cNvPr id="3" name="Picture 2"/>
          <p:cNvPicPr>
            <a:picLocks noChangeAspect="1"/>
          </p:cNvPicPr>
          <p:nvPr/>
        </p:nvPicPr>
        <p:blipFill>
          <a:blip r:embed="rId8"/>
          <a:stretch>
            <a:fillRect/>
          </a:stretch>
        </p:blipFill>
        <p:spPr>
          <a:xfrm>
            <a:off x="3207809" y="1069800"/>
            <a:ext cx="5936191" cy="1697935"/>
          </a:xfrm>
          <a:prstGeom prst="rect">
            <a:avLst/>
          </a:prstGeom>
        </p:spPr>
      </p:pic>
      <p:sp>
        <p:nvSpPr>
          <p:cNvPr id="4" name="TextBox 3"/>
          <p:cNvSpPr txBox="1"/>
          <p:nvPr/>
        </p:nvSpPr>
        <p:spPr>
          <a:xfrm>
            <a:off x="3485321" y="2767735"/>
            <a:ext cx="3078979" cy="230832"/>
          </a:xfrm>
          <a:prstGeom prst="rect">
            <a:avLst/>
          </a:prstGeom>
          <a:noFill/>
        </p:spPr>
        <p:txBody>
          <a:bodyPr wrap="square" rtlCol="0">
            <a:spAutoFit/>
          </a:bodyPr>
          <a:lstStyle/>
          <a:p>
            <a:r>
              <a:rPr lang="en-GB" sz="900" dirty="0" smtClean="0">
                <a:solidFill>
                  <a:schemeClr val="bg1"/>
                </a:solidFill>
              </a:rPr>
              <a:t>Part of the questions included in the survey</a:t>
            </a:r>
            <a:endParaRPr lang="en-GB" sz="900" dirty="0">
              <a:solidFill>
                <a:schemeClr val="bg1"/>
              </a:solidFill>
            </a:endParaRPr>
          </a:p>
        </p:txBody>
      </p:sp>
      <p:pic>
        <p:nvPicPr>
          <p:cNvPr id="12" name="Picture 11"/>
          <p:cNvPicPr>
            <a:picLocks noChangeAspect="1"/>
          </p:cNvPicPr>
          <p:nvPr/>
        </p:nvPicPr>
        <p:blipFill>
          <a:blip r:embed="rId9"/>
          <a:stretch>
            <a:fillRect/>
          </a:stretch>
        </p:blipFill>
        <p:spPr>
          <a:xfrm>
            <a:off x="3243913" y="2981169"/>
            <a:ext cx="3256278" cy="2156532"/>
          </a:xfrm>
          <a:prstGeom prst="rect">
            <a:avLst/>
          </a:prstGeom>
        </p:spPr>
      </p:pic>
    </p:spTree>
    <p:extLst>
      <p:ext uri="{BB962C8B-B14F-4D97-AF65-F5344CB8AC3E}">
        <p14:creationId xmlns:p14="http://schemas.microsoft.com/office/powerpoint/2010/main" val="2742258651"/>
      </p:ext>
    </p:extLst>
  </p:cSld>
  <p:clrMapOvr>
    <a:masterClrMapping/>
  </p:clrMapOvr>
  <p:timing>
    <p:tnLst>
      <p:par>
        <p:cTn id="1" dur="indefinite" restart="never" nodeType="tmRoot"/>
      </p:par>
    </p:tnLst>
  </p:timing>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Shape 474">
          <a:extLst>
            <a:ext uri="{FF2B5EF4-FFF2-40B4-BE49-F238E27FC236}">
              <a16:creationId xmlns:a16="http://schemas.microsoft.com/office/drawing/2014/main" id="{163B541D-835F-F3E9-2402-1F1B76A8E3FA}"/>
            </a:ext>
          </a:extLst>
        </p:cNvPr>
        <p:cNvGrpSpPr/>
        <p:nvPr/>
      </p:nvGrpSpPr>
      <p:grpSpPr>
        <a:xfrm>
          <a:off x="0" y="0"/>
          <a:ext cx="0" cy="0"/>
          <a:chOff x="0" y="0"/>
          <a:chExt cx="0" cy="0"/>
        </a:xfrm>
      </p:grpSpPr>
      <p:sp>
        <p:nvSpPr>
          <p:cNvPr id="475" name="Google Shape;475;p50">
            <a:extLst>
              <a:ext uri="{FF2B5EF4-FFF2-40B4-BE49-F238E27FC236}">
                <a16:creationId xmlns:a16="http://schemas.microsoft.com/office/drawing/2014/main" id="{DA426EAA-CC36-73DB-3507-DE7621843A5A}"/>
              </a:ext>
            </a:extLst>
          </p:cNvPr>
          <p:cNvSpPr txBox="1">
            <a:spLocks noGrp="1"/>
          </p:cNvSpPr>
          <p:nvPr>
            <p:ph type="title"/>
          </p:nvPr>
        </p:nvSpPr>
        <p:spPr>
          <a:xfrm>
            <a:off x="68250" y="0"/>
            <a:ext cx="777300" cy="5760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dirty="0"/>
              <a:t>ILO 5</a:t>
            </a:r>
            <a:endParaRPr dirty="0"/>
          </a:p>
        </p:txBody>
      </p:sp>
      <p:sp>
        <p:nvSpPr>
          <p:cNvPr id="476" name="Google Shape;476;p50">
            <a:extLst>
              <a:ext uri="{FF2B5EF4-FFF2-40B4-BE49-F238E27FC236}">
                <a16:creationId xmlns:a16="http://schemas.microsoft.com/office/drawing/2014/main" id="{A085FE4B-E969-DAFA-481A-3654A868D5CC}"/>
              </a:ext>
            </a:extLst>
          </p:cNvPr>
          <p:cNvSpPr txBox="1">
            <a:spLocks noGrp="1"/>
          </p:cNvSpPr>
          <p:nvPr>
            <p:ph type="title" idx="2"/>
          </p:nvPr>
        </p:nvSpPr>
        <p:spPr>
          <a:xfrm>
            <a:off x="7068300" y="0"/>
            <a:ext cx="1984200" cy="5760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dirty="0"/>
              <a:t>2/2</a:t>
            </a:r>
            <a:endParaRPr dirty="0"/>
          </a:p>
        </p:txBody>
      </p:sp>
      <p:sp>
        <p:nvSpPr>
          <p:cNvPr id="477" name="Google Shape;477;p50">
            <a:extLst>
              <a:ext uri="{FF2B5EF4-FFF2-40B4-BE49-F238E27FC236}">
                <a16:creationId xmlns:a16="http://schemas.microsoft.com/office/drawing/2014/main" id="{4422F7EE-F8E2-1632-E015-B398A148320C}"/>
              </a:ext>
            </a:extLst>
          </p:cNvPr>
          <p:cNvSpPr txBox="1">
            <a:spLocks noGrp="1"/>
          </p:cNvSpPr>
          <p:nvPr>
            <p:ph type="body" idx="1"/>
          </p:nvPr>
        </p:nvSpPr>
        <p:spPr>
          <a:xfrm>
            <a:off x="182880" y="1069848"/>
            <a:ext cx="5486400" cy="3895200"/>
          </a:xfrm>
          <a:prstGeom prst="rect">
            <a:avLst/>
          </a:prstGeom>
        </p:spPr>
        <p:txBody>
          <a:bodyPr spcFirstLastPara="1" wrap="square" lIns="91425" tIns="91425" rIns="91425" bIns="91425" anchor="t" anchorCtr="0">
            <a:noAutofit/>
          </a:bodyPr>
          <a:lstStyle/>
          <a:p>
            <a:pPr marL="0" lvl="0" indent="0">
              <a:lnSpc>
                <a:spcPct val="115000"/>
              </a:lnSpc>
              <a:buNone/>
            </a:pPr>
            <a:r>
              <a:rPr lang="en-GB" sz="900" i="1" dirty="0">
                <a:solidFill>
                  <a:schemeClr val="lt1"/>
                </a:solidFill>
                <a:latin typeface="Helvetica Neue"/>
                <a:ea typeface="Helvetica Neue"/>
                <a:cs typeface="Helvetica Neue"/>
                <a:sym typeface="Helvetica Neue"/>
              </a:rPr>
              <a:t>Feedback and results didn't just get reported, they changed the project. When my initial routing test showed almost no routes crossed a road with recorded risk, I collected more real, targeted data in one neighbourhood, which is what made the H3 and H4 results possible at all. When my evaluation results showed the detection models performed far worse on real Sofia photos than on the public benchmark, I fine-tuned both models on real local data and switched the deployed app to use the improved model. Usability testers also flagged interface clarity issues, such as button and control visibility on the Safer Route Planner page, so I went back and fixed the button text contrast and styling in the app so the controls were actually readable and usable, not just functionally correct. I also reflected on my own documentation rather than assuming it was good enough: I went back through the README's setup and usage instructions and actually ran them end to end in a clean environment to check they really worked, not just that they read clearly, and fixed the parts that didn't.</a:t>
            </a:r>
            <a:endParaRPr lang="en-GB" sz="900" i="1" dirty="0" smtClean="0">
              <a:solidFill>
                <a:schemeClr val="lt1"/>
              </a:solidFill>
              <a:latin typeface="Helvetica Neue"/>
              <a:ea typeface="Helvetica Neue"/>
              <a:cs typeface="Helvetica Neue"/>
              <a:sym typeface="Helvetica Neue"/>
            </a:endParaRPr>
          </a:p>
          <a:p>
            <a:pPr marL="0" lvl="0" indent="0">
              <a:lnSpc>
                <a:spcPct val="115000"/>
              </a:lnSpc>
              <a:buNone/>
            </a:pPr>
            <a:endParaRPr lang="en-GB" sz="900" i="1" dirty="0" smtClean="0">
              <a:solidFill>
                <a:schemeClr val="lt1"/>
              </a:solidFill>
              <a:latin typeface="Helvetica Neue"/>
              <a:ea typeface="Helvetica Neue"/>
              <a:cs typeface="Helvetica Neue"/>
              <a:sym typeface="Helvetica Neue"/>
            </a:endParaRPr>
          </a:p>
          <a:p>
            <a:pPr marL="0" lvl="0" indent="0">
              <a:lnSpc>
                <a:spcPct val="115000"/>
              </a:lnSpc>
              <a:buNone/>
            </a:pPr>
            <a:r>
              <a:rPr lang="en-GB" sz="900" i="1" dirty="0" smtClean="0">
                <a:solidFill>
                  <a:schemeClr val="lt1"/>
                </a:solidFill>
                <a:latin typeface="Helvetica Neue"/>
                <a:ea typeface="Helvetica Neue"/>
                <a:cs typeface="Helvetica Neue"/>
                <a:sym typeface="Helvetica Neue"/>
              </a:rPr>
              <a:t>Evidence 31 (script for the app theme) - </a:t>
            </a:r>
            <a:r>
              <a:rPr lang="en-GB" sz="900" i="1" dirty="0" smtClean="0">
                <a:solidFill>
                  <a:schemeClr val="lt1"/>
                </a:solidFill>
                <a:latin typeface="Helvetica Neue"/>
                <a:ea typeface="Helvetica Neue"/>
                <a:cs typeface="Helvetica Neue"/>
                <a:sym typeface="Helvetica Neue"/>
                <a:hlinkClick r:id="rId3"/>
              </a:rPr>
              <a:t>src/app/theme.py</a:t>
            </a:r>
            <a:endParaRPr lang="en-GB" sz="900" i="1" dirty="0" smtClean="0">
              <a:solidFill>
                <a:schemeClr val="lt1"/>
              </a:solidFill>
              <a:latin typeface="Helvetica Neue"/>
              <a:ea typeface="Helvetica Neue"/>
              <a:cs typeface="Helvetica Neue"/>
              <a:sym typeface="Helvetica Neue"/>
            </a:endParaRPr>
          </a:p>
          <a:p>
            <a:pPr marL="0" lvl="0" indent="0">
              <a:lnSpc>
                <a:spcPct val="115000"/>
              </a:lnSpc>
              <a:buNone/>
            </a:pPr>
            <a:endParaRPr lang="en-GB" sz="900" i="1" dirty="0">
              <a:solidFill>
                <a:schemeClr val="lt1"/>
              </a:solidFill>
              <a:latin typeface="Helvetica Neue"/>
              <a:ea typeface="Helvetica Neue"/>
              <a:cs typeface="Helvetica Neue"/>
              <a:sym typeface="Helvetica Neue"/>
            </a:endParaRPr>
          </a:p>
          <a:p>
            <a:pPr marL="0" indent="0">
              <a:lnSpc>
                <a:spcPct val="115000"/>
              </a:lnSpc>
              <a:buNone/>
            </a:pPr>
            <a:r>
              <a:rPr lang="en-GB" sz="900" i="1" dirty="0">
                <a:solidFill>
                  <a:schemeClr val="lt1"/>
                </a:solidFill>
                <a:latin typeface="Helvetica Neue"/>
                <a:ea typeface="Helvetica Neue"/>
                <a:cs typeface="Helvetica Neue"/>
                <a:sym typeface="Helvetica Neue"/>
              </a:rPr>
              <a:t>Evidence 1 (</a:t>
            </a:r>
            <a:r>
              <a:rPr lang="en-GB" sz="900" i="1" dirty="0" smtClean="0">
                <a:solidFill>
                  <a:schemeClr val="lt1"/>
                </a:solidFill>
                <a:latin typeface="Helvetica Neue"/>
                <a:ea typeface="Helvetica Neue"/>
                <a:cs typeface="Helvetica Neue"/>
                <a:sym typeface="Helvetica Neue"/>
              </a:rPr>
              <a:t>Thesis Sections 4.1 and 4.2) </a:t>
            </a:r>
            <a:r>
              <a:rPr lang="en-GB" sz="900" i="1" dirty="0">
                <a:solidFill>
                  <a:schemeClr val="lt1"/>
                </a:solidFill>
                <a:latin typeface="Helvetica Neue"/>
                <a:ea typeface="Helvetica Neue"/>
                <a:cs typeface="Helvetica Neue"/>
                <a:sym typeface="Helvetica Neue"/>
              </a:rPr>
              <a:t>– </a:t>
            </a:r>
            <a:r>
              <a:rPr lang="en-GB" sz="900" i="1" dirty="0" smtClean="0">
                <a:solidFill>
                  <a:schemeClr val="lt1"/>
                </a:solidFill>
                <a:latin typeface="Helvetica Neue"/>
                <a:ea typeface="Helvetica Neue"/>
                <a:cs typeface="Helvetica Neue"/>
                <a:sym typeface="Helvetica Neue"/>
                <a:hlinkClick r:id="rId4"/>
              </a:rPr>
              <a:t>Thesis</a:t>
            </a:r>
            <a:endParaRPr lang="en-GB" sz="900" i="1" dirty="0" smtClean="0">
              <a:solidFill>
                <a:schemeClr val="lt1"/>
              </a:solidFill>
              <a:latin typeface="Helvetica Neue"/>
              <a:ea typeface="Helvetica Neue"/>
              <a:cs typeface="Helvetica Neue"/>
              <a:sym typeface="Helvetica Neue"/>
            </a:endParaRPr>
          </a:p>
          <a:p>
            <a:pPr marL="0" indent="0">
              <a:lnSpc>
                <a:spcPct val="115000"/>
              </a:lnSpc>
              <a:buNone/>
            </a:pPr>
            <a:endParaRPr lang="en-GB" sz="900" i="1" dirty="0">
              <a:solidFill>
                <a:schemeClr val="lt1"/>
              </a:solidFill>
              <a:latin typeface="Helvetica Neue"/>
              <a:ea typeface="Helvetica Neue"/>
              <a:cs typeface="Helvetica Neue"/>
              <a:sym typeface="Helvetica Neue"/>
            </a:endParaRPr>
          </a:p>
          <a:p>
            <a:pPr marL="0" lvl="0" indent="0">
              <a:lnSpc>
                <a:spcPct val="115000"/>
              </a:lnSpc>
              <a:buNone/>
            </a:pPr>
            <a:r>
              <a:rPr lang="en-GB" sz="900" i="1" dirty="0">
                <a:solidFill>
                  <a:schemeClr val="lt1"/>
                </a:solidFill>
                <a:latin typeface="Helvetica Neue"/>
                <a:ea typeface="Helvetica Neue"/>
                <a:cs typeface="Helvetica Neue"/>
                <a:sym typeface="Helvetica Neue"/>
              </a:rPr>
              <a:t>Evidence 2 (README.md - project overview) -  </a:t>
            </a:r>
            <a:r>
              <a:rPr lang="en-GB" sz="900" i="1" dirty="0">
                <a:solidFill>
                  <a:schemeClr val="lt1"/>
                </a:solidFill>
                <a:latin typeface="Helvetica Neue"/>
                <a:ea typeface="Helvetica Neue"/>
                <a:cs typeface="Helvetica Neue"/>
                <a:sym typeface="Helvetica Neue"/>
                <a:hlinkClick r:id="rId5"/>
              </a:rPr>
              <a:t>README.md file</a:t>
            </a:r>
            <a:endParaRPr lang="en-GB" sz="900" i="1" dirty="0">
              <a:solidFill>
                <a:schemeClr val="lt1"/>
              </a:solidFill>
              <a:latin typeface="Helvetica Neue"/>
              <a:ea typeface="Helvetica Neue"/>
              <a:cs typeface="Helvetica Neue"/>
              <a:sym typeface="Helvetica Neue"/>
            </a:endParaRPr>
          </a:p>
          <a:p>
            <a:pPr marL="0" indent="0">
              <a:lnSpc>
                <a:spcPct val="115000"/>
              </a:lnSpc>
              <a:buNone/>
            </a:pPr>
            <a:endParaRPr lang="en-GB" sz="800" i="1" dirty="0">
              <a:solidFill>
                <a:schemeClr val="lt1"/>
              </a:solidFill>
              <a:latin typeface="Helvetica Neue"/>
              <a:ea typeface="Helvetica Neue"/>
              <a:cs typeface="Helvetica Neue"/>
              <a:sym typeface="Helvetica Neue"/>
            </a:endParaRPr>
          </a:p>
          <a:p>
            <a:pPr marL="0" lvl="0" indent="0">
              <a:lnSpc>
                <a:spcPct val="115000"/>
              </a:lnSpc>
              <a:buNone/>
            </a:pPr>
            <a:endParaRPr sz="700" i="1" dirty="0">
              <a:solidFill>
                <a:schemeClr val="lt1"/>
              </a:solidFill>
              <a:latin typeface="Helvetica Neue"/>
              <a:ea typeface="Helvetica Neue"/>
              <a:cs typeface="Helvetica Neue"/>
              <a:sym typeface="Helvetica Neue"/>
            </a:endParaRPr>
          </a:p>
        </p:txBody>
      </p:sp>
      <p:sp>
        <p:nvSpPr>
          <p:cNvPr id="479" name="Google Shape;479;p50">
            <a:extLst>
              <a:ext uri="{FF2B5EF4-FFF2-40B4-BE49-F238E27FC236}">
                <a16:creationId xmlns:a16="http://schemas.microsoft.com/office/drawing/2014/main" id="{49D15DC4-D0DF-9D9B-2F55-93221DC163A5}"/>
              </a:ext>
            </a:extLst>
          </p:cNvPr>
          <p:cNvSpPr txBox="1">
            <a:spLocks noGrp="1"/>
          </p:cNvSpPr>
          <p:nvPr>
            <p:ph type="title" idx="4"/>
          </p:nvPr>
        </p:nvSpPr>
        <p:spPr>
          <a:xfrm>
            <a:off x="68249" y="576000"/>
            <a:ext cx="1898575" cy="4938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sz="1800" dirty="0"/>
              <a:t>Implementation</a:t>
            </a:r>
            <a:endParaRPr lang="en" sz="1800" dirty="0">
              <a:solidFill>
                <a:srgbClr val="FFFFFF"/>
              </a:solidFill>
            </a:endParaRPr>
          </a:p>
        </p:txBody>
      </p:sp>
      <p:sp>
        <p:nvSpPr>
          <p:cNvPr id="480" name="Google Shape;480;p50">
            <a:extLst>
              <a:ext uri="{FF2B5EF4-FFF2-40B4-BE49-F238E27FC236}">
                <a16:creationId xmlns:a16="http://schemas.microsoft.com/office/drawing/2014/main" id="{418FA87E-E555-3568-84E3-6C7EF74A02DC}"/>
              </a:ext>
            </a:extLst>
          </p:cNvPr>
          <p:cNvSpPr txBox="1">
            <a:spLocks noGrp="1"/>
          </p:cNvSpPr>
          <p:nvPr>
            <p:ph type="title" idx="5"/>
          </p:nvPr>
        </p:nvSpPr>
        <p:spPr>
          <a:xfrm>
            <a:off x="2214150" y="576000"/>
            <a:ext cx="5946599" cy="493800"/>
          </a:xfrm>
          <a:prstGeom prst="rect">
            <a:avLst/>
          </a:prstGeom>
        </p:spPr>
        <p:txBody>
          <a:bodyPr spcFirstLastPara="1" wrap="square" lIns="91425" tIns="91425" rIns="91425" bIns="91425" anchor="ctr" anchorCtr="0">
            <a:noAutofit/>
          </a:bodyPr>
          <a:lstStyle/>
          <a:p>
            <a:r>
              <a:rPr lang="en-GB" dirty="0"/>
              <a:t>Students is able to clearly and concisely articulate key insights from reflection and feedback and apply appropriate modifications to products, processes, and/or </a:t>
            </a:r>
            <a:r>
              <a:rPr lang="en-GB" dirty="0" err="1"/>
              <a:t>behavior</a:t>
            </a:r>
            <a:r>
              <a:rPr lang="en-GB" dirty="0"/>
              <a:t> based on those insights.</a:t>
            </a:r>
            <a:endParaRPr lang="nl-NL" dirty="0"/>
          </a:p>
        </p:txBody>
      </p:sp>
      <p:sp>
        <p:nvSpPr>
          <p:cNvPr id="7" name="Google Shape;459;p48">
            <a:extLst>
              <a:ext uri="{FF2B5EF4-FFF2-40B4-BE49-F238E27FC236}">
                <a16:creationId xmlns:a16="http://schemas.microsoft.com/office/drawing/2014/main" id="{B2B9EA72-0FA8-AA72-4C56-4B4FA62B4372}"/>
              </a:ext>
            </a:extLst>
          </p:cNvPr>
          <p:cNvSpPr txBox="1">
            <a:spLocks noGrp="1"/>
          </p:cNvSpPr>
          <p:nvPr>
            <p:ph type="title" idx="3"/>
          </p:nvPr>
        </p:nvSpPr>
        <p:spPr>
          <a:xfrm>
            <a:off x="2049461" y="0"/>
            <a:ext cx="5127715" cy="576000"/>
          </a:xfrm>
          <a:prstGeom prst="rect">
            <a:avLst/>
          </a:prstGeom>
        </p:spPr>
        <p:txBody>
          <a:bodyPr spcFirstLastPara="1" wrap="square" lIns="91425" tIns="91425" rIns="91425" bIns="91425" anchor="ctr" anchorCtr="0">
            <a:noAutofit/>
          </a:bodyPr>
          <a:lstStyle/>
          <a:p>
            <a:r>
              <a:rPr lang="en-US" dirty="0"/>
              <a:t>The student demonstrates the ability to systematically reflect, learn, and request feedback on professional products, processes, and behavior, and apply where appropriate.</a:t>
            </a:r>
            <a:endParaRPr lang="nl-NL" dirty="0"/>
          </a:p>
        </p:txBody>
      </p:sp>
      <p:sp>
        <p:nvSpPr>
          <p:cNvPr id="2" name="Google Shape;462;p48">
            <a:extLst>
              <a:ext uri="{FF2B5EF4-FFF2-40B4-BE49-F238E27FC236}">
                <a16:creationId xmlns:a16="http://schemas.microsoft.com/office/drawing/2014/main" id="{1D7CDF46-2631-9CE8-5E4E-15582BE66E1A}"/>
              </a:ext>
            </a:extLst>
          </p:cNvPr>
          <p:cNvSpPr txBox="1">
            <a:spLocks noGrp="1"/>
          </p:cNvSpPr>
          <p:nvPr>
            <p:ph type="title" idx="6"/>
          </p:nvPr>
        </p:nvSpPr>
        <p:spPr>
          <a:xfrm>
            <a:off x="845550" y="0"/>
            <a:ext cx="1368600" cy="576000"/>
          </a:xfrm>
          <a:prstGeom prst="rect">
            <a:avLst/>
          </a:prstGeom>
        </p:spPr>
        <p:txBody>
          <a:bodyPr spcFirstLastPara="1" wrap="square" lIns="91425" tIns="91425" rIns="91425" bIns="91425" anchor="ctr" anchorCtr="0">
            <a:noAutofit/>
          </a:bodyPr>
          <a:lstStyle/>
          <a:p>
            <a:r>
              <a:rPr lang="en-US" sz="1100" dirty="0"/>
              <a:t>Learning</a:t>
            </a:r>
          </a:p>
        </p:txBody>
      </p:sp>
      <p:pic>
        <p:nvPicPr>
          <p:cNvPr id="3" name="Picture 2"/>
          <p:cNvPicPr>
            <a:picLocks noChangeAspect="1"/>
          </p:cNvPicPr>
          <p:nvPr/>
        </p:nvPicPr>
        <p:blipFill>
          <a:blip r:embed="rId6"/>
          <a:stretch>
            <a:fillRect/>
          </a:stretch>
        </p:blipFill>
        <p:spPr>
          <a:xfrm>
            <a:off x="5991442" y="1396562"/>
            <a:ext cx="2819794" cy="1343212"/>
          </a:xfrm>
          <a:prstGeom prst="rect">
            <a:avLst/>
          </a:prstGeom>
        </p:spPr>
      </p:pic>
      <p:pic>
        <p:nvPicPr>
          <p:cNvPr id="5" name="Picture 4"/>
          <p:cNvPicPr>
            <a:picLocks noChangeAspect="1"/>
          </p:cNvPicPr>
          <p:nvPr/>
        </p:nvPicPr>
        <p:blipFill>
          <a:blip r:embed="rId7"/>
          <a:stretch>
            <a:fillRect/>
          </a:stretch>
        </p:blipFill>
        <p:spPr>
          <a:xfrm>
            <a:off x="4284679" y="3844340"/>
            <a:ext cx="1238423" cy="476316"/>
          </a:xfrm>
          <a:prstGeom prst="rect">
            <a:avLst/>
          </a:prstGeom>
        </p:spPr>
      </p:pic>
      <p:pic>
        <p:nvPicPr>
          <p:cNvPr id="6" name="Picture 5"/>
          <p:cNvPicPr>
            <a:picLocks noChangeAspect="1"/>
          </p:cNvPicPr>
          <p:nvPr/>
        </p:nvPicPr>
        <p:blipFill>
          <a:blip r:embed="rId8"/>
          <a:stretch>
            <a:fillRect/>
          </a:stretch>
        </p:blipFill>
        <p:spPr>
          <a:xfrm>
            <a:off x="6738211" y="3844340"/>
            <a:ext cx="1322189" cy="476316"/>
          </a:xfrm>
          <a:prstGeom prst="rect">
            <a:avLst/>
          </a:prstGeom>
        </p:spPr>
      </p:pic>
      <p:sp>
        <p:nvSpPr>
          <p:cNvPr id="8" name="Right Arrow 7"/>
          <p:cNvSpPr/>
          <p:nvPr/>
        </p:nvSpPr>
        <p:spPr>
          <a:xfrm>
            <a:off x="5719174" y="3956602"/>
            <a:ext cx="868794" cy="251791"/>
          </a:xfrm>
          <a:prstGeom prst="rightArrow">
            <a:avLst/>
          </a:prstGeom>
          <a:solidFill>
            <a:schemeClr val="accent6">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25093976"/>
      </p:ext>
    </p:extLst>
  </p:cSld>
  <p:clrMapOvr>
    <a:masterClrMapping/>
  </p:clrMapOvr>
  <p:timing>
    <p:tnLst>
      <p:par>
        <p:cTn id="1" dur="indefinite" restart="never" nodeType="tmRoot"/>
      </p:par>
    </p:tnLst>
  </p:timing>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Shape 496"/>
        <p:cNvGrpSpPr/>
        <p:nvPr/>
      </p:nvGrpSpPr>
      <p:grpSpPr>
        <a:xfrm>
          <a:off x="0" y="0"/>
          <a:ext cx="0" cy="0"/>
          <a:chOff x="0" y="0"/>
          <a:chExt cx="0" cy="0"/>
        </a:xfrm>
      </p:grpSpPr>
      <p:sp>
        <p:nvSpPr>
          <p:cNvPr id="497" name="Google Shape;497;p52"/>
          <p:cNvSpPr txBox="1">
            <a:spLocks noGrp="1"/>
          </p:cNvSpPr>
          <p:nvPr>
            <p:ph type="ctrTitle"/>
          </p:nvPr>
        </p:nvSpPr>
        <p:spPr>
          <a:xfrm>
            <a:off x="1828800" y="1453896"/>
            <a:ext cx="7315200" cy="1501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sz="6000" dirty="0"/>
              <a:t>Section D</a:t>
            </a:r>
            <a:endParaRPr sz="6000" dirty="0"/>
          </a:p>
        </p:txBody>
      </p:sp>
      <p:sp>
        <p:nvSpPr>
          <p:cNvPr id="498" name="Google Shape;498;p52"/>
          <p:cNvSpPr txBox="1">
            <a:spLocks noGrp="1"/>
          </p:cNvSpPr>
          <p:nvPr>
            <p:ph type="subTitle" idx="1"/>
          </p:nvPr>
        </p:nvSpPr>
        <p:spPr>
          <a:xfrm>
            <a:off x="1828800" y="2953512"/>
            <a:ext cx="7315200" cy="685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Reflection</a:t>
            </a:r>
            <a:endParaRPr sz="3000"/>
          </a:p>
        </p:txBody>
      </p:sp>
      <p:sp>
        <p:nvSpPr>
          <p:cNvPr id="499" name="Google Shape;499;p52"/>
          <p:cNvSpPr txBox="1"/>
          <p:nvPr/>
        </p:nvSpPr>
        <p:spPr>
          <a:xfrm>
            <a:off x="-278956" y="736062"/>
            <a:ext cx="3383400" cy="51207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r>
              <a:rPr lang="en" sz="40000" dirty="0">
                <a:solidFill>
                  <a:srgbClr val="999999"/>
                </a:solidFill>
                <a:latin typeface="Roboto"/>
                <a:ea typeface="Roboto"/>
                <a:cs typeface="Roboto"/>
                <a:sym typeface="Roboto"/>
              </a:rPr>
              <a:t>D</a:t>
            </a:r>
            <a:endParaRPr sz="40000" dirty="0">
              <a:solidFill>
                <a:srgbClr val="999999"/>
              </a:solidFill>
              <a:latin typeface="Roboto"/>
              <a:ea typeface="Roboto"/>
              <a:cs typeface="Roboto"/>
              <a:sym typeface="Roboto"/>
            </a:endParaRPr>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Shape 503"/>
        <p:cNvGrpSpPr/>
        <p:nvPr/>
      </p:nvGrpSpPr>
      <p:grpSpPr>
        <a:xfrm>
          <a:off x="0" y="0"/>
          <a:ext cx="0" cy="0"/>
          <a:chOff x="0" y="0"/>
          <a:chExt cx="0" cy="0"/>
        </a:xfrm>
      </p:grpSpPr>
      <p:sp>
        <p:nvSpPr>
          <p:cNvPr id="504" name="Google Shape;504;p53"/>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What did I achieve this block?</a:t>
            </a:r>
            <a:endParaRPr/>
          </a:p>
        </p:txBody>
      </p:sp>
      <p:sp>
        <p:nvSpPr>
          <p:cNvPr id="505" name="Google Shape;505;p53"/>
          <p:cNvSpPr txBox="1">
            <a:spLocks noGrp="1"/>
          </p:cNvSpPr>
          <p:nvPr>
            <p:ph type="title" idx="2"/>
          </p:nvPr>
        </p:nvSpPr>
        <p:spPr>
          <a:xfrm>
            <a:off x="7068300" y="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1/2</a:t>
            </a:r>
            <a:endParaRPr/>
          </a:p>
        </p:txBody>
      </p:sp>
      <p:sp>
        <p:nvSpPr>
          <p:cNvPr id="506" name="Google Shape;506;p53"/>
          <p:cNvSpPr txBox="1">
            <a:spLocks noGrp="1"/>
          </p:cNvSpPr>
          <p:nvPr>
            <p:ph type="subTitle" idx="1"/>
          </p:nvPr>
        </p:nvSpPr>
        <p:spPr>
          <a:xfrm>
            <a:off x="182880" y="667512"/>
            <a:ext cx="5486400" cy="4023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dirty="0"/>
              <a:t>My most significant achievements during my </a:t>
            </a:r>
            <a:r>
              <a:rPr lang="en-US" dirty="0"/>
              <a:t>graduation project</a:t>
            </a:r>
            <a:endParaRPr dirty="0"/>
          </a:p>
        </p:txBody>
      </p:sp>
      <p:sp>
        <p:nvSpPr>
          <p:cNvPr id="507" name="Google Shape;507;p53"/>
          <p:cNvSpPr txBox="1">
            <a:spLocks noGrp="1"/>
          </p:cNvSpPr>
          <p:nvPr>
            <p:ph type="body" idx="3"/>
          </p:nvPr>
        </p:nvSpPr>
        <p:spPr>
          <a:xfrm>
            <a:off x="182880" y="1069848"/>
            <a:ext cx="8778300" cy="3895200"/>
          </a:xfrm>
          <a:prstGeom prst="rect">
            <a:avLst/>
          </a:prstGeom>
        </p:spPr>
        <p:txBody>
          <a:bodyPr spcFirstLastPara="1" wrap="square" lIns="91425" tIns="91425" rIns="91425" bIns="91425" anchor="t" anchorCtr="0">
            <a:noAutofit/>
          </a:bodyPr>
          <a:lstStyle/>
          <a:p>
            <a:pPr marL="0" lvl="0" indent="0" algn="just">
              <a:buNone/>
            </a:pPr>
            <a:r>
              <a:rPr lang="en-GB" dirty="0"/>
              <a:t>I built a complete, working pipeline, detection, risk scoring, geospatial routing, and a deployed </a:t>
            </a:r>
            <a:r>
              <a:rPr lang="en-GB" dirty="0" err="1"/>
              <a:t>Streamlit</a:t>
            </a:r>
            <a:r>
              <a:rPr lang="en-GB" dirty="0"/>
              <a:t> app, not just a set of separate experiments. I tested it against four pre-registered hypotheses using real data I collected myself, not just public benchmark numbers. The risk-aware routing measurably reduced hazard exposure in practice, and real users rated the system as clear and useful when they tried it.</a:t>
            </a:r>
            <a:endParaRPr dirty="0" smtClean="0"/>
          </a:p>
          <a:p>
            <a:pPr marL="0" lvl="0" indent="0" algn="just" rtl="0">
              <a:spcBef>
                <a:spcPts val="800"/>
              </a:spcBef>
              <a:spcAft>
                <a:spcPts val="0"/>
              </a:spcAft>
              <a:buNone/>
            </a:pPr>
            <a:r>
              <a:rPr lang="en" sz="1400" b="1" dirty="0" smtClean="0"/>
              <a:t>My </a:t>
            </a:r>
            <a:r>
              <a:rPr lang="en" sz="1400" b="1" dirty="0"/>
              <a:t>most difficult challenges my </a:t>
            </a:r>
            <a:r>
              <a:rPr lang="en-US" sz="1400" b="1" dirty="0"/>
              <a:t>graduation project</a:t>
            </a:r>
            <a:endParaRPr sz="1400" b="1" dirty="0"/>
          </a:p>
          <a:p>
            <a:pPr marL="0" lvl="0" indent="0" algn="just">
              <a:spcBef>
                <a:spcPts val="800"/>
              </a:spcBef>
              <a:buNone/>
            </a:pPr>
            <a:r>
              <a:rPr lang="en-GB" dirty="0"/>
              <a:t>The biggest challenge was the domain gap: models that performed well on the public RDD2022 benchmark performed far worse on my own real Sofia photos, which forced me to fine-tune on local data instead of trusting the benchmark result. A related challenge was my first routing test having almost no real recorded risk to work with, so I had to go back and collect more targeted data before I could properly test the routing logic at all.</a:t>
            </a:r>
            <a:endParaRPr dirty="0" smtClean="0"/>
          </a:p>
          <a:p>
            <a:pPr marL="0" lvl="0" indent="0" algn="just" rtl="0">
              <a:spcBef>
                <a:spcPts val="800"/>
              </a:spcBef>
              <a:spcAft>
                <a:spcPts val="0"/>
              </a:spcAft>
              <a:buNone/>
            </a:pPr>
            <a:r>
              <a:rPr lang="en" sz="1400" b="1" dirty="0" smtClean="0"/>
              <a:t>The </a:t>
            </a:r>
            <a:r>
              <a:rPr lang="en" sz="1400" b="1" dirty="0"/>
              <a:t>most important lessons I learned during my </a:t>
            </a:r>
            <a:r>
              <a:rPr lang="en-US" sz="1400" b="1" dirty="0"/>
              <a:t>graduation project</a:t>
            </a:r>
            <a:endParaRPr sz="1400" b="1" dirty="0"/>
          </a:p>
          <a:p>
            <a:pPr marL="0" lvl="0" indent="0" algn="just">
              <a:spcBef>
                <a:spcPts val="800"/>
              </a:spcBef>
              <a:spcAft>
                <a:spcPts val="800"/>
              </a:spcAft>
              <a:buNone/>
            </a:pPr>
            <a:r>
              <a:rPr lang="en-GB" dirty="0"/>
              <a:t>Real-world data behaves very differently from benchmark data, and that gap doesn't show up until you actually test on local data. Testing claims rigorously, with real hypotheses, statistics, and user feedback, catches problems that just "looking at the results" would miss.</a:t>
            </a:r>
          </a:p>
          <a:p>
            <a:pPr marL="0" lvl="0" indent="0" algn="just">
              <a:spcBef>
                <a:spcPts val="800"/>
              </a:spcBef>
              <a:spcAft>
                <a:spcPts val="800"/>
              </a:spcAft>
              <a:buNone/>
            </a:pPr>
            <a:endParaRPr lang="en-GB" dirty="0"/>
          </a:p>
        </p:txBody>
      </p:sp>
      <p:sp>
        <p:nvSpPr>
          <p:cNvPr id="508" name="Google Shape;508;p53"/>
          <p:cNvSpPr txBox="1">
            <a:spLocks noGrp="1"/>
          </p:cNvSpPr>
          <p:nvPr>
            <p:ph type="title" idx="4"/>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dirty="0"/>
              <a:t>D</a:t>
            </a:r>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Shape 503"/>
        <p:cNvGrpSpPr/>
        <p:nvPr/>
      </p:nvGrpSpPr>
      <p:grpSpPr>
        <a:xfrm>
          <a:off x="0" y="0"/>
          <a:ext cx="0" cy="0"/>
          <a:chOff x="0" y="0"/>
          <a:chExt cx="0" cy="0"/>
        </a:xfrm>
      </p:grpSpPr>
      <p:sp>
        <p:nvSpPr>
          <p:cNvPr id="504" name="Google Shape;504;p53"/>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What did I achieve this block?</a:t>
            </a:r>
            <a:endParaRPr/>
          </a:p>
        </p:txBody>
      </p:sp>
      <p:sp>
        <p:nvSpPr>
          <p:cNvPr id="505" name="Google Shape;505;p53"/>
          <p:cNvSpPr txBox="1">
            <a:spLocks noGrp="1"/>
          </p:cNvSpPr>
          <p:nvPr>
            <p:ph type="title" idx="2"/>
          </p:nvPr>
        </p:nvSpPr>
        <p:spPr>
          <a:xfrm>
            <a:off x="7068300" y="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1/2</a:t>
            </a:r>
            <a:endParaRPr/>
          </a:p>
        </p:txBody>
      </p:sp>
      <p:sp>
        <p:nvSpPr>
          <p:cNvPr id="506" name="Google Shape;506;p53"/>
          <p:cNvSpPr txBox="1">
            <a:spLocks noGrp="1"/>
          </p:cNvSpPr>
          <p:nvPr>
            <p:ph type="subTitle" idx="1"/>
          </p:nvPr>
        </p:nvSpPr>
        <p:spPr>
          <a:xfrm>
            <a:off x="182880" y="667512"/>
            <a:ext cx="6027420" cy="4023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dirty="0"/>
              <a:t>These where the qualities </a:t>
            </a:r>
            <a:r>
              <a:rPr lang="en-GB" dirty="0"/>
              <a:t>I</a:t>
            </a:r>
            <a:r>
              <a:rPr lang="en" dirty="0"/>
              <a:t> intended to work on indicated in section A</a:t>
            </a:r>
          </a:p>
          <a:p>
            <a:pPr marL="0" lvl="0" indent="0" algn="l" rtl="0">
              <a:spcBef>
                <a:spcPts val="0"/>
              </a:spcBef>
              <a:spcAft>
                <a:spcPts val="800"/>
              </a:spcAft>
              <a:buNone/>
            </a:pPr>
            <a:endParaRPr dirty="0"/>
          </a:p>
        </p:txBody>
      </p:sp>
      <p:sp>
        <p:nvSpPr>
          <p:cNvPr id="507" name="Google Shape;507;p53"/>
          <p:cNvSpPr txBox="1">
            <a:spLocks noGrp="1"/>
          </p:cNvSpPr>
          <p:nvPr>
            <p:ph type="body" idx="3"/>
          </p:nvPr>
        </p:nvSpPr>
        <p:spPr>
          <a:xfrm>
            <a:off x="182880" y="1069848"/>
            <a:ext cx="8778300" cy="3895200"/>
          </a:xfrm>
          <a:prstGeom prst="rect">
            <a:avLst/>
          </a:prstGeom>
        </p:spPr>
        <p:txBody>
          <a:bodyPr spcFirstLastPara="1" wrap="square" lIns="91425" tIns="91425" rIns="91425" bIns="91425" anchor="t" anchorCtr="0">
            <a:noAutofit/>
          </a:bodyPr>
          <a:lstStyle/>
          <a:p>
            <a:pPr marL="0" lvl="0" indent="0" algn="just">
              <a:buNone/>
            </a:pPr>
            <a:r>
              <a:rPr lang="en-GB" dirty="0"/>
              <a:t>A stronger statistics background for choosing and justifying the right test, UX/frontend design skills, academic writing at thesis length, and explaining technical results to a non-technical audience</a:t>
            </a:r>
            <a:r>
              <a:rPr lang="en-GB" dirty="0" smtClean="0"/>
              <a:t>.</a:t>
            </a:r>
          </a:p>
          <a:p>
            <a:pPr marL="0" lvl="0" indent="0" algn="just">
              <a:buNone/>
            </a:pPr>
            <a:endParaRPr dirty="0" smtClean="0"/>
          </a:p>
          <a:p>
            <a:pPr marL="0" lvl="0" indent="0" algn="just" rtl="0">
              <a:spcBef>
                <a:spcPts val="800"/>
              </a:spcBef>
              <a:spcAft>
                <a:spcPts val="0"/>
              </a:spcAft>
              <a:buNone/>
            </a:pPr>
            <a:r>
              <a:rPr lang="en-GB" sz="1400" b="1" dirty="0" smtClean="0"/>
              <a:t>This </a:t>
            </a:r>
            <a:r>
              <a:rPr lang="en-GB" sz="1400" b="1" dirty="0"/>
              <a:t>is how I feel like I improved on those qualities</a:t>
            </a:r>
            <a:endParaRPr sz="1400" b="1" dirty="0"/>
          </a:p>
          <a:p>
            <a:pPr marL="0" lvl="0" indent="0" algn="just">
              <a:spcBef>
                <a:spcPts val="800"/>
              </a:spcBef>
              <a:buNone/>
            </a:pPr>
            <a:r>
              <a:rPr lang="en-GB" dirty="0"/>
              <a:t>I designed and ran proper statistical tests (Wilcoxon, Spearman correlation) for each hypothesis instead of relying on intuition, and I iterated on the app's UI based on real usability feedback from ten test users. I also wrote a full academic thesis end to end and produced a plain-language explainer document for non-technical readers.</a:t>
            </a:r>
            <a:endParaRPr dirty="0" smtClean="0"/>
          </a:p>
          <a:p>
            <a:pPr marL="0" lvl="0" indent="0" algn="just" rtl="0">
              <a:spcBef>
                <a:spcPts val="800"/>
              </a:spcBef>
              <a:spcAft>
                <a:spcPts val="0"/>
              </a:spcAft>
              <a:buNone/>
            </a:pPr>
            <a:r>
              <a:rPr lang="en-GB" sz="1400" b="1" dirty="0" smtClean="0"/>
              <a:t>This </a:t>
            </a:r>
            <a:r>
              <a:rPr lang="en-GB" sz="1400" b="1" dirty="0"/>
              <a:t>is the advice I would give myself if I would start my graduation project with the knowledge I have now</a:t>
            </a:r>
            <a:endParaRPr sz="1400" b="1" dirty="0"/>
          </a:p>
          <a:p>
            <a:pPr marL="0" lvl="0" indent="0" algn="just">
              <a:spcBef>
                <a:spcPts val="800"/>
              </a:spcBef>
              <a:spcAft>
                <a:spcPts val="800"/>
              </a:spcAft>
              <a:buNone/>
            </a:pPr>
            <a:r>
              <a:rPr lang="en-GB" dirty="0"/>
              <a:t>Start collecting real local data much earlier, since the domain gap between public and real-world data turned out to be the biggest bottleneck in the whole project, not the </a:t>
            </a:r>
            <a:r>
              <a:rPr lang="en-GB" dirty="0" err="1"/>
              <a:t>modeling</a:t>
            </a:r>
            <a:r>
              <a:rPr lang="en-GB" dirty="0"/>
              <a:t> itself.</a:t>
            </a:r>
            <a:endParaRPr dirty="0"/>
          </a:p>
        </p:txBody>
      </p:sp>
      <p:sp>
        <p:nvSpPr>
          <p:cNvPr id="508" name="Google Shape;508;p53"/>
          <p:cNvSpPr txBox="1">
            <a:spLocks noGrp="1"/>
          </p:cNvSpPr>
          <p:nvPr>
            <p:ph type="title" idx="4"/>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dirty="0"/>
              <a:t>D</a:t>
            </a:r>
          </a:p>
        </p:txBody>
      </p:sp>
    </p:spTree>
    <p:extLst>
      <p:ext uri="{BB962C8B-B14F-4D97-AF65-F5344CB8AC3E}">
        <p14:creationId xmlns:p14="http://schemas.microsoft.com/office/powerpoint/2010/main" val="3347921444"/>
      </p:ext>
    </p:extLst>
  </p:cSld>
  <p:clrMapOvr>
    <a:masterClrMapping/>
  </p:clrMapOvr>
</p:sld>
</file>

<file path=ppt/theme/theme1.xml><?xml version="1.0" encoding="utf-8"?>
<a:theme xmlns:a="http://schemas.openxmlformats.org/drawingml/2006/main" name="BUAS Gameday">
  <a:themeElements>
    <a:clrScheme name="Gameday">
      <a:dk1>
        <a:srgbClr val="4285F4"/>
      </a:dk1>
      <a:lt1>
        <a:srgbClr val="FFFFFF"/>
      </a:lt1>
      <a:dk2>
        <a:srgbClr val="666666"/>
      </a:dk2>
      <a:lt2>
        <a:srgbClr val="D9D9D9"/>
      </a:lt2>
      <a:accent1>
        <a:srgbClr val="455A64"/>
      </a:accent1>
      <a:accent2>
        <a:srgbClr val="607D8B"/>
      </a:accent2>
      <a:accent3>
        <a:srgbClr val="FF5722"/>
      </a:accent3>
      <a:accent4>
        <a:srgbClr val="D84315"/>
      </a:accent4>
      <a:accent5>
        <a:srgbClr val="1C3AA9"/>
      </a:accent5>
      <a:accent6>
        <a:srgbClr val="FFAB40"/>
      </a:accent6>
      <a:hlink>
        <a:srgbClr val="3C78D8"/>
      </a:hlink>
      <a:folHlink>
        <a:srgbClr val="1C3AA9"/>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lcf76f155ced4ddcb4097134ff3c332f xmlns="5ff92c65-ed86-4457-baee-ccd535c9ea21">
      <Terms xmlns="http://schemas.microsoft.com/office/infopath/2007/PartnerControls"/>
    </lcf76f155ced4ddcb4097134ff3c332f>
    <TaxCatchAll xmlns="6c8d291c-a5bf-4049-930d-38db8e991d8e"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0BADAD4AA324BF48804EF76FD903323C" ma:contentTypeVersion="15" ma:contentTypeDescription="Een nieuw document maken." ma:contentTypeScope="" ma:versionID="fe102fc92a60fb44f88498837809608c">
  <xsd:schema xmlns:xsd="http://www.w3.org/2001/XMLSchema" xmlns:xs="http://www.w3.org/2001/XMLSchema" xmlns:p="http://schemas.microsoft.com/office/2006/metadata/properties" xmlns:ns2="5ff92c65-ed86-4457-baee-ccd535c9ea21" xmlns:ns3="6c8d291c-a5bf-4049-930d-38db8e991d8e" targetNamespace="http://schemas.microsoft.com/office/2006/metadata/properties" ma:root="true" ma:fieldsID="02f72fefe31d96546aeabc284eee7b20" ns2:_="" ns3:_="">
    <xsd:import namespace="5ff92c65-ed86-4457-baee-ccd535c9ea21"/>
    <xsd:import namespace="6c8d291c-a5bf-4049-930d-38db8e991d8e"/>
    <xsd:element name="properties">
      <xsd:complexType>
        <xsd:sequence>
          <xsd:element name="documentManagement">
            <xsd:complexType>
              <xsd:all>
                <xsd:element ref="ns2:MediaServiceMetadata" minOccurs="0"/>
                <xsd:element ref="ns2:MediaServiceFastMetadata" minOccurs="0"/>
                <xsd:element ref="ns2:MediaServiceSearchProperties" minOccurs="0"/>
                <xsd:element ref="ns2:MediaServiceObjectDetectorVersions" minOccurs="0"/>
                <xsd:element ref="ns3:SharedWithUsers" minOccurs="0"/>
                <xsd:element ref="ns3:SharedWithDetails" minOccurs="0"/>
                <xsd:element ref="ns2:lcf76f155ced4ddcb4097134ff3c332f" minOccurs="0"/>
                <xsd:element ref="ns3:TaxCatchAll" minOccurs="0"/>
                <xsd:element ref="ns2:MediaServiceDateTaken" minOccurs="0"/>
                <xsd:element ref="ns2:MediaServiceGenerationTime" minOccurs="0"/>
                <xsd:element ref="ns2:MediaServiceEventHashCode" minOccurs="0"/>
                <xsd:element ref="ns2:MediaServiceOCR" minOccurs="0"/>
                <xsd:element ref="ns2:MediaServiceLocation" minOccurs="0"/>
                <xsd:element ref="ns2:MediaLengthInSecond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5ff92c65-ed86-4457-baee-ccd535c9ea21"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ObjectDetectorVersions" ma:index="11" nillable="true" ma:displayName="MediaServiceObjectDetectorVersions" ma:hidden="true" ma:indexed="true" ma:internalName="MediaServiceObjectDetectorVersions" ma:readOnly="true">
      <xsd:simpleType>
        <xsd:restriction base="dms:Text"/>
      </xsd:simpleType>
    </xsd:element>
    <xsd:element name="lcf76f155ced4ddcb4097134ff3c332f" ma:index="15" nillable="true" ma:taxonomy="true" ma:internalName="lcf76f155ced4ddcb4097134ff3c332f" ma:taxonomyFieldName="MediaServiceImageTags" ma:displayName="Afbeeldingtags" ma:readOnly="false" ma:fieldId="{5cf76f15-5ced-4ddc-b409-7134ff3c332f}" ma:taxonomyMulti="true" ma:sspId="365a90ea-d0e7-4aae-8ef9-9f5dd1eb65e3" ma:termSetId="09814cd3-568e-fe90-9814-8d621ff8fb84" ma:anchorId="fba54fb3-c3e1-fe81-a776-ca4b69148c4d" ma:open="true" ma:isKeyword="false">
      <xsd:complexType>
        <xsd:sequence>
          <xsd:element ref="pc:Terms" minOccurs="0" maxOccurs="1"/>
        </xsd:sequence>
      </xsd:complexType>
    </xsd:element>
    <xsd:element name="MediaServiceDateTaken" ma:index="17" nillable="true" ma:displayName="MediaServiceDateTaken" ma:hidden="true" ma:indexed="true" ma:internalName="MediaServiceDateTaken" ma:readOnly="true">
      <xsd:simpleType>
        <xsd:restriction base="dms:Text"/>
      </xsd:simpleType>
    </xsd:element>
    <xsd:element name="MediaServiceGenerationTime" ma:index="18" nillable="true" ma:displayName="MediaServiceGenerationTime" ma:hidden="true" ma:internalName="MediaServiceGenerationTime" ma:readOnly="true">
      <xsd:simpleType>
        <xsd:restriction base="dms:Text"/>
      </xsd:simpleType>
    </xsd:element>
    <xsd:element name="MediaServiceEventHashCode" ma:index="19" nillable="true" ma:displayName="MediaServiceEventHashCode" ma:hidden="true" ma:internalName="MediaServiceEventHashCode" ma:readOnly="true">
      <xsd:simpleType>
        <xsd:restriction base="dms:Text"/>
      </xsd:simpleType>
    </xsd:element>
    <xsd:element name="MediaServiceOCR" ma:index="20" nillable="true" ma:displayName="Extracted Text" ma:internalName="MediaServiceOCR" ma:readOnly="true">
      <xsd:simpleType>
        <xsd:restriction base="dms:Note">
          <xsd:maxLength value="255"/>
        </xsd:restriction>
      </xsd:simpleType>
    </xsd:element>
    <xsd:element name="MediaServiceLocation" ma:index="21" nillable="true" ma:displayName="Location" ma:indexed="true" ma:internalName="MediaServiceLocation" ma:readOnly="true">
      <xsd:simpleType>
        <xsd:restriction base="dms:Text"/>
      </xsd:simpleType>
    </xsd:element>
    <xsd:element name="MediaLengthInSeconds" ma:index="22" nillable="true" ma:displayName="MediaLengthInSeconds" ma:hidden="true" ma:internalName="MediaLengthInSeconds" ma:readOnly="true">
      <xsd:simpleType>
        <xsd:restriction base="dms:Unknown"/>
      </xsd:simpleType>
    </xsd:element>
  </xsd:schema>
  <xsd:schema xmlns:xsd="http://www.w3.org/2001/XMLSchema" xmlns:xs="http://www.w3.org/2001/XMLSchema" xmlns:dms="http://schemas.microsoft.com/office/2006/documentManagement/types" xmlns:pc="http://schemas.microsoft.com/office/infopath/2007/PartnerControls" targetNamespace="6c8d291c-a5bf-4049-930d-38db8e991d8e" elementFormDefault="qualified">
    <xsd:import namespace="http://schemas.microsoft.com/office/2006/documentManagement/types"/>
    <xsd:import namespace="http://schemas.microsoft.com/office/infopath/2007/PartnerControls"/>
    <xsd:element name="SharedWithUsers" ma:index="12" nillable="true" ma:displayName="Gedeeld met"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3" nillable="true" ma:displayName="Gedeeld met details" ma:internalName="SharedWithDetails" ma:readOnly="true">
      <xsd:simpleType>
        <xsd:restriction base="dms:Note">
          <xsd:maxLength value="255"/>
        </xsd:restriction>
      </xsd:simpleType>
    </xsd:element>
    <xsd:element name="TaxCatchAll" ma:index="16" nillable="true" ma:displayName="Taxonomy Catch All Column" ma:hidden="true" ma:list="{2ad53588-c864-4711-ad43-fad96b40598a}" ma:internalName="TaxCatchAll" ma:showField="CatchAllData" ma:web="6c8d291c-a5bf-4049-930d-38db8e991d8e">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oudstype"/>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3067B86F-F5BB-4BE6-9A37-0E19E53CB68B}">
  <ds:schemaRefs>
    <ds:schemaRef ds:uri="http://schemas.microsoft.com/office/2006/metadata/properties"/>
    <ds:schemaRef ds:uri="http://www.w3.org/2000/xmlns/"/>
    <ds:schemaRef ds:uri="5ff92c65-ed86-4457-baee-ccd535c9ea21"/>
    <ds:schemaRef ds:uri="http://schemas.microsoft.com/office/infopath/2007/PartnerControls"/>
    <ds:schemaRef ds:uri="6c8d291c-a5bf-4049-930d-38db8e991d8e"/>
    <ds:schemaRef ds:uri="http://www.w3.org/2001/XMLSchema-instance"/>
  </ds:schemaRefs>
</ds:datastoreItem>
</file>

<file path=customXml/itemProps2.xml><?xml version="1.0" encoding="utf-8"?>
<ds:datastoreItem xmlns:ds="http://schemas.openxmlformats.org/officeDocument/2006/customXml" ds:itemID="{98D9791E-52D0-4ABB-925A-4EAECF798D9B}">
  <ds:schemaRefs>
    <ds:schemaRef ds:uri="http://schemas.microsoft.com/sharepoint/v3/contenttype/forms"/>
  </ds:schemaRefs>
</ds:datastoreItem>
</file>

<file path=customXml/itemProps3.xml><?xml version="1.0" encoding="utf-8"?>
<ds:datastoreItem xmlns:ds="http://schemas.openxmlformats.org/officeDocument/2006/customXml" ds:itemID="{FD274795-8130-4893-9AFD-BAA9B90058EA}">
  <ds:schemaRefs>
    <ds:schemaRef ds:uri="http://schemas.microsoft.com/office/2006/metadata/contentType"/>
    <ds:schemaRef ds:uri="http://schemas.microsoft.com/office/2006/metadata/properties/metaAttributes"/>
    <ds:schemaRef ds:uri="http://www.w3.org/2000/xmlns/"/>
    <ds:schemaRef ds:uri="http://www.w3.org/2001/XMLSchema"/>
    <ds:schemaRef ds:uri="5ff92c65-ed86-4457-baee-ccd535c9ea21"/>
    <ds:schemaRef ds:uri="6c8d291c-a5bf-4049-930d-38db8e991d8e"/>
    <ds:schemaRef ds:uri="http://schemas.microsoft.com/office/2006/metadata/properties"/>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otalTime>1922</TotalTime>
  <Words>12658</Words>
  <Application>Microsoft Office PowerPoint</Application>
  <PresentationFormat>On-screen Show (16:9)</PresentationFormat>
  <Paragraphs>1321</Paragraphs>
  <Slides>74</Slides>
  <Notes>73</Notes>
  <HiddenSlides>0</HiddenSlides>
  <MMClips>0</MMClips>
  <ScaleCrop>false</ScaleCrop>
  <HeadingPairs>
    <vt:vector size="6" baseType="variant">
      <vt:variant>
        <vt:lpstr>Fonts Used</vt:lpstr>
      </vt:variant>
      <vt:variant>
        <vt:i4>10</vt:i4>
      </vt:variant>
      <vt:variant>
        <vt:lpstr>Theme</vt:lpstr>
      </vt:variant>
      <vt:variant>
        <vt:i4>1</vt:i4>
      </vt:variant>
      <vt:variant>
        <vt:lpstr>Slide Titles</vt:lpstr>
      </vt:variant>
      <vt:variant>
        <vt:i4>74</vt:i4>
      </vt:variant>
    </vt:vector>
  </HeadingPairs>
  <TitlesOfParts>
    <vt:vector size="85" baseType="lpstr">
      <vt:lpstr>Arial</vt:lpstr>
      <vt:lpstr>Alfa Slab One</vt:lpstr>
      <vt:lpstr>Times New Roman</vt:lpstr>
      <vt:lpstr>Helvetica Neue</vt:lpstr>
      <vt:lpstr>Proxima Nova</vt:lpstr>
      <vt:lpstr>Roboto Thin</vt:lpstr>
      <vt:lpstr>Roboto</vt:lpstr>
      <vt:lpstr>Segoe UI</vt:lpstr>
      <vt:lpstr>Open Sans</vt:lpstr>
      <vt:lpstr>Roboto Light</vt:lpstr>
      <vt:lpstr>BUAS Gameday</vt:lpstr>
      <vt:lpstr>Vladislav Stoimenov 235030 Gradation Project</vt:lpstr>
      <vt:lpstr>How To Use This Template</vt:lpstr>
      <vt:lpstr>Learning Log Structure</vt:lpstr>
      <vt:lpstr>Section A</vt:lpstr>
      <vt:lpstr>What is my plan?</vt:lpstr>
      <vt:lpstr>Where am I starting?</vt:lpstr>
      <vt:lpstr>What are my goals?</vt:lpstr>
      <vt:lpstr>Section B</vt:lpstr>
      <vt:lpstr>Week 1 - Log</vt:lpstr>
      <vt:lpstr>Week 1 - Feedback</vt:lpstr>
      <vt:lpstr>Week 2 - Log</vt:lpstr>
      <vt:lpstr>Week 2 - Feedback</vt:lpstr>
      <vt:lpstr>Week 3 - Log</vt:lpstr>
      <vt:lpstr>Week 3 - Feedback</vt:lpstr>
      <vt:lpstr>Week 4 - Log</vt:lpstr>
      <vt:lpstr>Week 4 - Feedback</vt:lpstr>
      <vt:lpstr>Week 5 - Log</vt:lpstr>
      <vt:lpstr>Week 5 - Feedback</vt:lpstr>
      <vt:lpstr>Week 6 - Log</vt:lpstr>
      <vt:lpstr>Week 6 - Feedback</vt:lpstr>
      <vt:lpstr>Week 7 - Log</vt:lpstr>
      <vt:lpstr>Week 7 - Feedback</vt:lpstr>
      <vt:lpstr>Week 8 - Log</vt:lpstr>
      <vt:lpstr>Week 8 - Feedback</vt:lpstr>
      <vt:lpstr>Week 9 - Log</vt:lpstr>
      <vt:lpstr>Week 9 - Feedback</vt:lpstr>
      <vt:lpstr>Week 10 - Log</vt:lpstr>
      <vt:lpstr>Week 10 - Feedback</vt:lpstr>
      <vt:lpstr>You are halfway there!</vt:lpstr>
      <vt:lpstr>Week 11 - Log</vt:lpstr>
      <vt:lpstr>Week 11 - Feedback</vt:lpstr>
      <vt:lpstr>Week 12 - Log</vt:lpstr>
      <vt:lpstr>Week 12 - Feedback</vt:lpstr>
      <vt:lpstr>Week 13 - Log</vt:lpstr>
      <vt:lpstr>Week 13 - Feedback</vt:lpstr>
      <vt:lpstr>Week 14 - Log</vt:lpstr>
      <vt:lpstr>Week 14 - Feedback</vt:lpstr>
      <vt:lpstr>Week 15 - Log</vt:lpstr>
      <vt:lpstr>Week 15 - Feedback</vt:lpstr>
      <vt:lpstr>Week 16 - Log</vt:lpstr>
      <vt:lpstr>Week 16 - Feedback</vt:lpstr>
      <vt:lpstr>Week 17 - Log</vt:lpstr>
      <vt:lpstr>Week 17 - Feedback</vt:lpstr>
      <vt:lpstr>Week 18 - Log</vt:lpstr>
      <vt:lpstr>Week 18 - Feedback</vt:lpstr>
      <vt:lpstr>Week 19 - Log</vt:lpstr>
      <vt:lpstr>Week 19 - Feedback</vt:lpstr>
      <vt:lpstr>Week 20 - Log</vt:lpstr>
      <vt:lpstr>Week 20 - Feedback</vt:lpstr>
      <vt:lpstr>You made it!</vt:lpstr>
      <vt:lpstr>Section C</vt:lpstr>
      <vt:lpstr>ILO 1</vt:lpstr>
      <vt:lpstr>ILO 1</vt:lpstr>
      <vt:lpstr>ILO 1</vt:lpstr>
      <vt:lpstr>ILO 1</vt:lpstr>
      <vt:lpstr>ILO 1</vt:lpstr>
      <vt:lpstr>ILO 1</vt:lpstr>
      <vt:lpstr>ILO 2</vt:lpstr>
      <vt:lpstr>ILO 2</vt:lpstr>
      <vt:lpstr>ILO 2</vt:lpstr>
      <vt:lpstr>ILO 3</vt:lpstr>
      <vt:lpstr>ILO 3</vt:lpstr>
      <vt:lpstr>ILO 3</vt:lpstr>
      <vt:lpstr>ILO 3</vt:lpstr>
      <vt:lpstr>ILO 4</vt:lpstr>
      <vt:lpstr>ILO 4</vt:lpstr>
      <vt:lpstr>ILO 4</vt:lpstr>
      <vt:lpstr>ILO 4</vt:lpstr>
      <vt:lpstr>ILO 5</vt:lpstr>
      <vt:lpstr>ILO 5</vt:lpstr>
      <vt:lpstr>ILO 5</vt:lpstr>
      <vt:lpstr>Section D</vt:lpstr>
      <vt:lpstr>What did I achieve this block?</vt:lpstr>
      <vt:lpstr>What did I achieve this block?</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«studentname» «studentid» «studentacademicproject»</dc:title>
  <cp:lastModifiedBy>Vladi</cp:lastModifiedBy>
  <cp:revision>298</cp:revision>
  <dcterms:modified xsi:type="dcterms:W3CDTF">2026-10-12T01:46:56Z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0x0101000BADAD4AA324BF48804EF76FD903323C</vt:lpwstr>
  </property>
  <property fmtid="{D5CDD505-2E9C-101B-9397-08002B2CF9AE}" pid="3" name="MediaServiceImageTags">
    <vt:lpwstr/>
  </property>
</Properties>
</file>