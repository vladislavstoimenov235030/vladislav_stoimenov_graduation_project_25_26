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58" r:id="rId4"/>
  </p:sldMasterIdLst>
  <p:notesMasterIdLst>
    <p:notesMasterId r:id="rId76"/>
  </p:notesMasterIdLst>
  <p:sldIdLst>
    <p:sldId id="378" r:id="rId5"/>
    <p:sldId id="257" r:id="rId6"/>
    <p:sldId id="258" r:id="rId7"/>
    <p:sldId id="263" r:id="rId8"/>
    <p:sldId id="261" r:id="rId9"/>
    <p:sldId id="260" r:id="rId10"/>
    <p:sldId id="262" r:id="rId11"/>
    <p:sldId id="305" r:id="rId12"/>
    <p:sldId id="264" r:id="rId13"/>
    <p:sldId id="265" r:id="rId14"/>
    <p:sldId id="339" r:id="rId15"/>
    <p:sldId id="340" r:id="rId16"/>
    <p:sldId id="341" r:id="rId17"/>
    <p:sldId id="342" r:id="rId18"/>
    <p:sldId id="345" r:id="rId19"/>
    <p:sldId id="346" r:id="rId20"/>
    <p:sldId id="347" r:id="rId21"/>
    <p:sldId id="348" r:id="rId22"/>
    <p:sldId id="349" r:id="rId23"/>
    <p:sldId id="350" r:id="rId24"/>
    <p:sldId id="351" r:id="rId25"/>
    <p:sldId id="352" r:id="rId26"/>
    <p:sldId id="353" r:id="rId27"/>
    <p:sldId id="354" r:id="rId28"/>
    <p:sldId id="355" r:id="rId29"/>
    <p:sldId id="356" r:id="rId30"/>
    <p:sldId id="343" r:id="rId31"/>
    <p:sldId id="344" r:id="rId32"/>
    <p:sldId id="357" r:id="rId33"/>
    <p:sldId id="358" r:id="rId34"/>
    <p:sldId id="359" r:id="rId35"/>
    <p:sldId id="360" r:id="rId36"/>
    <p:sldId id="361" r:id="rId37"/>
    <p:sldId id="362" r:id="rId38"/>
    <p:sldId id="363" r:id="rId39"/>
    <p:sldId id="364" r:id="rId40"/>
    <p:sldId id="365" r:id="rId41"/>
    <p:sldId id="366" r:id="rId42"/>
    <p:sldId id="367" r:id="rId43"/>
    <p:sldId id="368" r:id="rId44"/>
    <p:sldId id="377" r:id="rId45"/>
    <p:sldId id="376" r:id="rId46"/>
    <p:sldId id="369" r:id="rId47"/>
    <p:sldId id="370" r:id="rId48"/>
    <p:sldId id="371" r:id="rId49"/>
    <p:sldId id="372" r:id="rId50"/>
    <p:sldId id="373" r:id="rId51"/>
    <p:sldId id="374" r:id="rId52"/>
    <p:sldId id="375" r:id="rId53"/>
    <p:sldId id="379" r:id="rId54"/>
    <p:sldId id="282" r:id="rId55"/>
    <p:sldId id="387" r:id="rId56"/>
    <p:sldId id="286" r:id="rId57"/>
    <p:sldId id="399" r:id="rId58"/>
    <p:sldId id="398" r:id="rId59"/>
    <p:sldId id="315" r:id="rId60"/>
    <p:sldId id="292" r:id="rId61"/>
    <p:sldId id="400" r:id="rId62"/>
    <p:sldId id="293" r:id="rId63"/>
    <p:sldId id="294" r:id="rId64"/>
    <p:sldId id="401" r:id="rId65"/>
    <p:sldId id="299" r:id="rId66"/>
    <p:sldId id="300" r:id="rId67"/>
    <p:sldId id="402" r:id="rId68"/>
    <p:sldId id="403" r:id="rId69"/>
    <p:sldId id="336" r:id="rId70"/>
    <p:sldId id="330" r:id="rId71"/>
    <p:sldId id="404" r:id="rId72"/>
    <p:sldId id="296" r:id="rId73"/>
    <p:sldId id="297" r:id="rId74"/>
    <p:sldId id="380" r:id="rId75"/>
  </p:sldIdLst>
  <p:sldSz cx="9144000" cy="5143500" type="screen16x9"/>
  <p:notesSz cx="6858000" cy="9144000"/>
  <p:embeddedFontLst>
    <p:embeddedFont>
      <p:font typeface="Roboto Light" panose="020B0604020202020204" charset="0"/>
      <p:regular r:id="rId77"/>
      <p:italic r:id="rId78"/>
    </p:embeddedFont>
    <p:embeddedFont>
      <p:font typeface="Roboto Thin" panose="020B0604020202020204" charset="0"/>
      <p:regular r:id="rId79"/>
      <p:italic r:id="rId80"/>
    </p:embeddedFont>
    <p:embeddedFont>
      <p:font typeface="Helvetica Neue" panose="020B0604020202020204" charset="0"/>
      <p:regular r:id="rId81"/>
      <p:bold r:id="rId82"/>
      <p:italic r:id="rId83"/>
      <p:boldItalic r:id="rId84"/>
    </p:embeddedFont>
    <p:embeddedFont>
      <p:font typeface="Proxima Nova" panose="020B0604020202020204" charset="0"/>
      <p:regular r:id="rId85"/>
      <p:bold r:id="rId86"/>
      <p:italic r:id="rId87"/>
      <p:boldItalic r:id="rId88"/>
    </p:embeddedFont>
    <p:embeddedFont>
      <p:font typeface="Roboto" panose="02000000000000000000" pitchFamily="2" charset="0"/>
      <p:regular r:id="rId89"/>
      <p:bold r:id="rId90"/>
      <p:italic r:id="rId91"/>
      <p:boldItalic r:id="rId92"/>
    </p:embeddedFont>
    <p:embeddedFont>
      <p:font typeface="Segoe UI" panose="020B0502040204020203" pitchFamily="34" charset="0"/>
      <p:regular r:id="rId93"/>
      <p:bold r:id="rId94"/>
      <p:italic r:id="rId95"/>
      <p:boldItalic r:id="rId96"/>
    </p:embeddedFont>
    <p:embeddedFont>
      <p:font typeface="Open Sans" panose="020B0604020202020204" charset="0"/>
      <p:regular r:id="rId97"/>
      <p:bold r:id="rId98"/>
      <p:italic r:id="rId99"/>
      <p:boldItalic r:id="rId10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C4821C5-7DAE-40AD-6BC5-33696CD2F500}" name="Buckens, Myrthe" initials="MB" userId="S::buckens.m@buas.nl::d647a740-c1b5-45be-8984-ac0295ff2426"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Biswas, Abhishek" initials="BA" lastIdx="1" clrIdx="0">
    <p:extLst>
      <p:ext uri="{19B8F6BF-5375-455C-9EA6-DF929625EA0E}">
        <p15:presenceInfo xmlns:p15="http://schemas.microsoft.com/office/powerpoint/2012/main" userId="S::biswas.a@buas.nl::fb8d240a-d551-4b24-ab9a-9862bbc79dd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64D4AE7-FFBC-431D-9275-528F30A785D3}">
  <a:tblStyle styleId="{764D4AE7-FFBC-431D-9275-528F30A785D3}"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875" autoAdjust="0"/>
    <p:restoredTop sz="94702" autoAdjust="0"/>
  </p:normalViewPr>
  <p:slideViewPr>
    <p:cSldViewPr snapToGrid="0">
      <p:cViewPr varScale="1">
        <p:scale>
          <a:sx n="144" d="100"/>
          <a:sy n="144" d="100"/>
        </p:scale>
        <p:origin x="1272" y="120"/>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80" d="100"/>
        <a:sy n="18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8.fntdata"/><Relationship Id="rId89" Type="http://schemas.openxmlformats.org/officeDocument/2006/relationships/font" Target="fonts/font13.fntdata"/><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font" Target="fonts/font3.fntdata"/><Relationship Id="rId102" Type="http://schemas.openxmlformats.org/officeDocument/2006/relationships/presProps" Target="presProps.xml"/><Relationship Id="rId5" Type="http://schemas.openxmlformats.org/officeDocument/2006/relationships/slide" Target="slides/slide1.xml"/><Relationship Id="rId90" Type="http://schemas.openxmlformats.org/officeDocument/2006/relationships/font" Target="fonts/font14.fntdata"/><Relationship Id="rId95" Type="http://schemas.openxmlformats.org/officeDocument/2006/relationships/font" Target="fonts/font19.fntdata"/><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font" Target="fonts/font4.fntdata"/><Relationship Id="rId85" Type="http://schemas.openxmlformats.org/officeDocument/2006/relationships/font" Target="fonts/font9.fntdata"/><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font" Target="fonts/font7.fntdata"/><Relationship Id="rId88" Type="http://schemas.openxmlformats.org/officeDocument/2006/relationships/font" Target="fonts/font12.fntdata"/><Relationship Id="rId91" Type="http://schemas.openxmlformats.org/officeDocument/2006/relationships/font" Target="fonts/font15.fntdata"/><Relationship Id="rId96" Type="http://schemas.openxmlformats.org/officeDocument/2006/relationships/font" Target="fonts/font20.fntdata"/><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microsoft.com/office/2018/10/relationships/authors" Target="author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2.fntdata"/><Relationship Id="rId81" Type="http://schemas.openxmlformats.org/officeDocument/2006/relationships/font" Target="fonts/font5.fntdata"/><Relationship Id="rId86" Type="http://schemas.openxmlformats.org/officeDocument/2006/relationships/font" Target="fonts/font10.fntdata"/><Relationship Id="rId94" Type="http://schemas.openxmlformats.org/officeDocument/2006/relationships/font" Target="fonts/font18.fntdata"/><Relationship Id="rId99" Type="http://schemas.openxmlformats.org/officeDocument/2006/relationships/font" Target="fonts/font23.fntdata"/><Relationship Id="rId10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notesMaster" Target="notesMasters/notesMaster1.xml"/><Relationship Id="rId97" Type="http://schemas.openxmlformats.org/officeDocument/2006/relationships/font" Target="fonts/font21.fntdata"/><Relationship Id="rId104" Type="http://schemas.openxmlformats.org/officeDocument/2006/relationships/theme" Target="theme/theme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font" Target="fonts/font16.fntdata"/><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11.fntdata"/><Relationship Id="rId61" Type="http://schemas.openxmlformats.org/officeDocument/2006/relationships/slide" Target="slides/slide57.xml"/><Relationship Id="rId82" Type="http://schemas.openxmlformats.org/officeDocument/2006/relationships/font" Target="fonts/font6.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font" Target="fonts/font1.fntdata"/><Relationship Id="rId100" Type="http://schemas.openxmlformats.org/officeDocument/2006/relationships/font" Target="fonts/font24.fntdata"/><Relationship Id="rId105"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font" Target="fonts/font17.fntdata"/><Relationship Id="rId98" Type="http://schemas.openxmlformats.org/officeDocument/2006/relationships/font" Target="fonts/font22.fntdata"/><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6b4f495656_0_6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6b4f495656_0_6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6b4f495656_0_6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6b4f495656_0_6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6b4f495656_0_6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6b4f495656_0_6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MUST BE UPDATED EVERY WEEK</a:t>
            </a:r>
            <a:endParaRPr dirty="0"/>
          </a:p>
          <a:p>
            <a:pPr marL="0" lvl="0" indent="0" algn="l" rtl="0">
              <a:spcBef>
                <a:spcPts val="0"/>
              </a:spcBef>
              <a:spcAft>
                <a:spcPts val="0"/>
              </a:spcAft>
              <a:buNone/>
            </a:pPr>
            <a:r>
              <a:rPr lang="en" dirty="0"/>
              <a:t>This is simply a log (journal) of what you do each day, and what you learn from it. It is your responsibility to update this regularly and frequently. Be sure to include working links to any specific evidence you are referencing (and make sure that you share your docs with the teaching team). Note: some of the required information may be captured in production documents such as your work log or peer reviews. </a:t>
            </a:r>
            <a:endParaRPr dirty="0"/>
          </a:p>
          <a:p>
            <a:pPr marL="0" lvl="0" indent="0" algn="l" rtl="0">
              <a:spcBef>
                <a:spcPts val="0"/>
              </a:spcBef>
              <a:spcAft>
                <a:spcPts val="0"/>
              </a:spcAft>
              <a:buNone/>
            </a:pPr>
            <a:r>
              <a:rPr lang="en" dirty="0"/>
              <a:t>In such cases, you simply need to provide links to those artifacts and may include any explanatory comment or reflection you feel is appropriate. </a:t>
            </a:r>
            <a:endParaRPr dirty="0"/>
          </a:p>
          <a:p>
            <a:pPr marL="0" lvl="0" indent="0" algn="l" rtl="0">
              <a:spcBef>
                <a:spcPts val="0"/>
              </a:spcBef>
              <a:spcAft>
                <a:spcPts val="0"/>
              </a:spcAft>
              <a:buNone/>
            </a:pPr>
            <a:r>
              <a:rPr lang="en" dirty="0"/>
              <a:t>(Some reflection is almost always a good idea as it provides the foundation for Section C.)</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6b602ea5a7_1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6b602ea5a7_1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Copy and paste the feedback from the previous block’s assessment into the text box.</a:t>
            </a:r>
            <a:endParaRPr dirty="0"/>
          </a:p>
          <a:p>
            <a:pPr marL="0" lvl="0" indent="0" algn="l" rtl="0">
              <a:spcBef>
                <a:spcPts val="0"/>
              </a:spcBef>
              <a:spcAft>
                <a:spcPts val="0"/>
              </a:spcAft>
              <a:buNone/>
            </a:pPr>
            <a:r>
              <a:rPr lang="en" dirty="0"/>
              <a:t>Copy and paste the bullet points you listed on the “Lessons Learned” page in section C of your last block’s log.</a:t>
            </a:r>
            <a:endParaRPr dirty="0"/>
          </a:p>
          <a:p>
            <a:pPr marL="0" lvl="0" indent="0" algn="l" rtl="0">
              <a:spcBef>
                <a:spcPts val="0"/>
              </a:spcBef>
              <a:spcAft>
                <a:spcPts val="0"/>
              </a:spcAft>
              <a:buNone/>
            </a:pPr>
            <a:r>
              <a:rPr lang="en" dirty="0"/>
              <a:t>Compare the grade you gave yourself with the grade you received, and reevaluate or restate your feeling on your current level of progress.</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6b602ea5a7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6b602ea5a7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Copy and paste the feedback from the previous block’s assessment into the text box.</a:t>
            </a:r>
            <a:endParaRPr dirty="0"/>
          </a:p>
          <a:p>
            <a:pPr marL="0" lvl="0" indent="0" algn="l" rtl="0">
              <a:spcBef>
                <a:spcPts val="0"/>
              </a:spcBef>
              <a:spcAft>
                <a:spcPts val="0"/>
              </a:spcAft>
              <a:buNone/>
            </a:pPr>
            <a:r>
              <a:rPr lang="en" dirty="0"/>
              <a:t>Copy and paste the bullet points you listed on the “Lessons Learned” page in section C of your last block’s log.</a:t>
            </a:r>
            <a:endParaRPr dirty="0"/>
          </a:p>
          <a:p>
            <a:pPr marL="0" lvl="0" indent="0" algn="l" rtl="0">
              <a:spcBef>
                <a:spcPts val="0"/>
              </a:spcBef>
              <a:spcAft>
                <a:spcPts val="0"/>
              </a:spcAft>
              <a:buNone/>
            </a:pPr>
            <a:r>
              <a:rPr lang="en" dirty="0"/>
              <a:t>Compare the grade you gave yourself with the grade you received, and reevaluate or restate your feeling on your current level of progress.</a:t>
            </a: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6b602ea5a7_1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6b602ea5a7_1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Describe your goals for this block using the SMARTER method. Make sure they are clear, relevant, have a measurable outcome, and can be recorded. Consider how well do they align with the role(s) you wish to take, and with the requirements given in the project brief. Think about the objectives you plan to choose, or that are mandated by the project. Are there any competencies that you need to focus on?</a:t>
            </a:r>
            <a:endParaRPr/>
          </a:p>
          <a:p>
            <a:pPr marL="0" lvl="0" indent="0" algn="l" rtl="0">
              <a:spcBef>
                <a:spcPts val="0"/>
              </a:spcBef>
              <a:spcAft>
                <a:spcPts val="0"/>
              </a:spcAft>
              <a:buNone/>
            </a:pPr>
            <a:endParaRPr/>
          </a:p>
          <a:p>
            <a:pPr marL="0" lvl="0" indent="0" algn="l" rtl="0">
              <a:spcBef>
                <a:spcPts val="0"/>
              </a:spcBef>
              <a:spcAft>
                <a:spcPts val="0"/>
              </a:spcAft>
              <a:buNone/>
            </a:pPr>
            <a:r>
              <a:rPr lang="en"/>
              <a:t>For each goal, find concrete examples of tasks you expect to undertake that will demonstrate this within the project for the block. Make sure the plan has an outcome that can be tracked and assessed. Make sure you have a clearly stated target for each goal. If you are unsure of how to demonstrate something, ask for help from your teachers.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6b4f495656_0_6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6b4f495656_0_6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MUST BE UPDATED EVERY WEEK</a:t>
            </a:r>
            <a:endParaRPr dirty="0"/>
          </a:p>
          <a:p>
            <a:pPr marL="0" lvl="0" indent="0" algn="l" rtl="0">
              <a:spcBef>
                <a:spcPts val="0"/>
              </a:spcBef>
              <a:spcAft>
                <a:spcPts val="0"/>
              </a:spcAft>
              <a:buNone/>
            </a:pPr>
            <a:r>
              <a:rPr lang="en" dirty="0"/>
              <a:t>This is simply a log (journal) of what you do each day, and what you learn from it. It is your responsibility to update this regularly and frequently. Be sure to include working links to any specific evidence you are referencing (and make sure that you share your docs with the teaching team). Note: some of the required information may be captured in production documents such as your work log or peer reviews. </a:t>
            </a:r>
            <a:endParaRPr dirty="0"/>
          </a:p>
          <a:p>
            <a:pPr marL="0" lvl="0" indent="0" algn="l" rtl="0">
              <a:spcBef>
                <a:spcPts val="0"/>
              </a:spcBef>
              <a:spcAft>
                <a:spcPts val="0"/>
              </a:spcAft>
              <a:buNone/>
            </a:pPr>
            <a:r>
              <a:rPr lang="en" dirty="0"/>
              <a:t>In such cases, you simply need to provide links to those artifacts and may include any explanatory comment or reflection you feel is appropriate. </a:t>
            </a:r>
            <a:endParaRPr dirty="0"/>
          </a:p>
          <a:p>
            <a:pPr marL="0" lvl="0" indent="0" algn="l" rtl="0">
              <a:spcBef>
                <a:spcPts val="0"/>
              </a:spcBef>
              <a:spcAft>
                <a:spcPts val="0"/>
              </a:spcAft>
              <a:buNone/>
            </a:pPr>
            <a:r>
              <a:rPr lang="en" dirty="0"/>
              <a:t>(Some reflection is almost always a good idea as it provides the foundation for Section C.)</a:t>
            </a:r>
            <a:endParaRPr dirty="0"/>
          </a:p>
        </p:txBody>
      </p:sp>
    </p:spTree>
    <p:extLst>
      <p:ext uri="{BB962C8B-B14F-4D97-AF65-F5344CB8AC3E}">
        <p14:creationId xmlns:p14="http://schemas.microsoft.com/office/powerpoint/2010/main" val="3267376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75e44ff1a3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75e44ff1a3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75e44ff1a3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75e44ff1a3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75e44ff1a3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75e44ff1a3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501811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75e44ff1a3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75e44ff1a3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12941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75e44ff1a3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75e44ff1a3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336040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75e44ff1a3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75e44ff1a3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918635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75e44ff1a3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75e44ff1a3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784030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75e44ff1a3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75e44ff1a3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30918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75e44ff1a3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75e44ff1a3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126471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75e44ff1a3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75e44ff1a3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027685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75e44ff1a3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75e44ff1a3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13844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75e44ff1a3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75e44ff1a3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036028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75e44ff1a3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75e44ff1a3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114266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75e44ff1a3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75e44ff1a3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837510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75e44ff1a3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75e44ff1a3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37014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75e44ff1a3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75e44ff1a3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532373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75e44ff1a3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75e44ff1a3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659324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75e44ff1a3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75e44ff1a3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376991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75e44ff1a3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75e44ff1a3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953281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75e44ff1a3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75e44ff1a3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41681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6b4f495656_0_6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6b4f495656_0_6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596567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75e44ff1a3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75e44ff1a3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586742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75e44ff1a3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75e44ff1a3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90663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75e44ff1a3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75e44ff1a3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012891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75e44ff1a3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75e44ff1a3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737238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75e44ff1a3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75e44ff1a3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374140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75e44ff1a3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75e44ff1a3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8539127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75e44ff1a3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75e44ff1a3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2186869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75e44ff1a3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75e44ff1a3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884996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75e44ff1a3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75e44ff1a3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6226007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75e44ff1a3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75e44ff1a3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761191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75e44ff1a3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75e44ff1a3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6992018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75e44ff1a3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75e44ff1a3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0405809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75e44ff1a3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75e44ff1a3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536632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75e44ff1a3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75e44ff1a3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3863514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75e44ff1a3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75e44ff1a3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561339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75e44ff1a3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75e44ff1a3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9893076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75e44ff1a3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75e44ff1a3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5263507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75e44ff1a3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75e44ff1a3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0550654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75e44ff1a3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75e44ff1a3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6935641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75e44ff1a3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75e44ff1a3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2596002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6b4f495656_0_6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6b4f495656_0_6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5842540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6b4f495656_0_6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6b4f495656_0_6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MUST BE COMPLETED IN WEEK 20, BUT SHOULD BE UPDATED REGULARLY</a:t>
            </a:r>
            <a:endParaRPr dirty="0"/>
          </a:p>
          <a:p>
            <a:pPr marL="0" lvl="0" indent="0" algn="l" rtl="0">
              <a:spcBef>
                <a:spcPts val="0"/>
              </a:spcBef>
              <a:spcAft>
                <a:spcPts val="0"/>
              </a:spcAft>
              <a:buNone/>
            </a:pPr>
            <a:r>
              <a:rPr lang="en" dirty="0"/>
              <a:t>This is where you link your evidence to each of the Intended Learning Outcomes of this block.</a:t>
            </a:r>
            <a:endParaRPr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a:extLst>
            <a:ext uri="{FF2B5EF4-FFF2-40B4-BE49-F238E27FC236}">
              <a16:creationId xmlns:a16="http://schemas.microsoft.com/office/drawing/2014/main" id="{24BC6F97-84BF-2F97-5CB1-7A9691B9BBCB}"/>
            </a:ext>
          </a:extLst>
        </p:cNvPr>
        <p:cNvGrpSpPr/>
        <p:nvPr/>
      </p:nvGrpSpPr>
      <p:grpSpPr>
        <a:xfrm>
          <a:off x="0" y="0"/>
          <a:ext cx="0" cy="0"/>
          <a:chOff x="0" y="0"/>
          <a:chExt cx="0" cy="0"/>
        </a:xfrm>
      </p:grpSpPr>
      <p:sp>
        <p:nvSpPr>
          <p:cNvPr id="360" name="Google Shape;360;g6b4f495656_0_703:notes">
            <a:extLst>
              <a:ext uri="{FF2B5EF4-FFF2-40B4-BE49-F238E27FC236}">
                <a16:creationId xmlns:a16="http://schemas.microsoft.com/office/drawing/2014/main" id="{19F6F6F7-1B29-CED8-152B-FA3E60A546A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a:extLst>
              <a:ext uri="{FF2B5EF4-FFF2-40B4-BE49-F238E27FC236}">
                <a16:creationId xmlns:a16="http://schemas.microsoft.com/office/drawing/2014/main" id="{A3C8058E-363A-D595-85D0-0F005F2680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5982960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6b602ea5a7_1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a:extLst>
            <a:ext uri="{FF2B5EF4-FFF2-40B4-BE49-F238E27FC236}">
              <a16:creationId xmlns:a16="http://schemas.microsoft.com/office/drawing/2014/main" id="{F88C2208-766C-C3A4-0289-A973D2D4894E}"/>
            </a:ext>
          </a:extLst>
        </p:cNvPr>
        <p:cNvGrpSpPr/>
        <p:nvPr/>
      </p:nvGrpSpPr>
      <p:grpSpPr>
        <a:xfrm>
          <a:off x="0" y="0"/>
          <a:ext cx="0" cy="0"/>
          <a:chOff x="0" y="0"/>
          <a:chExt cx="0" cy="0"/>
        </a:xfrm>
      </p:grpSpPr>
      <p:sp>
        <p:nvSpPr>
          <p:cNvPr id="390" name="Google Shape;390;g6b602ea5a7_1_270:notes">
            <a:extLst>
              <a:ext uri="{FF2B5EF4-FFF2-40B4-BE49-F238E27FC236}">
                <a16:creationId xmlns:a16="http://schemas.microsoft.com/office/drawing/2014/main" id="{F12BA31E-A348-E8AA-0B97-7B14B6C9A27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a:extLst>
              <a:ext uri="{FF2B5EF4-FFF2-40B4-BE49-F238E27FC236}">
                <a16:creationId xmlns:a16="http://schemas.microsoft.com/office/drawing/2014/main" id="{A938629C-A21F-1913-91BD-9C0F1FC0EF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3021529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a:extLst>
            <a:ext uri="{FF2B5EF4-FFF2-40B4-BE49-F238E27FC236}">
              <a16:creationId xmlns:a16="http://schemas.microsoft.com/office/drawing/2014/main" id="{062FC12A-4AE3-9384-0933-9E22434D6558}"/>
            </a:ext>
          </a:extLst>
        </p:cNvPr>
        <p:cNvGrpSpPr/>
        <p:nvPr/>
      </p:nvGrpSpPr>
      <p:grpSpPr>
        <a:xfrm>
          <a:off x="0" y="0"/>
          <a:ext cx="0" cy="0"/>
          <a:chOff x="0" y="0"/>
          <a:chExt cx="0" cy="0"/>
        </a:xfrm>
      </p:grpSpPr>
      <p:sp>
        <p:nvSpPr>
          <p:cNvPr id="390" name="Google Shape;390;g6b602ea5a7_1_270:notes">
            <a:extLst>
              <a:ext uri="{FF2B5EF4-FFF2-40B4-BE49-F238E27FC236}">
                <a16:creationId xmlns:a16="http://schemas.microsoft.com/office/drawing/2014/main" id="{6D894EE8-40D1-C473-907B-1DB83E1BA91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a:extLst>
              <a:ext uri="{FF2B5EF4-FFF2-40B4-BE49-F238E27FC236}">
                <a16:creationId xmlns:a16="http://schemas.microsoft.com/office/drawing/2014/main" id="{F4F60824-6A1A-00AF-7BA4-5CA1F705740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018985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6b602ea5a7_1_3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6b602ea5a7_1_3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a:extLst>
            <a:ext uri="{FF2B5EF4-FFF2-40B4-BE49-F238E27FC236}">
              <a16:creationId xmlns:a16="http://schemas.microsoft.com/office/drawing/2014/main" id="{FCAA020E-FB45-AC51-2AE3-616A73A5C2D2}"/>
            </a:ext>
          </a:extLst>
        </p:cNvPr>
        <p:cNvGrpSpPr/>
        <p:nvPr/>
      </p:nvGrpSpPr>
      <p:grpSpPr>
        <a:xfrm>
          <a:off x="0" y="0"/>
          <a:ext cx="0" cy="0"/>
          <a:chOff x="0" y="0"/>
          <a:chExt cx="0" cy="0"/>
        </a:xfrm>
      </p:grpSpPr>
      <p:sp>
        <p:nvSpPr>
          <p:cNvPr id="453" name="Google Shape;453;g6b602ea5a7_1_346:notes">
            <a:extLst>
              <a:ext uri="{FF2B5EF4-FFF2-40B4-BE49-F238E27FC236}">
                <a16:creationId xmlns:a16="http://schemas.microsoft.com/office/drawing/2014/main" id="{71CE232E-AE41-B182-924B-63E276EA7A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6b602ea5a7_1_346:notes">
            <a:extLst>
              <a:ext uri="{FF2B5EF4-FFF2-40B4-BE49-F238E27FC236}">
                <a16:creationId xmlns:a16="http://schemas.microsoft.com/office/drawing/2014/main" id="{D288A570-55B4-B7A6-CE99-C74F1CBE9BF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8357605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6b4f495656_0_7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6b4f495656_0_7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g6b602ea5a7_1_3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3" name="Google Shape;473;g6b602ea5a7_1_3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a:extLst>
            <a:ext uri="{FF2B5EF4-FFF2-40B4-BE49-F238E27FC236}">
              <a16:creationId xmlns:a16="http://schemas.microsoft.com/office/drawing/2014/main" id="{9E5271FF-013C-9B4B-3711-DCCA3506F86A}"/>
            </a:ext>
          </a:extLst>
        </p:cNvPr>
        <p:cNvGrpSpPr/>
        <p:nvPr/>
      </p:nvGrpSpPr>
      <p:grpSpPr>
        <a:xfrm>
          <a:off x="0" y="0"/>
          <a:ext cx="0" cy="0"/>
          <a:chOff x="0" y="0"/>
          <a:chExt cx="0" cy="0"/>
        </a:xfrm>
      </p:grpSpPr>
      <p:sp>
        <p:nvSpPr>
          <p:cNvPr id="472" name="Google Shape;472;g6b602ea5a7_1_359:notes">
            <a:extLst>
              <a:ext uri="{FF2B5EF4-FFF2-40B4-BE49-F238E27FC236}">
                <a16:creationId xmlns:a16="http://schemas.microsoft.com/office/drawing/2014/main" id="{AA6831BE-4551-1D73-2127-E88ACC9F6D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3" name="Google Shape;473;g6b602ea5a7_1_359:notes">
            <a:extLst>
              <a:ext uri="{FF2B5EF4-FFF2-40B4-BE49-F238E27FC236}">
                <a16:creationId xmlns:a16="http://schemas.microsoft.com/office/drawing/2014/main" id="{F84D9DE6-3B9D-A6E6-46DA-CD3D97D8955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0218842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6b4f495656_0_7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6b4f495656_0_7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9389750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g6b602ea5a7_1_3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3" name="Google Shape;473;g6b602ea5a7_1_3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9339040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a:extLst>
            <a:ext uri="{FF2B5EF4-FFF2-40B4-BE49-F238E27FC236}">
              <a16:creationId xmlns:a16="http://schemas.microsoft.com/office/drawing/2014/main" id="{FBB8AD7A-C6AD-4A50-DA2C-79B66D1CB3C7}"/>
            </a:ext>
          </a:extLst>
        </p:cNvPr>
        <p:cNvGrpSpPr/>
        <p:nvPr/>
      </p:nvGrpSpPr>
      <p:grpSpPr>
        <a:xfrm>
          <a:off x="0" y="0"/>
          <a:ext cx="0" cy="0"/>
          <a:chOff x="0" y="0"/>
          <a:chExt cx="0" cy="0"/>
        </a:xfrm>
      </p:grpSpPr>
      <p:sp>
        <p:nvSpPr>
          <p:cNvPr id="472" name="Google Shape;472;g6b602ea5a7_1_359:notes">
            <a:extLst>
              <a:ext uri="{FF2B5EF4-FFF2-40B4-BE49-F238E27FC236}">
                <a16:creationId xmlns:a16="http://schemas.microsoft.com/office/drawing/2014/main" id="{A1FE9A43-5A94-6035-09FA-F559D1F6E3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3" name="Google Shape;473;g6b602ea5a7_1_359:notes">
            <a:extLst>
              <a:ext uri="{FF2B5EF4-FFF2-40B4-BE49-F238E27FC236}">
                <a16:creationId xmlns:a16="http://schemas.microsoft.com/office/drawing/2014/main" id="{E65FA0CF-4D02-0867-74BD-990CB26C14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9671954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a:extLst>
            <a:ext uri="{FF2B5EF4-FFF2-40B4-BE49-F238E27FC236}">
              <a16:creationId xmlns:a16="http://schemas.microsoft.com/office/drawing/2014/main" id="{0DCE54AB-AB5D-45D5-F748-8CEE3908C2B5}"/>
            </a:ext>
          </a:extLst>
        </p:cNvPr>
        <p:cNvGrpSpPr/>
        <p:nvPr/>
      </p:nvGrpSpPr>
      <p:grpSpPr>
        <a:xfrm>
          <a:off x="0" y="0"/>
          <a:ext cx="0" cy="0"/>
          <a:chOff x="0" y="0"/>
          <a:chExt cx="0" cy="0"/>
        </a:xfrm>
      </p:grpSpPr>
      <p:sp>
        <p:nvSpPr>
          <p:cNvPr id="472" name="Google Shape;472;g6b602ea5a7_1_359:notes">
            <a:extLst>
              <a:ext uri="{FF2B5EF4-FFF2-40B4-BE49-F238E27FC236}">
                <a16:creationId xmlns:a16="http://schemas.microsoft.com/office/drawing/2014/main" id="{1F3E51F6-EFDC-6112-E3FA-DBA3978973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3" name="Google Shape;473;g6b602ea5a7_1_359:notes">
            <a:extLst>
              <a:ext uri="{FF2B5EF4-FFF2-40B4-BE49-F238E27FC236}">
                <a16:creationId xmlns:a16="http://schemas.microsoft.com/office/drawing/2014/main" id="{8D947759-31C2-F625-1BBD-D973561C5B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6543863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6b4f495656_0_7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6b4f495656_0_7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1724404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g6b602ea5a7_1_3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3" name="Google Shape;473;g6b602ea5a7_1_3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2736188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a:extLst>
            <a:ext uri="{FF2B5EF4-FFF2-40B4-BE49-F238E27FC236}">
              <a16:creationId xmlns:a16="http://schemas.microsoft.com/office/drawing/2014/main" id="{A25F3289-1130-8B87-4772-55047E10ADD3}"/>
            </a:ext>
          </a:extLst>
        </p:cNvPr>
        <p:cNvGrpSpPr/>
        <p:nvPr/>
      </p:nvGrpSpPr>
      <p:grpSpPr>
        <a:xfrm>
          <a:off x="0" y="0"/>
          <a:ext cx="0" cy="0"/>
          <a:chOff x="0" y="0"/>
          <a:chExt cx="0" cy="0"/>
        </a:xfrm>
      </p:grpSpPr>
      <p:sp>
        <p:nvSpPr>
          <p:cNvPr id="472" name="Google Shape;472;g6b602ea5a7_1_359:notes">
            <a:extLst>
              <a:ext uri="{FF2B5EF4-FFF2-40B4-BE49-F238E27FC236}">
                <a16:creationId xmlns:a16="http://schemas.microsoft.com/office/drawing/2014/main" id="{2644CD2B-D529-9B97-A6DF-A44D8EDFBC1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3" name="Google Shape;473;g6b602ea5a7_1_359:notes">
            <a:extLst>
              <a:ext uri="{FF2B5EF4-FFF2-40B4-BE49-F238E27FC236}">
                <a16:creationId xmlns:a16="http://schemas.microsoft.com/office/drawing/2014/main" id="{993014CE-6780-733F-5F4A-FFC85F1EFF6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5244030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g6b4f495656_0_7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5" name="Google Shape;495;g6b4f495656_0_7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MUST BE COMPLETED IN WEEK 8</a:t>
            </a:r>
            <a:endParaRPr/>
          </a:p>
          <a:p>
            <a:pPr marL="0" lvl="0" indent="0" algn="l" rtl="0">
              <a:spcBef>
                <a:spcPts val="0"/>
              </a:spcBef>
              <a:spcAft>
                <a:spcPts val="0"/>
              </a:spcAft>
              <a:buNone/>
            </a:pPr>
            <a:r>
              <a:rPr lang="en"/>
              <a:t>Summative reflection on your progress during the block including a critical assessment of everything you did and learned during the block. This is a comprehensive review of everything recorded in Section B, evaluated against the goals and planning laid out in Section A.</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g6b602ea5a7_1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2" name="Google Shape;502;g6b602ea5a7_1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g6b602ea5a7_1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2" name="Google Shape;502;g6b602ea5a7_1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8953258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_1">
    <p:bg>
      <p:bgPr>
        <a:solidFill>
          <a:srgbClr val="EC781C"/>
        </a:solidFill>
        <a:effectLst/>
      </p:bgPr>
    </p:bg>
    <p:spTree>
      <p:nvGrpSpPr>
        <p:cNvPr id="1" name="Shape 9"/>
        <p:cNvGrpSpPr/>
        <p:nvPr/>
      </p:nvGrpSpPr>
      <p:grpSpPr>
        <a:xfrm>
          <a:off x="0" y="0"/>
          <a:ext cx="0" cy="0"/>
          <a:chOff x="0" y="0"/>
          <a:chExt cx="0" cy="0"/>
        </a:xfrm>
      </p:grpSpPr>
      <p:sp>
        <p:nvSpPr>
          <p:cNvPr id="10" name="Google Shape;10;p2"/>
          <p:cNvSpPr/>
          <p:nvPr/>
        </p:nvSpPr>
        <p:spPr>
          <a:xfrm>
            <a:off x="3109025" y="-1200"/>
            <a:ext cx="6035100" cy="51462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0" y="4363525"/>
            <a:ext cx="9144000" cy="7773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txBox="1">
            <a:spLocks noGrp="1"/>
          </p:cNvSpPr>
          <p:nvPr>
            <p:ph type="ctrTitle"/>
          </p:nvPr>
        </p:nvSpPr>
        <p:spPr>
          <a:xfrm>
            <a:off x="3657600" y="548650"/>
            <a:ext cx="4937700" cy="32643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FFFFF"/>
              </a:buClr>
              <a:buSzPts val="1800"/>
              <a:buNone/>
              <a:defRPr sz="1800">
                <a:solidFill>
                  <a:srgbClr val="FFFFFF"/>
                </a:solidFill>
              </a:defRPr>
            </a:lvl1pPr>
            <a:lvl2pPr lvl="1" algn="ctr" rtl="0">
              <a:spcBef>
                <a:spcPts val="0"/>
              </a:spcBef>
              <a:spcAft>
                <a:spcPts val="0"/>
              </a:spcAft>
              <a:buClr>
                <a:srgbClr val="FFFFFF"/>
              </a:buClr>
              <a:buSzPts val="3600"/>
              <a:buNone/>
              <a:defRPr sz="3600">
                <a:solidFill>
                  <a:srgbClr val="FFFFFF"/>
                </a:solidFill>
              </a:defRPr>
            </a:lvl2pPr>
            <a:lvl3pPr lvl="2" algn="ctr" rtl="0">
              <a:spcBef>
                <a:spcPts val="0"/>
              </a:spcBef>
              <a:spcAft>
                <a:spcPts val="0"/>
              </a:spcAft>
              <a:buClr>
                <a:srgbClr val="FFFFFF"/>
              </a:buClr>
              <a:buSzPts val="3600"/>
              <a:buNone/>
              <a:defRPr sz="3600">
                <a:solidFill>
                  <a:srgbClr val="FFFFFF"/>
                </a:solidFill>
              </a:defRPr>
            </a:lvl3pPr>
            <a:lvl4pPr lvl="3" algn="ctr" rtl="0">
              <a:spcBef>
                <a:spcPts val="0"/>
              </a:spcBef>
              <a:spcAft>
                <a:spcPts val="0"/>
              </a:spcAft>
              <a:buClr>
                <a:srgbClr val="FFFFFF"/>
              </a:buClr>
              <a:buSzPts val="3600"/>
              <a:buNone/>
              <a:defRPr sz="3600">
                <a:solidFill>
                  <a:srgbClr val="FFFFFF"/>
                </a:solidFill>
              </a:defRPr>
            </a:lvl4pPr>
            <a:lvl5pPr lvl="4" algn="ctr" rtl="0">
              <a:spcBef>
                <a:spcPts val="0"/>
              </a:spcBef>
              <a:spcAft>
                <a:spcPts val="0"/>
              </a:spcAft>
              <a:buClr>
                <a:srgbClr val="FFFFFF"/>
              </a:buClr>
              <a:buSzPts val="3600"/>
              <a:buNone/>
              <a:defRPr sz="3600">
                <a:solidFill>
                  <a:srgbClr val="FFFFFF"/>
                </a:solidFill>
              </a:defRPr>
            </a:lvl5pPr>
            <a:lvl6pPr lvl="5" algn="ctr" rtl="0">
              <a:spcBef>
                <a:spcPts val="0"/>
              </a:spcBef>
              <a:spcAft>
                <a:spcPts val="0"/>
              </a:spcAft>
              <a:buClr>
                <a:srgbClr val="FFFFFF"/>
              </a:buClr>
              <a:buSzPts val="3600"/>
              <a:buNone/>
              <a:defRPr sz="3600">
                <a:solidFill>
                  <a:srgbClr val="FFFFFF"/>
                </a:solidFill>
              </a:defRPr>
            </a:lvl6pPr>
            <a:lvl7pPr lvl="6" algn="ctr" rtl="0">
              <a:spcBef>
                <a:spcPts val="0"/>
              </a:spcBef>
              <a:spcAft>
                <a:spcPts val="0"/>
              </a:spcAft>
              <a:buClr>
                <a:srgbClr val="FFFFFF"/>
              </a:buClr>
              <a:buSzPts val="3600"/>
              <a:buNone/>
              <a:defRPr sz="3600">
                <a:solidFill>
                  <a:srgbClr val="FFFFFF"/>
                </a:solidFill>
              </a:defRPr>
            </a:lvl7pPr>
            <a:lvl8pPr lvl="7" algn="ctr" rtl="0">
              <a:spcBef>
                <a:spcPts val="0"/>
              </a:spcBef>
              <a:spcAft>
                <a:spcPts val="0"/>
              </a:spcAft>
              <a:buClr>
                <a:srgbClr val="FFFFFF"/>
              </a:buClr>
              <a:buSzPts val="3600"/>
              <a:buNone/>
              <a:defRPr sz="3600">
                <a:solidFill>
                  <a:srgbClr val="FFFFFF"/>
                </a:solidFill>
              </a:defRPr>
            </a:lvl8pPr>
            <a:lvl9pPr lvl="8" algn="ctr" rtl="0">
              <a:spcBef>
                <a:spcPts val="0"/>
              </a:spcBef>
              <a:spcAft>
                <a:spcPts val="0"/>
              </a:spcAft>
              <a:buClr>
                <a:srgbClr val="FFFFFF"/>
              </a:buClr>
              <a:buSzPts val="3600"/>
              <a:buNone/>
              <a:defRPr sz="3600">
                <a:solidFill>
                  <a:srgbClr val="FFFFFF"/>
                </a:solidFill>
              </a:defRPr>
            </a:lvl9pPr>
          </a:lstStyle>
          <a:p>
            <a:endParaRPr/>
          </a:p>
        </p:txBody>
      </p:sp>
      <p:sp>
        <p:nvSpPr>
          <p:cNvPr id="13" name="Google Shape;13;p2"/>
          <p:cNvSpPr txBox="1">
            <a:spLocks noGrp="1"/>
          </p:cNvSpPr>
          <p:nvPr>
            <p:ph type="subTitle" idx="1"/>
          </p:nvPr>
        </p:nvSpPr>
        <p:spPr>
          <a:xfrm>
            <a:off x="548650" y="548650"/>
            <a:ext cx="2011800" cy="3264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FFFFF"/>
              </a:buClr>
              <a:buSzPts val="1800"/>
              <a:buNone/>
              <a:defRPr sz="1800">
                <a:solidFill>
                  <a:srgbClr val="FFFFFF"/>
                </a:solidFill>
              </a:defRPr>
            </a:lvl1pPr>
            <a:lvl2pPr lvl="1" algn="ctr" rtl="0">
              <a:lnSpc>
                <a:spcPct val="100000"/>
              </a:lnSpc>
              <a:spcBef>
                <a:spcPts val="0"/>
              </a:spcBef>
              <a:spcAft>
                <a:spcPts val="0"/>
              </a:spcAft>
              <a:buClr>
                <a:srgbClr val="FFFFFF"/>
              </a:buClr>
              <a:buSzPts val="3000"/>
              <a:buNone/>
              <a:defRPr sz="3000">
                <a:solidFill>
                  <a:srgbClr val="FFFFFF"/>
                </a:solidFill>
              </a:defRPr>
            </a:lvl2pPr>
            <a:lvl3pPr lvl="2" algn="ctr" rtl="0">
              <a:lnSpc>
                <a:spcPct val="100000"/>
              </a:lnSpc>
              <a:spcBef>
                <a:spcPts val="0"/>
              </a:spcBef>
              <a:spcAft>
                <a:spcPts val="0"/>
              </a:spcAft>
              <a:buClr>
                <a:srgbClr val="FFFFFF"/>
              </a:buClr>
              <a:buSzPts val="3000"/>
              <a:buNone/>
              <a:defRPr sz="3000">
                <a:solidFill>
                  <a:srgbClr val="FFFFFF"/>
                </a:solidFill>
              </a:defRPr>
            </a:lvl3pPr>
            <a:lvl4pPr lvl="3" algn="ctr" rtl="0">
              <a:lnSpc>
                <a:spcPct val="100000"/>
              </a:lnSpc>
              <a:spcBef>
                <a:spcPts val="0"/>
              </a:spcBef>
              <a:spcAft>
                <a:spcPts val="0"/>
              </a:spcAft>
              <a:buClr>
                <a:srgbClr val="FFFFFF"/>
              </a:buClr>
              <a:buSzPts val="3000"/>
              <a:buNone/>
              <a:defRPr sz="3000">
                <a:solidFill>
                  <a:srgbClr val="FFFFFF"/>
                </a:solidFill>
              </a:defRPr>
            </a:lvl4pPr>
            <a:lvl5pPr lvl="4" algn="ctr" rtl="0">
              <a:lnSpc>
                <a:spcPct val="100000"/>
              </a:lnSpc>
              <a:spcBef>
                <a:spcPts val="0"/>
              </a:spcBef>
              <a:spcAft>
                <a:spcPts val="0"/>
              </a:spcAft>
              <a:buClr>
                <a:srgbClr val="FFFFFF"/>
              </a:buClr>
              <a:buSzPts val="3000"/>
              <a:buNone/>
              <a:defRPr sz="3000">
                <a:solidFill>
                  <a:srgbClr val="FFFFFF"/>
                </a:solidFill>
              </a:defRPr>
            </a:lvl5pPr>
            <a:lvl6pPr lvl="5" algn="ctr" rtl="0">
              <a:lnSpc>
                <a:spcPct val="100000"/>
              </a:lnSpc>
              <a:spcBef>
                <a:spcPts val="0"/>
              </a:spcBef>
              <a:spcAft>
                <a:spcPts val="0"/>
              </a:spcAft>
              <a:buClr>
                <a:srgbClr val="FFFFFF"/>
              </a:buClr>
              <a:buSzPts val="3000"/>
              <a:buNone/>
              <a:defRPr sz="3000">
                <a:solidFill>
                  <a:srgbClr val="FFFFFF"/>
                </a:solidFill>
              </a:defRPr>
            </a:lvl6pPr>
            <a:lvl7pPr lvl="6" algn="ctr" rtl="0">
              <a:lnSpc>
                <a:spcPct val="100000"/>
              </a:lnSpc>
              <a:spcBef>
                <a:spcPts val="0"/>
              </a:spcBef>
              <a:spcAft>
                <a:spcPts val="0"/>
              </a:spcAft>
              <a:buClr>
                <a:srgbClr val="FFFFFF"/>
              </a:buClr>
              <a:buSzPts val="3000"/>
              <a:buNone/>
              <a:defRPr sz="3000">
                <a:solidFill>
                  <a:srgbClr val="FFFFFF"/>
                </a:solidFill>
              </a:defRPr>
            </a:lvl7pPr>
            <a:lvl8pPr lvl="7" algn="ctr" rtl="0">
              <a:lnSpc>
                <a:spcPct val="100000"/>
              </a:lnSpc>
              <a:spcBef>
                <a:spcPts val="0"/>
              </a:spcBef>
              <a:spcAft>
                <a:spcPts val="0"/>
              </a:spcAft>
              <a:buClr>
                <a:srgbClr val="FFFFFF"/>
              </a:buClr>
              <a:buSzPts val="3000"/>
              <a:buNone/>
              <a:defRPr sz="3000">
                <a:solidFill>
                  <a:srgbClr val="FFFFFF"/>
                </a:solidFill>
              </a:defRPr>
            </a:lvl8pPr>
            <a:lvl9pPr lvl="8" algn="ctr" rtl="0">
              <a:lnSpc>
                <a:spcPct val="100000"/>
              </a:lnSpc>
              <a:spcBef>
                <a:spcPts val="0"/>
              </a:spcBef>
              <a:spcAft>
                <a:spcPts val="0"/>
              </a:spcAft>
              <a:buClr>
                <a:srgbClr val="FFFFFF"/>
              </a:buClr>
              <a:buSzPts val="3000"/>
              <a:buNone/>
              <a:defRPr sz="3000">
                <a:solidFill>
                  <a:srgbClr val="FFFFFF"/>
                </a:solidFill>
              </a:defRPr>
            </a:lvl9pPr>
          </a:lstStyle>
          <a:p>
            <a:endParaRPr/>
          </a:p>
        </p:txBody>
      </p:sp>
      <p:pic>
        <p:nvPicPr>
          <p:cNvPr id="14" name="Google Shape;14;p2"/>
          <p:cNvPicPr preferRelativeResize="0"/>
          <p:nvPr/>
        </p:nvPicPr>
        <p:blipFill>
          <a:blip r:embed="rId2">
            <a:alphaModFix/>
          </a:blip>
          <a:stretch>
            <a:fillRect/>
          </a:stretch>
        </p:blipFill>
        <p:spPr>
          <a:xfrm>
            <a:off x="164592" y="4523578"/>
            <a:ext cx="1329394" cy="457200"/>
          </a:xfrm>
          <a:prstGeom prst="rect">
            <a:avLst/>
          </a:prstGeom>
          <a:noFill/>
          <a:ln>
            <a:noFill/>
          </a:ln>
        </p:spPr>
      </p:pic>
      <p:sp>
        <p:nvSpPr>
          <p:cNvPr id="16" name="Google Shape;16;p2"/>
          <p:cNvSpPr txBox="1"/>
          <p:nvPr/>
        </p:nvSpPr>
        <p:spPr>
          <a:xfrm>
            <a:off x="1846250" y="4412100"/>
            <a:ext cx="6527400" cy="598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 sz="700" b="1" dirty="0">
                <a:solidFill>
                  <a:srgbClr val="999999"/>
                </a:solidFill>
                <a:latin typeface="Helvetica Neue"/>
                <a:ea typeface="Helvetica Neue"/>
                <a:cs typeface="Helvetica Neue"/>
                <a:sym typeface="Helvetica Neue"/>
              </a:rPr>
              <a:t>Project Brief &amp; Assessment Assignment : </a:t>
            </a:r>
            <a:r>
              <a:rPr lang="en" sz="700" b="1" dirty="0">
                <a:latin typeface="Helvetica Neue"/>
                <a:ea typeface="Helvetica Neue"/>
                <a:cs typeface="Helvetica Neue"/>
                <a:sym typeface="Helvetica Neue"/>
              </a:rPr>
              <a:t>In Microsoft Team </a:t>
            </a:r>
            <a:r>
              <a:rPr kumimoji="0" lang="en-US" altLang="en-US" sz="700" b="1" i="0" u="none" strike="noStrike" cap="none" normalizeH="0" baseline="0" dirty="0">
                <a:ln>
                  <a:noFill/>
                </a:ln>
                <a:solidFill>
                  <a:srgbClr val="242424"/>
                </a:solidFill>
                <a:effectLst/>
                <a:latin typeface="Segoe UI" panose="020B0502040204020203" pitchFamily="34" charset="0"/>
                <a:cs typeface="Segoe UI" panose="020B0502040204020203" pitchFamily="34" charset="0"/>
              </a:rPr>
              <a:t>FAI2.P1-01  Project 2A</a:t>
            </a:r>
            <a:endParaRPr sz="700" b="1" dirty="0">
              <a:latin typeface="Helvetica Neue"/>
              <a:ea typeface="Helvetica Neue"/>
              <a:cs typeface="Helvetica Neue"/>
              <a:sym typeface="Helvetica Neue"/>
            </a:endParaRPr>
          </a:p>
          <a:p>
            <a:pPr marL="0" lvl="0" indent="0" algn="l" rtl="0">
              <a:spcBef>
                <a:spcPts val="0"/>
              </a:spcBef>
              <a:spcAft>
                <a:spcPts val="0"/>
              </a:spcAft>
              <a:buNone/>
            </a:pPr>
            <a:endParaRPr dirty="0">
              <a:latin typeface="Roboto"/>
              <a:ea typeface="Roboto"/>
              <a:cs typeface="Roboto"/>
              <a:sym typeface="Roboto"/>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p:cSld name="CUSTOM_1_2">
    <p:bg>
      <p:bgPr>
        <a:solidFill>
          <a:srgbClr val="666666"/>
        </a:solidFill>
        <a:effectLst/>
      </p:bgPr>
    </p:bg>
    <p:spTree>
      <p:nvGrpSpPr>
        <p:cNvPr id="1" name="Shape 17"/>
        <p:cNvGrpSpPr/>
        <p:nvPr/>
      </p:nvGrpSpPr>
      <p:grpSpPr>
        <a:xfrm>
          <a:off x="0" y="0"/>
          <a:ext cx="0" cy="0"/>
          <a:chOff x="0" y="0"/>
          <a:chExt cx="0" cy="0"/>
        </a:xfrm>
      </p:grpSpPr>
      <p:sp>
        <p:nvSpPr>
          <p:cNvPr id="18" name="Google Shape;18;p3"/>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6000"/>
              <a:buFont typeface="Roboto Thin"/>
              <a:buNone/>
              <a:defRPr sz="6000" b="0">
                <a:solidFill>
                  <a:srgbClr val="FFFFFF"/>
                </a:solidFill>
                <a:latin typeface="Roboto Thin"/>
                <a:ea typeface="Roboto Thin"/>
                <a:cs typeface="Roboto Thin"/>
                <a:sym typeface="Roboto Thin"/>
              </a:defRPr>
            </a:lvl1pPr>
            <a:lvl2pPr lvl="1" algn="ctr" rtl="0">
              <a:spcBef>
                <a:spcPts val="0"/>
              </a:spcBef>
              <a:spcAft>
                <a:spcPts val="0"/>
              </a:spcAft>
              <a:buClr>
                <a:srgbClr val="FFFFFF"/>
              </a:buClr>
              <a:buSzPts val="3600"/>
              <a:buNone/>
              <a:defRPr sz="3600">
                <a:solidFill>
                  <a:srgbClr val="FFFFFF"/>
                </a:solidFill>
              </a:defRPr>
            </a:lvl2pPr>
            <a:lvl3pPr lvl="2" algn="ctr" rtl="0">
              <a:spcBef>
                <a:spcPts val="0"/>
              </a:spcBef>
              <a:spcAft>
                <a:spcPts val="0"/>
              </a:spcAft>
              <a:buClr>
                <a:srgbClr val="FFFFFF"/>
              </a:buClr>
              <a:buSzPts val="3600"/>
              <a:buNone/>
              <a:defRPr sz="3600">
                <a:solidFill>
                  <a:srgbClr val="FFFFFF"/>
                </a:solidFill>
              </a:defRPr>
            </a:lvl3pPr>
            <a:lvl4pPr lvl="3" algn="ctr" rtl="0">
              <a:spcBef>
                <a:spcPts val="0"/>
              </a:spcBef>
              <a:spcAft>
                <a:spcPts val="0"/>
              </a:spcAft>
              <a:buClr>
                <a:srgbClr val="FFFFFF"/>
              </a:buClr>
              <a:buSzPts val="3600"/>
              <a:buNone/>
              <a:defRPr sz="3600">
                <a:solidFill>
                  <a:srgbClr val="FFFFFF"/>
                </a:solidFill>
              </a:defRPr>
            </a:lvl4pPr>
            <a:lvl5pPr lvl="4" algn="ctr" rtl="0">
              <a:spcBef>
                <a:spcPts val="0"/>
              </a:spcBef>
              <a:spcAft>
                <a:spcPts val="0"/>
              </a:spcAft>
              <a:buClr>
                <a:srgbClr val="FFFFFF"/>
              </a:buClr>
              <a:buSzPts val="3600"/>
              <a:buNone/>
              <a:defRPr sz="3600">
                <a:solidFill>
                  <a:srgbClr val="FFFFFF"/>
                </a:solidFill>
              </a:defRPr>
            </a:lvl5pPr>
            <a:lvl6pPr lvl="5" algn="ctr" rtl="0">
              <a:spcBef>
                <a:spcPts val="0"/>
              </a:spcBef>
              <a:spcAft>
                <a:spcPts val="0"/>
              </a:spcAft>
              <a:buClr>
                <a:srgbClr val="FFFFFF"/>
              </a:buClr>
              <a:buSzPts val="3600"/>
              <a:buNone/>
              <a:defRPr sz="3600">
                <a:solidFill>
                  <a:srgbClr val="FFFFFF"/>
                </a:solidFill>
              </a:defRPr>
            </a:lvl6pPr>
            <a:lvl7pPr lvl="6" algn="ctr" rtl="0">
              <a:spcBef>
                <a:spcPts val="0"/>
              </a:spcBef>
              <a:spcAft>
                <a:spcPts val="0"/>
              </a:spcAft>
              <a:buClr>
                <a:srgbClr val="FFFFFF"/>
              </a:buClr>
              <a:buSzPts val="3600"/>
              <a:buNone/>
              <a:defRPr sz="3600">
                <a:solidFill>
                  <a:srgbClr val="FFFFFF"/>
                </a:solidFill>
              </a:defRPr>
            </a:lvl7pPr>
            <a:lvl8pPr lvl="7" algn="ctr" rtl="0">
              <a:spcBef>
                <a:spcPts val="0"/>
              </a:spcBef>
              <a:spcAft>
                <a:spcPts val="0"/>
              </a:spcAft>
              <a:buClr>
                <a:srgbClr val="FFFFFF"/>
              </a:buClr>
              <a:buSzPts val="3600"/>
              <a:buNone/>
              <a:defRPr sz="3600">
                <a:solidFill>
                  <a:srgbClr val="FFFFFF"/>
                </a:solidFill>
              </a:defRPr>
            </a:lvl8pPr>
            <a:lvl9pPr lvl="8" algn="ctr" rtl="0">
              <a:spcBef>
                <a:spcPts val="0"/>
              </a:spcBef>
              <a:spcAft>
                <a:spcPts val="0"/>
              </a:spcAft>
              <a:buClr>
                <a:srgbClr val="FFFFFF"/>
              </a:buClr>
              <a:buSzPts val="3600"/>
              <a:buNone/>
              <a:defRPr sz="3600">
                <a:solidFill>
                  <a:srgbClr val="FFFFFF"/>
                </a:solidFill>
              </a:defRPr>
            </a:lvl9pPr>
          </a:lstStyle>
          <a:p>
            <a:endParaRPr/>
          </a:p>
        </p:txBody>
      </p:sp>
      <p:sp>
        <p:nvSpPr>
          <p:cNvPr id="19" name="Google Shape;19;p3"/>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1pPr>
            <a:lvl2pPr lvl="1"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2pPr>
            <a:lvl3pPr lvl="2"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3pPr>
            <a:lvl4pPr lvl="3"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4pPr>
            <a:lvl5pPr lvl="4"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5pPr>
            <a:lvl6pPr lvl="5"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6pPr>
            <a:lvl7pPr lvl="6"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7pPr>
            <a:lvl8pPr lvl="7"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8pPr>
            <a:lvl9pPr lvl="8"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9pPr>
          </a:lstStyle>
          <a:p>
            <a:endParaRPr/>
          </a:p>
        </p:txBody>
      </p:sp>
      <p:sp>
        <p:nvSpPr>
          <p:cNvPr id="2" name="Rectangle 1">
            <a:extLst>
              <a:ext uri="{FF2B5EF4-FFF2-40B4-BE49-F238E27FC236}">
                <a16:creationId xmlns:a16="http://schemas.microsoft.com/office/drawing/2014/main" id="{ED2E902F-3793-054A-A49F-5F75EC799503}"/>
              </a:ext>
            </a:extLst>
          </p:cNvPr>
          <p:cNvSpPr/>
          <p:nvPr userDrawn="1"/>
        </p:nvSpPr>
        <p:spPr>
          <a:xfrm>
            <a:off x="0" y="4393870"/>
            <a:ext cx="9144000" cy="7496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Google Shape;20;p3"/>
          <p:cNvPicPr preferRelativeResize="0"/>
          <p:nvPr/>
        </p:nvPicPr>
        <p:blipFill>
          <a:blip r:embed="rId2">
            <a:alphaModFix/>
          </a:blip>
          <a:stretch>
            <a:fillRect/>
          </a:stretch>
        </p:blipFill>
        <p:spPr>
          <a:xfrm>
            <a:off x="7214616" y="4434840"/>
            <a:ext cx="1691640" cy="58267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Sub-Header">
  <p:cSld name="CUSTOM_1_2_1">
    <p:bg>
      <p:bgPr>
        <a:solidFill>
          <a:srgbClr val="666666"/>
        </a:solidFill>
        <a:effectLst/>
      </p:bgPr>
    </p:bg>
    <p:spTree>
      <p:nvGrpSpPr>
        <p:cNvPr id="1" name="Shape 21"/>
        <p:cNvGrpSpPr/>
        <p:nvPr/>
      </p:nvGrpSpPr>
      <p:grpSpPr>
        <a:xfrm>
          <a:off x="0" y="0"/>
          <a:ext cx="0" cy="0"/>
          <a:chOff x="0" y="0"/>
          <a:chExt cx="0" cy="0"/>
        </a:xfrm>
      </p:grpSpPr>
      <p:sp>
        <p:nvSpPr>
          <p:cNvPr id="22" name="Google Shape;22;p4"/>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Font typeface="Roboto Thin"/>
              <a:buNone/>
              <a:defRPr sz="6000" b="0">
                <a:latin typeface="Roboto Thin"/>
                <a:ea typeface="Roboto Thin"/>
                <a:cs typeface="Roboto Thin"/>
                <a:sym typeface="Roboto Thin"/>
              </a:defRPr>
            </a:lvl1pPr>
            <a:lvl2pPr lvl="1" algn="ctr" rtl="0">
              <a:spcBef>
                <a:spcPts val="0"/>
              </a:spcBef>
              <a:spcAft>
                <a:spcPts val="0"/>
              </a:spcAft>
              <a:buClr>
                <a:srgbClr val="434343"/>
              </a:buClr>
              <a:buSzPts val="3600"/>
              <a:buNone/>
              <a:defRPr sz="3600">
                <a:solidFill>
                  <a:srgbClr val="434343"/>
                </a:solidFill>
              </a:defRPr>
            </a:lvl2pPr>
            <a:lvl3pPr lvl="2" algn="ctr" rtl="0">
              <a:spcBef>
                <a:spcPts val="0"/>
              </a:spcBef>
              <a:spcAft>
                <a:spcPts val="0"/>
              </a:spcAft>
              <a:buClr>
                <a:srgbClr val="434343"/>
              </a:buClr>
              <a:buSzPts val="3600"/>
              <a:buNone/>
              <a:defRPr sz="3600">
                <a:solidFill>
                  <a:srgbClr val="434343"/>
                </a:solidFill>
              </a:defRPr>
            </a:lvl3pPr>
            <a:lvl4pPr lvl="3" algn="ctr" rtl="0">
              <a:spcBef>
                <a:spcPts val="0"/>
              </a:spcBef>
              <a:spcAft>
                <a:spcPts val="0"/>
              </a:spcAft>
              <a:buClr>
                <a:srgbClr val="434343"/>
              </a:buClr>
              <a:buSzPts val="3600"/>
              <a:buNone/>
              <a:defRPr sz="3600">
                <a:solidFill>
                  <a:srgbClr val="434343"/>
                </a:solidFill>
              </a:defRPr>
            </a:lvl4pPr>
            <a:lvl5pPr lvl="4" algn="ctr" rtl="0">
              <a:spcBef>
                <a:spcPts val="0"/>
              </a:spcBef>
              <a:spcAft>
                <a:spcPts val="0"/>
              </a:spcAft>
              <a:buClr>
                <a:srgbClr val="434343"/>
              </a:buClr>
              <a:buSzPts val="3600"/>
              <a:buNone/>
              <a:defRPr sz="3600">
                <a:solidFill>
                  <a:srgbClr val="434343"/>
                </a:solidFill>
              </a:defRPr>
            </a:lvl5pPr>
            <a:lvl6pPr lvl="5" algn="ctr" rtl="0">
              <a:spcBef>
                <a:spcPts val="0"/>
              </a:spcBef>
              <a:spcAft>
                <a:spcPts val="0"/>
              </a:spcAft>
              <a:buClr>
                <a:srgbClr val="434343"/>
              </a:buClr>
              <a:buSzPts val="3600"/>
              <a:buNone/>
              <a:defRPr sz="3600">
                <a:solidFill>
                  <a:srgbClr val="434343"/>
                </a:solidFill>
              </a:defRPr>
            </a:lvl6pPr>
            <a:lvl7pPr lvl="6" algn="ctr" rtl="0">
              <a:spcBef>
                <a:spcPts val="0"/>
              </a:spcBef>
              <a:spcAft>
                <a:spcPts val="0"/>
              </a:spcAft>
              <a:buClr>
                <a:srgbClr val="434343"/>
              </a:buClr>
              <a:buSzPts val="3600"/>
              <a:buNone/>
              <a:defRPr sz="3600">
                <a:solidFill>
                  <a:srgbClr val="434343"/>
                </a:solidFill>
              </a:defRPr>
            </a:lvl7pPr>
            <a:lvl8pPr lvl="7" algn="ctr" rtl="0">
              <a:spcBef>
                <a:spcPts val="0"/>
              </a:spcBef>
              <a:spcAft>
                <a:spcPts val="0"/>
              </a:spcAft>
              <a:buClr>
                <a:srgbClr val="434343"/>
              </a:buClr>
              <a:buSzPts val="3600"/>
              <a:buNone/>
              <a:defRPr sz="3600">
                <a:solidFill>
                  <a:srgbClr val="434343"/>
                </a:solidFill>
              </a:defRPr>
            </a:lvl8pPr>
            <a:lvl9pPr lvl="8" algn="ctr" rtl="0">
              <a:spcBef>
                <a:spcPts val="0"/>
              </a:spcBef>
              <a:spcAft>
                <a:spcPts val="0"/>
              </a:spcAft>
              <a:buClr>
                <a:srgbClr val="434343"/>
              </a:buClr>
              <a:buSzPts val="3600"/>
              <a:buNone/>
              <a:defRPr sz="3600">
                <a:solidFill>
                  <a:srgbClr val="434343"/>
                </a:solidFill>
              </a:defRPr>
            </a:lvl9pPr>
          </a:lstStyle>
          <a:p>
            <a:endParaRPr/>
          </a:p>
        </p:txBody>
      </p:sp>
      <p:sp>
        <p:nvSpPr>
          <p:cNvPr id="23" name="Google Shape;23;p4"/>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1pPr>
            <a:lvl2pPr lvl="1"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2pPr>
            <a:lvl3pPr lvl="2"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3pPr>
            <a:lvl4pPr lvl="3"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4pPr>
            <a:lvl5pPr lvl="4"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5pPr>
            <a:lvl6pPr lvl="5"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6pPr>
            <a:lvl7pPr lvl="6"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7pPr>
            <a:lvl8pPr lvl="7"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8pPr>
            <a:lvl9pPr lvl="8"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9pPr>
          </a:lstStyle>
          <a:p>
            <a:endParaRPr/>
          </a:p>
        </p:txBody>
      </p:sp>
      <p:sp>
        <p:nvSpPr>
          <p:cNvPr id="24" name="Google Shape;24;p4"/>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000"/>
              <a:buFont typeface="Roboto Light"/>
              <a:buNone/>
              <a:defRPr>
                <a:latin typeface="Roboto Light"/>
                <a:ea typeface="Roboto Light"/>
                <a:cs typeface="Roboto Light"/>
                <a:sym typeface="Roboto Light"/>
              </a:defRPr>
            </a:lvl1pPr>
            <a:lvl2pPr lvl="1"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2pPr>
            <a:lvl3pPr lvl="2"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3pPr>
            <a:lvl4pPr lvl="3"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4pPr>
            <a:lvl5pPr lvl="4"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5pPr>
            <a:lvl6pPr lvl="5"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6pPr>
            <a:lvl7pPr lvl="6"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7pPr>
            <a:lvl8pPr lvl="7"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8pPr>
            <a:lvl9pPr lvl="8"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9pPr>
          </a:lstStyle>
          <a:p>
            <a:endParaRPr/>
          </a:p>
        </p:txBody>
      </p:sp>
      <p:sp>
        <p:nvSpPr>
          <p:cNvPr id="25" name="Google Shape;25;p4"/>
          <p:cNvSpPr txBox="1"/>
          <p:nvPr/>
        </p:nvSpPr>
        <p:spPr>
          <a:xfrm>
            <a:off x="-420624" y="749808"/>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40000">
              <a:solidFill>
                <a:srgbClr val="B7B7B7"/>
              </a:solidFill>
              <a:latin typeface="Roboto"/>
              <a:ea typeface="Roboto"/>
              <a:cs typeface="Roboto"/>
              <a:sym typeface="Robo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efault">
  <p:cSld name="CUSTOM_2_4">
    <p:spTree>
      <p:nvGrpSpPr>
        <p:cNvPr id="1" name="Shape 26"/>
        <p:cNvGrpSpPr/>
        <p:nvPr/>
      </p:nvGrpSpPr>
      <p:grpSpPr>
        <a:xfrm>
          <a:off x="0" y="0"/>
          <a:ext cx="0" cy="0"/>
          <a:chOff x="0" y="0"/>
          <a:chExt cx="0" cy="0"/>
        </a:xfrm>
      </p:grpSpPr>
      <p:sp>
        <p:nvSpPr>
          <p:cNvPr id="27" name="Google Shape;27;p5"/>
          <p:cNvSpPr/>
          <p:nvPr/>
        </p:nvSpPr>
        <p:spPr>
          <a:xfrm>
            <a:off x="0" y="0"/>
            <a:ext cx="9144000" cy="5760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5"/>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29" name="Google Shape;29;p5"/>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30" name="Google Shape;30;p5"/>
          <p:cNvSpPr txBox="1">
            <a:spLocks noGrp="1"/>
          </p:cNvSpPr>
          <p:nvPr>
            <p:ph type="subTitle" idx="1"/>
          </p:nvPr>
        </p:nvSpPr>
        <p:spPr>
          <a:xfrm>
            <a:off x="182880" y="667512"/>
            <a:ext cx="5486400" cy="4023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31" name="Google Shape;31;p5"/>
          <p:cNvSpPr txBox="1">
            <a:spLocks noGrp="1"/>
          </p:cNvSpPr>
          <p:nvPr>
            <p:ph type="body" idx="3"/>
          </p:nvPr>
        </p:nvSpPr>
        <p:spPr>
          <a:xfrm>
            <a:off x="182880" y="1069848"/>
            <a:ext cx="5486400" cy="38952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sz="1000"/>
            </a:lvl1pPr>
            <a:lvl2pPr marL="914400" lvl="1" indent="-292100" rtl="0">
              <a:spcBef>
                <a:spcPts val="800"/>
              </a:spcBef>
              <a:spcAft>
                <a:spcPts val="0"/>
              </a:spcAft>
              <a:buSzPts val="1000"/>
              <a:buChar char="○"/>
              <a:defRPr sz="1000"/>
            </a:lvl2pPr>
            <a:lvl3pPr marL="1371600" lvl="2" indent="-292100" rtl="0">
              <a:spcBef>
                <a:spcPts val="800"/>
              </a:spcBef>
              <a:spcAft>
                <a:spcPts val="0"/>
              </a:spcAft>
              <a:buSzPts val="1000"/>
              <a:buChar char="■"/>
              <a:defRPr sz="1000"/>
            </a:lvl3pPr>
            <a:lvl4pPr marL="1828800" lvl="3" indent="-292100" rtl="0">
              <a:spcBef>
                <a:spcPts val="800"/>
              </a:spcBef>
              <a:spcAft>
                <a:spcPts val="0"/>
              </a:spcAft>
              <a:buSzPts val="1000"/>
              <a:buChar char="●"/>
              <a:defRPr sz="1000"/>
            </a:lvl4pPr>
            <a:lvl5pPr marL="2286000" lvl="4" indent="-292100" rtl="0">
              <a:spcBef>
                <a:spcPts val="800"/>
              </a:spcBef>
              <a:spcAft>
                <a:spcPts val="0"/>
              </a:spcAft>
              <a:buSzPts val="1000"/>
              <a:buChar char="○"/>
              <a:defRPr sz="1000"/>
            </a:lvl5pPr>
            <a:lvl6pPr marL="2743200" lvl="5" indent="-292100" rtl="0">
              <a:spcBef>
                <a:spcPts val="800"/>
              </a:spcBef>
              <a:spcAft>
                <a:spcPts val="0"/>
              </a:spcAft>
              <a:buSzPts val="1000"/>
              <a:buChar char="■"/>
              <a:defRPr sz="1000"/>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sz="1000"/>
            </a:lvl8pPr>
            <a:lvl9pPr marL="4114800" lvl="8" indent="-292100" rtl="0">
              <a:spcBef>
                <a:spcPts val="800"/>
              </a:spcBef>
              <a:spcAft>
                <a:spcPts val="800"/>
              </a:spcAft>
              <a:buSzPts val="1000"/>
              <a:buChar char="■"/>
              <a:defRPr sz="1000"/>
            </a:lvl9pPr>
          </a:lstStyle>
          <a:p>
            <a:endParaRPr/>
          </a:p>
        </p:txBody>
      </p:sp>
      <p:sp>
        <p:nvSpPr>
          <p:cNvPr id="32" name="Google Shape;32;p5"/>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4800">
                <a:solidFill>
                  <a:schemeClr val="lt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LO's">
  <p:cSld name="CUSTOM_2_3_1">
    <p:spTree>
      <p:nvGrpSpPr>
        <p:cNvPr id="1" name="Shape 33"/>
        <p:cNvGrpSpPr/>
        <p:nvPr/>
      </p:nvGrpSpPr>
      <p:grpSpPr>
        <a:xfrm>
          <a:off x="0" y="0"/>
          <a:ext cx="0" cy="0"/>
          <a:chOff x="0" y="0"/>
          <a:chExt cx="0" cy="0"/>
        </a:xfrm>
      </p:grpSpPr>
      <p:sp>
        <p:nvSpPr>
          <p:cNvPr id="34" name="Google Shape;34;p6"/>
          <p:cNvSpPr/>
          <p:nvPr/>
        </p:nvSpPr>
        <p:spPr>
          <a:xfrm>
            <a:off x="0" y="571460"/>
            <a:ext cx="9144000" cy="493800"/>
          </a:xfrm>
          <a:prstGeom prst="rect">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6"/>
          <p:cNvSpPr/>
          <p:nvPr/>
        </p:nvSpPr>
        <p:spPr>
          <a:xfrm>
            <a:off x="0" y="0"/>
            <a:ext cx="9144000" cy="5727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6"/>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37" name="Google Shape;37;p6"/>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38" name="Google Shape;38;p6"/>
          <p:cNvSpPr txBox="1">
            <a:spLocks noGrp="1"/>
          </p:cNvSpPr>
          <p:nvPr>
            <p:ph type="body" idx="1"/>
          </p:nvPr>
        </p:nvSpPr>
        <p:spPr>
          <a:xfrm>
            <a:off x="182880" y="1069848"/>
            <a:ext cx="5486400" cy="38952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sz="1000"/>
            </a:lvl1pPr>
            <a:lvl2pPr marL="914400" lvl="1" indent="-292100" rtl="0">
              <a:spcBef>
                <a:spcPts val="800"/>
              </a:spcBef>
              <a:spcAft>
                <a:spcPts val="0"/>
              </a:spcAft>
              <a:buSzPts val="1000"/>
              <a:buChar char="○"/>
              <a:defRPr sz="1000"/>
            </a:lvl2pPr>
            <a:lvl3pPr marL="1371600" lvl="2" indent="-292100" rtl="0">
              <a:spcBef>
                <a:spcPts val="800"/>
              </a:spcBef>
              <a:spcAft>
                <a:spcPts val="0"/>
              </a:spcAft>
              <a:buSzPts val="1000"/>
              <a:buChar char="■"/>
              <a:defRPr sz="1000"/>
            </a:lvl3pPr>
            <a:lvl4pPr marL="1828800" lvl="3" indent="-292100" rtl="0">
              <a:spcBef>
                <a:spcPts val="800"/>
              </a:spcBef>
              <a:spcAft>
                <a:spcPts val="0"/>
              </a:spcAft>
              <a:buSzPts val="1000"/>
              <a:buChar char="●"/>
              <a:defRPr sz="1000"/>
            </a:lvl4pPr>
            <a:lvl5pPr marL="2286000" lvl="4" indent="-292100" rtl="0">
              <a:spcBef>
                <a:spcPts val="800"/>
              </a:spcBef>
              <a:spcAft>
                <a:spcPts val="0"/>
              </a:spcAft>
              <a:buSzPts val="1000"/>
              <a:buChar char="○"/>
              <a:defRPr sz="1000"/>
            </a:lvl5pPr>
            <a:lvl6pPr marL="2743200" lvl="5" indent="-292100" rtl="0">
              <a:spcBef>
                <a:spcPts val="800"/>
              </a:spcBef>
              <a:spcAft>
                <a:spcPts val="0"/>
              </a:spcAft>
              <a:buSzPts val="1000"/>
              <a:buChar char="■"/>
              <a:defRPr sz="1000"/>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sz="1000"/>
            </a:lvl8pPr>
            <a:lvl9pPr marL="4114800" lvl="8" indent="-292100" rtl="0">
              <a:spcBef>
                <a:spcPts val="800"/>
              </a:spcBef>
              <a:spcAft>
                <a:spcPts val="800"/>
              </a:spcAft>
              <a:buSzPts val="1000"/>
              <a:buChar char="■"/>
              <a:defRPr sz="1000"/>
            </a:lvl9pPr>
          </a:lstStyle>
          <a:p>
            <a:endParaRPr/>
          </a:p>
        </p:txBody>
      </p:sp>
      <p:sp>
        <p:nvSpPr>
          <p:cNvPr id="39" name="Google Shape;39;p6"/>
          <p:cNvSpPr txBox="1">
            <a:spLocks noGrp="1"/>
          </p:cNvSpPr>
          <p:nvPr>
            <p:ph type="title" idx="3"/>
          </p:nvPr>
        </p:nvSpPr>
        <p:spPr>
          <a:xfrm>
            <a:off x="2049462" y="0"/>
            <a:ext cx="4206300" cy="5760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900" i="1"/>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40" name="Google Shape;40;p6"/>
          <p:cNvSpPr txBox="1">
            <a:spLocks noGrp="1"/>
          </p:cNvSpPr>
          <p:nvPr>
            <p:ph type="title" idx="4"/>
          </p:nvPr>
        </p:nvSpPr>
        <p:spPr>
          <a:xfrm>
            <a:off x="68250" y="576000"/>
            <a:ext cx="839700" cy="4938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3600">
                <a:solidFill>
                  <a:srgbClr val="FFFFFF"/>
                </a:solidFill>
              </a:defRPr>
            </a:lvl1pPr>
            <a:lvl2pPr lvl="1" rtl="0">
              <a:spcBef>
                <a:spcPts val="0"/>
              </a:spcBef>
              <a:spcAft>
                <a:spcPts val="0"/>
              </a:spcAft>
              <a:buNone/>
              <a:defRPr>
                <a:solidFill>
                  <a:srgbClr val="FFFFFF"/>
                </a:solidFill>
              </a:defRPr>
            </a:lvl2pPr>
            <a:lvl3pPr lvl="2" rtl="0">
              <a:spcBef>
                <a:spcPts val="0"/>
              </a:spcBef>
              <a:spcAft>
                <a:spcPts val="0"/>
              </a:spcAft>
              <a:buNone/>
              <a:defRPr>
                <a:solidFill>
                  <a:srgbClr val="FFFFFF"/>
                </a:solidFill>
              </a:defRPr>
            </a:lvl3pPr>
            <a:lvl4pPr lvl="3" rtl="0">
              <a:spcBef>
                <a:spcPts val="0"/>
              </a:spcBef>
              <a:spcAft>
                <a:spcPts val="0"/>
              </a:spcAft>
              <a:buNone/>
              <a:defRPr>
                <a:solidFill>
                  <a:srgbClr val="FFFFFF"/>
                </a:solidFill>
              </a:defRPr>
            </a:lvl4pPr>
            <a:lvl5pPr lvl="4" rtl="0">
              <a:spcBef>
                <a:spcPts val="0"/>
              </a:spcBef>
              <a:spcAft>
                <a:spcPts val="0"/>
              </a:spcAft>
              <a:buNone/>
              <a:defRPr>
                <a:solidFill>
                  <a:srgbClr val="FFFFFF"/>
                </a:solidFill>
              </a:defRPr>
            </a:lvl5pPr>
            <a:lvl6pPr lvl="5" rtl="0">
              <a:spcBef>
                <a:spcPts val="0"/>
              </a:spcBef>
              <a:spcAft>
                <a:spcPts val="0"/>
              </a:spcAft>
              <a:buNone/>
              <a:defRPr>
                <a:solidFill>
                  <a:srgbClr val="FFFFFF"/>
                </a:solidFill>
              </a:defRPr>
            </a:lvl6pPr>
            <a:lvl7pPr lvl="6" rtl="0">
              <a:spcBef>
                <a:spcPts val="0"/>
              </a:spcBef>
              <a:spcAft>
                <a:spcPts val="0"/>
              </a:spcAft>
              <a:buNone/>
              <a:defRPr>
                <a:solidFill>
                  <a:srgbClr val="FFFFFF"/>
                </a:solidFill>
              </a:defRPr>
            </a:lvl7pPr>
            <a:lvl8pPr lvl="7" rtl="0">
              <a:spcBef>
                <a:spcPts val="0"/>
              </a:spcBef>
              <a:spcAft>
                <a:spcPts val="0"/>
              </a:spcAft>
              <a:buNone/>
              <a:defRPr>
                <a:solidFill>
                  <a:srgbClr val="FFFFFF"/>
                </a:solidFill>
              </a:defRPr>
            </a:lvl8pPr>
            <a:lvl9pPr lvl="8" rtl="0">
              <a:spcBef>
                <a:spcPts val="0"/>
              </a:spcBef>
              <a:spcAft>
                <a:spcPts val="0"/>
              </a:spcAft>
              <a:buNone/>
              <a:defRPr>
                <a:solidFill>
                  <a:srgbClr val="FFFFFF"/>
                </a:solidFill>
              </a:defRPr>
            </a:lvl9pPr>
          </a:lstStyle>
          <a:p>
            <a:endParaRPr/>
          </a:p>
        </p:txBody>
      </p:sp>
      <p:sp>
        <p:nvSpPr>
          <p:cNvPr id="41" name="Google Shape;41;p6"/>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900" i="1">
                <a:solidFill>
                  <a:srgbClr val="FFFFFF"/>
                </a:solidFill>
              </a:defRPr>
            </a:lvl1pPr>
            <a:lvl2pPr lvl="1" rtl="0">
              <a:spcBef>
                <a:spcPts val="0"/>
              </a:spcBef>
              <a:spcAft>
                <a:spcPts val="0"/>
              </a:spcAft>
              <a:buNone/>
              <a:defRPr>
                <a:solidFill>
                  <a:srgbClr val="FFFFFF"/>
                </a:solidFill>
              </a:defRPr>
            </a:lvl2pPr>
            <a:lvl3pPr lvl="2" rtl="0">
              <a:spcBef>
                <a:spcPts val="0"/>
              </a:spcBef>
              <a:spcAft>
                <a:spcPts val="0"/>
              </a:spcAft>
              <a:buNone/>
              <a:defRPr>
                <a:solidFill>
                  <a:srgbClr val="FFFFFF"/>
                </a:solidFill>
              </a:defRPr>
            </a:lvl3pPr>
            <a:lvl4pPr lvl="3" rtl="0">
              <a:spcBef>
                <a:spcPts val="0"/>
              </a:spcBef>
              <a:spcAft>
                <a:spcPts val="0"/>
              </a:spcAft>
              <a:buNone/>
              <a:defRPr>
                <a:solidFill>
                  <a:srgbClr val="FFFFFF"/>
                </a:solidFill>
              </a:defRPr>
            </a:lvl4pPr>
            <a:lvl5pPr lvl="4" rtl="0">
              <a:spcBef>
                <a:spcPts val="0"/>
              </a:spcBef>
              <a:spcAft>
                <a:spcPts val="0"/>
              </a:spcAft>
              <a:buNone/>
              <a:defRPr>
                <a:solidFill>
                  <a:srgbClr val="FFFFFF"/>
                </a:solidFill>
              </a:defRPr>
            </a:lvl5pPr>
            <a:lvl6pPr lvl="5" rtl="0">
              <a:spcBef>
                <a:spcPts val="0"/>
              </a:spcBef>
              <a:spcAft>
                <a:spcPts val="0"/>
              </a:spcAft>
              <a:buNone/>
              <a:defRPr>
                <a:solidFill>
                  <a:srgbClr val="FFFFFF"/>
                </a:solidFill>
              </a:defRPr>
            </a:lvl6pPr>
            <a:lvl7pPr lvl="6" rtl="0">
              <a:spcBef>
                <a:spcPts val="0"/>
              </a:spcBef>
              <a:spcAft>
                <a:spcPts val="0"/>
              </a:spcAft>
              <a:buNone/>
              <a:defRPr>
                <a:solidFill>
                  <a:srgbClr val="FFFFFF"/>
                </a:solidFill>
              </a:defRPr>
            </a:lvl7pPr>
            <a:lvl8pPr lvl="7" rtl="0">
              <a:spcBef>
                <a:spcPts val="0"/>
              </a:spcBef>
              <a:spcAft>
                <a:spcPts val="0"/>
              </a:spcAft>
              <a:buNone/>
              <a:defRPr>
                <a:solidFill>
                  <a:srgbClr val="FFFFFF"/>
                </a:solidFill>
              </a:defRPr>
            </a:lvl8pPr>
            <a:lvl9pPr lvl="8" rtl="0">
              <a:spcBef>
                <a:spcPts val="0"/>
              </a:spcBef>
              <a:spcAft>
                <a:spcPts val="0"/>
              </a:spcAft>
              <a:buNone/>
              <a:defRPr>
                <a:solidFill>
                  <a:srgbClr val="FFFFFF"/>
                </a:solidFill>
              </a:defRPr>
            </a:lvl9pPr>
          </a:lstStyle>
          <a:p>
            <a:endParaRPr/>
          </a:p>
        </p:txBody>
      </p:sp>
      <p:sp>
        <p:nvSpPr>
          <p:cNvPr id="42" name="Google Shape;42;p6"/>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1200"/>
            </a:lvl1pPr>
            <a:lvl2pPr lvl="1" rtl="0">
              <a:spcBef>
                <a:spcPts val="0"/>
              </a:spcBef>
              <a:spcAft>
                <a:spcPts val="0"/>
              </a:spcAft>
              <a:buNone/>
              <a:defRPr sz="900"/>
            </a:lvl2pPr>
            <a:lvl3pPr lvl="2" rtl="0">
              <a:spcBef>
                <a:spcPts val="0"/>
              </a:spcBef>
              <a:spcAft>
                <a:spcPts val="0"/>
              </a:spcAft>
              <a:buNone/>
              <a:defRPr sz="900"/>
            </a:lvl3pPr>
            <a:lvl4pPr lvl="3" rtl="0">
              <a:spcBef>
                <a:spcPts val="0"/>
              </a:spcBef>
              <a:spcAft>
                <a:spcPts val="0"/>
              </a:spcAft>
              <a:buNone/>
              <a:defRPr sz="900"/>
            </a:lvl4pPr>
            <a:lvl5pPr lvl="4" rtl="0">
              <a:spcBef>
                <a:spcPts val="0"/>
              </a:spcBef>
              <a:spcAft>
                <a:spcPts val="0"/>
              </a:spcAft>
              <a:buNone/>
              <a:defRPr sz="900"/>
            </a:lvl5pPr>
            <a:lvl6pPr lvl="5" rtl="0">
              <a:spcBef>
                <a:spcPts val="0"/>
              </a:spcBef>
              <a:spcAft>
                <a:spcPts val="0"/>
              </a:spcAft>
              <a:buNone/>
              <a:defRPr sz="900"/>
            </a:lvl6pPr>
            <a:lvl7pPr lvl="6" rtl="0">
              <a:spcBef>
                <a:spcPts val="0"/>
              </a:spcBef>
              <a:spcAft>
                <a:spcPts val="0"/>
              </a:spcAft>
              <a:buNone/>
              <a:defRPr sz="900"/>
            </a:lvl7pPr>
            <a:lvl8pPr lvl="7" rtl="0">
              <a:spcBef>
                <a:spcPts val="0"/>
              </a:spcBef>
              <a:spcAft>
                <a:spcPts val="0"/>
              </a:spcAft>
              <a:buNone/>
              <a:defRPr sz="900"/>
            </a:lvl8pPr>
            <a:lvl9pPr lvl="8" rtl="0">
              <a:spcBef>
                <a:spcPts val="0"/>
              </a:spcBef>
              <a:spcAft>
                <a:spcPts val="0"/>
              </a:spcAft>
              <a:buNone/>
              <a:defRPr sz="900"/>
            </a:lvl9pPr>
          </a:lstStyle>
          <a:p>
            <a:endParaRPr/>
          </a:p>
        </p:txBody>
      </p:sp>
      <p:sp>
        <p:nvSpPr>
          <p:cNvPr id="43" name="Google Shape;43;p6"/>
          <p:cNvSpPr txBox="1"/>
          <p:nvPr/>
        </p:nvSpPr>
        <p:spPr>
          <a:xfrm>
            <a:off x="5852160" y="1252728"/>
            <a:ext cx="3108900" cy="1828800"/>
          </a:xfrm>
          <a:prstGeom prst="rect">
            <a:avLst/>
          </a:prstGeom>
          <a:noFill/>
          <a:ln w="9525" cap="flat" cmpd="sng">
            <a:solidFill>
              <a:srgbClr val="CCCCCC"/>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CCCCCC"/>
                </a:solidFill>
                <a:latin typeface="Roboto"/>
                <a:ea typeface="Roboto"/>
                <a:cs typeface="Roboto"/>
                <a:sym typeface="Roboto"/>
              </a:rPr>
              <a:t>Room for Pictures</a:t>
            </a:r>
            <a:endParaRPr sz="1000">
              <a:solidFill>
                <a:srgbClr val="CCCCCC"/>
              </a:solidFill>
              <a:latin typeface="Roboto"/>
              <a:ea typeface="Roboto"/>
              <a:cs typeface="Roboto"/>
              <a:sym typeface="Roboto"/>
            </a:endParaRPr>
          </a:p>
        </p:txBody>
      </p:sp>
      <p:sp>
        <p:nvSpPr>
          <p:cNvPr id="44" name="Google Shape;44;p6"/>
          <p:cNvSpPr txBox="1"/>
          <p:nvPr/>
        </p:nvSpPr>
        <p:spPr>
          <a:xfrm>
            <a:off x="5852160" y="3136253"/>
            <a:ext cx="3108900" cy="1828800"/>
          </a:xfrm>
          <a:prstGeom prst="rect">
            <a:avLst/>
          </a:prstGeom>
          <a:noFill/>
          <a:ln w="9525" cap="flat" cmpd="sng">
            <a:solidFill>
              <a:srgbClr val="CCCCCC"/>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CCCCCC"/>
                </a:solidFill>
                <a:latin typeface="Roboto"/>
                <a:ea typeface="Roboto"/>
                <a:cs typeface="Roboto"/>
                <a:sym typeface="Roboto"/>
              </a:rPr>
              <a:t>Room for Pictures</a:t>
            </a:r>
            <a:endParaRPr sz="1000">
              <a:solidFill>
                <a:srgbClr val="CCCCCC"/>
              </a:solidFill>
              <a:latin typeface="Roboto"/>
              <a:ea typeface="Roboto"/>
              <a:cs typeface="Roboto"/>
              <a:sym typeface="Roboto"/>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Weeks">
  <p:cSld name="CUSTOM_2_2">
    <p:spTree>
      <p:nvGrpSpPr>
        <p:cNvPr id="1" name="Shape 45"/>
        <p:cNvGrpSpPr/>
        <p:nvPr/>
      </p:nvGrpSpPr>
      <p:grpSpPr>
        <a:xfrm>
          <a:off x="0" y="0"/>
          <a:ext cx="0" cy="0"/>
          <a:chOff x="0" y="0"/>
          <a:chExt cx="0" cy="0"/>
        </a:xfrm>
      </p:grpSpPr>
      <p:sp>
        <p:nvSpPr>
          <p:cNvPr id="46" name="Google Shape;46;p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47" name="Google Shape;47;p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48" name="Google Shape;48;p7"/>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49" name="Google Shape;49;p7"/>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50" name="Google Shape;50;p7"/>
          <p:cNvSpPr/>
          <p:nvPr/>
        </p:nvSpPr>
        <p:spPr>
          <a:xfrm>
            <a:off x="0" y="0"/>
            <a:ext cx="9144000" cy="5760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52" name="Google Shape;52;p7"/>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4800">
                <a:solidFill>
                  <a:schemeClr val="lt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53" name="Google Shape;53;p7"/>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Feedback Slides">
  <p:cSld name="CUSTOM_2_2_1">
    <p:bg>
      <p:bgPr>
        <a:solidFill>
          <a:srgbClr val="134F5C"/>
        </a:solidFill>
        <a:effectLst/>
      </p:bgPr>
    </p:bg>
    <p:spTree>
      <p:nvGrpSpPr>
        <p:cNvPr id="1" name="Shape 65"/>
        <p:cNvGrpSpPr/>
        <p:nvPr/>
      </p:nvGrpSpPr>
      <p:grpSpPr>
        <a:xfrm>
          <a:off x="0" y="0"/>
          <a:ext cx="0" cy="0"/>
          <a:chOff x="0" y="0"/>
          <a:chExt cx="0" cy="0"/>
        </a:xfrm>
      </p:grpSpPr>
      <p:sp>
        <p:nvSpPr>
          <p:cNvPr id="66" name="Google Shape;66;p9"/>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67" name="Google Shape;67;p9"/>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68" name="Google Shape;68;p9"/>
          <p:cNvSpPr/>
          <p:nvPr/>
        </p:nvSpPr>
        <p:spPr>
          <a:xfrm>
            <a:off x="0" y="0"/>
            <a:ext cx="9144000" cy="5760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9"/>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70" name="Google Shape;70;p9"/>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4800">
                <a:solidFill>
                  <a:schemeClr val="lt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71" name="Google Shape;71;p9"/>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3"/>
        <p:cNvGrpSpPr/>
        <p:nvPr/>
      </p:nvGrpSpPr>
      <p:grpSpPr>
        <a:xfrm>
          <a:off x="0" y="0"/>
          <a:ext cx="0" cy="0"/>
          <a:chOff x="0" y="0"/>
          <a:chExt cx="0" cy="0"/>
        </a:xfrm>
      </p:grpSpPr>
      <p:sp>
        <p:nvSpPr>
          <p:cNvPr id="84" name="Google Shape;84;p11"/>
          <p:cNvSpPr/>
          <p:nvPr/>
        </p:nvSpPr>
        <p:spPr>
          <a:xfrm>
            <a:off x="3108960" y="-1200"/>
            <a:ext cx="6035100" cy="5143500"/>
          </a:xfrm>
          <a:prstGeom prst="rect">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85" name="Google Shape;85;p11"/>
          <p:cNvSpPr txBox="1">
            <a:spLocks noGrp="1"/>
          </p:cNvSpPr>
          <p:nvPr>
            <p:ph type="title"/>
          </p:nvPr>
        </p:nvSpPr>
        <p:spPr>
          <a:xfrm>
            <a:off x="265500" y="308799"/>
            <a:ext cx="4045200" cy="1551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spcBef>
                <a:spcPts val="0"/>
              </a:spcBef>
              <a:spcAft>
                <a:spcPts val="0"/>
              </a:spcAft>
              <a:buSzPts val="3800"/>
              <a:buNone/>
              <a:defRPr sz="3800"/>
            </a:lvl2pPr>
            <a:lvl3pPr lvl="2" algn="ctr" rtl="0">
              <a:spcBef>
                <a:spcPts val="0"/>
              </a:spcBef>
              <a:spcAft>
                <a:spcPts val="0"/>
              </a:spcAft>
              <a:buSzPts val="3800"/>
              <a:buNone/>
              <a:defRPr sz="3800"/>
            </a:lvl3pPr>
            <a:lvl4pPr lvl="3" algn="ctr" rtl="0">
              <a:spcBef>
                <a:spcPts val="0"/>
              </a:spcBef>
              <a:spcAft>
                <a:spcPts val="0"/>
              </a:spcAft>
              <a:buSzPts val="3800"/>
              <a:buNone/>
              <a:defRPr sz="3800"/>
            </a:lvl4pPr>
            <a:lvl5pPr lvl="4" algn="ctr" rtl="0">
              <a:spcBef>
                <a:spcPts val="0"/>
              </a:spcBef>
              <a:spcAft>
                <a:spcPts val="0"/>
              </a:spcAft>
              <a:buSzPts val="3800"/>
              <a:buNone/>
              <a:defRPr sz="3800"/>
            </a:lvl5pPr>
            <a:lvl6pPr lvl="5" algn="ctr" rtl="0">
              <a:spcBef>
                <a:spcPts val="0"/>
              </a:spcBef>
              <a:spcAft>
                <a:spcPts val="0"/>
              </a:spcAft>
              <a:buSzPts val="3800"/>
              <a:buNone/>
              <a:defRPr sz="3800"/>
            </a:lvl6pPr>
            <a:lvl7pPr lvl="6" algn="ctr" rtl="0">
              <a:spcBef>
                <a:spcPts val="0"/>
              </a:spcBef>
              <a:spcAft>
                <a:spcPts val="0"/>
              </a:spcAft>
              <a:buSzPts val="3800"/>
              <a:buNone/>
              <a:defRPr sz="3800"/>
            </a:lvl7pPr>
            <a:lvl8pPr lvl="7" algn="ctr" rtl="0">
              <a:spcBef>
                <a:spcPts val="0"/>
              </a:spcBef>
              <a:spcAft>
                <a:spcPts val="0"/>
              </a:spcAft>
              <a:buSzPts val="3800"/>
              <a:buNone/>
              <a:defRPr sz="3800"/>
            </a:lvl8pPr>
            <a:lvl9pPr lvl="8" algn="ctr" rtl="0">
              <a:spcBef>
                <a:spcPts val="0"/>
              </a:spcBef>
              <a:spcAft>
                <a:spcPts val="0"/>
              </a:spcAft>
              <a:buSzPts val="3800"/>
              <a:buNone/>
              <a:defRPr sz="3800"/>
            </a:lvl9pPr>
          </a:lstStyle>
          <a:p>
            <a:endParaRPr/>
          </a:p>
        </p:txBody>
      </p:sp>
      <p:sp>
        <p:nvSpPr>
          <p:cNvPr id="86" name="Google Shape;86;p11"/>
          <p:cNvSpPr txBox="1">
            <a:spLocks noGrp="1"/>
          </p:cNvSpPr>
          <p:nvPr>
            <p:ph type="subTitle" idx="1"/>
          </p:nvPr>
        </p:nvSpPr>
        <p:spPr>
          <a:xfrm>
            <a:off x="265500" y="1860700"/>
            <a:ext cx="4045200" cy="3012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000"/>
              <a:buN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87" name="Google Shape;87;p11"/>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292100" rtl="0">
              <a:spcBef>
                <a:spcPts val="0"/>
              </a:spcBef>
              <a:spcAft>
                <a:spcPts val="0"/>
              </a:spcAft>
              <a:buClr>
                <a:schemeClr val="lt1"/>
              </a:buClr>
              <a:buSzPts val="1000"/>
              <a:buChar char="●"/>
              <a:defRPr>
                <a:solidFill>
                  <a:schemeClr val="lt1"/>
                </a:solidFill>
              </a:defRPr>
            </a:lvl1pPr>
            <a:lvl2pPr marL="914400" lvl="1" indent="-292100" rtl="0">
              <a:spcBef>
                <a:spcPts val="800"/>
              </a:spcBef>
              <a:spcAft>
                <a:spcPts val="0"/>
              </a:spcAft>
              <a:buClr>
                <a:schemeClr val="lt1"/>
              </a:buClr>
              <a:buSzPts val="1000"/>
              <a:buChar char="○"/>
              <a:defRPr>
                <a:solidFill>
                  <a:schemeClr val="lt1"/>
                </a:solidFill>
              </a:defRPr>
            </a:lvl2pPr>
            <a:lvl3pPr marL="1371600" lvl="2" indent="-292100" rtl="0">
              <a:spcBef>
                <a:spcPts val="800"/>
              </a:spcBef>
              <a:spcAft>
                <a:spcPts val="0"/>
              </a:spcAft>
              <a:buClr>
                <a:schemeClr val="lt1"/>
              </a:buClr>
              <a:buSzPts val="1000"/>
              <a:buChar char="■"/>
              <a:defRPr>
                <a:solidFill>
                  <a:schemeClr val="lt1"/>
                </a:solidFill>
              </a:defRPr>
            </a:lvl3pPr>
            <a:lvl4pPr marL="1828800" lvl="3" indent="-292100" rtl="0">
              <a:spcBef>
                <a:spcPts val="800"/>
              </a:spcBef>
              <a:spcAft>
                <a:spcPts val="0"/>
              </a:spcAft>
              <a:buClr>
                <a:schemeClr val="lt1"/>
              </a:buClr>
              <a:buSzPts val="1000"/>
              <a:buChar char="●"/>
              <a:defRPr>
                <a:solidFill>
                  <a:schemeClr val="lt1"/>
                </a:solidFill>
              </a:defRPr>
            </a:lvl4pPr>
            <a:lvl5pPr marL="2286000" lvl="4" indent="-292100" rtl="0">
              <a:spcBef>
                <a:spcPts val="800"/>
              </a:spcBef>
              <a:spcAft>
                <a:spcPts val="0"/>
              </a:spcAft>
              <a:buClr>
                <a:schemeClr val="lt1"/>
              </a:buClr>
              <a:buSzPts val="1000"/>
              <a:buChar char="○"/>
              <a:defRPr>
                <a:solidFill>
                  <a:schemeClr val="lt1"/>
                </a:solidFill>
              </a:defRPr>
            </a:lvl5pPr>
            <a:lvl6pPr marL="2743200" lvl="5" indent="-292100" rtl="0">
              <a:spcBef>
                <a:spcPts val="800"/>
              </a:spcBef>
              <a:spcAft>
                <a:spcPts val="0"/>
              </a:spcAft>
              <a:buClr>
                <a:schemeClr val="lt1"/>
              </a:buClr>
              <a:buSzPts val="1000"/>
              <a:buChar char="■"/>
              <a:defRPr>
                <a:solidFill>
                  <a:schemeClr val="lt1"/>
                </a:solidFill>
              </a:defRPr>
            </a:lvl6pPr>
            <a:lvl7pPr marL="3200400" lvl="6" indent="-292100" rtl="0">
              <a:spcBef>
                <a:spcPts val="800"/>
              </a:spcBef>
              <a:spcAft>
                <a:spcPts val="0"/>
              </a:spcAft>
              <a:buClr>
                <a:schemeClr val="lt1"/>
              </a:buClr>
              <a:buSzPts val="1000"/>
              <a:buChar char="●"/>
              <a:defRPr>
                <a:solidFill>
                  <a:schemeClr val="lt1"/>
                </a:solidFill>
              </a:defRPr>
            </a:lvl7pPr>
            <a:lvl8pPr marL="3657600" lvl="7" indent="-292100" rtl="0">
              <a:spcBef>
                <a:spcPts val="800"/>
              </a:spcBef>
              <a:spcAft>
                <a:spcPts val="0"/>
              </a:spcAft>
              <a:buClr>
                <a:schemeClr val="lt1"/>
              </a:buClr>
              <a:buSzPts val="1000"/>
              <a:buChar char="○"/>
              <a:defRPr>
                <a:solidFill>
                  <a:schemeClr val="lt1"/>
                </a:solidFill>
              </a:defRPr>
            </a:lvl8pPr>
            <a:lvl9pPr marL="4114800" lvl="8" indent="-292100" rtl="0">
              <a:spcBef>
                <a:spcPts val="800"/>
              </a:spcBef>
              <a:spcAft>
                <a:spcPts val="800"/>
              </a:spcAft>
              <a:buClr>
                <a:schemeClr val="lt1"/>
              </a:buClr>
              <a:buSzPts val="1000"/>
              <a:buChar char="■"/>
              <a:defRPr>
                <a:solidFill>
                  <a:schemeClr val="lt1"/>
                </a:solidFill>
              </a:defRPr>
            </a:lvl9pPr>
          </a:lstStyle>
          <a:p>
            <a:endParaRPr/>
          </a:p>
        </p:txBody>
      </p:sp>
      <p:sp>
        <p:nvSpPr>
          <p:cNvPr id="88" name="Google Shape;88;p11"/>
          <p:cNvSpPr txBox="1">
            <a:spLocks noGrp="1"/>
          </p:cNvSpPr>
          <p:nvPr>
            <p:ph type="sldNum" idx="12"/>
          </p:nvPr>
        </p:nvSpPr>
        <p:spPr>
          <a:xfrm>
            <a:off x="90450" y="4873575"/>
            <a:ext cx="548700" cy="2697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ameday">
    <p:bg>
      <p:bgPr>
        <a:solidFill>
          <a:srgbClr val="666666"/>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64025"/>
            <a:ext cx="8520600" cy="5727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rgbClr val="FFFFFF"/>
              </a:buClr>
              <a:buSzPts val="2000"/>
              <a:buFont typeface="Roboto Light"/>
              <a:buNone/>
              <a:defRPr sz="2000">
                <a:solidFill>
                  <a:srgbClr val="FFFFFF"/>
                </a:solidFill>
                <a:latin typeface="Roboto Light"/>
                <a:ea typeface="Roboto Light"/>
                <a:cs typeface="Roboto Light"/>
                <a:sym typeface="Roboto Light"/>
              </a:defRPr>
            </a:lvl1pPr>
            <a:lvl2pPr lvl="1">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2pPr>
            <a:lvl3pPr lvl="2">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3pPr>
            <a:lvl4pPr lvl="3">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4pPr>
            <a:lvl5pPr lvl="4">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5pPr>
            <a:lvl6pPr lvl="5">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6pPr>
            <a:lvl7pPr lvl="6">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7pPr>
            <a:lvl8pPr lvl="7">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8pPr>
            <a:lvl9pPr lvl="8">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9pPr>
          </a:lstStyle>
          <a:p>
            <a:endParaRPr/>
          </a:p>
        </p:txBody>
      </p:sp>
      <p:sp>
        <p:nvSpPr>
          <p:cNvPr id="7" name="Google Shape;7;p1"/>
          <p:cNvSpPr txBox="1">
            <a:spLocks noGrp="1"/>
          </p:cNvSpPr>
          <p:nvPr>
            <p:ph type="body" idx="1"/>
          </p:nvPr>
        </p:nvSpPr>
        <p:spPr>
          <a:xfrm>
            <a:off x="311700" y="636725"/>
            <a:ext cx="8520600" cy="3932100"/>
          </a:xfrm>
          <a:prstGeom prst="rect">
            <a:avLst/>
          </a:prstGeom>
          <a:noFill/>
          <a:ln>
            <a:noFill/>
          </a:ln>
        </p:spPr>
        <p:txBody>
          <a:bodyPr spcFirstLastPara="1" wrap="square" lIns="91425" tIns="91425" rIns="91425" bIns="91425" anchor="t" anchorCtr="0">
            <a:noAutofit/>
          </a:bodyPr>
          <a:lstStyle>
            <a:lvl1pPr marL="457200" lvl="0" indent="-292100">
              <a:lnSpc>
                <a:spcPct val="104000"/>
              </a:lnSpc>
              <a:spcBef>
                <a:spcPts val="0"/>
              </a:spcBef>
              <a:spcAft>
                <a:spcPts val="0"/>
              </a:spcAft>
              <a:buClr>
                <a:srgbClr val="FFFFFF"/>
              </a:buClr>
              <a:buSzPts val="1000"/>
              <a:buFont typeface="Roboto"/>
              <a:buChar char="●"/>
              <a:defRPr sz="1000">
                <a:solidFill>
                  <a:srgbClr val="FFFFFF"/>
                </a:solidFill>
                <a:latin typeface="Roboto"/>
                <a:ea typeface="Roboto"/>
                <a:cs typeface="Roboto"/>
                <a:sym typeface="Roboto"/>
              </a:defRPr>
            </a:lvl1pPr>
            <a:lvl2pPr marL="914400" lvl="1" indent="-292100">
              <a:lnSpc>
                <a:spcPct val="104000"/>
              </a:lnSpc>
              <a:spcBef>
                <a:spcPts val="800"/>
              </a:spcBef>
              <a:spcAft>
                <a:spcPts val="0"/>
              </a:spcAft>
              <a:buClr>
                <a:srgbClr val="FFFFFF"/>
              </a:buClr>
              <a:buSzPts val="1000"/>
              <a:buFont typeface="Roboto"/>
              <a:buChar char="○"/>
              <a:defRPr sz="1000" i="1">
                <a:solidFill>
                  <a:srgbClr val="FFFFFF"/>
                </a:solidFill>
                <a:latin typeface="Roboto"/>
                <a:ea typeface="Roboto"/>
                <a:cs typeface="Roboto"/>
                <a:sym typeface="Roboto"/>
              </a:defRPr>
            </a:lvl2pPr>
            <a:lvl3pPr marL="1371600" lvl="2" indent="-292100">
              <a:lnSpc>
                <a:spcPct val="104000"/>
              </a:lnSpc>
              <a:spcBef>
                <a:spcPts val="800"/>
              </a:spcBef>
              <a:spcAft>
                <a:spcPts val="0"/>
              </a:spcAft>
              <a:buClr>
                <a:srgbClr val="FFFFFF"/>
              </a:buClr>
              <a:buSzPts val="1000"/>
              <a:buFont typeface="Roboto"/>
              <a:buChar char="■"/>
              <a:defRPr sz="1000" u="sng">
                <a:solidFill>
                  <a:srgbClr val="FFFFFF"/>
                </a:solidFill>
                <a:latin typeface="Roboto"/>
                <a:ea typeface="Roboto"/>
                <a:cs typeface="Roboto"/>
                <a:sym typeface="Roboto"/>
              </a:defRPr>
            </a:lvl3pPr>
            <a:lvl4pPr marL="1828800" lvl="3" indent="-292100">
              <a:lnSpc>
                <a:spcPct val="104000"/>
              </a:lnSpc>
              <a:spcBef>
                <a:spcPts val="800"/>
              </a:spcBef>
              <a:spcAft>
                <a:spcPts val="0"/>
              </a:spcAft>
              <a:buClr>
                <a:srgbClr val="FFFFFF"/>
              </a:buClr>
              <a:buSzPts val="1000"/>
              <a:buFont typeface="Roboto"/>
              <a:buChar char="●"/>
              <a:defRPr sz="1000">
                <a:solidFill>
                  <a:srgbClr val="FFFFFF"/>
                </a:solidFill>
                <a:latin typeface="Roboto"/>
                <a:ea typeface="Roboto"/>
                <a:cs typeface="Roboto"/>
                <a:sym typeface="Roboto"/>
              </a:defRPr>
            </a:lvl4pPr>
            <a:lvl5pPr marL="2286000" lvl="4" indent="-292100">
              <a:lnSpc>
                <a:spcPct val="104000"/>
              </a:lnSpc>
              <a:spcBef>
                <a:spcPts val="800"/>
              </a:spcBef>
              <a:spcAft>
                <a:spcPts val="0"/>
              </a:spcAft>
              <a:buClr>
                <a:srgbClr val="FFFFFF"/>
              </a:buClr>
              <a:buSzPts val="1000"/>
              <a:buFont typeface="Roboto"/>
              <a:buChar char="○"/>
              <a:defRPr sz="1000" i="1">
                <a:solidFill>
                  <a:srgbClr val="FFFFFF"/>
                </a:solidFill>
                <a:latin typeface="Roboto"/>
                <a:ea typeface="Roboto"/>
                <a:cs typeface="Roboto"/>
                <a:sym typeface="Roboto"/>
              </a:defRPr>
            </a:lvl5pPr>
            <a:lvl6pPr marL="2743200" lvl="5" indent="-292100">
              <a:lnSpc>
                <a:spcPct val="104000"/>
              </a:lnSpc>
              <a:spcBef>
                <a:spcPts val="800"/>
              </a:spcBef>
              <a:spcAft>
                <a:spcPts val="0"/>
              </a:spcAft>
              <a:buClr>
                <a:srgbClr val="FFFFFF"/>
              </a:buClr>
              <a:buSzPts val="1000"/>
              <a:buFont typeface="Roboto"/>
              <a:buChar char="■"/>
              <a:defRPr sz="1000" u="sng">
                <a:solidFill>
                  <a:srgbClr val="FFFFFF"/>
                </a:solidFill>
                <a:latin typeface="Roboto"/>
                <a:ea typeface="Roboto"/>
                <a:cs typeface="Roboto"/>
                <a:sym typeface="Roboto"/>
              </a:defRPr>
            </a:lvl6pPr>
            <a:lvl7pPr marL="3200400" lvl="6" indent="-292100">
              <a:lnSpc>
                <a:spcPct val="104000"/>
              </a:lnSpc>
              <a:spcBef>
                <a:spcPts val="800"/>
              </a:spcBef>
              <a:spcAft>
                <a:spcPts val="0"/>
              </a:spcAft>
              <a:buClr>
                <a:srgbClr val="FFFFFF"/>
              </a:buClr>
              <a:buSzPts val="1000"/>
              <a:buFont typeface="Roboto"/>
              <a:buChar char="●"/>
              <a:defRPr sz="1000">
                <a:solidFill>
                  <a:srgbClr val="FFFFFF"/>
                </a:solidFill>
                <a:latin typeface="Roboto"/>
                <a:ea typeface="Roboto"/>
                <a:cs typeface="Roboto"/>
                <a:sym typeface="Roboto"/>
              </a:defRPr>
            </a:lvl7pPr>
            <a:lvl8pPr marL="3657600" lvl="7" indent="-292100">
              <a:lnSpc>
                <a:spcPct val="104000"/>
              </a:lnSpc>
              <a:spcBef>
                <a:spcPts val="800"/>
              </a:spcBef>
              <a:spcAft>
                <a:spcPts val="0"/>
              </a:spcAft>
              <a:buClr>
                <a:srgbClr val="FFFFFF"/>
              </a:buClr>
              <a:buSzPts val="1000"/>
              <a:buFont typeface="Roboto"/>
              <a:buChar char="○"/>
              <a:defRPr sz="1000" i="1">
                <a:solidFill>
                  <a:srgbClr val="FFFFFF"/>
                </a:solidFill>
                <a:latin typeface="Roboto"/>
                <a:ea typeface="Roboto"/>
                <a:cs typeface="Roboto"/>
                <a:sym typeface="Roboto"/>
              </a:defRPr>
            </a:lvl8pPr>
            <a:lvl9pPr marL="4114800" lvl="8" indent="-292100">
              <a:lnSpc>
                <a:spcPct val="104000"/>
              </a:lnSpc>
              <a:spcBef>
                <a:spcPts val="800"/>
              </a:spcBef>
              <a:spcAft>
                <a:spcPts val="800"/>
              </a:spcAft>
              <a:buClr>
                <a:srgbClr val="FFFFFF"/>
              </a:buClr>
              <a:buSzPts val="1000"/>
              <a:buFont typeface="Roboto"/>
              <a:buChar char="■"/>
              <a:defRPr sz="1000" u="sng">
                <a:solidFill>
                  <a:srgbClr val="FFFFFF"/>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90450" y="4873575"/>
            <a:ext cx="548700" cy="2697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latin typeface="Proxima Nova"/>
                <a:ea typeface="Proxima Nova"/>
                <a:cs typeface="Proxima Nova"/>
                <a:sym typeface="Proxima Nova"/>
              </a:defRPr>
            </a:lvl1pPr>
            <a:lvl2pPr lvl="1" algn="r">
              <a:buNone/>
              <a:defRPr sz="1000">
                <a:solidFill>
                  <a:schemeClr val="dk2"/>
                </a:solidFill>
                <a:latin typeface="Proxima Nova"/>
                <a:ea typeface="Proxima Nova"/>
                <a:cs typeface="Proxima Nova"/>
                <a:sym typeface="Proxima Nova"/>
              </a:defRPr>
            </a:lvl2pPr>
            <a:lvl3pPr lvl="2" algn="r">
              <a:buNone/>
              <a:defRPr sz="1000">
                <a:solidFill>
                  <a:schemeClr val="dk2"/>
                </a:solidFill>
                <a:latin typeface="Proxima Nova"/>
                <a:ea typeface="Proxima Nova"/>
                <a:cs typeface="Proxima Nova"/>
                <a:sym typeface="Proxima Nova"/>
              </a:defRPr>
            </a:lvl3pPr>
            <a:lvl4pPr lvl="3" algn="r">
              <a:buNone/>
              <a:defRPr sz="1000">
                <a:solidFill>
                  <a:schemeClr val="dk2"/>
                </a:solidFill>
                <a:latin typeface="Proxima Nova"/>
                <a:ea typeface="Proxima Nova"/>
                <a:cs typeface="Proxima Nova"/>
                <a:sym typeface="Proxima Nova"/>
              </a:defRPr>
            </a:lvl4pPr>
            <a:lvl5pPr lvl="4" algn="r">
              <a:buNone/>
              <a:defRPr sz="1000">
                <a:solidFill>
                  <a:schemeClr val="dk2"/>
                </a:solidFill>
                <a:latin typeface="Proxima Nova"/>
                <a:ea typeface="Proxima Nova"/>
                <a:cs typeface="Proxima Nova"/>
                <a:sym typeface="Proxima Nova"/>
              </a:defRPr>
            </a:lvl5pPr>
            <a:lvl6pPr lvl="5" algn="r">
              <a:buNone/>
              <a:defRPr sz="1000">
                <a:solidFill>
                  <a:schemeClr val="dk2"/>
                </a:solidFill>
                <a:latin typeface="Proxima Nova"/>
                <a:ea typeface="Proxima Nova"/>
                <a:cs typeface="Proxima Nova"/>
                <a:sym typeface="Proxima Nova"/>
              </a:defRPr>
            </a:lvl6pPr>
            <a:lvl7pPr lvl="6" algn="r">
              <a:buNone/>
              <a:defRPr sz="1000">
                <a:solidFill>
                  <a:schemeClr val="dk2"/>
                </a:solidFill>
                <a:latin typeface="Proxima Nova"/>
                <a:ea typeface="Proxima Nova"/>
                <a:cs typeface="Proxima Nova"/>
                <a:sym typeface="Proxima Nova"/>
              </a:defRPr>
            </a:lvl7pPr>
            <a:lvl8pPr lvl="7" algn="r">
              <a:buNone/>
              <a:defRPr sz="1000">
                <a:solidFill>
                  <a:schemeClr val="dk2"/>
                </a:solidFill>
                <a:latin typeface="Proxima Nova"/>
                <a:ea typeface="Proxima Nova"/>
                <a:cs typeface="Proxima Nova"/>
                <a:sym typeface="Proxima Nova"/>
              </a:defRPr>
            </a:lvl8pPr>
            <a:lvl9pPr lvl="8" algn="r">
              <a:buNone/>
              <a:defRPr sz="1000">
                <a:solidFill>
                  <a:schemeClr val="dk2"/>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5" r:id="rId7"/>
    <p:sldLayoutId id="2147483657"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6CADD77-9632-5219-D3F3-7C407344BAFA}"/>
              </a:ext>
            </a:extLst>
          </p:cNvPr>
          <p:cNvSpPr/>
          <p:nvPr/>
        </p:nvSpPr>
        <p:spPr>
          <a:xfrm>
            <a:off x="1866900" y="4425950"/>
            <a:ext cx="3625850" cy="2921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Google Shape;93;p12">
            <a:extLst>
              <a:ext uri="{FF2B5EF4-FFF2-40B4-BE49-F238E27FC236}">
                <a16:creationId xmlns:a16="http://schemas.microsoft.com/office/drawing/2014/main" id="{195C2A37-13A1-EB47-4FA0-6B54B87CD731}"/>
              </a:ext>
            </a:extLst>
          </p:cNvPr>
          <p:cNvSpPr txBox="1">
            <a:spLocks noGrp="1"/>
          </p:cNvSpPr>
          <p:nvPr>
            <p:ph type="ctrTitle"/>
          </p:nvPr>
        </p:nvSpPr>
        <p:spPr>
          <a:xfrm>
            <a:off x="3200399" y="542300"/>
            <a:ext cx="4937700" cy="3264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dirty="0" err="1" smtClean="0">
                <a:solidFill>
                  <a:srgbClr val="FFFFFF"/>
                </a:solidFill>
                <a:latin typeface="Roboto"/>
                <a:ea typeface="Roboto"/>
                <a:cs typeface="Roboto"/>
                <a:sym typeface="Roboto"/>
              </a:rPr>
              <a:t>Vladislav</a:t>
            </a:r>
            <a:r>
              <a:rPr lang="en-GB" dirty="0" smtClean="0">
                <a:solidFill>
                  <a:srgbClr val="FFFFFF"/>
                </a:solidFill>
                <a:latin typeface="Roboto"/>
                <a:ea typeface="Roboto"/>
                <a:cs typeface="Roboto"/>
                <a:sym typeface="Roboto"/>
              </a:rPr>
              <a:t> Stoimenov</a:t>
            </a:r>
            <a:endParaRPr dirty="0">
              <a:solidFill>
                <a:srgbClr val="FFFFFF"/>
              </a:solidFill>
              <a:latin typeface="Roboto"/>
              <a:ea typeface="Roboto"/>
              <a:cs typeface="Roboto"/>
              <a:sym typeface="Roboto"/>
            </a:endParaRPr>
          </a:p>
          <a:p>
            <a:pPr marL="0" lvl="0" indent="0" algn="l" rtl="0">
              <a:spcBef>
                <a:spcPts val="0"/>
              </a:spcBef>
              <a:spcAft>
                <a:spcPts val="0"/>
              </a:spcAft>
              <a:buNone/>
            </a:pPr>
            <a:r>
              <a:rPr lang="en-GB" dirty="0" smtClean="0">
                <a:solidFill>
                  <a:srgbClr val="FFFFFF"/>
                </a:solidFill>
                <a:latin typeface="Roboto"/>
                <a:ea typeface="Roboto"/>
                <a:cs typeface="Roboto"/>
                <a:sym typeface="Roboto"/>
              </a:rPr>
              <a:t>235030</a:t>
            </a:r>
            <a:endParaRPr dirty="0">
              <a:solidFill>
                <a:srgbClr val="FFFFFF"/>
              </a:solidFill>
              <a:latin typeface="Roboto"/>
              <a:ea typeface="Roboto"/>
              <a:cs typeface="Roboto"/>
              <a:sym typeface="Roboto"/>
            </a:endParaRPr>
          </a:p>
          <a:p>
            <a:pPr marL="0" lvl="0" indent="0" algn="l" rtl="0">
              <a:spcBef>
                <a:spcPts val="0"/>
              </a:spcBef>
              <a:spcAft>
                <a:spcPts val="0"/>
              </a:spcAft>
              <a:buNone/>
            </a:pPr>
            <a:r>
              <a:rPr lang="en" dirty="0">
                <a:latin typeface="Roboto"/>
                <a:ea typeface="Roboto"/>
                <a:cs typeface="Roboto"/>
                <a:sym typeface="Roboto"/>
              </a:rPr>
              <a:t>Gradation Project</a:t>
            </a:r>
            <a:endParaRPr dirty="0">
              <a:solidFill>
                <a:srgbClr val="FFFFFF"/>
              </a:solidFill>
              <a:latin typeface="Roboto"/>
              <a:ea typeface="Roboto"/>
              <a:cs typeface="Roboto"/>
              <a:sym typeface="Roboto"/>
            </a:endParaRPr>
          </a:p>
        </p:txBody>
      </p:sp>
      <p:sp>
        <p:nvSpPr>
          <p:cNvPr id="6" name="Google Shape;94;p12" descr="Face" title="Face">
            <a:extLst>
              <a:ext uri="{FF2B5EF4-FFF2-40B4-BE49-F238E27FC236}">
                <a16:creationId xmlns:a16="http://schemas.microsoft.com/office/drawing/2014/main" id="{79517FC7-BDCA-09DE-9C15-375A87F020F6}"/>
              </a:ext>
            </a:extLst>
          </p:cNvPr>
          <p:cNvSpPr/>
          <p:nvPr/>
        </p:nvSpPr>
        <p:spPr>
          <a:xfrm>
            <a:off x="3749050" y="640075"/>
            <a:ext cx="1371600" cy="1371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[photo]</a:t>
            </a:r>
            <a:endParaRPr/>
          </a:p>
        </p:txBody>
      </p:sp>
      <p:sp>
        <p:nvSpPr>
          <p:cNvPr id="7" name="Google Shape;95;p12">
            <a:extLst>
              <a:ext uri="{FF2B5EF4-FFF2-40B4-BE49-F238E27FC236}">
                <a16:creationId xmlns:a16="http://schemas.microsoft.com/office/drawing/2014/main" id="{AD15C803-AE4E-6F80-8AA4-F0E44F2E66D0}"/>
              </a:ext>
            </a:extLst>
          </p:cNvPr>
          <p:cNvSpPr txBox="1">
            <a:spLocks noGrp="1"/>
          </p:cNvSpPr>
          <p:nvPr>
            <p:ph type="subTitle" idx="1"/>
          </p:nvPr>
        </p:nvSpPr>
        <p:spPr>
          <a:xfrm>
            <a:off x="548650" y="2718275"/>
            <a:ext cx="2011800" cy="1260000"/>
          </a:xfrm>
          <a:prstGeom prst="rect">
            <a:avLst/>
          </a:prstGeom>
        </p:spPr>
        <p:txBody>
          <a:bodyPr spcFirstLastPara="1" wrap="square" lIns="91425" tIns="91425" rIns="91425" bIns="91425" anchor="b" anchorCtr="0">
            <a:noAutofit/>
          </a:bodyPr>
          <a:lstStyle/>
          <a:p>
            <a:pPr marL="0" lvl="0" indent="0" algn="l" rtl="0">
              <a:lnSpc>
                <a:spcPct val="104000"/>
              </a:lnSpc>
              <a:spcBef>
                <a:spcPts val="0"/>
              </a:spcBef>
              <a:spcAft>
                <a:spcPts val="0"/>
              </a:spcAft>
              <a:buNone/>
            </a:pPr>
            <a:r>
              <a:rPr lang="en" sz="1800" dirty="0">
                <a:solidFill>
                  <a:srgbClr val="434343"/>
                </a:solidFill>
              </a:rPr>
              <a:t>Learning Log </a:t>
            </a:r>
            <a:endParaRPr sz="1800" dirty="0">
              <a:solidFill>
                <a:srgbClr val="434343"/>
              </a:solidFill>
            </a:endParaRPr>
          </a:p>
          <a:p>
            <a:pPr marL="0" lvl="0" indent="0" algn="l" rtl="0">
              <a:lnSpc>
                <a:spcPct val="104000"/>
              </a:lnSpc>
              <a:spcBef>
                <a:spcPts val="800"/>
              </a:spcBef>
              <a:spcAft>
                <a:spcPts val="800"/>
              </a:spcAft>
              <a:buNone/>
            </a:pPr>
            <a:r>
              <a:rPr lang="en" dirty="0">
                <a:solidFill>
                  <a:srgbClr val="434343"/>
                </a:solidFill>
              </a:rPr>
              <a:t>202</a:t>
            </a:r>
            <a:r>
              <a:rPr lang="en-GB" dirty="0">
                <a:solidFill>
                  <a:srgbClr val="434343"/>
                </a:solidFill>
              </a:rPr>
              <a:t>6- 2027</a:t>
            </a:r>
            <a:r>
              <a:rPr lang="en" dirty="0">
                <a:solidFill>
                  <a:srgbClr val="434343"/>
                </a:solidFill>
              </a:rPr>
              <a:t/>
            </a:r>
            <a:br>
              <a:rPr lang="en" dirty="0">
                <a:solidFill>
                  <a:srgbClr val="434343"/>
                </a:solidFill>
              </a:rPr>
            </a:br>
            <a:r>
              <a:rPr lang="en" dirty="0">
                <a:solidFill>
                  <a:srgbClr val="434343"/>
                </a:solidFill>
              </a:rPr>
              <a:t> </a:t>
            </a:r>
            <a:r>
              <a:rPr lang="en" sz="1800" dirty="0">
                <a:solidFill>
                  <a:srgbClr val="434343"/>
                </a:solidFill>
              </a:rPr>
              <a:t> </a:t>
            </a:r>
            <a:endParaRPr sz="1800" dirty="0">
              <a:solidFill>
                <a:srgbClr val="434343"/>
              </a:solidFill>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49050" y="542300"/>
            <a:ext cx="1371600" cy="1820707"/>
          </a:xfrm>
          <a:prstGeom prst="rect">
            <a:avLst/>
          </a:prstGeom>
        </p:spPr>
      </p:pic>
    </p:spTree>
    <p:extLst>
      <p:ext uri="{BB962C8B-B14F-4D97-AF65-F5344CB8AC3E}">
        <p14:creationId xmlns:p14="http://schemas.microsoft.com/office/powerpoint/2010/main" val="35053913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3"/>
          <p:cNvSpPr txBox="1">
            <a:spLocks noGrp="1"/>
          </p:cNvSpPr>
          <p:nvPr>
            <p:ph type="title"/>
          </p:nvPr>
        </p:nvSpPr>
        <p:spPr>
          <a:xfrm>
            <a:off x="182880" y="2926080"/>
            <a:ext cx="2743200" cy="1551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How To Use</a:t>
            </a:r>
            <a:endParaRPr/>
          </a:p>
          <a:p>
            <a:pPr marL="0" lvl="0" indent="0" algn="ctr" rtl="0">
              <a:spcBef>
                <a:spcPts val="0"/>
              </a:spcBef>
              <a:spcAft>
                <a:spcPts val="0"/>
              </a:spcAft>
              <a:buNone/>
            </a:pPr>
            <a:r>
              <a:rPr lang="en"/>
              <a:t>This Template</a:t>
            </a:r>
            <a:endParaRPr/>
          </a:p>
        </p:txBody>
      </p:sp>
      <p:sp>
        <p:nvSpPr>
          <p:cNvPr id="102" name="Google Shape;102;p13"/>
          <p:cNvSpPr txBox="1">
            <a:spLocks noGrp="1"/>
          </p:cNvSpPr>
          <p:nvPr>
            <p:ph type="body" idx="2"/>
          </p:nvPr>
        </p:nvSpPr>
        <p:spPr>
          <a:xfrm>
            <a:off x="3383280" y="274320"/>
            <a:ext cx="5486400" cy="459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As a student at Breda University of Applied Sciences studying to become a professional, you are required to provide evidence that demonstrates your professional learning and growth during the block. This template is intended to provide you with a well-structured and organised format for doing this effectively. Keep in mind that certain competencies may require you to update your evidence every week, and others may have only be relevant during a particular week or two.</a:t>
            </a:r>
            <a:endParaRPr dirty="0"/>
          </a:p>
          <a:p>
            <a:pPr marL="0" lvl="0" indent="0" algn="l" rtl="0">
              <a:spcBef>
                <a:spcPts val="800"/>
              </a:spcBef>
              <a:spcAft>
                <a:spcPts val="0"/>
              </a:spcAft>
              <a:buNone/>
            </a:pPr>
            <a:endParaRPr dirty="0"/>
          </a:p>
          <a:p>
            <a:pPr marL="0" lvl="0" indent="0" algn="l" rtl="0">
              <a:spcBef>
                <a:spcPts val="800"/>
              </a:spcBef>
              <a:spcAft>
                <a:spcPts val="0"/>
              </a:spcAft>
              <a:buNone/>
            </a:pPr>
            <a:r>
              <a:rPr lang="en" dirty="0"/>
              <a:t>With the evidence you present here teachers should get a clear and comprehensive overview of your progress, how you’ve engaged with feedback, as well as your general attitude and performance as a student and as an aspiring professional developer.</a:t>
            </a:r>
            <a:endParaRPr dirty="0"/>
          </a:p>
          <a:p>
            <a:pPr marL="0" lvl="0" indent="0" algn="l" rtl="0">
              <a:spcBef>
                <a:spcPts val="800"/>
              </a:spcBef>
              <a:spcAft>
                <a:spcPts val="0"/>
              </a:spcAft>
              <a:buNone/>
            </a:pPr>
            <a:endParaRPr dirty="0"/>
          </a:p>
          <a:p>
            <a:pPr marL="0" lvl="0" indent="0" algn="l" rtl="0">
              <a:spcBef>
                <a:spcPts val="800"/>
              </a:spcBef>
              <a:spcAft>
                <a:spcPts val="0"/>
              </a:spcAft>
              <a:buNone/>
            </a:pPr>
            <a:r>
              <a:rPr lang="en" dirty="0"/>
              <a:t>Note that number and size of text boxes and how they are organized on each slide may be modified as needed. It is up to you to decide what layout is most effective for the content you are providing. You may also add slides if needed, but try to be as economical as possible, i.e. quality over quantity. Focus on the things that are the most significant and meaningful.</a:t>
            </a:r>
            <a:endParaRPr dirty="0"/>
          </a:p>
          <a:p>
            <a:pPr marL="0" lvl="0" indent="0" algn="l" rtl="0">
              <a:spcBef>
                <a:spcPts val="800"/>
              </a:spcBef>
              <a:spcAft>
                <a:spcPts val="0"/>
              </a:spcAft>
              <a:buNone/>
            </a:pPr>
            <a:endParaRPr dirty="0"/>
          </a:p>
          <a:p>
            <a:pPr marL="0" lvl="0" indent="0" algn="l" rtl="0">
              <a:spcBef>
                <a:spcPts val="800"/>
              </a:spcBef>
              <a:spcAft>
                <a:spcPts val="800"/>
              </a:spcAft>
              <a:buNone/>
            </a:pPr>
            <a:r>
              <a:rPr lang="en" dirty="0"/>
              <a:t>You are also free to stylise this template to improve the graphic design and visual appeal, but please remember its purpose: to provide evidence of your progress towards becoming a professional developer. Changes should only enhance and extend the information, and may never subtract. I.e. do not delete anything or change the order of things. If in doubt, seek approval from your teachers!</a:t>
            </a:r>
            <a:endParaRPr dirty="0"/>
          </a:p>
        </p:txBody>
      </p:sp>
      <p:pic>
        <p:nvPicPr>
          <p:cNvPr id="1026" name="Picture 2" descr="Artificial intelligence brain">
            <a:extLst>
              <a:ext uri="{FF2B5EF4-FFF2-40B4-BE49-F238E27FC236}">
                <a16:creationId xmlns:a16="http://schemas.microsoft.com/office/drawing/2014/main" id="{31E76062-B307-B28D-6D09-6AB7455F1C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4" y="453863"/>
            <a:ext cx="3102126" cy="16152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4"/>
          <p:cNvSpPr txBox="1">
            <a:spLocks noGrp="1"/>
          </p:cNvSpPr>
          <p:nvPr>
            <p:ph type="title"/>
          </p:nvPr>
        </p:nvSpPr>
        <p:spPr>
          <a:xfrm>
            <a:off x="274320" y="308799"/>
            <a:ext cx="2560200" cy="1551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Learning Log</a:t>
            </a:r>
            <a:endParaRPr dirty="0"/>
          </a:p>
          <a:p>
            <a:pPr marL="0" lvl="0" indent="0" algn="ctr" rtl="0">
              <a:spcBef>
                <a:spcPts val="0"/>
              </a:spcBef>
              <a:spcAft>
                <a:spcPts val="0"/>
              </a:spcAft>
              <a:buNone/>
            </a:pPr>
            <a:r>
              <a:rPr lang="en" dirty="0"/>
              <a:t>Structure</a:t>
            </a:r>
            <a:endParaRPr dirty="0"/>
          </a:p>
        </p:txBody>
      </p:sp>
      <p:sp>
        <p:nvSpPr>
          <p:cNvPr id="109" name="Google Shape;109;p14"/>
          <p:cNvSpPr txBox="1">
            <a:spLocks noGrp="1"/>
          </p:cNvSpPr>
          <p:nvPr>
            <p:ph type="subTitle" idx="1"/>
          </p:nvPr>
        </p:nvSpPr>
        <p:spPr>
          <a:xfrm>
            <a:off x="274320" y="1860700"/>
            <a:ext cx="2560200" cy="3012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400" dirty="0"/>
              <a:t>Section A</a:t>
            </a:r>
            <a:endParaRPr sz="1400" dirty="0"/>
          </a:p>
          <a:p>
            <a:pPr marL="182880" lvl="0" indent="-180340" algn="l" rtl="0">
              <a:spcBef>
                <a:spcPts val="0"/>
              </a:spcBef>
              <a:spcAft>
                <a:spcPts val="0"/>
              </a:spcAft>
              <a:buSzPts val="1400"/>
              <a:buChar char="●"/>
            </a:pPr>
            <a:r>
              <a:rPr lang="en" sz="1400" dirty="0"/>
              <a:t>Starting this block</a:t>
            </a:r>
            <a:endParaRPr sz="1400" dirty="0"/>
          </a:p>
          <a:p>
            <a:pPr marL="182880" lvl="0" indent="-180340" algn="l" rtl="0">
              <a:spcBef>
                <a:spcPts val="0"/>
              </a:spcBef>
              <a:spcAft>
                <a:spcPts val="0"/>
              </a:spcAft>
              <a:buSzPts val="1400"/>
              <a:buChar char="●"/>
            </a:pPr>
            <a:r>
              <a:rPr lang="en" sz="1400" dirty="0"/>
              <a:t>Goals</a:t>
            </a:r>
            <a:endParaRPr sz="1400" dirty="0"/>
          </a:p>
          <a:p>
            <a:pPr marL="0" lvl="0" indent="0" algn="l" rtl="0">
              <a:spcBef>
                <a:spcPts val="0"/>
              </a:spcBef>
              <a:spcAft>
                <a:spcPts val="0"/>
              </a:spcAft>
              <a:buNone/>
            </a:pPr>
            <a:endParaRPr sz="1400" dirty="0"/>
          </a:p>
          <a:p>
            <a:pPr marL="0" lvl="0" indent="0" algn="l" rtl="0">
              <a:spcBef>
                <a:spcPts val="0"/>
              </a:spcBef>
              <a:spcAft>
                <a:spcPts val="0"/>
              </a:spcAft>
              <a:buNone/>
            </a:pPr>
            <a:r>
              <a:rPr lang="en" sz="1400" dirty="0"/>
              <a:t>Section B </a:t>
            </a:r>
            <a:endParaRPr sz="1400" dirty="0"/>
          </a:p>
          <a:p>
            <a:pPr marL="182880" lvl="0" indent="-180340" algn="l" rtl="0">
              <a:spcBef>
                <a:spcPts val="0"/>
              </a:spcBef>
              <a:spcAft>
                <a:spcPts val="0"/>
              </a:spcAft>
              <a:buSzPts val="1400"/>
              <a:buChar char="●"/>
            </a:pPr>
            <a:r>
              <a:rPr lang="en" sz="1400" dirty="0"/>
              <a:t>Week log section</a:t>
            </a:r>
            <a:endParaRPr sz="1400" dirty="0"/>
          </a:p>
          <a:p>
            <a:pPr marL="0" lvl="0" indent="0" algn="l" rtl="0">
              <a:spcBef>
                <a:spcPts val="0"/>
              </a:spcBef>
              <a:spcAft>
                <a:spcPts val="0"/>
              </a:spcAft>
              <a:buNone/>
            </a:pPr>
            <a:endParaRPr sz="1400" dirty="0"/>
          </a:p>
          <a:p>
            <a:pPr marL="0" lvl="0" indent="0" algn="l" rtl="0">
              <a:spcBef>
                <a:spcPts val="0"/>
              </a:spcBef>
              <a:spcAft>
                <a:spcPts val="0"/>
              </a:spcAft>
              <a:buNone/>
            </a:pPr>
            <a:r>
              <a:rPr lang="en" sz="1400" dirty="0"/>
              <a:t>Section C</a:t>
            </a:r>
            <a:endParaRPr sz="1400" dirty="0"/>
          </a:p>
          <a:p>
            <a:pPr marL="182880" lvl="0" indent="-180340" algn="l" rtl="0">
              <a:spcBef>
                <a:spcPts val="0"/>
              </a:spcBef>
              <a:spcAft>
                <a:spcPts val="0"/>
              </a:spcAft>
              <a:buSzPts val="1400"/>
              <a:buChar char="●"/>
            </a:pPr>
            <a:r>
              <a:rPr lang="en-GB" sz="1400" dirty="0"/>
              <a:t>ILO section</a:t>
            </a:r>
          </a:p>
          <a:p>
            <a:pPr marL="182880" lvl="0" indent="-180340" algn="l" rtl="0">
              <a:spcBef>
                <a:spcPts val="0"/>
              </a:spcBef>
              <a:spcAft>
                <a:spcPts val="0"/>
              </a:spcAft>
              <a:buSzPts val="1400"/>
              <a:buChar char="●"/>
            </a:pPr>
            <a:endParaRPr lang="en" sz="1400" dirty="0"/>
          </a:p>
          <a:p>
            <a:pPr marL="2540" lvl="0" indent="0" algn="l" rtl="0">
              <a:spcBef>
                <a:spcPts val="0"/>
              </a:spcBef>
              <a:spcAft>
                <a:spcPts val="0"/>
              </a:spcAft>
              <a:buSzPts val="1400"/>
            </a:pPr>
            <a:r>
              <a:rPr lang="en" sz="1400" dirty="0"/>
              <a:t>Section D</a:t>
            </a:r>
          </a:p>
          <a:p>
            <a:pPr marL="182880" lvl="0" indent="-180340" algn="l" rtl="0">
              <a:spcBef>
                <a:spcPts val="0"/>
              </a:spcBef>
              <a:spcAft>
                <a:spcPts val="0"/>
              </a:spcAft>
              <a:buSzPts val="1400"/>
              <a:buChar char="●"/>
            </a:pPr>
            <a:r>
              <a:rPr lang="en" sz="1400" dirty="0"/>
              <a:t>Block reflection</a:t>
            </a:r>
          </a:p>
          <a:p>
            <a:pPr marL="2540" lvl="0" indent="0" algn="l" rtl="0">
              <a:spcBef>
                <a:spcPts val="0"/>
              </a:spcBef>
              <a:spcAft>
                <a:spcPts val="0"/>
              </a:spcAft>
              <a:buSzPts val="1400"/>
            </a:pPr>
            <a:endParaRPr lang="en" sz="1400" dirty="0"/>
          </a:p>
        </p:txBody>
      </p:sp>
      <p:sp>
        <p:nvSpPr>
          <p:cNvPr id="110" name="Google Shape;110;p14"/>
          <p:cNvSpPr txBox="1">
            <a:spLocks noGrp="1"/>
          </p:cNvSpPr>
          <p:nvPr>
            <p:ph type="body" idx="2"/>
          </p:nvPr>
        </p:nvSpPr>
        <p:spPr>
          <a:xfrm>
            <a:off x="3383280" y="274320"/>
            <a:ext cx="5486400" cy="459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200" b="1" u="sng" dirty="0"/>
              <a:t>Section A - My Plan		</a:t>
            </a:r>
            <a:r>
              <a:rPr lang="en" i="1" dirty="0"/>
              <a:t>Must be completed in </a:t>
            </a:r>
            <a:r>
              <a:rPr lang="en" i="1" u="sng" dirty="0"/>
              <a:t>week 1</a:t>
            </a:r>
            <a:endParaRPr i="1" u="sng" dirty="0"/>
          </a:p>
          <a:p>
            <a:pPr marL="0" lvl="0" indent="0" algn="l" rtl="0">
              <a:spcBef>
                <a:spcPts val="800"/>
              </a:spcBef>
              <a:spcAft>
                <a:spcPts val="0"/>
              </a:spcAft>
              <a:buNone/>
            </a:pPr>
            <a:r>
              <a:rPr lang="en" dirty="0"/>
              <a:t>Your plan describes your goals for the </a:t>
            </a:r>
            <a:r>
              <a:rPr lang="en-US" dirty="0"/>
              <a:t>graduation project</a:t>
            </a:r>
            <a:r>
              <a:rPr lang="en" dirty="0"/>
              <a:t>. Starting with where you are right now, where do you want to be at the end of the </a:t>
            </a:r>
            <a:r>
              <a:rPr lang="en-US" dirty="0"/>
              <a:t>graduation project</a:t>
            </a:r>
            <a:r>
              <a:rPr lang="en" dirty="0"/>
              <a:t>? I.e. what role(s) will you take responsibility for, and how will you demonstrate progress relevant to the ILOs for this </a:t>
            </a:r>
            <a:r>
              <a:rPr lang="en-US" dirty="0"/>
              <a:t>graduation project</a:t>
            </a:r>
            <a:r>
              <a:rPr lang="en" dirty="0"/>
              <a:t>? What tasks and deliverables are best aligned with your role and the project?</a:t>
            </a:r>
            <a:endParaRPr dirty="0"/>
          </a:p>
          <a:p>
            <a:pPr marL="0" lvl="0" indent="0" algn="l" rtl="0">
              <a:spcBef>
                <a:spcPts val="800"/>
              </a:spcBef>
              <a:spcAft>
                <a:spcPts val="0"/>
              </a:spcAft>
              <a:buNone/>
            </a:pPr>
            <a:r>
              <a:rPr lang="en" sz="1200" b="1" u="sng" dirty="0"/>
              <a:t>Section B - Weekly Log	</a:t>
            </a:r>
            <a:r>
              <a:rPr lang="en" i="1" dirty="0"/>
              <a:t>Must be updated </a:t>
            </a:r>
            <a:r>
              <a:rPr lang="en" i="1" u="sng" dirty="0"/>
              <a:t>every week</a:t>
            </a:r>
            <a:endParaRPr i="1" u="sng" dirty="0"/>
          </a:p>
          <a:p>
            <a:pPr marL="0" lvl="0" indent="0" algn="l" rtl="0">
              <a:spcBef>
                <a:spcPts val="800"/>
              </a:spcBef>
              <a:spcAft>
                <a:spcPts val="0"/>
              </a:spcAft>
              <a:buNone/>
            </a:pPr>
            <a:r>
              <a:rPr lang="en" dirty="0"/>
              <a:t>This is simply a log (journal) of what you do each week, and what you learn from it. It is your responsibility to update this regularly and frequently. Be sure to include working links to any specific evidence you are referencing (and make sure that you share your docs with the teaching team). Note: some of the required information may be captured in production documents such as your work log or peer reviews. </a:t>
            </a:r>
            <a:endParaRPr dirty="0"/>
          </a:p>
          <a:p>
            <a:pPr marL="0" lvl="0" indent="0" algn="l" rtl="0">
              <a:spcBef>
                <a:spcPts val="800"/>
              </a:spcBef>
              <a:spcAft>
                <a:spcPts val="0"/>
              </a:spcAft>
              <a:buNone/>
            </a:pPr>
            <a:r>
              <a:rPr lang="en" dirty="0"/>
              <a:t>In such cases, you simply need to provide links to those artifacts and may include any explanatory comment or reflection you feel is appropriate. </a:t>
            </a:r>
            <a:endParaRPr dirty="0"/>
          </a:p>
          <a:p>
            <a:pPr marL="0" lvl="0" indent="0" algn="l" rtl="0">
              <a:spcBef>
                <a:spcPts val="800"/>
              </a:spcBef>
              <a:spcAft>
                <a:spcPts val="0"/>
              </a:spcAft>
              <a:buNone/>
            </a:pPr>
            <a:r>
              <a:rPr lang="en" dirty="0"/>
              <a:t>(Some reflection is almost always a good idea as it provides the foundation for Section D.)</a:t>
            </a:r>
          </a:p>
          <a:p>
            <a:pPr marL="0" lvl="0" indent="0" algn="l" rtl="0">
              <a:spcBef>
                <a:spcPts val="800"/>
              </a:spcBef>
              <a:spcAft>
                <a:spcPts val="0"/>
              </a:spcAft>
              <a:buNone/>
            </a:pPr>
            <a:r>
              <a:rPr lang="en-US" sz="1200" b="1" u="sng" dirty="0"/>
              <a:t>Section B - ILO’s		</a:t>
            </a:r>
            <a:r>
              <a:rPr lang="en-US" i="1" dirty="0"/>
              <a:t>Must be completed in </a:t>
            </a:r>
            <a:r>
              <a:rPr lang="en-US" i="1" u="sng" dirty="0"/>
              <a:t>week 20</a:t>
            </a:r>
            <a:r>
              <a:rPr lang="en-US" i="1" dirty="0"/>
              <a:t> but should be updated </a:t>
            </a:r>
            <a:r>
              <a:rPr lang="en-US" i="1" u="sng" dirty="0"/>
              <a:t>regularly</a:t>
            </a:r>
          </a:p>
          <a:p>
            <a:pPr marL="0" lvl="0" indent="0" algn="l" rtl="0">
              <a:spcBef>
                <a:spcPts val="800"/>
              </a:spcBef>
              <a:spcAft>
                <a:spcPts val="0"/>
              </a:spcAft>
              <a:buNone/>
            </a:pPr>
            <a:r>
              <a:rPr lang="en-US" dirty="0"/>
              <a:t>This is where you link your evidence to each of the Intended Learning Outcomes of this graduation project.</a:t>
            </a:r>
            <a:endParaRPr dirty="0"/>
          </a:p>
          <a:p>
            <a:pPr marL="0" lvl="0" indent="0" algn="l" rtl="0">
              <a:spcBef>
                <a:spcPts val="800"/>
              </a:spcBef>
              <a:spcAft>
                <a:spcPts val="0"/>
              </a:spcAft>
              <a:buNone/>
            </a:pPr>
            <a:r>
              <a:rPr lang="en" sz="1200" b="1" u="sng" dirty="0"/>
              <a:t>Section C - Reflection	</a:t>
            </a:r>
            <a:r>
              <a:rPr lang="en" i="1" dirty="0"/>
              <a:t>Must be completed in </a:t>
            </a:r>
            <a:r>
              <a:rPr lang="en" i="1" u="sng" dirty="0"/>
              <a:t>week 20</a:t>
            </a:r>
            <a:endParaRPr i="1" u="sng" dirty="0"/>
          </a:p>
          <a:p>
            <a:pPr marL="0" lvl="0" indent="0" algn="l" rtl="0">
              <a:spcBef>
                <a:spcPts val="800"/>
              </a:spcBef>
              <a:spcAft>
                <a:spcPts val="800"/>
              </a:spcAft>
              <a:buNone/>
            </a:pPr>
            <a:r>
              <a:rPr lang="en" dirty="0"/>
              <a:t>Summative reflection on your progress during your </a:t>
            </a:r>
            <a:r>
              <a:rPr lang="en-US" dirty="0"/>
              <a:t>graduation project</a:t>
            </a:r>
            <a:r>
              <a:rPr lang="en" dirty="0"/>
              <a:t> including a critical assessment of everything you did and learned during the </a:t>
            </a:r>
            <a:r>
              <a:rPr lang="en-US" dirty="0"/>
              <a:t>graduation project</a:t>
            </a:r>
            <a:r>
              <a:rPr lang="en" dirty="0"/>
              <a:t>. This is a comprehensive review of everything recorded in Section B and C, evaluated against the goals and planning laid out in Section A.</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9"/>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a:t>Section A</a:t>
            </a:r>
            <a:endParaRPr sz="6000"/>
          </a:p>
        </p:txBody>
      </p:sp>
      <p:sp>
        <p:nvSpPr>
          <p:cNvPr id="154" name="Google Shape;154;p19"/>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000"/>
              <a:t>Goal Setting</a:t>
            </a:r>
            <a:endParaRPr lang="en-US" sz="3000"/>
          </a:p>
        </p:txBody>
      </p:sp>
      <p:sp>
        <p:nvSpPr>
          <p:cNvPr id="155" name="Google Shape;155;p1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40000" dirty="0">
                <a:solidFill>
                  <a:srgbClr val="999999"/>
                </a:solidFill>
                <a:latin typeface="Roboto"/>
                <a:ea typeface="Roboto"/>
                <a:cs typeface="Roboto"/>
                <a:sym typeface="Roboto"/>
              </a:rPr>
              <a:t>A</a:t>
            </a:r>
            <a:endParaRPr sz="40000" dirty="0">
              <a:solidFill>
                <a:srgbClr val="999999"/>
              </a:solidFill>
              <a:latin typeface="Roboto"/>
              <a:ea typeface="Roboto"/>
              <a:cs typeface="Roboto"/>
              <a:sym typeface="Roboto"/>
            </a:endParaRPr>
          </a:p>
        </p:txBody>
      </p:sp>
      <p:sp>
        <p:nvSpPr>
          <p:cNvPr id="2" name="Rectangle: Rounded Corners 1">
            <a:extLst>
              <a:ext uri="{FF2B5EF4-FFF2-40B4-BE49-F238E27FC236}">
                <a16:creationId xmlns:a16="http://schemas.microsoft.com/office/drawing/2014/main" id="{4E84F48E-9152-454D-9754-FA0D0AD81F68}"/>
              </a:ext>
            </a:extLst>
          </p:cNvPr>
          <p:cNvSpPr/>
          <p:nvPr/>
        </p:nvSpPr>
        <p:spPr>
          <a:xfrm>
            <a:off x="2033752" y="404648"/>
            <a:ext cx="6232634" cy="730469"/>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GB" dirty="0">
                <a:effectLst/>
                <a:latin typeface="Open Sans" panose="020B0606030504020204" pitchFamily="34" charset="0"/>
                <a:ea typeface="Open Sans" panose="020B0606030504020204" pitchFamily="34" charset="0"/>
                <a:cs typeface="Times New Roman" panose="02020603050405020304" pitchFamily="18" charset="0"/>
              </a:rPr>
              <a:t>The student sets ambitious, S.M.A.R.T./ C.L.E.A.R goals in alignment with the project brief, their chosen role(s), content of the assessment rubric and their personal long-term goals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1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What is my plan?</a:t>
            </a:r>
            <a:endParaRPr/>
          </a:p>
        </p:txBody>
      </p:sp>
      <p:sp>
        <p:nvSpPr>
          <p:cNvPr id="133" name="Google Shape;133;p17"/>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1/2</a:t>
            </a:r>
            <a:endParaRPr dirty="0"/>
          </a:p>
        </p:txBody>
      </p:sp>
      <p:sp>
        <p:nvSpPr>
          <p:cNvPr id="134" name="Google Shape;134;p17"/>
          <p:cNvSpPr txBox="1">
            <a:spLocks noGrp="1"/>
          </p:cNvSpPr>
          <p:nvPr>
            <p:ph type="subTitle" idx="1"/>
          </p:nvPr>
        </p:nvSpPr>
        <p:spPr>
          <a:xfrm>
            <a:off x="182873" y="667500"/>
            <a:ext cx="8778300" cy="4023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dirty="0"/>
              <a:t>This is a short summary of what I will be responsible for during my graduation project: 										</a:t>
            </a:r>
            <a:endParaRPr dirty="0"/>
          </a:p>
        </p:txBody>
      </p:sp>
      <p:sp>
        <p:nvSpPr>
          <p:cNvPr id="135" name="Google Shape;135;p17"/>
          <p:cNvSpPr txBox="1">
            <a:spLocks noGrp="1"/>
          </p:cNvSpPr>
          <p:nvPr>
            <p:ph type="body" idx="3"/>
          </p:nvPr>
        </p:nvSpPr>
        <p:spPr>
          <a:xfrm>
            <a:off x="182880" y="1069848"/>
            <a:ext cx="5852100" cy="38952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dirty="0"/>
              <a:t>…</a:t>
            </a:r>
            <a:endParaRPr dirty="0"/>
          </a:p>
          <a:p>
            <a:pPr marL="0" lvl="0" indent="0" algn="just" rtl="0">
              <a:spcBef>
                <a:spcPts val="800"/>
              </a:spcBef>
              <a:spcAft>
                <a:spcPts val="0"/>
              </a:spcAft>
              <a:buNone/>
            </a:pPr>
            <a:endParaRPr dirty="0"/>
          </a:p>
          <a:p>
            <a:pPr marL="0" lvl="0" indent="0" algn="l" rtl="0">
              <a:spcBef>
                <a:spcPts val="800"/>
              </a:spcBef>
              <a:spcAft>
                <a:spcPts val="800"/>
              </a:spcAft>
              <a:buNone/>
            </a:pPr>
            <a:endParaRPr dirty="0"/>
          </a:p>
        </p:txBody>
      </p:sp>
      <p:sp>
        <p:nvSpPr>
          <p:cNvPr id="136" name="Google Shape;136;p17"/>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Where am I starting?</a:t>
            </a:r>
            <a:endParaRPr/>
          </a:p>
        </p:txBody>
      </p:sp>
      <p:sp>
        <p:nvSpPr>
          <p:cNvPr id="123" name="Google Shape;123;p16"/>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sz="1400" dirty="0"/>
              <a:t>2/</a:t>
            </a:r>
            <a:r>
              <a:rPr lang="en" dirty="0"/>
              <a:t>2</a:t>
            </a:r>
            <a:endParaRPr sz="1400" dirty="0"/>
          </a:p>
        </p:txBody>
      </p:sp>
      <p:sp>
        <p:nvSpPr>
          <p:cNvPr id="124" name="Google Shape;124;p16"/>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a:t>
            </a:r>
            <a:endParaRPr/>
          </a:p>
        </p:txBody>
      </p:sp>
      <p:sp>
        <p:nvSpPr>
          <p:cNvPr id="125" name="Google Shape;125;p16"/>
          <p:cNvSpPr txBox="1">
            <a:spLocks noGrp="1"/>
          </p:cNvSpPr>
          <p:nvPr>
            <p:ph type="subTitle" idx="1"/>
          </p:nvPr>
        </p:nvSpPr>
        <p:spPr>
          <a:xfrm>
            <a:off x="182820" y="667548"/>
            <a:ext cx="8778300" cy="4023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dirty="0"/>
              <a:t>These are qualities I bring to my graduation project: 							</a:t>
            </a:r>
            <a:endParaRPr b="0" i="1" dirty="0"/>
          </a:p>
        </p:txBody>
      </p:sp>
      <p:sp>
        <p:nvSpPr>
          <p:cNvPr id="126" name="Google Shape;126;p16"/>
          <p:cNvSpPr txBox="1">
            <a:spLocks noGrp="1"/>
          </p:cNvSpPr>
          <p:nvPr>
            <p:ph type="body" idx="3"/>
          </p:nvPr>
        </p:nvSpPr>
        <p:spPr>
          <a:xfrm>
            <a:off x="182880" y="1069848"/>
            <a:ext cx="5852100" cy="38952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dirty="0"/>
              <a:t>...</a:t>
            </a:r>
            <a:endParaRPr dirty="0"/>
          </a:p>
          <a:p>
            <a:pPr marL="0" lvl="0" indent="0" algn="just" rtl="0">
              <a:spcBef>
                <a:spcPts val="800"/>
              </a:spcBef>
              <a:spcAft>
                <a:spcPts val="0"/>
              </a:spcAft>
              <a:buNone/>
            </a:pPr>
            <a:endParaRPr dirty="0"/>
          </a:p>
          <a:p>
            <a:pPr marL="0" lvl="0" indent="0" algn="just" rtl="0">
              <a:spcBef>
                <a:spcPts val="800"/>
              </a:spcBef>
              <a:spcAft>
                <a:spcPts val="800"/>
              </a:spcAft>
              <a:buNone/>
            </a:pPr>
            <a:r>
              <a:rPr lang="en" dirty="0"/>
              <a:t>...</a:t>
            </a:r>
            <a:endParaRPr dirty="0"/>
          </a:p>
        </p:txBody>
      </p:sp>
      <p:sp>
        <p:nvSpPr>
          <p:cNvPr id="2" name="Google Shape;125;p16">
            <a:extLst>
              <a:ext uri="{FF2B5EF4-FFF2-40B4-BE49-F238E27FC236}">
                <a16:creationId xmlns:a16="http://schemas.microsoft.com/office/drawing/2014/main" id="{F30A2A53-9DE6-7BEA-7FE8-7A8F29F575C6}"/>
              </a:ext>
            </a:extLst>
          </p:cNvPr>
          <p:cNvSpPr txBox="1">
            <a:spLocks/>
          </p:cNvSpPr>
          <p:nvPr/>
        </p:nvSpPr>
        <p:spPr>
          <a:xfrm>
            <a:off x="182820" y="1341444"/>
            <a:ext cx="8778300" cy="402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92100" algn="l" rtl="0">
              <a:lnSpc>
                <a:spcPct val="104000"/>
              </a:lnSpc>
              <a:spcBef>
                <a:spcPts val="0"/>
              </a:spcBef>
              <a:spcAft>
                <a:spcPts val="0"/>
              </a:spcAft>
              <a:buClr>
                <a:srgbClr val="FFFFFF"/>
              </a:buClr>
              <a:buSzPts val="1000"/>
              <a:buFont typeface="Roboto"/>
              <a:buNone/>
              <a:defRPr sz="1400" b="1" i="0" u="none" strike="noStrike" cap="none">
                <a:solidFill>
                  <a:srgbClr val="FFFFFF"/>
                </a:solidFill>
                <a:latin typeface="Roboto"/>
                <a:ea typeface="Roboto"/>
                <a:cs typeface="Roboto"/>
                <a:sym typeface="Roboto"/>
              </a:defRPr>
            </a:lvl1pPr>
            <a:lvl2pPr marL="914400" marR="0" lvl="1" indent="-292100" algn="l" rtl="0">
              <a:lnSpc>
                <a:spcPct val="104000"/>
              </a:lnSpc>
              <a:spcBef>
                <a:spcPts val="800"/>
              </a:spcBef>
              <a:spcAft>
                <a:spcPts val="0"/>
              </a:spcAft>
              <a:buClr>
                <a:srgbClr val="FFFFFF"/>
              </a:buClr>
              <a:buSzPts val="1000"/>
              <a:buFont typeface="Roboto"/>
              <a:buNone/>
              <a:defRPr sz="1000" b="0" i="1" u="none" strike="noStrike" cap="none">
                <a:solidFill>
                  <a:srgbClr val="FFFFFF"/>
                </a:solidFill>
                <a:latin typeface="Roboto"/>
                <a:ea typeface="Roboto"/>
                <a:cs typeface="Roboto"/>
                <a:sym typeface="Roboto"/>
              </a:defRPr>
            </a:lvl2pPr>
            <a:lvl3pPr marL="1371600" marR="0" lvl="2" indent="-292100" algn="l" rtl="0">
              <a:lnSpc>
                <a:spcPct val="104000"/>
              </a:lnSpc>
              <a:spcBef>
                <a:spcPts val="800"/>
              </a:spcBef>
              <a:spcAft>
                <a:spcPts val="0"/>
              </a:spcAft>
              <a:buClr>
                <a:srgbClr val="FFFFFF"/>
              </a:buClr>
              <a:buSzPts val="1000"/>
              <a:buFont typeface="Roboto"/>
              <a:buNone/>
              <a:defRPr sz="1000" b="0" i="0" u="sng" strike="noStrike" cap="none">
                <a:solidFill>
                  <a:srgbClr val="FFFFFF"/>
                </a:solidFill>
                <a:latin typeface="Roboto"/>
                <a:ea typeface="Roboto"/>
                <a:cs typeface="Roboto"/>
                <a:sym typeface="Roboto"/>
              </a:defRPr>
            </a:lvl3pPr>
            <a:lvl4pPr marL="1828800" marR="0" lvl="3" indent="-292100" algn="l" rtl="0">
              <a:lnSpc>
                <a:spcPct val="104000"/>
              </a:lnSpc>
              <a:spcBef>
                <a:spcPts val="80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4pPr>
            <a:lvl5pPr marL="2286000" marR="0" lvl="4" indent="-292100" algn="l" rtl="0">
              <a:lnSpc>
                <a:spcPct val="104000"/>
              </a:lnSpc>
              <a:spcBef>
                <a:spcPts val="800"/>
              </a:spcBef>
              <a:spcAft>
                <a:spcPts val="0"/>
              </a:spcAft>
              <a:buClr>
                <a:srgbClr val="FFFFFF"/>
              </a:buClr>
              <a:buSzPts val="1000"/>
              <a:buFont typeface="Roboto"/>
              <a:buNone/>
              <a:defRPr sz="1000" b="0" i="1" u="none" strike="noStrike" cap="none">
                <a:solidFill>
                  <a:srgbClr val="FFFFFF"/>
                </a:solidFill>
                <a:latin typeface="Roboto"/>
                <a:ea typeface="Roboto"/>
                <a:cs typeface="Roboto"/>
                <a:sym typeface="Roboto"/>
              </a:defRPr>
            </a:lvl5pPr>
            <a:lvl6pPr marL="2743200" marR="0" lvl="5" indent="-292100" algn="l" rtl="0">
              <a:lnSpc>
                <a:spcPct val="104000"/>
              </a:lnSpc>
              <a:spcBef>
                <a:spcPts val="800"/>
              </a:spcBef>
              <a:spcAft>
                <a:spcPts val="0"/>
              </a:spcAft>
              <a:buClr>
                <a:srgbClr val="FFFFFF"/>
              </a:buClr>
              <a:buSzPts val="1000"/>
              <a:buFont typeface="Roboto"/>
              <a:buNone/>
              <a:defRPr sz="1000" b="0" i="0" u="sng" strike="noStrike" cap="none">
                <a:solidFill>
                  <a:srgbClr val="FFFFFF"/>
                </a:solidFill>
                <a:latin typeface="Roboto"/>
                <a:ea typeface="Roboto"/>
                <a:cs typeface="Roboto"/>
                <a:sym typeface="Roboto"/>
              </a:defRPr>
            </a:lvl6pPr>
            <a:lvl7pPr marL="3200400" marR="0" lvl="6" indent="-292100" algn="l" rtl="0">
              <a:lnSpc>
                <a:spcPct val="104000"/>
              </a:lnSpc>
              <a:spcBef>
                <a:spcPts val="800"/>
              </a:spcBef>
              <a:spcAft>
                <a:spcPts val="0"/>
              </a:spcAft>
              <a:buClr>
                <a:srgbClr val="FFFFFF"/>
              </a:buClr>
              <a:buSzPts val="1000"/>
              <a:buFont typeface="Roboto"/>
              <a:buNone/>
              <a:defRPr sz="1000" b="0" i="0" u="none" strike="noStrike" cap="none">
                <a:solidFill>
                  <a:srgbClr val="FFFFFF"/>
                </a:solidFill>
                <a:latin typeface="Roboto"/>
                <a:ea typeface="Roboto"/>
                <a:cs typeface="Roboto"/>
                <a:sym typeface="Roboto"/>
              </a:defRPr>
            </a:lvl7pPr>
            <a:lvl8pPr marL="3657600" marR="0" lvl="7" indent="-292100" algn="l" rtl="0">
              <a:lnSpc>
                <a:spcPct val="104000"/>
              </a:lnSpc>
              <a:spcBef>
                <a:spcPts val="800"/>
              </a:spcBef>
              <a:spcAft>
                <a:spcPts val="0"/>
              </a:spcAft>
              <a:buClr>
                <a:srgbClr val="FFFFFF"/>
              </a:buClr>
              <a:buSzPts val="1000"/>
              <a:buFont typeface="Roboto"/>
              <a:buNone/>
              <a:defRPr sz="1000" b="0" i="1" u="none" strike="noStrike" cap="none">
                <a:solidFill>
                  <a:srgbClr val="FFFFFF"/>
                </a:solidFill>
                <a:latin typeface="Roboto"/>
                <a:ea typeface="Roboto"/>
                <a:cs typeface="Roboto"/>
                <a:sym typeface="Roboto"/>
              </a:defRPr>
            </a:lvl8pPr>
            <a:lvl9pPr marL="4114800" marR="0" lvl="8" indent="-292100" algn="l" rtl="0">
              <a:lnSpc>
                <a:spcPct val="104000"/>
              </a:lnSpc>
              <a:spcBef>
                <a:spcPts val="800"/>
              </a:spcBef>
              <a:spcAft>
                <a:spcPts val="800"/>
              </a:spcAft>
              <a:buClr>
                <a:srgbClr val="FFFFFF"/>
              </a:buClr>
              <a:buSzPts val="1000"/>
              <a:buFont typeface="Roboto"/>
              <a:buNone/>
              <a:defRPr sz="1000" b="0" i="0" u="sng" strike="noStrike" cap="none">
                <a:solidFill>
                  <a:srgbClr val="FFFFFF"/>
                </a:solidFill>
                <a:latin typeface="Roboto"/>
                <a:ea typeface="Roboto"/>
                <a:cs typeface="Roboto"/>
                <a:sym typeface="Roboto"/>
              </a:defRPr>
            </a:lvl9pPr>
          </a:lstStyle>
          <a:p>
            <a:pPr marL="0" indent="0">
              <a:spcAft>
                <a:spcPts val="800"/>
              </a:spcAft>
            </a:pPr>
            <a:r>
              <a:rPr lang="en-US" dirty="0"/>
              <a:t>These are qualities I would like to improve/learn more about during my graduation project: 							</a:t>
            </a:r>
            <a:endParaRPr lang="en-US" b="0" i="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8"/>
          <p:cNvSpPr txBox="1">
            <a:spLocks noGrp="1"/>
          </p:cNvSpPr>
          <p:nvPr>
            <p:ph type="body" idx="3"/>
          </p:nvPr>
        </p:nvSpPr>
        <p:spPr>
          <a:xfrm>
            <a:off x="3108950" y="1069812"/>
            <a:ext cx="5852100" cy="388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t>
            </a:r>
            <a:endParaRPr dirty="0"/>
          </a:p>
          <a:p>
            <a:pPr marL="0" lvl="0" indent="0" algn="l" rtl="0">
              <a:spcBef>
                <a:spcPts val="800"/>
              </a:spcBef>
              <a:spcAft>
                <a:spcPts val="0"/>
              </a:spcAft>
              <a:buNone/>
            </a:pPr>
            <a:endParaRPr dirty="0"/>
          </a:p>
          <a:p>
            <a:pPr marL="0" lvl="0" indent="0" algn="l" rtl="0">
              <a:spcBef>
                <a:spcPts val="800"/>
              </a:spcBef>
              <a:spcAft>
                <a:spcPts val="0"/>
              </a:spcAft>
              <a:buNone/>
            </a:pPr>
            <a:r>
              <a:rPr lang="en" sz="1400" b="1" dirty="0"/>
              <a:t>Personal and professional development goals</a:t>
            </a:r>
            <a:endParaRPr sz="1400" b="1" dirty="0"/>
          </a:p>
          <a:p>
            <a:pPr marL="0" lvl="0" indent="0" algn="just" rtl="0">
              <a:spcBef>
                <a:spcPts val="800"/>
              </a:spcBef>
              <a:spcAft>
                <a:spcPts val="800"/>
              </a:spcAft>
              <a:buNone/>
            </a:pPr>
            <a:r>
              <a:rPr lang="en" dirty="0"/>
              <a:t>...</a:t>
            </a:r>
            <a:endParaRPr dirty="0"/>
          </a:p>
        </p:txBody>
      </p:sp>
      <p:sp>
        <p:nvSpPr>
          <p:cNvPr id="144" name="Google Shape;144;p18"/>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What are my goals?</a:t>
            </a:r>
            <a:endParaRPr/>
          </a:p>
        </p:txBody>
      </p:sp>
      <p:sp>
        <p:nvSpPr>
          <p:cNvPr id="145" name="Google Shape;145;p18"/>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1/1</a:t>
            </a:r>
            <a:endParaRPr/>
          </a:p>
        </p:txBody>
      </p:sp>
      <p:sp>
        <p:nvSpPr>
          <p:cNvPr id="146" name="Google Shape;146;p18"/>
          <p:cNvSpPr txBox="1">
            <a:spLocks noGrp="1"/>
          </p:cNvSpPr>
          <p:nvPr>
            <p:ph type="subTitle" idx="1"/>
          </p:nvPr>
        </p:nvSpPr>
        <p:spPr>
          <a:xfrm>
            <a:off x="3108960" y="667512"/>
            <a:ext cx="5852100" cy="4023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dirty="0"/>
              <a:t>The roles I am taking responsibility for</a:t>
            </a:r>
            <a:r>
              <a:rPr lang="en" b="0" i="1" dirty="0"/>
              <a:t> (if multiple add in percentages)</a:t>
            </a:r>
            <a:endParaRPr b="0" i="1" dirty="0"/>
          </a:p>
        </p:txBody>
      </p:sp>
      <p:sp>
        <p:nvSpPr>
          <p:cNvPr id="147" name="Google Shape;147;p18"/>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a:t>
            </a:r>
            <a:endParaRPr/>
          </a:p>
        </p:txBody>
      </p:sp>
      <p:graphicFrame>
        <p:nvGraphicFramePr>
          <p:cNvPr id="148" name="Google Shape;148;p18"/>
          <p:cNvGraphicFramePr/>
          <p:nvPr/>
        </p:nvGraphicFramePr>
        <p:xfrm>
          <a:off x="182880" y="658368"/>
          <a:ext cx="2740000" cy="4297700"/>
        </p:xfrm>
        <a:graphic>
          <a:graphicData uri="http://schemas.openxmlformats.org/drawingml/2006/table">
            <a:tbl>
              <a:tblPr>
                <a:noFill/>
                <a:tableStyleId>{764D4AE7-FFBC-431D-9275-528F30A785D3}</a:tableStyleId>
              </a:tblPr>
              <a:tblGrid>
                <a:gridCol w="587150">
                  <a:extLst>
                    <a:ext uri="{9D8B030D-6E8A-4147-A177-3AD203B41FA5}">
                      <a16:colId xmlns:a16="http://schemas.microsoft.com/office/drawing/2014/main" val="20000"/>
                    </a:ext>
                  </a:extLst>
                </a:gridCol>
                <a:gridCol w="2152850">
                  <a:extLst>
                    <a:ext uri="{9D8B030D-6E8A-4147-A177-3AD203B41FA5}">
                      <a16:colId xmlns:a16="http://schemas.microsoft.com/office/drawing/2014/main" val="20001"/>
                    </a:ext>
                  </a:extLst>
                </a:gridCol>
              </a:tblGrid>
              <a:tr h="586050">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S</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C4125"/>
                    </a:solidFill>
                  </a:tcPr>
                </a:tc>
                <a:tc>
                  <a:txBody>
                    <a:bodyPr/>
                    <a:lstStyle/>
                    <a:p>
                      <a:pPr marL="0" lvl="0" indent="0" algn="l" rtl="0">
                        <a:lnSpc>
                          <a:spcPct val="115000"/>
                        </a:lnSpc>
                        <a:spcBef>
                          <a:spcPts val="0"/>
                        </a:spcBef>
                        <a:spcAft>
                          <a:spcPts val="0"/>
                        </a:spcAft>
                        <a:buNone/>
                      </a:pPr>
                      <a:r>
                        <a:rPr lang="en" sz="600" b="1">
                          <a:latin typeface="Roboto"/>
                          <a:ea typeface="Roboto"/>
                          <a:cs typeface="Roboto"/>
                          <a:sym typeface="Roboto"/>
                        </a:rPr>
                        <a:t>Specific:</a:t>
                      </a:r>
                      <a:r>
                        <a:rPr lang="en" sz="600">
                          <a:latin typeface="Roboto"/>
                          <a:ea typeface="Roboto"/>
                          <a:cs typeface="Roboto"/>
                          <a:sym typeface="Roboto"/>
                        </a:rPr>
                        <a:t> Be specific when determining your goal. The more specific the better. Putting a real figure to your goal helps make it measurable. When specific and measurable your subconscious mind cannot override your goals, they become achievable.</a:t>
                      </a:r>
                      <a:endParaRPr sz="60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0"/>
                  </a:ext>
                </a:extLst>
              </a:tr>
              <a:tr h="586050">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M</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E06666"/>
                    </a:solidFill>
                  </a:tcPr>
                </a:tc>
                <a:tc>
                  <a:txBody>
                    <a:bodyPr/>
                    <a:lstStyle/>
                    <a:p>
                      <a:pPr marL="0" lvl="0" indent="0" algn="l" rtl="0">
                        <a:lnSpc>
                          <a:spcPct val="115000"/>
                        </a:lnSpc>
                        <a:spcBef>
                          <a:spcPts val="0"/>
                        </a:spcBef>
                        <a:spcAft>
                          <a:spcPts val="0"/>
                        </a:spcAft>
                        <a:buNone/>
                      </a:pPr>
                      <a:r>
                        <a:rPr lang="en" sz="600" b="1">
                          <a:latin typeface="Roboto"/>
                          <a:ea typeface="Roboto"/>
                          <a:cs typeface="Roboto"/>
                          <a:sym typeface="Roboto"/>
                        </a:rPr>
                        <a:t>Meaningful:</a:t>
                      </a:r>
                      <a:r>
                        <a:rPr lang="en" sz="600">
                          <a:latin typeface="Roboto"/>
                          <a:ea typeface="Roboto"/>
                          <a:cs typeface="Roboto"/>
                          <a:sym typeface="Roboto"/>
                        </a:rPr>
                        <a:t> This is the WHY of your goal setting. When your specific goal has enough meaning for you, you will do whatever it takes to achieve it. When your goal is meaningful the more profound and life altering the results are.</a:t>
                      </a:r>
                      <a:endParaRPr sz="60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1"/>
                  </a:ext>
                </a:extLst>
              </a:tr>
              <a:tr h="586050">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A</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6B26B"/>
                    </a:solidFill>
                  </a:tcPr>
                </a:tc>
                <a:tc>
                  <a:txBody>
                    <a:bodyPr/>
                    <a:lstStyle/>
                    <a:p>
                      <a:pPr marL="0" lvl="0" indent="0" algn="l" rtl="0">
                        <a:lnSpc>
                          <a:spcPct val="115000"/>
                        </a:lnSpc>
                        <a:spcBef>
                          <a:spcPts val="0"/>
                        </a:spcBef>
                        <a:spcAft>
                          <a:spcPts val="0"/>
                        </a:spcAft>
                        <a:buNone/>
                      </a:pPr>
                      <a:r>
                        <a:rPr lang="en" sz="600" b="1">
                          <a:latin typeface="Roboto"/>
                          <a:ea typeface="Roboto"/>
                          <a:cs typeface="Roboto"/>
                          <a:sym typeface="Roboto"/>
                        </a:rPr>
                        <a:t>Achievable:</a:t>
                      </a:r>
                      <a:r>
                        <a:rPr lang="en" sz="600">
                          <a:latin typeface="Roboto"/>
                          <a:ea typeface="Roboto"/>
                          <a:cs typeface="Roboto"/>
                          <a:sym typeface="Roboto"/>
                        </a:rPr>
                        <a:t> Choosing realistic and short-term goals helps them be more achievable. Long-term goals can be larger and take more time to achieve. Planning smaller short-term goals as steps to larger long-term goals assists in achieving them.</a:t>
                      </a:r>
                      <a:endParaRPr sz="60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2"/>
                  </a:ext>
                </a:extLst>
              </a:tr>
              <a:tr h="586050">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R</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FD966"/>
                    </a:solidFill>
                  </a:tcPr>
                </a:tc>
                <a:tc>
                  <a:txBody>
                    <a:bodyPr/>
                    <a:lstStyle/>
                    <a:p>
                      <a:pPr marL="0" lvl="0" indent="0" algn="l" rtl="0">
                        <a:lnSpc>
                          <a:spcPct val="115000"/>
                        </a:lnSpc>
                        <a:spcBef>
                          <a:spcPts val="0"/>
                        </a:spcBef>
                        <a:spcAft>
                          <a:spcPts val="0"/>
                        </a:spcAft>
                        <a:buNone/>
                      </a:pPr>
                      <a:r>
                        <a:rPr lang="en" sz="600" b="1">
                          <a:latin typeface="Roboto"/>
                          <a:ea typeface="Roboto"/>
                          <a:cs typeface="Roboto"/>
                          <a:sym typeface="Roboto"/>
                        </a:rPr>
                        <a:t>Relevant:</a:t>
                      </a:r>
                      <a:r>
                        <a:rPr lang="en" sz="600">
                          <a:latin typeface="Roboto"/>
                          <a:ea typeface="Roboto"/>
                          <a:cs typeface="Roboto"/>
                          <a:sym typeface="Roboto"/>
                        </a:rPr>
                        <a:t> Each goal you set must be in line with your core values and in harmony with what YOU want out of life. Contradictions in values and goals leads to frustration and loss of motivation. Designing your goals with the expectation of your personal success.</a:t>
                      </a:r>
                      <a:endParaRPr sz="60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3"/>
                  </a:ext>
                </a:extLst>
              </a:tr>
              <a:tr h="586050">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T</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93C47D"/>
                    </a:solidFill>
                  </a:tcPr>
                </a:tc>
                <a:tc>
                  <a:txBody>
                    <a:bodyPr/>
                    <a:lstStyle/>
                    <a:p>
                      <a:pPr marL="0" lvl="0" indent="0" algn="l" rtl="0">
                        <a:lnSpc>
                          <a:spcPct val="115000"/>
                        </a:lnSpc>
                        <a:spcBef>
                          <a:spcPts val="0"/>
                        </a:spcBef>
                        <a:spcAft>
                          <a:spcPts val="0"/>
                        </a:spcAft>
                        <a:buNone/>
                      </a:pPr>
                      <a:r>
                        <a:rPr lang="en" sz="600" b="1">
                          <a:latin typeface="Roboto"/>
                          <a:ea typeface="Roboto"/>
                          <a:cs typeface="Roboto"/>
                          <a:sym typeface="Roboto"/>
                        </a:rPr>
                        <a:t>Time-Bound:</a:t>
                      </a:r>
                      <a:r>
                        <a:rPr lang="en" sz="600">
                          <a:latin typeface="Roboto"/>
                          <a:ea typeface="Roboto"/>
                          <a:cs typeface="Roboto"/>
                          <a:sym typeface="Roboto"/>
                        </a:rPr>
                        <a:t> Setting a time limit on achieving a goal makes it measurable. When a goal is measurable you can SEE your progress and support your motivation and commitment. Giving your goal a time limit assists you in holding yourself accountable to its completion.</a:t>
                      </a:r>
                      <a:endParaRPr sz="60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4"/>
                  </a:ext>
                </a:extLst>
              </a:tr>
              <a:tr h="683725">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E</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76A5AF"/>
                    </a:solidFill>
                  </a:tcPr>
                </a:tc>
                <a:tc>
                  <a:txBody>
                    <a:bodyPr/>
                    <a:lstStyle/>
                    <a:p>
                      <a:pPr marL="0" lvl="0" indent="0" algn="l" rtl="0">
                        <a:lnSpc>
                          <a:spcPct val="115000"/>
                        </a:lnSpc>
                        <a:spcBef>
                          <a:spcPts val="0"/>
                        </a:spcBef>
                        <a:spcAft>
                          <a:spcPts val="0"/>
                        </a:spcAft>
                        <a:buNone/>
                      </a:pPr>
                      <a:r>
                        <a:rPr lang="en" sz="600" b="1">
                          <a:latin typeface="Roboto"/>
                          <a:ea typeface="Roboto"/>
                          <a:cs typeface="Roboto"/>
                          <a:sym typeface="Roboto"/>
                        </a:rPr>
                        <a:t>Evaluate:</a:t>
                      </a:r>
                      <a:r>
                        <a:rPr lang="en" sz="600">
                          <a:latin typeface="Roboto"/>
                          <a:ea typeface="Roboto"/>
                          <a:cs typeface="Roboto"/>
                          <a:sym typeface="Roboto"/>
                        </a:rPr>
                        <a:t> By evaluating your goals on a regular basis you will be much more likely to achieve them. It is easy to forget about long-term goals if they are not revisited from time to time. This also helps you assess if the goal you are working on remains in line with your core values and helps you measure your progress.</a:t>
                      </a:r>
                      <a:endParaRPr sz="60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5"/>
                  </a:ext>
                </a:extLst>
              </a:tr>
              <a:tr h="683725">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R</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6D9EEB"/>
                    </a:solidFill>
                  </a:tcPr>
                </a:tc>
                <a:tc>
                  <a:txBody>
                    <a:bodyPr/>
                    <a:lstStyle/>
                    <a:p>
                      <a:pPr marL="0" lvl="0" indent="0" algn="l" rtl="0">
                        <a:lnSpc>
                          <a:spcPct val="115000"/>
                        </a:lnSpc>
                        <a:spcBef>
                          <a:spcPts val="0"/>
                        </a:spcBef>
                        <a:spcAft>
                          <a:spcPts val="0"/>
                        </a:spcAft>
                        <a:buNone/>
                      </a:pPr>
                      <a:r>
                        <a:rPr lang="en" sz="600" b="1">
                          <a:latin typeface="Roboto"/>
                          <a:ea typeface="Roboto"/>
                          <a:cs typeface="Roboto"/>
                          <a:sym typeface="Roboto"/>
                        </a:rPr>
                        <a:t>Readjust:</a:t>
                      </a:r>
                      <a:r>
                        <a:rPr lang="en" sz="600">
                          <a:latin typeface="Roboto"/>
                          <a:ea typeface="Roboto"/>
                          <a:cs typeface="Roboto"/>
                          <a:sym typeface="Roboto"/>
                        </a:rPr>
                        <a:t> Readjustments occur when goals are determined, through re-evaluation, to be misaligned with your values or long-term goals. This is especially helpful when you have been unable to achieve a goal in the time limits you set. This gives you the opportunity to modify your approach and increase your chances of success.</a:t>
                      </a:r>
                      <a:endParaRPr sz="60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9"/>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a:t>Section </a:t>
            </a:r>
            <a:r>
              <a:rPr lang="en"/>
              <a:t>B</a:t>
            </a:r>
            <a:endParaRPr sz="6000"/>
          </a:p>
        </p:txBody>
      </p:sp>
      <p:sp>
        <p:nvSpPr>
          <p:cNvPr id="154" name="Google Shape;154;p19"/>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Progress Log</a:t>
            </a:r>
            <a:endParaRPr lang="en-US" sz="3000"/>
          </a:p>
        </p:txBody>
      </p:sp>
      <p:sp>
        <p:nvSpPr>
          <p:cNvPr id="155" name="Google Shape;155;p1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40000">
                <a:solidFill>
                  <a:srgbClr val="999999"/>
                </a:solidFill>
                <a:latin typeface="Roboto"/>
                <a:ea typeface="Roboto"/>
                <a:cs typeface="Roboto"/>
                <a:sym typeface="Roboto"/>
              </a:rPr>
              <a:t>B</a:t>
            </a:r>
            <a:endParaRPr sz="4000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530721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0"/>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r>
              <a:rPr lang="en" dirty="0"/>
              <a:t>Week 1 - Log</a:t>
            </a:r>
            <a:endParaRPr lang="en-US" dirty="0"/>
          </a:p>
        </p:txBody>
      </p:sp>
      <p:sp>
        <p:nvSpPr>
          <p:cNvPr id="161" name="Google Shape;161;p20"/>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162" name="Google Shape;162;p20"/>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163" name="Google Shape;163;p20"/>
          <p:cNvSpPr txBox="1">
            <a:spLocks noGrp="1"/>
          </p:cNvSpPr>
          <p:nvPr>
            <p:ph type="body" idx="2"/>
          </p:nvPr>
        </p:nvSpPr>
        <p:spPr>
          <a:xfrm>
            <a:off x="186167" y="1152698"/>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r>
              <a:rPr lang="en" dirty="0" smtClean="0"/>
              <a:t>?</a:t>
            </a:r>
          </a:p>
          <a:p>
            <a:pPr marL="27940" lvl="0" indent="0">
              <a:buNone/>
            </a:pPr>
            <a:r>
              <a:rPr lang="en-GB" dirty="0" smtClean="0"/>
              <a:t>Set </a:t>
            </a:r>
            <a:r>
              <a:rPr lang="en-GB" dirty="0"/>
              <a:t>up the repo/environment, read the core literature, and lock in early architecture and risk-scoring decisions</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have you actually been able to do? </a:t>
            </a:r>
            <a:endParaRPr lang="en" dirty="0" smtClean="0"/>
          </a:p>
          <a:p>
            <a:pPr marL="27940" lvl="0" indent="0">
              <a:buNone/>
            </a:pPr>
            <a:r>
              <a:rPr lang="en-GB" dirty="0"/>
              <a:t>set up repo, Python/CUDA environment; read YOLO/Faster R-CNN/RDD2022/CRDDC and </a:t>
            </a:r>
            <a:r>
              <a:rPr lang="en-GB" dirty="0" err="1"/>
              <a:t>OSMnx</a:t>
            </a:r>
            <a:r>
              <a:rPr lang="en-GB" dirty="0"/>
              <a:t>/routing/PCI literature; decided YOLOv8n vs Faster R-CNN as the two architectures, rule-based risk scoring, finalised H1–H4</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Showcase what tasks you have been working on this week and provide evidence for it</a:t>
            </a:r>
            <a:r>
              <a:rPr lang="en" dirty="0" smtClean="0"/>
              <a:t>.</a:t>
            </a:r>
          </a:p>
          <a:p>
            <a:pPr marL="27940" lvl="0" indent="0" algn="l" rtl="0">
              <a:spcBef>
                <a:spcPts val="0"/>
              </a:spcBef>
              <a:spcAft>
                <a:spcPts val="0"/>
              </a:spcAft>
              <a:buSzPts val="1000"/>
              <a:buNone/>
            </a:pPr>
            <a:endParaRPr lang="en" dirty="0"/>
          </a:p>
          <a:p>
            <a:pPr marL="27940" lvl="0" indent="0">
              <a:buNone/>
            </a:pPr>
            <a:r>
              <a:rPr lang="en-GB" dirty="0"/>
              <a:t>repo + requirements.txt committed; </a:t>
            </a:r>
            <a:r>
              <a:rPr lang="en-GB" dirty="0" err="1"/>
              <a:t>references.bib</a:t>
            </a:r>
            <a:r>
              <a:rPr lang="en-GB" dirty="0"/>
              <a:t> populated; H1–H4 wording in PROJECT_CONTEXT.md.</a:t>
            </a:r>
            <a:endParaRPr dirty="0"/>
          </a:p>
        </p:txBody>
      </p:sp>
      <p:sp>
        <p:nvSpPr>
          <p:cNvPr id="164" name="Google Shape;164;p20"/>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 </a:t>
            </a:r>
            <a:endParaRPr lang="en" dirty="0" smtClean="0"/>
          </a:p>
          <a:p>
            <a:pPr marL="27940" lvl="0" indent="0">
              <a:buNone/>
            </a:pPr>
            <a:r>
              <a:rPr lang="en-GB" dirty="0"/>
              <a:t>G</a:t>
            </a:r>
            <a:r>
              <a:rPr lang="en-GB" dirty="0" smtClean="0"/>
              <a:t>ood </a:t>
            </a:r>
            <a:r>
              <a:rPr lang="en-GB" dirty="0"/>
              <a:t>start, clear foundation</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went well? </a:t>
            </a:r>
            <a:endParaRPr lang="en" dirty="0" smtClean="0"/>
          </a:p>
          <a:p>
            <a:pPr marL="27940" lvl="0" indent="0">
              <a:buNone/>
            </a:pPr>
            <a:r>
              <a:rPr lang="en-GB" dirty="0"/>
              <a:t>L</a:t>
            </a:r>
            <a:r>
              <a:rPr lang="en-GB" dirty="0" smtClean="0"/>
              <a:t>iterature </a:t>
            </a:r>
            <a:r>
              <a:rPr lang="en-GB" dirty="0"/>
              <a:t>converged quickly on the architecture and risk-scoring choices</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didn’t go so well? </a:t>
            </a:r>
            <a:endParaRPr lang="en" dirty="0" smtClean="0"/>
          </a:p>
          <a:p>
            <a:pPr marL="27940" lvl="0" indent="0">
              <a:buNone/>
            </a:pPr>
            <a:r>
              <a:rPr lang="en-GB" dirty="0"/>
              <a:t>CUDA/driver setup took a bit longer than planned</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did you learn? </a:t>
            </a:r>
            <a:endParaRPr lang="en" dirty="0" smtClean="0"/>
          </a:p>
          <a:p>
            <a:pPr marL="27940" lvl="0" indent="0">
              <a:buNone/>
            </a:pPr>
            <a:r>
              <a:rPr lang="en-GB" dirty="0" smtClean="0"/>
              <a:t>The </a:t>
            </a:r>
            <a:r>
              <a:rPr lang="en-GB" dirty="0"/>
              <a:t>one-stage/two-stage trade-off literature, and why rule-based scoring is easier to justify than a learned one</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could be added as an Action point looking forward to next week</a:t>
            </a:r>
            <a:r>
              <a:rPr lang="en" dirty="0" smtClean="0"/>
              <a:t>?</a:t>
            </a:r>
          </a:p>
          <a:p>
            <a:pPr marL="27940" lvl="0" indent="0">
              <a:buNone/>
            </a:pPr>
            <a:r>
              <a:rPr lang="en" dirty="0" smtClean="0"/>
              <a:t>Action point for the next week is to start </a:t>
            </a:r>
            <a:r>
              <a:rPr lang="en-GB" dirty="0"/>
              <a:t>RDD2022 exploration and the small </a:t>
            </a:r>
            <a:r>
              <a:rPr lang="en-GB" dirty="0" smtClean="0"/>
              <a:t>dataset.</a:t>
            </a:r>
            <a:endParaRPr dirty="0"/>
          </a:p>
        </p:txBody>
      </p:sp>
      <p:sp>
        <p:nvSpPr>
          <p:cNvPr id="165" name="Google Shape;165;p20"/>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1/2</a:t>
            </a:r>
            <a:endParaRPr dirty="0"/>
          </a:p>
        </p:txBody>
      </p:sp>
      <p:sp>
        <p:nvSpPr>
          <p:cNvPr id="166" name="Google Shape;166;p20"/>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a:t>
            </a:r>
            <a:endParaRPr/>
          </a:p>
        </p:txBody>
      </p:sp>
      <p:sp>
        <p:nvSpPr>
          <p:cNvPr id="167" name="Google Shape;167;p20"/>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1"/>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Week 1 - Feedback</a:t>
            </a:r>
            <a:endParaRPr dirty="0"/>
          </a:p>
        </p:txBody>
      </p:sp>
      <p:sp>
        <p:nvSpPr>
          <p:cNvPr id="173" name="Google Shape;173;p21"/>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dirty="0"/>
              <a:t>manager, colleague, or team member feedback</a:t>
            </a:r>
            <a:endParaRPr dirty="0"/>
          </a:p>
        </p:txBody>
      </p:sp>
      <p:sp>
        <p:nvSpPr>
          <p:cNvPr id="174" name="Google Shape;174;p21"/>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r>
              <a:rPr lang="en-GB" b="1" dirty="0"/>
              <a:t>D</a:t>
            </a:r>
            <a:r>
              <a:rPr lang="en" b="1" dirty="0"/>
              <a:t>ate</a:t>
            </a:r>
            <a:r>
              <a:rPr lang="en" b="1" dirty="0" smtClean="0"/>
              <a:t>: </a:t>
            </a:r>
            <a:r>
              <a:rPr lang="en-GB" dirty="0"/>
              <a:t>17/04/2026</a:t>
            </a:r>
            <a:endParaRPr lang="en" b="1" dirty="0"/>
          </a:p>
          <a:p>
            <a:pPr marL="182880" lvl="0" indent="-154940"/>
            <a:r>
              <a:rPr lang="en" b="1" dirty="0"/>
              <a:t>Feedback from</a:t>
            </a:r>
            <a:r>
              <a:rPr lang="en" b="1" dirty="0" smtClean="0"/>
              <a:t>: </a:t>
            </a:r>
            <a:r>
              <a:rPr lang="en-GB" dirty="0"/>
              <a:t>Karna </a:t>
            </a:r>
            <a:r>
              <a:rPr lang="en-GB" dirty="0" err="1"/>
              <a:t>Rewatkar</a:t>
            </a:r>
            <a:r>
              <a:rPr lang="en-GB" dirty="0"/>
              <a:t> (</a:t>
            </a:r>
            <a:r>
              <a:rPr lang="en-GB" dirty="0" err="1"/>
              <a:t>BUas</a:t>
            </a:r>
            <a:r>
              <a:rPr lang="en-GB" dirty="0"/>
              <a:t> Supervisor)</a:t>
            </a:r>
            <a:endParaRPr lang="en" b="1" dirty="0"/>
          </a:p>
          <a:p>
            <a:pPr marL="182880" lvl="0" indent="-154940"/>
            <a:r>
              <a:rPr lang="en" b="1" dirty="0"/>
              <a:t>Feedback</a:t>
            </a:r>
            <a:r>
              <a:rPr lang="en" b="1" dirty="0" smtClean="0"/>
              <a:t>: </a:t>
            </a:r>
            <a:r>
              <a:rPr lang="en-GB" dirty="0"/>
              <a:t>Everything is off to a solid start. The choice between YOLOv8n and Faster R-CNN is well reasoned, and going with a rule-based rather than learned risk score is the right call for something a municipality would need to trust and audit. Good that H1-H4 were pinned down this early </a:t>
            </a:r>
            <a:r>
              <a:rPr lang="en-GB" dirty="0" smtClean="0"/>
              <a:t>- </a:t>
            </a:r>
            <a:r>
              <a:rPr lang="en-GB" dirty="0"/>
              <a:t>it gives the rest of the project fixed targets to work against.</a:t>
            </a:r>
          </a:p>
          <a:p>
            <a:pPr marL="182880" lvl="0" indent="-154940" algn="l" rtl="0">
              <a:spcBef>
                <a:spcPts val="0"/>
              </a:spcBef>
              <a:spcAft>
                <a:spcPts val="0"/>
              </a:spcAft>
              <a:buSzPts val="1000"/>
              <a:buChar char="●"/>
            </a:pPr>
            <a:endParaRPr lang="en" b="1" dirty="0"/>
          </a:p>
          <a:p>
            <a:pPr marL="182880" lvl="0" indent="-154940"/>
            <a:r>
              <a:rPr lang="en" b="1" dirty="0"/>
              <a:t>Related to what task: </a:t>
            </a:r>
            <a:r>
              <a:rPr lang="en-GB" dirty="0" smtClean="0"/>
              <a:t>A</a:t>
            </a:r>
            <a:r>
              <a:rPr lang="en-GB" dirty="0" smtClean="0"/>
              <a:t>rchitecture </a:t>
            </a:r>
            <a:r>
              <a:rPr lang="en-GB" dirty="0"/>
              <a:t>decision and risk-scoring approach</a:t>
            </a:r>
            <a:endParaRPr lang="en" dirty="0"/>
          </a:p>
          <a:p>
            <a:pPr marL="182880" lvl="0" indent="-154940"/>
            <a:r>
              <a:rPr lang="en" b="1" dirty="0"/>
              <a:t>Response/action coming forward from this: </a:t>
            </a:r>
            <a:r>
              <a:rPr lang="en-GB" dirty="0" smtClean="0"/>
              <a:t>P</a:t>
            </a:r>
            <a:r>
              <a:rPr lang="en-GB" dirty="0" smtClean="0"/>
              <a:t>roceed </a:t>
            </a:r>
            <a:r>
              <a:rPr lang="en-GB" dirty="0"/>
              <a:t>to dataset exploration and the first small-scale dataset build.</a:t>
            </a:r>
            <a:endParaRPr lang="en" dirty="0" smtClean="0"/>
          </a:p>
        </p:txBody>
      </p:sp>
      <p:sp>
        <p:nvSpPr>
          <p:cNvPr id="175" name="Google Shape;175;p21"/>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2/2</a:t>
            </a:r>
            <a:endParaRPr/>
          </a:p>
        </p:txBody>
      </p:sp>
      <p:sp>
        <p:nvSpPr>
          <p:cNvPr id="176" name="Google Shape;176;p21"/>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1</a:t>
            </a:r>
            <a:endParaRPr dirty="0"/>
          </a:p>
        </p:txBody>
      </p:sp>
      <p:sp>
        <p:nvSpPr>
          <p:cNvPr id="2" name="TextBox 1">
            <a:extLst>
              <a:ext uri="{FF2B5EF4-FFF2-40B4-BE49-F238E27FC236}">
                <a16:creationId xmlns:a16="http://schemas.microsoft.com/office/drawing/2014/main" id="{7D431F1F-F634-7FA5-06F3-E9A2BA1F45DE}"/>
              </a:ext>
            </a:extLst>
          </p:cNvPr>
          <p:cNvSpPr txBox="1"/>
          <p:nvPr/>
        </p:nvSpPr>
        <p:spPr>
          <a:xfrm>
            <a:off x="6464538" y="4711181"/>
            <a:ext cx="2496587" cy="253916"/>
          </a:xfrm>
          <a:prstGeom prst="rect">
            <a:avLst/>
          </a:prstGeom>
          <a:solidFill>
            <a:schemeClr val="bg1"/>
          </a:solid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050" dirty="0">
                <a:hlinkClick r:id="rId3"/>
              </a:rPr>
              <a:t>Click for feedback delivery techniques!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0"/>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r>
              <a:rPr lang="en" dirty="0"/>
              <a:t>Week 2 - Log</a:t>
            </a:r>
            <a:endParaRPr lang="en-US" dirty="0"/>
          </a:p>
        </p:txBody>
      </p:sp>
      <p:sp>
        <p:nvSpPr>
          <p:cNvPr id="161" name="Google Shape;161;p20"/>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162" name="Google Shape;162;p20"/>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163" name="Google Shape;163;p20"/>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r>
              <a:rPr lang="en" dirty="0" smtClean="0"/>
              <a:t>?</a:t>
            </a:r>
          </a:p>
          <a:p>
            <a:pPr marL="27940" lvl="0" indent="0">
              <a:buNone/>
            </a:pPr>
            <a:r>
              <a:rPr lang="en-GB" dirty="0"/>
              <a:t>E</a:t>
            </a:r>
            <a:r>
              <a:rPr lang="en-GB" dirty="0" smtClean="0"/>
              <a:t>xplore </a:t>
            </a:r>
            <a:r>
              <a:rPr lang="en-GB" dirty="0"/>
              <a:t>RDD2022, decide which classes to keep, build the small dataset</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have you actually been able to do? </a:t>
            </a:r>
            <a:endParaRPr lang="en" dirty="0" smtClean="0"/>
          </a:p>
          <a:p>
            <a:pPr marL="27940" lvl="0" indent="0">
              <a:buNone/>
            </a:pPr>
            <a:r>
              <a:rPr lang="en-GB" dirty="0" smtClean="0"/>
              <a:t>Downloaded/Explored </a:t>
            </a:r>
            <a:r>
              <a:rPr lang="en-GB" dirty="0"/>
              <a:t>RDD2022; decided to keep 4 classes, filter the 5th; wrote the annotation conversion script; built the small dataset (277/60/60) and verified it; researched CVAT; planned the app's page structure</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Showcase what tasks you have been working on this week and provide evidence for it</a:t>
            </a:r>
            <a:r>
              <a:rPr lang="en" dirty="0" smtClean="0"/>
              <a:t>.</a:t>
            </a:r>
          </a:p>
          <a:p>
            <a:pPr marL="182880" lvl="0" indent="-154940" algn="l" rtl="0">
              <a:spcBef>
                <a:spcPts val="0"/>
              </a:spcBef>
              <a:spcAft>
                <a:spcPts val="0"/>
              </a:spcAft>
              <a:buSzPts val="1000"/>
              <a:buChar char="●"/>
            </a:pPr>
            <a:endParaRPr lang="en" dirty="0"/>
          </a:p>
          <a:p>
            <a:pPr marL="27940" lvl="0" indent="0">
              <a:buNone/>
            </a:pPr>
            <a:r>
              <a:rPr lang="en-GB" dirty="0"/>
              <a:t>data/processed/small/ built and verified; conversion script in scripts/.</a:t>
            </a:r>
            <a:endParaRPr dirty="0"/>
          </a:p>
        </p:txBody>
      </p:sp>
      <p:sp>
        <p:nvSpPr>
          <p:cNvPr id="164" name="Google Shape;164;p20"/>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r>
              <a:rPr lang="en" dirty="0"/>
              <a:t>How did the week </a:t>
            </a:r>
            <a:r>
              <a:rPr lang="en" dirty="0" smtClean="0"/>
              <a:t>go?</a:t>
            </a:r>
          </a:p>
          <a:p>
            <a:pPr marL="27940" lvl="0" indent="0">
              <a:buNone/>
            </a:pPr>
            <a:r>
              <a:rPr lang="en" dirty="0" smtClean="0"/>
              <a:t>It was a </a:t>
            </a:r>
            <a:r>
              <a:rPr lang="en-GB" dirty="0" smtClean="0"/>
              <a:t>productive </a:t>
            </a:r>
            <a:r>
              <a:rPr lang="en-GB" dirty="0"/>
              <a:t>exploration week</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went well? </a:t>
            </a:r>
            <a:endParaRPr lang="en" dirty="0" smtClean="0"/>
          </a:p>
          <a:p>
            <a:pPr marL="27940" lvl="0" indent="0">
              <a:buNone/>
            </a:pPr>
            <a:r>
              <a:rPr lang="en-GB" dirty="0"/>
              <a:t>RDD2022's structure was well documented, so conversion was straightforward</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didn’t go so well? </a:t>
            </a:r>
            <a:endParaRPr lang="en" dirty="0" smtClean="0"/>
          </a:p>
          <a:p>
            <a:pPr marL="27940" lvl="0" indent="0">
              <a:buNone/>
            </a:pPr>
            <a:r>
              <a:rPr lang="en-GB" dirty="0"/>
              <a:t>T</a:t>
            </a:r>
            <a:r>
              <a:rPr lang="en-GB" dirty="0" smtClean="0"/>
              <a:t>he </a:t>
            </a:r>
            <a:r>
              <a:rPr lang="en-GB" dirty="0"/>
              <a:t>raw folder structure needed more </a:t>
            </a:r>
            <a:r>
              <a:rPr lang="en-GB" dirty="0" smtClean="0"/>
              <a:t>clean-up </a:t>
            </a:r>
            <a:r>
              <a:rPr lang="en-GB" dirty="0"/>
              <a:t>than expected</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did you learn? </a:t>
            </a:r>
            <a:endParaRPr lang="en" dirty="0" smtClean="0"/>
          </a:p>
          <a:p>
            <a:pPr marL="27940" lvl="0" indent="0">
              <a:buNone/>
            </a:pPr>
            <a:r>
              <a:rPr lang="en-GB" dirty="0" smtClean="0"/>
              <a:t>How </a:t>
            </a:r>
            <a:r>
              <a:rPr lang="en-GB" dirty="0"/>
              <a:t>skewed RDD2022's country/class distribution is </a:t>
            </a:r>
            <a:r>
              <a:rPr lang="en-GB" dirty="0" smtClean="0"/>
              <a:t>- </a:t>
            </a:r>
            <a:r>
              <a:rPr lang="en-GB" dirty="0"/>
              <a:t>relevant for later balancing</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could be added as an Action point looking forward to next week</a:t>
            </a:r>
            <a:r>
              <a:rPr lang="en" dirty="0" smtClean="0"/>
              <a:t>?</a:t>
            </a:r>
          </a:p>
          <a:p>
            <a:pPr marL="27940" lvl="0" indent="0" algn="l" rtl="0">
              <a:spcBef>
                <a:spcPts val="0"/>
              </a:spcBef>
              <a:spcAft>
                <a:spcPts val="0"/>
              </a:spcAft>
              <a:buSzPts val="1000"/>
              <a:buNone/>
            </a:pPr>
            <a:r>
              <a:rPr lang="en" dirty="0" smtClean="0"/>
              <a:t>Action point for the next wekk is to train the first models on the small dataset.</a:t>
            </a:r>
          </a:p>
          <a:p>
            <a:pPr marL="27940" lvl="0" indent="0" algn="l" rtl="0">
              <a:spcBef>
                <a:spcPts val="0"/>
              </a:spcBef>
              <a:spcAft>
                <a:spcPts val="0"/>
              </a:spcAft>
              <a:buSzPts val="1000"/>
              <a:buNone/>
            </a:pPr>
            <a:endParaRPr dirty="0"/>
          </a:p>
        </p:txBody>
      </p:sp>
      <p:sp>
        <p:nvSpPr>
          <p:cNvPr id="165" name="Google Shape;165;p20"/>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1/2</a:t>
            </a:r>
            <a:endParaRPr dirty="0"/>
          </a:p>
        </p:txBody>
      </p:sp>
      <p:sp>
        <p:nvSpPr>
          <p:cNvPr id="166" name="Google Shape;166;p20"/>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2</a:t>
            </a:r>
            <a:endParaRPr dirty="0"/>
          </a:p>
        </p:txBody>
      </p:sp>
      <p:sp>
        <p:nvSpPr>
          <p:cNvPr id="167" name="Google Shape;167;p20"/>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296134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1"/>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Week 2 - Feedback</a:t>
            </a:r>
            <a:endParaRPr dirty="0"/>
          </a:p>
        </p:txBody>
      </p:sp>
      <p:sp>
        <p:nvSpPr>
          <p:cNvPr id="173" name="Google Shape;173;p21"/>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dirty="0"/>
              <a:t>manager, colleague, or team member feedback</a:t>
            </a:r>
            <a:endParaRPr dirty="0"/>
          </a:p>
        </p:txBody>
      </p:sp>
      <p:sp>
        <p:nvSpPr>
          <p:cNvPr id="174" name="Google Shape;174;p21"/>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r>
              <a:rPr lang="en-GB" b="1" dirty="0"/>
              <a:t>D</a:t>
            </a:r>
            <a:r>
              <a:rPr lang="en" b="1" dirty="0"/>
              <a:t>ate</a:t>
            </a:r>
            <a:r>
              <a:rPr lang="en" b="1" dirty="0"/>
              <a:t>: </a:t>
            </a:r>
            <a:r>
              <a:rPr lang="en" dirty="0"/>
              <a:t>22/04/2026</a:t>
            </a:r>
            <a:endParaRPr lang="en" dirty="0"/>
          </a:p>
          <a:p>
            <a:pPr marL="182880" lvl="0" indent="-154940" algn="l" rtl="0">
              <a:spcBef>
                <a:spcPts val="0"/>
              </a:spcBef>
              <a:spcAft>
                <a:spcPts val="0"/>
              </a:spcAft>
              <a:buSzPts val="1000"/>
              <a:buChar char="●"/>
            </a:pPr>
            <a:r>
              <a:rPr lang="en" b="1" dirty="0"/>
              <a:t>Feedback from</a:t>
            </a:r>
            <a:r>
              <a:rPr lang="en" b="1" dirty="0" smtClean="0"/>
              <a:t>: </a:t>
            </a:r>
            <a:r>
              <a:rPr lang="en" dirty="0" smtClean="0"/>
              <a:t>Karna Rewatkar (Supervisor)</a:t>
            </a:r>
            <a:endParaRPr lang="en" dirty="0"/>
          </a:p>
          <a:p>
            <a:pPr marL="182880" lvl="0" indent="-154940"/>
            <a:r>
              <a:rPr lang="en" b="1" dirty="0"/>
              <a:t>Feedback</a:t>
            </a:r>
            <a:r>
              <a:rPr lang="en" b="1" dirty="0" smtClean="0"/>
              <a:t>: </a:t>
            </a:r>
            <a:r>
              <a:rPr lang="en-GB" dirty="0"/>
              <a:t>It's a smart move to validate the pipeline on a small dataset before scaling up rather than jumping straight to the full RDD2022 set. The decision to keep only four damage classes looks sensible given the risk-scoring model you described. Just make sure that reasoning is written down somewhere now, while it's still fresh, so you're not reconstructing it later for the thesis</a:t>
            </a:r>
            <a:r>
              <a:rPr lang="en-GB" dirty="0" smtClean="0"/>
              <a:t>.</a:t>
            </a:r>
          </a:p>
          <a:p>
            <a:pPr marL="182880" lvl="0" indent="-154940"/>
            <a:endParaRPr lang="en" dirty="0"/>
          </a:p>
          <a:p>
            <a:pPr marL="182880" lvl="0" indent="-154940"/>
            <a:r>
              <a:rPr lang="en" b="1" dirty="0"/>
              <a:t>Related to what task: </a:t>
            </a:r>
            <a:r>
              <a:rPr lang="en-GB" dirty="0" smtClean="0"/>
              <a:t>S</a:t>
            </a:r>
            <a:r>
              <a:rPr lang="en-GB" dirty="0" smtClean="0"/>
              <a:t>mall </a:t>
            </a:r>
            <a:r>
              <a:rPr lang="en-GB" dirty="0"/>
              <a:t>dataset build and 4-class filtering decision.</a:t>
            </a:r>
            <a:endParaRPr lang="en" dirty="0"/>
          </a:p>
          <a:p>
            <a:pPr marL="182880" lvl="0" indent="-154940"/>
            <a:r>
              <a:rPr lang="en" b="1" dirty="0"/>
              <a:t>Response/action coming forward from this: </a:t>
            </a:r>
            <a:r>
              <a:rPr lang="en-GB" dirty="0" smtClean="0"/>
              <a:t>D</a:t>
            </a:r>
            <a:r>
              <a:rPr lang="en-GB" dirty="0" smtClean="0"/>
              <a:t>ocumented </a:t>
            </a:r>
            <a:r>
              <a:rPr lang="en-GB" dirty="0"/>
              <a:t>the decision in the dataset-construction notes.</a:t>
            </a:r>
          </a:p>
          <a:p>
            <a:pPr marL="182880" lvl="0" indent="-154940" algn="l" rtl="0">
              <a:spcBef>
                <a:spcPts val="0"/>
              </a:spcBef>
              <a:spcAft>
                <a:spcPts val="0"/>
              </a:spcAft>
              <a:buSzPts val="1000"/>
              <a:buChar char="●"/>
            </a:pPr>
            <a:endParaRPr lang="en" b="1" dirty="0"/>
          </a:p>
        </p:txBody>
      </p:sp>
      <p:sp>
        <p:nvSpPr>
          <p:cNvPr id="175" name="Google Shape;175;p21"/>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2/2</a:t>
            </a:r>
            <a:endParaRPr/>
          </a:p>
        </p:txBody>
      </p:sp>
      <p:sp>
        <p:nvSpPr>
          <p:cNvPr id="176" name="Google Shape;176;p21"/>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2</a:t>
            </a:r>
            <a:endParaRPr dirty="0"/>
          </a:p>
        </p:txBody>
      </p:sp>
    </p:spTree>
    <p:extLst>
      <p:ext uri="{BB962C8B-B14F-4D97-AF65-F5344CB8AC3E}">
        <p14:creationId xmlns:p14="http://schemas.microsoft.com/office/powerpoint/2010/main" val="22575580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0"/>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r>
              <a:rPr lang="en" dirty="0"/>
              <a:t>Week 3 - Log</a:t>
            </a:r>
            <a:endParaRPr lang="en-US" dirty="0"/>
          </a:p>
        </p:txBody>
      </p:sp>
      <p:sp>
        <p:nvSpPr>
          <p:cNvPr id="161" name="Google Shape;161;p20"/>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162" name="Google Shape;162;p20"/>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163" name="Google Shape;163;p20"/>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r>
              <a:rPr lang="en" dirty="0" smtClean="0"/>
              <a:t>?</a:t>
            </a:r>
          </a:p>
          <a:p>
            <a:pPr marL="27940" lvl="0" indent="0">
              <a:buNone/>
            </a:pPr>
            <a:r>
              <a:rPr lang="en" dirty="0" smtClean="0"/>
              <a:t>Goals for this weeks are to </a:t>
            </a:r>
            <a:r>
              <a:rPr lang="en-GB" dirty="0"/>
              <a:t>train the first models on the small </a:t>
            </a:r>
            <a:r>
              <a:rPr lang="en-GB" dirty="0" smtClean="0"/>
              <a:t>dataset and start </a:t>
            </a:r>
            <a:r>
              <a:rPr lang="en-GB" dirty="0"/>
              <a:t>researching the geospatial/app layers</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have you actually been able to do? </a:t>
            </a:r>
            <a:endParaRPr lang="en" dirty="0" smtClean="0"/>
          </a:p>
          <a:p>
            <a:pPr marL="27940" lvl="0" indent="0">
              <a:buNone/>
            </a:pPr>
            <a:r>
              <a:rPr lang="en-GB" dirty="0"/>
              <a:t>W</a:t>
            </a:r>
            <a:r>
              <a:rPr lang="en-GB" dirty="0" smtClean="0"/>
              <a:t>rote </a:t>
            </a:r>
            <a:r>
              <a:rPr lang="en-GB" dirty="0"/>
              <a:t>both training </a:t>
            </a:r>
            <a:r>
              <a:rPr lang="en-GB" dirty="0" err="1"/>
              <a:t>configs</a:t>
            </a:r>
            <a:r>
              <a:rPr lang="en-GB" dirty="0"/>
              <a:t>, fixed an early Faster R-CNN memory error, trained and evaluated both models; researched </a:t>
            </a:r>
            <a:r>
              <a:rPr lang="en-GB" dirty="0" err="1"/>
              <a:t>OSMnx</a:t>
            </a:r>
            <a:r>
              <a:rPr lang="en-GB" dirty="0"/>
              <a:t>/Folium; drafted the pipeline diagram</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Showcase what tasks you have been working on this week and provide evidence for </a:t>
            </a:r>
            <a:r>
              <a:rPr lang="en" dirty="0" smtClean="0"/>
              <a:t>it.</a:t>
            </a:r>
          </a:p>
          <a:p>
            <a:pPr marL="27940" lvl="0" indent="0" algn="l" rtl="0">
              <a:spcBef>
                <a:spcPts val="0"/>
              </a:spcBef>
              <a:spcAft>
                <a:spcPts val="0"/>
              </a:spcAft>
              <a:buSzPts val="1000"/>
              <a:buNone/>
            </a:pPr>
            <a:endParaRPr lang="en" dirty="0" smtClean="0"/>
          </a:p>
          <a:p>
            <a:pPr marL="27940" lvl="0" indent="0">
              <a:buNone/>
            </a:pPr>
            <a:r>
              <a:rPr lang="en-GB" dirty="0"/>
              <a:t>first checkpoints in runs/; first evaluation numbers in outputs/reports/.</a:t>
            </a:r>
            <a:endParaRPr dirty="0"/>
          </a:p>
        </p:txBody>
      </p:sp>
      <p:sp>
        <p:nvSpPr>
          <p:cNvPr id="164" name="Google Shape;164;p20"/>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 </a:t>
            </a:r>
            <a:endParaRPr lang="en" dirty="0"/>
          </a:p>
          <a:p>
            <a:pPr marL="27940" lvl="0" indent="0">
              <a:buNone/>
            </a:pPr>
            <a:r>
              <a:rPr lang="en" dirty="0" smtClean="0"/>
              <a:t>The week was </a:t>
            </a:r>
            <a:r>
              <a:rPr lang="en-GB" dirty="0"/>
              <a:t>encouraging, both models trained successfully</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went well? </a:t>
            </a:r>
            <a:endParaRPr lang="en" dirty="0" smtClean="0"/>
          </a:p>
          <a:p>
            <a:pPr marL="27940" lvl="0" indent="0">
              <a:buNone/>
            </a:pPr>
            <a:r>
              <a:rPr lang="en-GB" dirty="0"/>
              <a:t>YOLOv8n trained cleanly with sane (if low) small-dataset numbers</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didn’t go so well? </a:t>
            </a:r>
            <a:endParaRPr lang="en" dirty="0" smtClean="0"/>
          </a:p>
          <a:p>
            <a:pPr marL="27940" lvl="0" indent="0">
              <a:buNone/>
            </a:pPr>
            <a:r>
              <a:rPr lang="en-GB" dirty="0"/>
              <a:t>Faster R-CNN needed gradient accumulation and mixed precision to fit an 8GB GPU</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did you learn? </a:t>
            </a:r>
            <a:endParaRPr lang="en" dirty="0" smtClean="0"/>
          </a:p>
          <a:p>
            <a:pPr marL="27940" lvl="0" indent="0">
              <a:buNone/>
            </a:pPr>
            <a:r>
              <a:rPr lang="en-GB" dirty="0"/>
              <a:t>H</a:t>
            </a:r>
            <a:r>
              <a:rPr lang="en-GB" dirty="0" smtClean="0"/>
              <a:t>ow </a:t>
            </a:r>
            <a:r>
              <a:rPr lang="en-GB" dirty="0"/>
              <a:t>to tune batch size/accumulation/mixed precision for a memory-constrained two-stage detector</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could be added as an Action point looking forward to next week</a:t>
            </a:r>
            <a:r>
              <a:rPr lang="en" dirty="0" smtClean="0"/>
              <a:t>?</a:t>
            </a:r>
          </a:p>
          <a:p>
            <a:pPr marL="27940" lvl="0" indent="0">
              <a:buNone/>
            </a:pPr>
            <a:r>
              <a:rPr lang="en" dirty="0" smtClean="0"/>
              <a:t>Action point for the next week is to </a:t>
            </a:r>
            <a:r>
              <a:rPr lang="en-GB" dirty="0"/>
              <a:t>design and implement the risk-scoring model.</a:t>
            </a:r>
            <a:endParaRPr dirty="0"/>
          </a:p>
        </p:txBody>
      </p:sp>
      <p:sp>
        <p:nvSpPr>
          <p:cNvPr id="165" name="Google Shape;165;p20"/>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1/2</a:t>
            </a:r>
            <a:endParaRPr dirty="0"/>
          </a:p>
        </p:txBody>
      </p:sp>
      <p:sp>
        <p:nvSpPr>
          <p:cNvPr id="166" name="Google Shape;166;p20"/>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3</a:t>
            </a:r>
            <a:endParaRPr dirty="0"/>
          </a:p>
        </p:txBody>
      </p:sp>
      <p:sp>
        <p:nvSpPr>
          <p:cNvPr id="167" name="Google Shape;167;p20"/>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389890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1"/>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Week 3 - Feedback</a:t>
            </a:r>
            <a:endParaRPr dirty="0"/>
          </a:p>
        </p:txBody>
      </p:sp>
      <p:sp>
        <p:nvSpPr>
          <p:cNvPr id="173" name="Google Shape;173;p21"/>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dirty="0"/>
              <a:t>manager, colleague, or team member feedback</a:t>
            </a:r>
            <a:endParaRPr dirty="0"/>
          </a:p>
        </p:txBody>
      </p:sp>
      <p:sp>
        <p:nvSpPr>
          <p:cNvPr id="174" name="Google Shape;174;p21"/>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r>
              <a:rPr lang="en-GB" b="1" dirty="0"/>
              <a:t>D</a:t>
            </a:r>
            <a:r>
              <a:rPr lang="en" b="1" dirty="0"/>
              <a:t>ate</a:t>
            </a:r>
            <a:r>
              <a:rPr lang="en" b="1" dirty="0"/>
              <a:t>: </a:t>
            </a:r>
            <a:r>
              <a:rPr lang="en" dirty="0"/>
              <a:t>29/04/2026</a:t>
            </a:r>
            <a:endParaRPr lang="en" dirty="0"/>
          </a:p>
          <a:p>
            <a:pPr marL="182880" lvl="0" indent="-154940"/>
            <a:r>
              <a:rPr lang="en" b="1" dirty="0"/>
              <a:t>Feedback from</a:t>
            </a:r>
            <a:r>
              <a:rPr lang="en" b="1" dirty="0" smtClean="0"/>
              <a:t>: </a:t>
            </a:r>
            <a:r>
              <a:rPr lang="en-GB" dirty="0"/>
              <a:t>Karna </a:t>
            </a:r>
            <a:r>
              <a:rPr lang="en-GB" dirty="0" err="1"/>
              <a:t>Rewatkar</a:t>
            </a:r>
            <a:r>
              <a:rPr lang="en-GB" dirty="0"/>
              <a:t> (Supervisor)</a:t>
            </a:r>
            <a:endParaRPr lang="en" dirty="0"/>
          </a:p>
          <a:p>
            <a:pPr marL="182880" lvl="0" indent="-154940"/>
            <a:r>
              <a:rPr lang="en" b="1" dirty="0"/>
              <a:t>Feedback</a:t>
            </a:r>
            <a:r>
              <a:rPr lang="en" b="1" dirty="0" smtClean="0"/>
              <a:t>: </a:t>
            </a:r>
            <a:r>
              <a:rPr lang="en-GB" dirty="0"/>
              <a:t>Everything is off to a solid start. The choice between YOLOv8n and Faster R-CNN is well reasoned, and going with a rule-based rather than learned risk score is the right call for something a municipality would need to trust and audit. Good that H1-H4 were pinned down this early </a:t>
            </a:r>
            <a:r>
              <a:rPr lang="en-GB" dirty="0" smtClean="0"/>
              <a:t>- </a:t>
            </a:r>
            <a:r>
              <a:rPr lang="en-GB" dirty="0"/>
              <a:t>it gives the rest of the project fixed targets to work against.</a:t>
            </a:r>
            <a:endParaRPr lang="en" dirty="0"/>
          </a:p>
          <a:p>
            <a:pPr marL="182880" lvl="0" indent="-154940"/>
            <a:r>
              <a:rPr lang="en" b="1" dirty="0"/>
              <a:t>Related to what task: </a:t>
            </a:r>
            <a:r>
              <a:rPr lang="en-GB" dirty="0" smtClean="0"/>
              <a:t>A</a:t>
            </a:r>
            <a:r>
              <a:rPr lang="en-GB" dirty="0" smtClean="0"/>
              <a:t>rchitecture </a:t>
            </a:r>
            <a:r>
              <a:rPr lang="en-GB" dirty="0"/>
              <a:t>decision and risk-scoring approach</a:t>
            </a:r>
            <a:endParaRPr lang="en" dirty="0"/>
          </a:p>
          <a:p>
            <a:pPr marL="182880" lvl="0" indent="-154940"/>
            <a:r>
              <a:rPr lang="en" b="1" dirty="0"/>
              <a:t>Response/action coming forward from this: </a:t>
            </a:r>
            <a:r>
              <a:rPr lang="en-GB" dirty="0" smtClean="0"/>
              <a:t>P</a:t>
            </a:r>
            <a:r>
              <a:rPr lang="en-GB" dirty="0" smtClean="0"/>
              <a:t>roceed </a:t>
            </a:r>
            <a:r>
              <a:rPr lang="en-GB" dirty="0"/>
              <a:t>to dataset exploration and the first small-scale dataset build.</a:t>
            </a:r>
            <a:endParaRPr lang="en" dirty="0"/>
          </a:p>
        </p:txBody>
      </p:sp>
      <p:sp>
        <p:nvSpPr>
          <p:cNvPr id="175" name="Google Shape;175;p21"/>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2/2</a:t>
            </a:r>
            <a:endParaRPr/>
          </a:p>
        </p:txBody>
      </p:sp>
      <p:sp>
        <p:nvSpPr>
          <p:cNvPr id="176" name="Google Shape;176;p21"/>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3</a:t>
            </a:r>
            <a:endParaRPr dirty="0"/>
          </a:p>
        </p:txBody>
      </p:sp>
    </p:spTree>
    <p:extLst>
      <p:ext uri="{BB962C8B-B14F-4D97-AF65-F5344CB8AC3E}">
        <p14:creationId xmlns:p14="http://schemas.microsoft.com/office/powerpoint/2010/main" val="30987600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0"/>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r>
              <a:rPr lang="en" dirty="0"/>
              <a:t>Week 4 - Log</a:t>
            </a:r>
            <a:endParaRPr lang="en-US" dirty="0"/>
          </a:p>
        </p:txBody>
      </p:sp>
      <p:sp>
        <p:nvSpPr>
          <p:cNvPr id="161" name="Google Shape;161;p20"/>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162" name="Google Shape;162;p20"/>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163" name="Google Shape;163;p20"/>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r>
              <a:rPr lang="en" dirty="0" smtClean="0"/>
              <a:t>?</a:t>
            </a:r>
          </a:p>
          <a:p>
            <a:pPr marL="27940" lvl="0" indent="0">
              <a:buNone/>
            </a:pPr>
            <a:r>
              <a:rPr lang="en" dirty="0" smtClean="0"/>
              <a:t>Goal for the week is to </a:t>
            </a:r>
            <a:r>
              <a:rPr lang="en-GB" dirty="0"/>
              <a:t>design and implement the risk-scoring model</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have you actually been able to do? </a:t>
            </a:r>
            <a:endParaRPr lang="en" dirty="0" smtClean="0"/>
          </a:p>
          <a:p>
            <a:pPr marL="27940" lvl="0" indent="0">
              <a:buNone/>
            </a:pPr>
            <a:r>
              <a:rPr lang="en-GB" dirty="0"/>
              <a:t>designed the per-detection formula, confidence multiplier, and </a:t>
            </a:r>
            <a:r>
              <a:rPr lang="en-GB" dirty="0" err="1"/>
              <a:t>max+damped-rest</a:t>
            </a:r>
            <a:r>
              <a:rPr lang="en-GB" dirty="0"/>
              <a:t> combination rule; decided to exclude </a:t>
            </a:r>
            <a:r>
              <a:rPr lang="en-GB" dirty="0" err="1"/>
              <a:t>bbox</a:t>
            </a:r>
            <a:r>
              <a:rPr lang="en-GB" dirty="0"/>
              <a:t> size from severity; implemented and unit-tested the code</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Showcase what tasks you have been working on this week and provide evidence for it</a:t>
            </a:r>
            <a:r>
              <a:rPr lang="en" dirty="0" smtClean="0"/>
              <a:t>.</a:t>
            </a:r>
          </a:p>
          <a:p>
            <a:pPr marL="27940" lvl="0" indent="0">
              <a:buNone/>
            </a:pPr>
            <a:r>
              <a:rPr lang="en-GB" dirty="0" err="1"/>
              <a:t>src</a:t>
            </a:r>
            <a:r>
              <a:rPr lang="en-GB" dirty="0"/>
              <a:t>/risk/scoring.py, combine.py, observation_risk.py, </a:t>
            </a:r>
            <a:r>
              <a:rPr lang="en-GB" dirty="0" err="1"/>
              <a:t>risk_weights.yaml</a:t>
            </a:r>
            <a:r>
              <a:rPr lang="en-GB" dirty="0"/>
              <a:t>; passing edge-case tests.</a:t>
            </a:r>
            <a:endParaRPr dirty="0"/>
          </a:p>
        </p:txBody>
      </p:sp>
      <p:sp>
        <p:nvSpPr>
          <p:cNvPr id="164" name="Google Shape;164;p20"/>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 </a:t>
            </a:r>
            <a:endParaRPr lang="en" dirty="0"/>
          </a:p>
          <a:p>
            <a:pPr marL="27940" lvl="0" indent="0" algn="l" rtl="0">
              <a:spcBef>
                <a:spcPts val="0"/>
              </a:spcBef>
              <a:spcAft>
                <a:spcPts val="0"/>
              </a:spcAft>
              <a:buSzPts val="1000"/>
              <a:buNone/>
            </a:pPr>
            <a:r>
              <a:rPr lang="en" dirty="0" smtClean="0"/>
              <a:t>The week went smooth. The design took longer than implementation</a:t>
            </a:r>
          </a:p>
          <a:p>
            <a:pPr marL="27940" lvl="0" indent="0" algn="l" rtl="0">
              <a:spcBef>
                <a:spcPts val="0"/>
              </a:spcBef>
              <a:spcAft>
                <a:spcPts val="0"/>
              </a:spcAft>
              <a:buSzPts val="1000"/>
              <a:buNone/>
            </a:pPr>
            <a:endParaRPr dirty="0"/>
          </a:p>
          <a:p>
            <a:pPr marL="182880" lvl="0" indent="-154940" algn="l" rtl="0">
              <a:spcBef>
                <a:spcPts val="0"/>
              </a:spcBef>
              <a:spcAft>
                <a:spcPts val="0"/>
              </a:spcAft>
              <a:buSzPts val="1000"/>
              <a:buChar char="●"/>
            </a:pPr>
            <a:r>
              <a:rPr lang="en" dirty="0"/>
              <a:t>What went well? </a:t>
            </a:r>
            <a:endParaRPr lang="en" dirty="0" smtClean="0"/>
          </a:p>
          <a:p>
            <a:pPr marL="27940" lvl="0" indent="0">
              <a:buNone/>
            </a:pPr>
            <a:r>
              <a:rPr lang="en-GB" dirty="0"/>
              <a:t>T</a:t>
            </a:r>
            <a:r>
              <a:rPr lang="en-GB" dirty="0" smtClean="0"/>
              <a:t>he </a:t>
            </a:r>
            <a:r>
              <a:rPr lang="en-GB" dirty="0"/>
              <a:t>three design criteria (worst dominates, extra counts, confidence nudges) resolved disagreements about the formula quickly</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didn’t go so well? </a:t>
            </a:r>
            <a:endParaRPr lang="en" dirty="0" smtClean="0"/>
          </a:p>
          <a:p>
            <a:pPr marL="27940" lvl="0" indent="0">
              <a:buNone/>
            </a:pPr>
            <a:r>
              <a:rPr lang="en-GB" dirty="0"/>
              <a:t>J</a:t>
            </a:r>
            <a:r>
              <a:rPr lang="en-GB" dirty="0" smtClean="0"/>
              <a:t>ustifying </a:t>
            </a:r>
            <a:r>
              <a:rPr lang="en-GB" dirty="0"/>
              <a:t>the </a:t>
            </a:r>
            <a:r>
              <a:rPr lang="en-GB" dirty="0" err="1"/>
              <a:t>bbox</a:t>
            </a:r>
            <a:r>
              <a:rPr lang="en-GB" dirty="0"/>
              <a:t>-size exclusion needed care since it departs from H2's original wording</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did you learn? </a:t>
            </a:r>
            <a:endParaRPr lang="en" dirty="0" smtClean="0"/>
          </a:p>
          <a:p>
            <a:pPr marL="27940" lvl="0" indent="0">
              <a:buNone/>
            </a:pPr>
            <a:r>
              <a:rPr lang="en-GB" dirty="0" smtClean="0"/>
              <a:t>Learnt why </a:t>
            </a:r>
            <a:r>
              <a:rPr lang="en-GB" dirty="0" err="1"/>
              <a:t>bbox</a:t>
            </a:r>
            <a:r>
              <a:rPr lang="en-GB" dirty="0"/>
              <a:t> size is a poor severity proxy in a 2D photo</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could be added as an Action point looking forward to next week</a:t>
            </a:r>
            <a:r>
              <a:rPr lang="en" dirty="0" smtClean="0"/>
              <a:t>?</a:t>
            </a:r>
          </a:p>
          <a:p>
            <a:pPr marL="27940" lvl="0" indent="0">
              <a:buNone/>
            </a:pPr>
            <a:r>
              <a:rPr lang="en" dirty="0" smtClean="0"/>
              <a:t>Action point for the next week is to </a:t>
            </a:r>
            <a:r>
              <a:rPr lang="en-GB" dirty="0"/>
              <a:t>build geospatial matching and routing.</a:t>
            </a:r>
            <a:endParaRPr dirty="0"/>
          </a:p>
        </p:txBody>
      </p:sp>
      <p:sp>
        <p:nvSpPr>
          <p:cNvPr id="165" name="Google Shape;165;p20"/>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1/2</a:t>
            </a:r>
            <a:endParaRPr dirty="0"/>
          </a:p>
        </p:txBody>
      </p:sp>
      <p:sp>
        <p:nvSpPr>
          <p:cNvPr id="166" name="Google Shape;166;p20"/>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4</a:t>
            </a:r>
            <a:endParaRPr dirty="0"/>
          </a:p>
        </p:txBody>
      </p:sp>
      <p:sp>
        <p:nvSpPr>
          <p:cNvPr id="167" name="Google Shape;167;p20"/>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575888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1"/>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Week 4 - Feedback</a:t>
            </a:r>
            <a:endParaRPr dirty="0"/>
          </a:p>
        </p:txBody>
      </p:sp>
      <p:sp>
        <p:nvSpPr>
          <p:cNvPr id="173" name="Google Shape;173;p21"/>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dirty="0"/>
              <a:t>manager, colleague, or team member feedback</a:t>
            </a:r>
            <a:endParaRPr dirty="0"/>
          </a:p>
        </p:txBody>
      </p:sp>
      <p:sp>
        <p:nvSpPr>
          <p:cNvPr id="174" name="Google Shape;174;p21"/>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r>
              <a:rPr lang="en-GB" b="1" dirty="0"/>
              <a:t>D</a:t>
            </a:r>
            <a:r>
              <a:rPr lang="en" b="1" dirty="0"/>
              <a:t>ate</a:t>
            </a:r>
            <a:r>
              <a:rPr lang="en" b="1" dirty="0"/>
              <a:t>: </a:t>
            </a:r>
            <a:r>
              <a:rPr lang="en" dirty="0"/>
              <a:t>08/05/2026</a:t>
            </a:r>
            <a:endParaRPr lang="en" dirty="0"/>
          </a:p>
          <a:p>
            <a:pPr marL="182880" lvl="0" indent="-154940" algn="l" rtl="0">
              <a:spcBef>
                <a:spcPts val="0"/>
              </a:spcBef>
              <a:spcAft>
                <a:spcPts val="0"/>
              </a:spcAft>
              <a:buSzPts val="1000"/>
              <a:buChar char="●"/>
            </a:pPr>
            <a:r>
              <a:rPr lang="en" b="1" dirty="0"/>
              <a:t>Feedback from</a:t>
            </a:r>
            <a:r>
              <a:rPr lang="en" b="1" dirty="0" smtClean="0"/>
              <a:t>: </a:t>
            </a:r>
            <a:r>
              <a:rPr lang="en" dirty="0" smtClean="0"/>
              <a:t>Karna Rewtkar (Supervisor)</a:t>
            </a:r>
            <a:endParaRPr lang="en" b="1" dirty="0"/>
          </a:p>
          <a:p>
            <a:pPr marL="182880" lvl="0" indent="-154940"/>
            <a:r>
              <a:rPr lang="en" b="1" dirty="0"/>
              <a:t>Feedback</a:t>
            </a:r>
            <a:r>
              <a:rPr lang="en" b="1" dirty="0" smtClean="0"/>
              <a:t>: </a:t>
            </a:r>
            <a:r>
              <a:rPr lang="en" dirty="0" smtClean="0"/>
              <a:t>T</a:t>
            </a:r>
            <a:r>
              <a:rPr lang="en-GB" dirty="0" smtClean="0"/>
              <a:t>he </a:t>
            </a:r>
            <a:r>
              <a:rPr lang="en-GB" dirty="0"/>
              <a:t>risk-scoring design is clear and the three criteria you used to compare it against alternatives is a good way to justify the formula rather than just asserting it. Excluding bounding-box size is a reasonable engineering decision, but since it changes what H2 originally proposed, it needs to be flagged explicitly and early in the thesis rather than mentioned in passing. Otherwise this looks like a strong piece of design work.</a:t>
            </a:r>
            <a:endParaRPr lang="en" dirty="0"/>
          </a:p>
          <a:p>
            <a:pPr marL="182880" lvl="0" indent="-154940"/>
            <a:r>
              <a:rPr lang="en" b="1" dirty="0"/>
              <a:t>Related to what task: </a:t>
            </a:r>
            <a:r>
              <a:rPr lang="en-GB" dirty="0" smtClean="0"/>
              <a:t>R</a:t>
            </a:r>
            <a:r>
              <a:rPr lang="en-GB" dirty="0" smtClean="0"/>
              <a:t>isk-scoring </a:t>
            </a:r>
            <a:r>
              <a:rPr lang="en-GB" dirty="0"/>
              <a:t>formula design.</a:t>
            </a:r>
            <a:endParaRPr lang="en" dirty="0"/>
          </a:p>
          <a:p>
            <a:pPr marL="182880" lvl="0" indent="-154940"/>
            <a:r>
              <a:rPr lang="en" b="1" dirty="0"/>
              <a:t>Response/action coming forward from this: </a:t>
            </a:r>
            <a:r>
              <a:rPr lang="en-GB" dirty="0" smtClean="0"/>
              <a:t>A</a:t>
            </a:r>
            <a:r>
              <a:rPr lang="en-GB" dirty="0" smtClean="0"/>
              <a:t>dded </a:t>
            </a:r>
            <a:r>
              <a:rPr lang="en-GB" dirty="0"/>
              <a:t>an explicit statement of the deviation to the Methodology section.</a:t>
            </a:r>
            <a:endParaRPr lang="en" dirty="0"/>
          </a:p>
        </p:txBody>
      </p:sp>
      <p:sp>
        <p:nvSpPr>
          <p:cNvPr id="175" name="Google Shape;175;p21"/>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2/2</a:t>
            </a:r>
            <a:endParaRPr/>
          </a:p>
        </p:txBody>
      </p:sp>
      <p:sp>
        <p:nvSpPr>
          <p:cNvPr id="176" name="Google Shape;176;p21"/>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4</a:t>
            </a:r>
            <a:endParaRPr dirty="0"/>
          </a:p>
        </p:txBody>
      </p:sp>
    </p:spTree>
    <p:extLst>
      <p:ext uri="{BB962C8B-B14F-4D97-AF65-F5344CB8AC3E}">
        <p14:creationId xmlns:p14="http://schemas.microsoft.com/office/powerpoint/2010/main" val="39738398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0"/>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r>
              <a:rPr lang="en" dirty="0"/>
              <a:t>Week 5 - Log</a:t>
            </a:r>
            <a:endParaRPr lang="en-US" dirty="0"/>
          </a:p>
        </p:txBody>
      </p:sp>
      <p:sp>
        <p:nvSpPr>
          <p:cNvPr id="161" name="Google Shape;161;p20"/>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162" name="Google Shape;162;p20"/>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163" name="Google Shape;163;p20"/>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r>
              <a:rPr lang="en" dirty="0" smtClean="0"/>
              <a:t>?</a:t>
            </a:r>
          </a:p>
          <a:p>
            <a:pPr marL="27940" lvl="0" indent="0">
              <a:buNone/>
            </a:pPr>
            <a:r>
              <a:rPr lang="en" dirty="0" smtClean="0"/>
              <a:t>The goal for this week is to </a:t>
            </a:r>
            <a:r>
              <a:rPr lang="en-GB" dirty="0"/>
              <a:t>build minimal geospatial matching and routing to prove the full chain works</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have you actually been able to do? </a:t>
            </a:r>
            <a:endParaRPr lang="en" dirty="0" smtClean="0"/>
          </a:p>
          <a:p>
            <a:pPr marL="27940" lvl="0" indent="0">
              <a:buNone/>
            </a:pPr>
            <a:r>
              <a:rPr lang="en-GB" dirty="0"/>
              <a:t>S</a:t>
            </a:r>
            <a:r>
              <a:rPr lang="en-GB" dirty="0" smtClean="0"/>
              <a:t>et </a:t>
            </a:r>
            <a:r>
              <a:rPr lang="en-GB" dirty="0"/>
              <a:t>up and cached the Sofia OSM graph; implemented GPS-to-edge matching, segment-level risk aggregation, and the routing cost; confirmed the full chain end to end at script level; rough alpha calibration</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Showcase what tasks you have been working on this week and provide evidence for it</a:t>
            </a:r>
            <a:r>
              <a:rPr lang="en" dirty="0" smtClean="0"/>
              <a:t>.</a:t>
            </a:r>
          </a:p>
          <a:p>
            <a:pPr marL="27940" lvl="0" indent="0" algn="l" rtl="0">
              <a:spcBef>
                <a:spcPts val="0"/>
              </a:spcBef>
              <a:spcAft>
                <a:spcPts val="0"/>
              </a:spcAft>
              <a:buSzPts val="1000"/>
              <a:buNone/>
            </a:pPr>
            <a:endParaRPr lang="en" dirty="0"/>
          </a:p>
          <a:p>
            <a:pPr marL="27940" lvl="0" indent="0">
              <a:buNone/>
            </a:pPr>
            <a:r>
              <a:rPr lang="en-GB" dirty="0" err="1"/>
              <a:t>src</a:t>
            </a:r>
            <a:r>
              <a:rPr lang="en-GB" dirty="0"/>
              <a:t>/geospatial/, </a:t>
            </a:r>
            <a:r>
              <a:rPr lang="en-GB" dirty="0" err="1"/>
              <a:t>src</a:t>
            </a:r>
            <a:r>
              <a:rPr lang="en-GB" dirty="0"/>
              <a:t>/routing/router.py; working shortest-vs-risk-aware comparison on sample data.</a:t>
            </a:r>
            <a:endParaRPr dirty="0"/>
          </a:p>
        </p:txBody>
      </p:sp>
      <p:sp>
        <p:nvSpPr>
          <p:cNvPr id="164" name="Google Shape;164;p20"/>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 </a:t>
            </a:r>
            <a:endParaRPr lang="en" dirty="0" smtClean="0"/>
          </a:p>
          <a:p>
            <a:pPr marL="27940" lvl="0" indent="0" algn="l" rtl="0">
              <a:spcBef>
                <a:spcPts val="0"/>
              </a:spcBef>
              <a:spcAft>
                <a:spcPts val="0"/>
              </a:spcAft>
              <a:buSzPts val="1000"/>
              <a:buNone/>
            </a:pPr>
            <a:r>
              <a:rPr lang="en" dirty="0" smtClean="0"/>
              <a:t>The week went well, did the last piece before the app.</a:t>
            </a:r>
          </a:p>
          <a:p>
            <a:pPr marL="27940" lvl="0" indent="0" algn="l" rtl="0">
              <a:spcBef>
                <a:spcPts val="0"/>
              </a:spcBef>
              <a:spcAft>
                <a:spcPts val="0"/>
              </a:spcAft>
              <a:buSzPts val="1000"/>
              <a:buNone/>
            </a:pPr>
            <a:endParaRPr dirty="0"/>
          </a:p>
          <a:p>
            <a:pPr marL="182880" lvl="0" indent="-154940" algn="l" rtl="0">
              <a:spcBef>
                <a:spcPts val="0"/>
              </a:spcBef>
              <a:spcAft>
                <a:spcPts val="0"/>
              </a:spcAft>
              <a:buSzPts val="1000"/>
              <a:buChar char="●"/>
            </a:pPr>
            <a:r>
              <a:rPr lang="en" dirty="0"/>
              <a:t>What went well? </a:t>
            </a:r>
            <a:endParaRPr lang="en" dirty="0" smtClean="0"/>
          </a:p>
          <a:p>
            <a:pPr marL="27940" lvl="0" indent="0">
              <a:buNone/>
            </a:pPr>
            <a:r>
              <a:rPr lang="en-GB" dirty="0"/>
              <a:t>T</a:t>
            </a:r>
            <a:r>
              <a:rPr lang="en-GB" dirty="0" smtClean="0"/>
              <a:t>he </a:t>
            </a:r>
            <a:r>
              <a:rPr lang="en-GB" dirty="0"/>
              <a:t>chain worked end to end on the first proper attempt once the matching threshold was tuned</a:t>
            </a:r>
            <a:r>
              <a:rPr lang="en-GB" dirty="0" smtClean="0"/>
              <a:t>.</a:t>
            </a:r>
          </a:p>
          <a:p>
            <a:pPr marL="27940" lvl="0" indent="0">
              <a:buNone/>
            </a:pPr>
            <a:endParaRPr lang="en-GB" dirty="0" smtClean="0"/>
          </a:p>
          <a:p>
            <a:pPr marL="182880" lvl="0" indent="-154940" algn="l" rtl="0">
              <a:spcBef>
                <a:spcPts val="0"/>
              </a:spcBef>
              <a:spcAft>
                <a:spcPts val="0"/>
              </a:spcAft>
              <a:buSzPts val="1000"/>
              <a:buChar char="●"/>
            </a:pPr>
            <a:r>
              <a:rPr lang="en" dirty="0" smtClean="0"/>
              <a:t>What </a:t>
            </a:r>
            <a:r>
              <a:rPr lang="en" dirty="0"/>
              <a:t>didn’t go so well? </a:t>
            </a:r>
            <a:endParaRPr lang="en" dirty="0" smtClean="0"/>
          </a:p>
          <a:p>
            <a:pPr marL="27940" lvl="0" indent="0">
              <a:buNone/>
            </a:pPr>
            <a:r>
              <a:rPr lang="en-GB" dirty="0"/>
              <a:t>T</a:t>
            </a:r>
            <a:r>
              <a:rPr lang="en-GB" dirty="0" smtClean="0"/>
              <a:t>he </a:t>
            </a:r>
            <a:r>
              <a:rPr lang="en-GB" dirty="0"/>
              <a:t>OSM graph download was slow and needed local caching</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did you learn</a:t>
            </a:r>
            <a:r>
              <a:rPr lang="en" dirty="0" smtClean="0"/>
              <a:t>?</a:t>
            </a:r>
          </a:p>
          <a:p>
            <a:pPr marL="27940" lvl="0" indent="0">
              <a:buNone/>
            </a:pPr>
            <a:r>
              <a:rPr lang="en" dirty="0" smtClean="0"/>
              <a:t>I learnt </a:t>
            </a:r>
            <a:r>
              <a:rPr lang="en-GB" dirty="0"/>
              <a:t>how to match noisy GPS to the right edge, and why a distance threshold matters</a:t>
            </a:r>
            <a:r>
              <a:rPr lang="en-GB" dirty="0" smtClean="0"/>
              <a:t>.</a:t>
            </a:r>
          </a:p>
          <a:p>
            <a:pPr marL="27940" lvl="0" indent="0">
              <a:buNone/>
            </a:pPr>
            <a:r>
              <a:rPr lang="en" dirty="0" smtClean="0"/>
              <a:t> </a:t>
            </a:r>
            <a:endParaRPr dirty="0"/>
          </a:p>
          <a:p>
            <a:pPr marL="182880" lvl="0" indent="-154940" algn="l" rtl="0">
              <a:spcBef>
                <a:spcPts val="0"/>
              </a:spcBef>
              <a:spcAft>
                <a:spcPts val="0"/>
              </a:spcAft>
              <a:buSzPts val="1000"/>
              <a:buChar char="●"/>
            </a:pPr>
            <a:r>
              <a:rPr lang="en" dirty="0"/>
              <a:t>What could be added as an Action point looking forward to next week</a:t>
            </a:r>
            <a:r>
              <a:rPr lang="en" dirty="0" smtClean="0"/>
              <a:t>?</a:t>
            </a:r>
          </a:p>
          <a:p>
            <a:pPr marL="27940" lvl="0" indent="0">
              <a:buNone/>
            </a:pPr>
            <a:r>
              <a:rPr lang="en" dirty="0" smtClean="0"/>
              <a:t>As an Action Point for the next week is to </a:t>
            </a:r>
            <a:r>
              <a:rPr lang="en-GB" dirty="0"/>
              <a:t>build the first </a:t>
            </a:r>
            <a:r>
              <a:rPr lang="en-GB" dirty="0" err="1"/>
              <a:t>Streamlit</a:t>
            </a:r>
            <a:r>
              <a:rPr lang="en-GB" dirty="0"/>
              <a:t> app</a:t>
            </a:r>
            <a:endParaRPr dirty="0"/>
          </a:p>
        </p:txBody>
      </p:sp>
      <p:sp>
        <p:nvSpPr>
          <p:cNvPr id="165" name="Google Shape;165;p20"/>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1/2</a:t>
            </a:r>
            <a:endParaRPr dirty="0"/>
          </a:p>
        </p:txBody>
      </p:sp>
      <p:sp>
        <p:nvSpPr>
          <p:cNvPr id="166" name="Google Shape;166;p20"/>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5</a:t>
            </a:r>
            <a:endParaRPr dirty="0"/>
          </a:p>
        </p:txBody>
      </p:sp>
      <p:sp>
        <p:nvSpPr>
          <p:cNvPr id="167" name="Google Shape;167;p20"/>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039563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1"/>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Week 5 - Feedback</a:t>
            </a:r>
            <a:endParaRPr dirty="0"/>
          </a:p>
        </p:txBody>
      </p:sp>
      <p:sp>
        <p:nvSpPr>
          <p:cNvPr id="173" name="Google Shape;173;p21"/>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dirty="0"/>
              <a:t>manager, colleague, or team member feedback</a:t>
            </a:r>
            <a:endParaRPr dirty="0"/>
          </a:p>
        </p:txBody>
      </p:sp>
      <p:sp>
        <p:nvSpPr>
          <p:cNvPr id="174" name="Google Shape;174;p21"/>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r>
              <a:rPr lang="en-GB" b="1" dirty="0"/>
              <a:t>D</a:t>
            </a:r>
            <a:r>
              <a:rPr lang="en" b="1" dirty="0"/>
              <a:t>ate</a:t>
            </a:r>
            <a:r>
              <a:rPr lang="en" b="1" dirty="0"/>
              <a:t>: </a:t>
            </a:r>
            <a:r>
              <a:rPr lang="en" dirty="0"/>
              <a:t>13/05/2026</a:t>
            </a:r>
            <a:endParaRPr lang="en" dirty="0"/>
          </a:p>
          <a:p>
            <a:pPr marL="182880" lvl="0" indent="-154940" algn="l" rtl="0">
              <a:spcBef>
                <a:spcPts val="0"/>
              </a:spcBef>
              <a:spcAft>
                <a:spcPts val="0"/>
              </a:spcAft>
              <a:buSzPts val="1000"/>
              <a:buChar char="●"/>
            </a:pPr>
            <a:r>
              <a:rPr lang="en" b="1" dirty="0"/>
              <a:t>Feedback from</a:t>
            </a:r>
            <a:r>
              <a:rPr lang="en" b="1" dirty="0" smtClean="0"/>
              <a:t>: </a:t>
            </a:r>
            <a:r>
              <a:rPr lang="en" dirty="0" smtClean="0"/>
              <a:t>Karna Rewatkar (Supervisor)</a:t>
            </a:r>
            <a:endParaRPr lang="en" dirty="0"/>
          </a:p>
          <a:p>
            <a:pPr marL="182880" lvl="0" indent="-154940"/>
            <a:r>
              <a:rPr lang="en" b="1" dirty="0"/>
              <a:t>Feedback</a:t>
            </a:r>
            <a:r>
              <a:rPr lang="en" b="1" dirty="0" smtClean="0"/>
              <a:t>: </a:t>
            </a:r>
            <a:r>
              <a:rPr lang="en-GB" dirty="0"/>
              <a:t>Proving the whole chain works at script level before building any UI around it is the right order of operations </a:t>
            </a:r>
            <a:r>
              <a:rPr lang="en-GB" dirty="0" smtClean="0"/>
              <a:t>- </a:t>
            </a:r>
            <a:r>
              <a:rPr lang="en-GB" dirty="0"/>
              <a:t>it means any bugs you find later in the app will be UI bugs, not pipeline bugs. The GPS-matching threshold choice makes sense given how noisy phone GPS can be. Good progress for a week that was mostly plumbing work.</a:t>
            </a:r>
            <a:endParaRPr lang="en" dirty="0"/>
          </a:p>
          <a:p>
            <a:pPr marL="182880" lvl="0" indent="-154940"/>
            <a:r>
              <a:rPr lang="en" b="1" dirty="0"/>
              <a:t>Related to what task: </a:t>
            </a:r>
            <a:r>
              <a:rPr lang="en-GB" dirty="0"/>
              <a:t>end-to-end pipeline test</a:t>
            </a:r>
            <a:endParaRPr lang="en" dirty="0"/>
          </a:p>
          <a:p>
            <a:pPr marL="182880" lvl="0" indent="-154940"/>
            <a:r>
              <a:rPr lang="en" b="1" dirty="0"/>
              <a:t>Response/action coming forward from this: </a:t>
            </a:r>
            <a:r>
              <a:rPr lang="en-GB" dirty="0"/>
              <a:t>kept the script-level test as a regression check for later.</a:t>
            </a:r>
          </a:p>
          <a:p>
            <a:pPr marL="182880" lvl="0" indent="-154940" algn="l" rtl="0">
              <a:spcBef>
                <a:spcPts val="0"/>
              </a:spcBef>
              <a:spcAft>
                <a:spcPts val="0"/>
              </a:spcAft>
              <a:buSzPts val="1000"/>
              <a:buChar char="●"/>
            </a:pPr>
            <a:endParaRPr lang="en" b="1" dirty="0"/>
          </a:p>
        </p:txBody>
      </p:sp>
      <p:sp>
        <p:nvSpPr>
          <p:cNvPr id="175" name="Google Shape;175;p21"/>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2/2</a:t>
            </a:r>
            <a:endParaRPr/>
          </a:p>
        </p:txBody>
      </p:sp>
      <p:sp>
        <p:nvSpPr>
          <p:cNvPr id="176" name="Google Shape;176;p21"/>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5</a:t>
            </a:r>
            <a:endParaRPr dirty="0"/>
          </a:p>
        </p:txBody>
      </p:sp>
    </p:spTree>
    <p:extLst>
      <p:ext uri="{BB962C8B-B14F-4D97-AF65-F5344CB8AC3E}">
        <p14:creationId xmlns:p14="http://schemas.microsoft.com/office/powerpoint/2010/main" val="25134849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0"/>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r>
              <a:rPr lang="en" dirty="0"/>
              <a:t>Week 6 - Log</a:t>
            </a:r>
            <a:endParaRPr lang="en-US" dirty="0"/>
          </a:p>
        </p:txBody>
      </p:sp>
      <p:sp>
        <p:nvSpPr>
          <p:cNvPr id="161" name="Google Shape;161;p20"/>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162" name="Google Shape;162;p20"/>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163" name="Google Shape;163;p20"/>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r>
              <a:rPr lang="en" dirty="0" smtClean="0"/>
              <a:t>?</a:t>
            </a:r>
          </a:p>
          <a:p>
            <a:pPr marL="27940" lvl="0" indent="0">
              <a:buNone/>
            </a:pPr>
            <a:r>
              <a:rPr lang="en" dirty="0" smtClean="0"/>
              <a:t>The goals for this week are to </a:t>
            </a:r>
            <a:r>
              <a:rPr lang="en-GB" dirty="0"/>
              <a:t>build the first </a:t>
            </a:r>
            <a:r>
              <a:rPr lang="en-GB" dirty="0" err="1"/>
              <a:t>Streamlit</a:t>
            </a:r>
            <a:r>
              <a:rPr lang="en-GB" dirty="0"/>
              <a:t> app, wiring detection, risk, mapping and routing together </a:t>
            </a:r>
            <a:r>
              <a:rPr lang="en-GB" dirty="0" smtClean="0"/>
              <a:t>- </a:t>
            </a:r>
            <a:r>
              <a:rPr lang="en-GB" dirty="0"/>
              <a:t>working pipeline milestone</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have you actually been able to do? </a:t>
            </a:r>
            <a:endParaRPr lang="en" dirty="0" smtClean="0"/>
          </a:p>
          <a:p>
            <a:pPr marL="27940" lvl="0" indent="0">
              <a:buNone/>
            </a:pPr>
            <a:r>
              <a:rPr lang="en-GB" dirty="0"/>
              <a:t>B</a:t>
            </a:r>
            <a:r>
              <a:rPr lang="en-GB" dirty="0" smtClean="0"/>
              <a:t>uilt </a:t>
            </a:r>
            <a:r>
              <a:rPr lang="en-GB" dirty="0"/>
              <a:t>the app skeleton, Upload and Detect page, SQLite schema, basic Dashboard/Damage Map/Safer Route Planner pages; ran a full walkthrough and fixed the bugs it found</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Showcase what tasks you have been working on this week and provide evidence for it</a:t>
            </a:r>
            <a:r>
              <a:rPr lang="en" dirty="0" smtClean="0"/>
              <a:t>.</a:t>
            </a:r>
          </a:p>
          <a:p>
            <a:pPr marL="27940" lvl="0" indent="0">
              <a:buNone/>
            </a:pPr>
            <a:endParaRPr lang="en-GB" dirty="0" smtClean="0"/>
          </a:p>
          <a:p>
            <a:pPr marL="27940" lvl="0" indent="0">
              <a:buNone/>
            </a:pPr>
            <a:r>
              <a:rPr lang="en-GB" dirty="0" smtClean="0"/>
              <a:t>app.py</a:t>
            </a:r>
            <a:r>
              <a:rPr lang="en-GB" dirty="0"/>
              <a:t>, pages/, </a:t>
            </a:r>
            <a:r>
              <a:rPr lang="en-GB" dirty="0" err="1"/>
              <a:t>src</a:t>
            </a:r>
            <a:r>
              <a:rPr lang="en-GB" dirty="0"/>
              <a:t>/app/database.py; first full walkthrough, upload to route comparison.</a:t>
            </a:r>
            <a:endParaRPr dirty="0"/>
          </a:p>
        </p:txBody>
      </p:sp>
      <p:sp>
        <p:nvSpPr>
          <p:cNvPr id="164" name="Google Shape;164;p20"/>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 </a:t>
            </a:r>
            <a:endParaRPr lang="en" dirty="0" smtClean="0"/>
          </a:p>
          <a:p>
            <a:pPr marL="27940" lvl="0" indent="0" algn="l" rtl="0">
              <a:spcBef>
                <a:spcPts val="0"/>
              </a:spcBef>
              <a:spcAft>
                <a:spcPts val="0"/>
              </a:spcAft>
              <a:buSzPts val="1000"/>
              <a:buNone/>
            </a:pPr>
            <a:r>
              <a:rPr lang="en-GB" dirty="0" smtClean="0"/>
              <a:t>I</a:t>
            </a:r>
            <a:r>
              <a:rPr lang="en" dirty="0" smtClean="0"/>
              <a:t>t went pretty well. A working pipeline exists.</a:t>
            </a:r>
          </a:p>
          <a:p>
            <a:pPr marL="27940" lvl="0" indent="0" algn="l" rtl="0">
              <a:spcBef>
                <a:spcPts val="0"/>
              </a:spcBef>
              <a:spcAft>
                <a:spcPts val="0"/>
              </a:spcAft>
              <a:buSzPts val="1000"/>
              <a:buNone/>
            </a:pPr>
            <a:endParaRPr dirty="0"/>
          </a:p>
          <a:p>
            <a:pPr marL="182880" lvl="0" indent="-154940" algn="l" rtl="0">
              <a:spcBef>
                <a:spcPts val="0"/>
              </a:spcBef>
              <a:spcAft>
                <a:spcPts val="0"/>
              </a:spcAft>
              <a:buSzPts val="1000"/>
              <a:buChar char="●"/>
            </a:pPr>
            <a:r>
              <a:rPr lang="en" dirty="0"/>
              <a:t>What went well? </a:t>
            </a:r>
            <a:endParaRPr lang="en" dirty="0" smtClean="0"/>
          </a:p>
          <a:p>
            <a:pPr marL="27940" lvl="0" indent="0">
              <a:buNone/>
            </a:pPr>
            <a:r>
              <a:rPr lang="en-GB" dirty="0"/>
              <a:t>R</a:t>
            </a:r>
            <a:r>
              <a:rPr lang="en-GB" dirty="0" smtClean="0"/>
              <a:t>isk-scoring </a:t>
            </a:r>
            <a:r>
              <a:rPr lang="en-GB" dirty="0"/>
              <a:t>and routing code already working made wiring the UI fast</a:t>
            </a:r>
            <a:r>
              <a:rPr lang="en-GB" dirty="0" smtClean="0"/>
              <a:t>.</a:t>
            </a:r>
          </a:p>
          <a:p>
            <a:pPr marL="27940" lvl="0" indent="0">
              <a:buNone/>
            </a:pPr>
            <a:endParaRPr dirty="0"/>
          </a:p>
          <a:p>
            <a:pPr marL="182880" lvl="0" indent="-154940"/>
            <a:r>
              <a:rPr lang="en" dirty="0"/>
              <a:t>What didn’t go so well? </a:t>
            </a:r>
            <a:endParaRPr lang="en-GB" dirty="0"/>
          </a:p>
          <a:p>
            <a:pPr marL="27940" lvl="0" indent="0">
              <a:buNone/>
            </a:pPr>
            <a:r>
              <a:rPr lang="en-GB" dirty="0"/>
              <a:t>A</a:t>
            </a:r>
            <a:r>
              <a:rPr lang="en-GB" dirty="0" smtClean="0"/>
              <a:t> </a:t>
            </a:r>
            <a:r>
              <a:rPr lang="en-GB" dirty="0"/>
              <a:t>few map-centring/duplicate-upload bugs only appeared once everything ran together</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did you learn? </a:t>
            </a:r>
            <a:endParaRPr lang="en" dirty="0" smtClean="0"/>
          </a:p>
          <a:p>
            <a:pPr marL="27940" lvl="0" indent="0">
              <a:buNone/>
            </a:pPr>
            <a:r>
              <a:rPr lang="en-GB" dirty="0"/>
              <a:t>integration-only bugs matter </a:t>
            </a:r>
            <a:r>
              <a:rPr lang="en-GB" dirty="0" smtClean="0"/>
              <a:t>- </a:t>
            </a:r>
            <a:r>
              <a:rPr lang="en-GB" dirty="0"/>
              <a:t>parts that work alone can fail </a:t>
            </a:r>
            <a:r>
              <a:rPr lang="en-GB" dirty="0" smtClean="0"/>
              <a:t>together.</a:t>
            </a:r>
          </a:p>
          <a:p>
            <a:pPr marL="27940" lvl="0" indent="0">
              <a:buNone/>
            </a:pPr>
            <a:endParaRPr dirty="0"/>
          </a:p>
          <a:p>
            <a:pPr marL="182880" lvl="0" indent="-154940" algn="l" rtl="0">
              <a:spcBef>
                <a:spcPts val="0"/>
              </a:spcBef>
              <a:spcAft>
                <a:spcPts val="0"/>
              </a:spcAft>
              <a:buSzPts val="1000"/>
              <a:buChar char="●"/>
            </a:pPr>
            <a:r>
              <a:rPr lang="en" dirty="0"/>
              <a:t>What could be added as an Action point looking forward to next week</a:t>
            </a:r>
            <a:r>
              <a:rPr lang="en" dirty="0" smtClean="0"/>
              <a:t>?</a:t>
            </a:r>
          </a:p>
          <a:p>
            <a:pPr marL="27940" lvl="0" indent="0">
              <a:buNone/>
            </a:pPr>
            <a:r>
              <a:rPr lang="en" dirty="0" smtClean="0"/>
              <a:t>As an action point for the next week is to </a:t>
            </a:r>
            <a:r>
              <a:rPr lang="en-GB" dirty="0"/>
              <a:t>go back to training </a:t>
            </a:r>
            <a:r>
              <a:rPr lang="en-GB" dirty="0" smtClean="0"/>
              <a:t>- </a:t>
            </a:r>
            <a:r>
              <a:rPr lang="en-GB" dirty="0"/>
              <a:t>audit bias and build the medium dataset.</a:t>
            </a:r>
            <a:endParaRPr lang="en" dirty="0"/>
          </a:p>
        </p:txBody>
      </p:sp>
      <p:sp>
        <p:nvSpPr>
          <p:cNvPr id="165" name="Google Shape;165;p20"/>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1/2</a:t>
            </a:r>
            <a:endParaRPr dirty="0"/>
          </a:p>
        </p:txBody>
      </p:sp>
      <p:sp>
        <p:nvSpPr>
          <p:cNvPr id="166" name="Google Shape;166;p20"/>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6</a:t>
            </a:r>
            <a:endParaRPr dirty="0"/>
          </a:p>
        </p:txBody>
      </p:sp>
      <p:sp>
        <p:nvSpPr>
          <p:cNvPr id="167" name="Google Shape;167;p20"/>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09773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1"/>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Week 6 - Feedback</a:t>
            </a:r>
            <a:endParaRPr dirty="0"/>
          </a:p>
        </p:txBody>
      </p:sp>
      <p:sp>
        <p:nvSpPr>
          <p:cNvPr id="173" name="Google Shape;173;p21"/>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dirty="0"/>
              <a:t>manager, colleague, or team member feedback</a:t>
            </a:r>
            <a:endParaRPr dirty="0"/>
          </a:p>
        </p:txBody>
      </p:sp>
      <p:sp>
        <p:nvSpPr>
          <p:cNvPr id="174" name="Google Shape;174;p21"/>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r>
              <a:rPr lang="en-GB" b="1" dirty="0"/>
              <a:t>D</a:t>
            </a:r>
            <a:r>
              <a:rPr lang="en" b="1" dirty="0"/>
              <a:t>ate</a:t>
            </a:r>
            <a:r>
              <a:rPr lang="en" b="1" dirty="0"/>
              <a:t>: </a:t>
            </a:r>
            <a:r>
              <a:rPr lang="en" dirty="0"/>
              <a:t>22/05/2026</a:t>
            </a:r>
            <a:endParaRPr lang="en" dirty="0"/>
          </a:p>
          <a:p>
            <a:pPr marL="182880" lvl="0" indent="-154940" algn="l" rtl="0">
              <a:spcBef>
                <a:spcPts val="0"/>
              </a:spcBef>
              <a:spcAft>
                <a:spcPts val="0"/>
              </a:spcAft>
              <a:buSzPts val="1000"/>
              <a:buChar char="●"/>
            </a:pPr>
            <a:r>
              <a:rPr lang="en" b="1" dirty="0"/>
              <a:t>Feedback from</a:t>
            </a:r>
            <a:r>
              <a:rPr lang="en" b="1" dirty="0" smtClean="0"/>
              <a:t>: </a:t>
            </a:r>
            <a:r>
              <a:rPr lang="en" dirty="0" smtClean="0"/>
              <a:t>Karna Rewatkar (Supervisor)</a:t>
            </a:r>
            <a:endParaRPr lang="en" dirty="0"/>
          </a:p>
          <a:p>
            <a:pPr marL="182880" lvl="0" indent="-154940"/>
            <a:r>
              <a:rPr lang="en" b="1" dirty="0"/>
              <a:t>Feedback</a:t>
            </a:r>
            <a:r>
              <a:rPr lang="en" b="1" dirty="0" smtClean="0"/>
              <a:t>: T</a:t>
            </a:r>
            <a:r>
              <a:rPr lang="en-GB" dirty="0" smtClean="0"/>
              <a:t>his </a:t>
            </a:r>
            <a:r>
              <a:rPr lang="en-GB" dirty="0"/>
              <a:t>is a genuinely good milestone </a:t>
            </a:r>
            <a:r>
              <a:rPr lang="en-GB" dirty="0" smtClean="0"/>
              <a:t>- </a:t>
            </a:r>
            <a:r>
              <a:rPr lang="en-GB" dirty="0"/>
              <a:t>having a working end-to-end prototype this early, even running on the small dataset, gives you a lot of room to iterate for the rest of the project. The bugs you found during the walkthrough are exactly the kind of thing that only shows up once components are wired together, so that was a useful exercise. I'd recommend shifting attention back to data quality now before investing more time in the app itself.</a:t>
            </a:r>
            <a:endParaRPr lang="en" dirty="0"/>
          </a:p>
          <a:p>
            <a:pPr marL="182880" lvl="0" indent="-154940"/>
            <a:r>
              <a:rPr lang="en" b="1" dirty="0"/>
              <a:t>Related to what task: </a:t>
            </a:r>
            <a:r>
              <a:rPr lang="en-GB" dirty="0" smtClean="0"/>
              <a:t>F</a:t>
            </a:r>
            <a:r>
              <a:rPr lang="en-GB" dirty="0" smtClean="0"/>
              <a:t>irst </a:t>
            </a:r>
            <a:r>
              <a:rPr lang="en-GB" dirty="0"/>
              <a:t>working pipeline demo</a:t>
            </a:r>
            <a:endParaRPr lang="en" dirty="0"/>
          </a:p>
          <a:p>
            <a:pPr marL="182880" lvl="0" indent="-154940"/>
            <a:r>
              <a:rPr lang="en" b="1" dirty="0"/>
              <a:t>Response/action coming forward from this: </a:t>
            </a:r>
            <a:r>
              <a:rPr lang="en-GB" dirty="0" smtClean="0"/>
              <a:t>S</a:t>
            </a:r>
            <a:r>
              <a:rPr lang="en-GB" dirty="0" smtClean="0"/>
              <a:t>hifted </a:t>
            </a:r>
            <a:r>
              <a:rPr lang="en-GB" dirty="0"/>
              <a:t>focus to bias auditing and the medium-dataset build.</a:t>
            </a:r>
            <a:endParaRPr lang="en" dirty="0"/>
          </a:p>
        </p:txBody>
      </p:sp>
      <p:sp>
        <p:nvSpPr>
          <p:cNvPr id="175" name="Google Shape;175;p21"/>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2/2</a:t>
            </a:r>
            <a:endParaRPr/>
          </a:p>
        </p:txBody>
      </p:sp>
      <p:sp>
        <p:nvSpPr>
          <p:cNvPr id="176" name="Google Shape;176;p21"/>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6</a:t>
            </a:r>
            <a:endParaRPr dirty="0"/>
          </a:p>
        </p:txBody>
      </p:sp>
    </p:spTree>
    <p:extLst>
      <p:ext uri="{BB962C8B-B14F-4D97-AF65-F5344CB8AC3E}">
        <p14:creationId xmlns:p14="http://schemas.microsoft.com/office/powerpoint/2010/main" val="16046695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0"/>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r>
              <a:rPr lang="en" dirty="0"/>
              <a:t>Week 7 - Log</a:t>
            </a:r>
            <a:endParaRPr lang="en-US" dirty="0"/>
          </a:p>
        </p:txBody>
      </p:sp>
      <p:sp>
        <p:nvSpPr>
          <p:cNvPr id="161" name="Google Shape;161;p20"/>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162" name="Google Shape;162;p20"/>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163" name="Google Shape;163;p20"/>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r>
              <a:rPr lang="en" dirty="0" smtClean="0"/>
              <a:t>?</a:t>
            </a:r>
          </a:p>
          <a:p>
            <a:pPr marL="27940" lvl="0" indent="0">
              <a:buNone/>
            </a:pPr>
            <a:r>
              <a:rPr lang="en" dirty="0" smtClean="0"/>
              <a:t>The gol for this week is to </a:t>
            </a:r>
            <a:r>
              <a:rPr lang="en-GB" dirty="0"/>
              <a:t>audit the small dataset for bias and retrain on a medium-scale dataset</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have you actually been able to do? </a:t>
            </a:r>
            <a:endParaRPr lang="en" dirty="0" smtClean="0"/>
          </a:p>
          <a:p>
            <a:pPr marL="27940" lvl="0" indent="0">
              <a:buNone/>
            </a:pPr>
            <a:r>
              <a:rPr lang="en" dirty="0" smtClean="0"/>
              <a:t>A</a:t>
            </a:r>
            <a:r>
              <a:rPr lang="en-GB" dirty="0" err="1" smtClean="0"/>
              <a:t>udited</a:t>
            </a:r>
            <a:r>
              <a:rPr lang="en-GB" dirty="0" smtClean="0"/>
              <a:t> </a:t>
            </a:r>
            <a:r>
              <a:rPr lang="en-GB" dirty="0"/>
              <a:t>class/country balance, confirmed D00 </a:t>
            </a:r>
            <a:r>
              <a:rPr lang="en-GB" dirty="0" smtClean="0"/>
              <a:t>over represents </a:t>
            </a:r>
            <a:r>
              <a:rPr lang="en-GB" dirty="0"/>
              <a:t>D20/D40 2–3x and Japan is ~46% vs ~28% raw; built the medium dataset (1,034/224/221), retrained and evaluated both models</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Showcase what tasks you have been working on this week and provide evidence for it</a:t>
            </a:r>
            <a:r>
              <a:rPr lang="en" dirty="0" smtClean="0"/>
              <a:t>.</a:t>
            </a:r>
          </a:p>
          <a:p>
            <a:pPr marL="182880" lvl="0" indent="-154940" algn="l" rtl="0">
              <a:spcBef>
                <a:spcPts val="0"/>
              </a:spcBef>
              <a:spcAft>
                <a:spcPts val="0"/>
              </a:spcAft>
              <a:buSzPts val="1000"/>
              <a:buChar char="●"/>
            </a:pPr>
            <a:endParaRPr lang="en" dirty="0"/>
          </a:p>
          <a:p>
            <a:pPr marL="27940" lvl="0" indent="0">
              <a:buNone/>
            </a:pPr>
            <a:r>
              <a:rPr lang="en-GB" dirty="0"/>
              <a:t>bias audit in notebooks/; data/processed/medium/; evaluation in outputs/reports/.</a:t>
            </a:r>
            <a:endParaRPr dirty="0"/>
          </a:p>
        </p:txBody>
      </p:sp>
      <p:sp>
        <p:nvSpPr>
          <p:cNvPr id="164" name="Google Shape;164;p20"/>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 </a:t>
            </a:r>
            <a:endParaRPr lang="en" dirty="0" smtClean="0"/>
          </a:p>
          <a:p>
            <a:pPr marL="27940" lvl="0" indent="0">
              <a:buNone/>
            </a:pPr>
            <a:r>
              <a:rPr lang="en-GB" dirty="0" smtClean="0"/>
              <a:t>The week was useful </a:t>
            </a:r>
            <a:r>
              <a:rPr lang="en-GB" dirty="0"/>
              <a:t>but slightly concerning </a:t>
            </a:r>
            <a:r>
              <a:rPr lang="en-GB" dirty="0" smtClean="0"/>
              <a:t>- </a:t>
            </a:r>
            <a:r>
              <a:rPr lang="en-GB" dirty="0"/>
              <a:t>bias worse than expected</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went well? </a:t>
            </a:r>
            <a:endParaRPr lang="en" dirty="0" smtClean="0"/>
          </a:p>
          <a:p>
            <a:pPr marL="27940" lvl="0" indent="0">
              <a:buNone/>
            </a:pPr>
            <a:r>
              <a:rPr lang="en" dirty="0" smtClean="0"/>
              <a:t>T</a:t>
            </a:r>
            <a:r>
              <a:rPr lang="en-GB" dirty="0"/>
              <a:t>he bias was caught clearly and early with concrete numbers</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didn’t go so well? </a:t>
            </a:r>
            <a:endParaRPr lang="en" dirty="0" smtClean="0"/>
          </a:p>
          <a:p>
            <a:pPr marL="27940" lvl="0" indent="0">
              <a:buNone/>
            </a:pPr>
            <a:r>
              <a:rPr lang="en-GB" dirty="0"/>
              <a:t>T</a:t>
            </a:r>
            <a:r>
              <a:rPr lang="en-GB" dirty="0" smtClean="0"/>
              <a:t>he </a:t>
            </a:r>
            <a:r>
              <a:rPr lang="en-GB" dirty="0"/>
              <a:t>medium dataset confirmed the bias persists </a:t>
            </a:r>
            <a:r>
              <a:rPr lang="en-GB" dirty="0" smtClean="0"/>
              <a:t>- </a:t>
            </a:r>
            <a:r>
              <a:rPr lang="en-GB" dirty="0"/>
              <a:t>balancing is now unavoidable</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did you learn? </a:t>
            </a:r>
            <a:endParaRPr lang="en" dirty="0" smtClean="0"/>
          </a:p>
          <a:p>
            <a:pPr marL="27940" lvl="0" indent="0">
              <a:buNone/>
            </a:pPr>
            <a:r>
              <a:rPr lang="en-GB" dirty="0"/>
              <a:t>H</a:t>
            </a:r>
            <a:r>
              <a:rPr lang="en-GB" dirty="0" smtClean="0"/>
              <a:t>ow </a:t>
            </a:r>
            <a:r>
              <a:rPr lang="en-GB" dirty="0"/>
              <a:t>fast an unbalanced source dataset propagates into training even at a bigger scale</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could be added as an Action point looking forward to next week</a:t>
            </a:r>
            <a:r>
              <a:rPr lang="en" dirty="0" smtClean="0"/>
              <a:t>?</a:t>
            </a:r>
          </a:p>
          <a:p>
            <a:pPr marL="27940" lvl="0" indent="0">
              <a:buNone/>
            </a:pPr>
            <a:r>
              <a:rPr lang="en" dirty="0" smtClean="0"/>
              <a:t>As an Action Point for the next week is to design </a:t>
            </a:r>
            <a:r>
              <a:rPr lang="en-GB" dirty="0" smtClean="0"/>
              <a:t>a </a:t>
            </a:r>
            <a:r>
              <a:rPr lang="en-GB" dirty="0"/>
              <a:t>proper balancing algorithm</a:t>
            </a:r>
            <a:endParaRPr dirty="0"/>
          </a:p>
        </p:txBody>
      </p:sp>
      <p:sp>
        <p:nvSpPr>
          <p:cNvPr id="165" name="Google Shape;165;p20"/>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1/2</a:t>
            </a:r>
            <a:endParaRPr dirty="0"/>
          </a:p>
        </p:txBody>
      </p:sp>
      <p:sp>
        <p:nvSpPr>
          <p:cNvPr id="166" name="Google Shape;166;p20"/>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7</a:t>
            </a:r>
            <a:endParaRPr dirty="0"/>
          </a:p>
        </p:txBody>
      </p:sp>
      <p:sp>
        <p:nvSpPr>
          <p:cNvPr id="167" name="Google Shape;167;p20"/>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278804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1"/>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Week 7 - Feedback</a:t>
            </a:r>
            <a:endParaRPr dirty="0"/>
          </a:p>
        </p:txBody>
      </p:sp>
      <p:sp>
        <p:nvSpPr>
          <p:cNvPr id="173" name="Google Shape;173;p21"/>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dirty="0"/>
              <a:t>manager, colleague, or team member feedback</a:t>
            </a:r>
            <a:endParaRPr dirty="0"/>
          </a:p>
        </p:txBody>
      </p:sp>
      <p:sp>
        <p:nvSpPr>
          <p:cNvPr id="174" name="Google Shape;174;p21"/>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r>
              <a:rPr lang="en-GB" b="1" dirty="0"/>
              <a:t>D</a:t>
            </a:r>
            <a:r>
              <a:rPr lang="en" b="1" dirty="0"/>
              <a:t>ate</a:t>
            </a:r>
            <a:r>
              <a:rPr lang="en" b="1" dirty="0"/>
              <a:t>: </a:t>
            </a:r>
            <a:r>
              <a:rPr lang="en" dirty="0"/>
              <a:t>27/05/2026</a:t>
            </a:r>
            <a:endParaRPr lang="en" dirty="0"/>
          </a:p>
          <a:p>
            <a:pPr marL="182880" lvl="0" indent="-154940" algn="l" rtl="0">
              <a:spcBef>
                <a:spcPts val="0"/>
              </a:spcBef>
              <a:spcAft>
                <a:spcPts val="0"/>
              </a:spcAft>
              <a:buSzPts val="1000"/>
              <a:buChar char="●"/>
            </a:pPr>
            <a:r>
              <a:rPr lang="en" b="1" dirty="0"/>
              <a:t>Feedback </a:t>
            </a:r>
            <a:r>
              <a:rPr lang="en" b="1" dirty="0" smtClean="0"/>
              <a:t>from: </a:t>
            </a:r>
            <a:r>
              <a:rPr lang="en" dirty="0" smtClean="0"/>
              <a:t>Borislav Nachev (peer)</a:t>
            </a:r>
            <a:endParaRPr lang="en" dirty="0"/>
          </a:p>
          <a:p>
            <a:pPr marL="182880" lvl="0" indent="-154940"/>
            <a:r>
              <a:rPr lang="en" b="1" dirty="0"/>
              <a:t>Feedback</a:t>
            </a:r>
            <a:r>
              <a:rPr lang="en" b="1" dirty="0" smtClean="0"/>
              <a:t>: </a:t>
            </a:r>
            <a:r>
              <a:rPr lang="en-GB" dirty="0"/>
              <a:t>The class and country imbalance you found is worse than I expected, especially the Japan skew, and it's good that you quantified it properly rather than just noting it was "unbalanced." Since D20 and D40 are your highest-severity classes in the risk model, this imbalance has a direct effect on what the model will be good or bad at scoring. Worth explaining that connection explicitly when you write this section up.</a:t>
            </a:r>
            <a:endParaRPr lang="en" dirty="0"/>
          </a:p>
          <a:p>
            <a:pPr marL="182880" lvl="0" indent="-154940"/>
            <a:r>
              <a:rPr lang="en" b="1" dirty="0"/>
              <a:t>Related to what task: </a:t>
            </a:r>
            <a:r>
              <a:rPr lang="en-GB" dirty="0" smtClean="0"/>
              <a:t>D</a:t>
            </a:r>
            <a:r>
              <a:rPr lang="en-GB" dirty="0" smtClean="0"/>
              <a:t>ataset </a:t>
            </a:r>
            <a:r>
              <a:rPr lang="en-GB" dirty="0"/>
              <a:t>bias audit</a:t>
            </a:r>
            <a:endParaRPr lang="en" dirty="0"/>
          </a:p>
          <a:p>
            <a:pPr marL="182880" lvl="0" indent="-154940"/>
            <a:r>
              <a:rPr lang="en" b="1" dirty="0"/>
              <a:t>Response/action coming forward from this: </a:t>
            </a:r>
            <a:r>
              <a:rPr lang="en" dirty="0" smtClean="0"/>
              <a:t>L</a:t>
            </a:r>
            <a:r>
              <a:rPr lang="en-GB" dirty="0" smtClean="0"/>
              <a:t>inked </a:t>
            </a:r>
            <a:r>
              <a:rPr lang="en-GB" dirty="0"/>
              <a:t>the bias discussion to the risk-scoring severity table in the write-up plan.</a:t>
            </a:r>
            <a:endParaRPr lang="en" dirty="0"/>
          </a:p>
        </p:txBody>
      </p:sp>
      <p:sp>
        <p:nvSpPr>
          <p:cNvPr id="175" name="Google Shape;175;p21"/>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2/2</a:t>
            </a:r>
            <a:endParaRPr/>
          </a:p>
        </p:txBody>
      </p:sp>
      <p:sp>
        <p:nvSpPr>
          <p:cNvPr id="176" name="Google Shape;176;p21"/>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7</a:t>
            </a:r>
            <a:endParaRPr dirty="0"/>
          </a:p>
        </p:txBody>
      </p:sp>
    </p:spTree>
    <p:extLst>
      <p:ext uri="{BB962C8B-B14F-4D97-AF65-F5344CB8AC3E}">
        <p14:creationId xmlns:p14="http://schemas.microsoft.com/office/powerpoint/2010/main" val="14011652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0"/>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r>
              <a:rPr lang="en" dirty="0"/>
              <a:t>Week 8 - Log</a:t>
            </a:r>
            <a:endParaRPr lang="en-US" dirty="0"/>
          </a:p>
        </p:txBody>
      </p:sp>
      <p:sp>
        <p:nvSpPr>
          <p:cNvPr id="161" name="Google Shape;161;p20"/>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162" name="Google Shape;162;p20"/>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163" name="Google Shape;163;p20"/>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r>
              <a:rPr lang="en" dirty="0" smtClean="0"/>
              <a:t>?</a:t>
            </a:r>
          </a:p>
          <a:p>
            <a:pPr marL="27940" lvl="0" indent="0">
              <a:buNone/>
            </a:pPr>
            <a:r>
              <a:rPr lang="en" dirty="0" smtClean="0"/>
              <a:t>The goal for this week is to </a:t>
            </a:r>
            <a:r>
              <a:rPr lang="en-GB" dirty="0"/>
              <a:t>design and build a properly balanced large dataset</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have you actually been able to do? </a:t>
            </a:r>
            <a:endParaRPr lang="en" dirty="0" smtClean="0"/>
          </a:p>
          <a:p>
            <a:pPr marL="27940" lvl="0" indent="0">
              <a:buNone/>
            </a:pPr>
            <a:r>
              <a:rPr lang="en-GB" dirty="0"/>
              <a:t>D</a:t>
            </a:r>
            <a:r>
              <a:rPr lang="en-GB" dirty="0" smtClean="0"/>
              <a:t>esigned </a:t>
            </a:r>
            <a:r>
              <a:rPr lang="en-GB" dirty="0"/>
              <a:t>a water-filling balancing algorithm handling D40's 4-country constraint; implemented, unit-tested, and ran it to build the large dataset (4,291/597/592); verified output, added damage-free negatives</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Showcase what tasks you have been working on this week and provide evidence for it</a:t>
            </a:r>
            <a:r>
              <a:rPr lang="en" dirty="0" smtClean="0"/>
              <a:t>.</a:t>
            </a:r>
          </a:p>
          <a:p>
            <a:pPr marL="27940" lvl="0" indent="0" algn="l" rtl="0">
              <a:spcBef>
                <a:spcPts val="0"/>
              </a:spcBef>
              <a:spcAft>
                <a:spcPts val="0"/>
              </a:spcAft>
              <a:buSzPts val="1000"/>
              <a:buNone/>
            </a:pPr>
            <a:endParaRPr lang="en" dirty="0"/>
          </a:p>
          <a:p>
            <a:pPr marL="27940" lvl="0" indent="0">
              <a:buNone/>
            </a:pPr>
            <a:r>
              <a:rPr lang="en-GB" dirty="0"/>
              <a:t>balancing script + tests in scripts/; data/processed/large/; Table A.1.</a:t>
            </a:r>
            <a:endParaRPr lang="en" dirty="0" smtClean="0"/>
          </a:p>
        </p:txBody>
      </p:sp>
      <p:sp>
        <p:nvSpPr>
          <p:cNvPr id="164" name="Google Shape;164;p20"/>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 </a:t>
            </a:r>
            <a:endParaRPr lang="en" dirty="0" smtClean="0"/>
          </a:p>
          <a:p>
            <a:pPr marL="27940" lvl="0" indent="0" algn="l" rtl="0">
              <a:spcBef>
                <a:spcPts val="0"/>
              </a:spcBef>
              <a:spcAft>
                <a:spcPts val="0"/>
              </a:spcAft>
              <a:buSzPts val="1000"/>
              <a:buNone/>
            </a:pPr>
            <a:r>
              <a:rPr lang="en" dirty="0" smtClean="0"/>
              <a:t>The week went well. The trickiest part (D40) was solved cleanly.</a:t>
            </a:r>
          </a:p>
          <a:p>
            <a:pPr marL="27940" lvl="0" indent="0" algn="l" rtl="0">
              <a:spcBef>
                <a:spcPts val="0"/>
              </a:spcBef>
              <a:spcAft>
                <a:spcPts val="0"/>
              </a:spcAft>
              <a:buSzPts val="1000"/>
              <a:buNone/>
            </a:pPr>
            <a:endParaRPr dirty="0"/>
          </a:p>
          <a:p>
            <a:pPr marL="182880" lvl="0" indent="-154940" algn="l" rtl="0">
              <a:spcBef>
                <a:spcPts val="0"/>
              </a:spcBef>
              <a:spcAft>
                <a:spcPts val="0"/>
              </a:spcAft>
              <a:buSzPts val="1000"/>
              <a:buChar char="●"/>
            </a:pPr>
            <a:r>
              <a:rPr lang="en" dirty="0"/>
              <a:t>What went well? </a:t>
            </a:r>
            <a:endParaRPr lang="en" dirty="0" smtClean="0"/>
          </a:p>
          <a:p>
            <a:pPr marL="27940" lvl="0" indent="0">
              <a:buNone/>
            </a:pPr>
            <a:r>
              <a:rPr lang="en-GB" dirty="0"/>
              <a:t>T</a:t>
            </a:r>
            <a:r>
              <a:rPr lang="en-GB" dirty="0" smtClean="0"/>
              <a:t>he </a:t>
            </a:r>
            <a:r>
              <a:rPr lang="en-GB" dirty="0"/>
              <a:t>water-filling allocation generalised without special-casing every class</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didn’t go so well? </a:t>
            </a:r>
            <a:endParaRPr lang="en" dirty="0" smtClean="0"/>
          </a:p>
          <a:p>
            <a:pPr marL="27940" lvl="0" indent="0">
              <a:buNone/>
            </a:pPr>
            <a:r>
              <a:rPr lang="en-GB" dirty="0"/>
              <a:t>G</a:t>
            </a:r>
            <a:r>
              <a:rPr lang="en-GB" dirty="0" smtClean="0"/>
              <a:t>etting </a:t>
            </a:r>
            <a:r>
              <a:rPr lang="en-GB" dirty="0"/>
              <a:t>D40's quota maths right took a couple of iterations</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did you learn? </a:t>
            </a:r>
            <a:endParaRPr lang="en" dirty="0" smtClean="0"/>
          </a:p>
          <a:p>
            <a:pPr marL="27940" lvl="0" indent="0">
              <a:buNone/>
            </a:pPr>
            <a:r>
              <a:rPr lang="en" dirty="0" smtClean="0"/>
              <a:t>During the week I learnt </a:t>
            </a:r>
            <a:r>
              <a:rPr lang="en-GB" dirty="0"/>
              <a:t>how to design a fair allocation when the constraint set differs per category</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could be added as an Action point looking forward to next week</a:t>
            </a:r>
            <a:r>
              <a:rPr lang="en" dirty="0" smtClean="0"/>
              <a:t>?</a:t>
            </a:r>
          </a:p>
          <a:p>
            <a:pPr marL="27940" lvl="0" indent="0">
              <a:buNone/>
            </a:pPr>
            <a:r>
              <a:rPr lang="en" dirty="0" smtClean="0"/>
              <a:t>As an Action Point for the next week is to </a:t>
            </a:r>
            <a:r>
              <a:rPr lang="en-GB" dirty="0"/>
              <a:t>train both models on the final large dataset.</a:t>
            </a:r>
            <a:endParaRPr dirty="0"/>
          </a:p>
        </p:txBody>
      </p:sp>
      <p:sp>
        <p:nvSpPr>
          <p:cNvPr id="165" name="Google Shape;165;p20"/>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1/2</a:t>
            </a:r>
            <a:endParaRPr dirty="0"/>
          </a:p>
        </p:txBody>
      </p:sp>
      <p:sp>
        <p:nvSpPr>
          <p:cNvPr id="166" name="Google Shape;166;p20"/>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8</a:t>
            </a:r>
            <a:endParaRPr dirty="0"/>
          </a:p>
        </p:txBody>
      </p:sp>
      <p:sp>
        <p:nvSpPr>
          <p:cNvPr id="167" name="Google Shape;167;p20"/>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89893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1"/>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Week 8 - Feedback</a:t>
            </a:r>
            <a:endParaRPr dirty="0"/>
          </a:p>
        </p:txBody>
      </p:sp>
      <p:sp>
        <p:nvSpPr>
          <p:cNvPr id="173" name="Google Shape;173;p21"/>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dirty="0"/>
              <a:t>manager, colleague, or team member feedback</a:t>
            </a:r>
            <a:endParaRPr dirty="0"/>
          </a:p>
        </p:txBody>
      </p:sp>
      <p:sp>
        <p:nvSpPr>
          <p:cNvPr id="174" name="Google Shape;174;p21"/>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r>
              <a:rPr lang="en-GB" b="1" dirty="0"/>
              <a:t>D</a:t>
            </a:r>
            <a:r>
              <a:rPr lang="en" b="1" dirty="0"/>
              <a:t>ate</a:t>
            </a:r>
            <a:r>
              <a:rPr lang="en" b="1" dirty="0"/>
              <a:t>: </a:t>
            </a:r>
            <a:r>
              <a:rPr lang="en" dirty="0"/>
              <a:t>03/06/2026</a:t>
            </a:r>
            <a:endParaRPr lang="en" dirty="0"/>
          </a:p>
          <a:p>
            <a:pPr marL="182880" lvl="0" indent="-154940" algn="l" rtl="0">
              <a:spcBef>
                <a:spcPts val="0"/>
              </a:spcBef>
              <a:spcAft>
                <a:spcPts val="0"/>
              </a:spcAft>
              <a:buSzPts val="1000"/>
              <a:buChar char="●"/>
            </a:pPr>
            <a:r>
              <a:rPr lang="en" b="1" dirty="0"/>
              <a:t>Feedback from</a:t>
            </a:r>
            <a:r>
              <a:rPr lang="en" b="1" dirty="0" smtClean="0"/>
              <a:t>: </a:t>
            </a:r>
            <a:r>
              <a:rPr lang="en" dirty="0" smtClean="0"/>
              <a:t>Borislav Nachev (peer)</a:t>
            </a:r>
            <a:endParaRPr lang="en" dirty="0"/>
          </a:p>
          <a:p>
            <a:pPr marL="182880" lvl="0" indent="-154940"/>
            <a:r>
              <a:rPr lang="en" b="1" dirty="0"/>
              <a:t>Feedback</a:t>
            </a:r>
            <a:r>
              <a:rPr lang="en" b="1" dirty="0" smtClean="0"/>
              <a:t>: </a:t>
            </a:r>
            <a:r>
              <a:rPr lang="en-GB" dirty="0"/>
              <a:t>The water-filling approach is a clean way to handle a genuinely awkward constraint </a:t>
            </a:r>
            <a:r>
              <a:rPr lang="en-GB" dirty="0" smtClean="0"/>
              <a:t>- </a:t>
            </a:r>
            <a:r>
              <a:rPr lang="en-GB" dirty="0"/>
              <a:t>D40 only existing in four of the seven countries isn't a simple case, and a naive even split across all seven would have been wrong. It's explainable, which matters for the thesis, since you can walk a reader through exactly why each country got the share it did. This looks like solid, defensible methodology work.</a:t>
            </a:r>
            <a:endParaRPr lang="en" dirty="0"/>
          </a:p>
          <a:p>
            <a:pPr marL="182880" lvl="0" indent="-154940"/>
            <a:r>
              <a:rPr lang="en" b="1" dirty="0"/>
              <a:t>Related to what task: </a:t>
            </a:r>
            <a:r>
              <a:rPr lang="en-GB" dirty="0"/>
              <a:t>dataset balancing algorithm.</a:t>
            </a:r>
            <a:endParaRPr lang="en" dirty="0"/>
          </a:p>
          <a:p>
            <a:pPr marL="182880" lvl="0" indent="-154940"/>
            <a:r>
              <a:rPr lang="en" b="1" dirty="0"/>
              <a:t>Response/action coming forward from this: </a:t>
            </a:r>
            <a:r>
              <a:rPr lang="en-GB" dirty="0"/>
              <a:t>added the algorithm's reasoning to the Methodology section.</a:t>
            </a:r>
          </a:p>
          <a:p>
            <a:pPr marL="182880" lvl="0" indent="-154940" algn="l" rtl="0">
              <a:spcBef>
                <a:spcPts val="0"/>
              </a:spcBef>
              <a:spcAft>
                <a:spcPts val="0"/>
              </a:spcAft>
              <a:buSzPts val="1000"/>
              <a:buChar char="●"/>
            </a:pPr>
            <a:endParaRPr lang="en" b="1" dirty="0"/>
          </a:p>
        </p:txBody>
      </p:sp>
      <p:sp>
        <p:nvSpPr>
          <p:cNvPr id="175" name="Google Shape;175;p21"/>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2/2</a:t>
            </a:r>
            <a:endParaRPr/>
          </a:p>
        </p:txBody>
      </p:sp>
      <p:sp>
        <p:nvSpPr>
          <p:cNvPr id="176" name="Google Shape;176;p21"/>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8</a:t>
            </a:r>
            <a:endParaRPr dirty="0"/>
          </a:p>
        </p:txBody>
      </p:sp>
    </p:spTree>
    <p:extLst>
      <p:ext uri="{BB962C8B-B14F-4D97-AF65-F5344CB8AC3E}">
        <p14:creationId xmlns:p14="http://schemas.microsoft.com/office/powerpoint/2010/main" val="38882126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0"/>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r>
              <a:rPr lang="en" dirty="0"/>
              <a:t>Week 9 - Log</a:t>
            </a:r>
            <a:endParaRPr lang="en-US" dirty="0"/>
          </a:p>
        </p:txBody>
      </p:sp>
      <p:sp>
        <p:nvSpPr>
          <p:cNvPr id="161" name="Google Shape;161;p20"/>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162" name="Google Shape;162;p20"/>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163" name="Google Shape;163;p20"/>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r>
              <a:rPr lang="en" dirty="0" smtClean="0"/>
              <a:t>?</a:t>
            </a:r>
          </a:p>
          <a:p>
            <a:pPr marL="27940" lvl="0" indent="0">
              <a:buNone/>
            </a:pPr>
            <a:r>
              <a:rPr lang="en-GB" dirty="0" smtClean="0"/>
              <a:t>T</a:t>
            </a:r>
            <a:r>
              <a:rPr lang="en" dirty="0" smtClean="0"/>
              <a:t>he goal for this week is to </a:t>
            </a:r>
            <a:r>
              <a:rPr lang="en-GB" dirty="0"/>
              <a:t>train both models on the large dataset and properly evaluate the architecture comparison</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have you actually been able to do? </a:t>
            </a:r>
            <a:endParaRPr lang="en" dirty="0" smtClean="0"/>
          </a:p>
          <a:p>
            <a:pPr marL="27940" lvl="0" indent="0">
              <a:buNone/>
            </a:pPr>
            <a:r>
              <a:rPr lang="en" dirty="0" smtClean="0"/>
              <a:t>I </a:t>
            </a:r>
            <a:r>
              <a:rPr lang="en-GB" dirty="0"/>
              <a:t>trained YOLOv8n and Faster R-CNN (fixing another FRCNN memory error), evaluated both, computed per-class mAP50-95, discovered FRCNN's overfitting (best checkpoint at epoch 2 of 22</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Showcase what tasks you have been working on this week and provide evidence for it</a:t>
            </a:r>
            <a:r>
              <a:rPr lang="en" dirty="0" smtClean="0"/>
              <a:t>.</a:t>
            </a:r>
          </a:p>
          <a:p>
            <a:pPr marL="27940" lvl="0" indent="0" algn="l" rtl="0">
              <a:spcBef>
                <a:spcPts val="0"/>
              </a:spcBef>
              <a:spcAft>
                <a:spcPts val="0"/>
              </a:spcAft>
              <a:buSzPts val="1000"/>
              <a:buNone/>
            </a:pPr>
            <a:endParaRPr lang="en" dirty="0"/>
          </a:p>
          <a:p>
            <a:pPr marL="27940" lvl="0" indent="0">
              <a:buNone/>
            </a:pPr>
            <a:r>
              <a:rPr lang="en-GB" dirty="0"/>
              <a:t>models/</a:t>
            </a:r>
            <a:r>
              <a:rPr lang="en-GB" dirty="0" err="1"/>
              <a:t>fasterrcnn_large</a:t>
            </a:r>
            <a:r>
              <a:rPr lang="en-GB" dirty="0"/>
              <a:t>/, runs/; full evaluation tables in outputs/reports/.</a:t>
            </a:r>
            <a:endParaRPr lang="en" dirty="0" smtClean="0"/>
          </a:p>
        </p:txBody>
      </p:sp>
      <p:sp>
        <p:nvSpPr>
          <p:cNvPr id="164" name="Google Shape;164;p20"/>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 </a:t>
            </a:r>
            <a:endParaRPr lang="en" dirty="0" smtClean="0"/>
          </a:p>
          <a:p>
            <a:pPr marL="27940" lvl="0" indent="0">
              <a:buNone/>
            </a:pPr>
            <a:r>
              <a:rPr lang="en" dirty="0" smtClean="0"/>
              <a:t>The week went partly well - </a:t>
            </a:r>
            <a:r>
              <a:rPr lang="en-GB" dirty="0"/>
              <a:t> good YOLOv8n results, a clear FRCNN </a:t>
            </a:r>
            <a:r>
              <a:rPr lang="en-GB" dirty="0" smtClean="0"/>
              <a:t>problem</a:t>
            </a:r>
          </a:p>
          <a:p>
            <a:pPr marL="27940" lvl="0" indent="0">
              <a:buNone/>
            </a:pPr>
            <a:endParaRPr dirty="0"/>
          </a:p>
          <a:p>
            <a:pPr marL="182880" lvl="0" indent="-154940"/>
            <a:r>
              <a:rPr lang="en" dirty="0"/>
              <a:t>What went well? </a:t>
            </a:r>
            <a:endParaRPr lang="en" dirty="0" smtClean="0"/>
          </a:p>
          <a:p>
            <a:pPr marL="27940" lvl="0" indent="0">
              <a:buNone/>
            </a:pPr>
            <a:r>
              <a:rPr lang="en-GB" dirty="0" smtClean="0"/>
              <a:t>D40 </a:t>
            </a:r>
            <a:r>
              <a:rPr lang="en-GB" dirty="0"/>
              <a:t>became the strongest class for both models after balancing</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didn’t go so well? </a:t>
            </a:r>
            <a:endParaRPr lang="en" dirty="0" smtClean="0"/>
          </a:p>
          <a:p>
            <a:pPr marL="27940" lvl="0" indent="0">
              <a:buNone/>
            </a:pPr>
            <a:r>
              <a:rPr lang="en-GB" dirty="0"/>
              <a:t>FRCNN </a:t>
            </a:r>
            <a:r>
              <a:rPr lang="en-GB" dirty="0" err="1"/>
              <a:t>overfits</a:t>
            </a:r>
            <a:r>
              <a:rPr lang="en-GB" dirty="0"/>
              <a:t> very early at this scale; reduced LR/increased patience didn't fix it</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did you learn? </a:t>
            </a:r>
            <a:endParaRPr lang="en" dirty="0" smtClean="0"/>
          </a:p>
          <a:p>
            <a:pPr marL="27940" lvl="0" indent="0">
              <a:buNone/>
            </a:pPr>
            <a:r>
              <a:rPr lang="en" dirty="0" smtClean="0"/>
              <a:t>I learnt that </a:t>
            </a:r>
            <a:r>
              <a:rPr lang="en-GB" dirty="0"/>
              <a:t>a large two-stage detector can need far more data than a lightweight one-stage one</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could be added as an Action point looking forward to next week</a:t>
            </a:r>
            <a:r>
              <a:rPr lang="en" dirty="0" smtClean="0"/>
              <a:t>?</a:t>
            </a:r>
          </a:p>
          <a:p>
            <a:pPr marL="27940" lvl="0" indent="0">
              <a:buNone/>
            </a:pPr>
            <a:r>
              <a:rPr lang="en" dirty="0" smtClean="0"/>
              <a:t>Action Point for the next week is to </a:t>
            </a:r>
            <a:r>
              <a:rPr lang="en-GB" dirty="0"/>
              <a:t>document the limitation and run the H1 statistical tests.</a:t>
            </a:r>
            <a:endParaRPr dirty="0"/>
          </a:p>
        </p:txBody>
      </p:sp>
      <p:sp>
        <p:nvSpPr>
          <p:cNvPr id="165" name="Google Shape;165;p20"/>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1/2</a:t>
            </a:r>
            <a:endParaRPr dirty="0"/>
          </a:p>
        </p:txBody>
      </p:sp>
      <p:sp>
        <p:nvSpPr>
          <p:cNvPr id="166" name="Google Shape;166;p20"/>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9</a:t>
            </a:r>
            <a:endParaRPr dirty="0"/>
          </a:p>
        </p:txBody>
      </p:sp>
      <p:sp>
        <p:nvSpPr>
          <p:cNvPr id="167" name="Google Shape;167;p20"/>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989410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1"/>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Week 9 - Feedback</a:t>
            </a:r>
            <a:endParaRPr dirty="0"/>
          </a:p>
        </p:txBody>
      </p:sp>
      <p:sp>
        <p:nvSpPr>
          <p:cNvPr id="173" name="Google Shape;173;p21"/>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dirty="0"/>
              <a:t>manager, colleague, or team member feedback</a:t>
            </a:r>
            <a:endParaRPr dirty="0"/>
          </a:p>
        </p:txBody>
      </p:sp>
      <p:sp>
        <p:nvSpPr>
          <p:cNvPr id="174" name="Google Shape;174;p21"/>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r>
              <a:rPr lang="en-GB" b="1" dirty="0"/>
              <a:t>D</a:t>
            </a:r>
            <a:r>
              <a:rPr lang="en" b="1" dirty="0"/>
              <a:t>ate</a:t>
            </a:r>
            <a:r>
              <a:rPr lang="en" b="1" dirty="0"/>
              <a:t>: </a:t>
            </a:r>
            <a:r>
              <a:rPr lang="en" dirty="0" smtClean="0"/>
              <a:t>10/06/2026</a:t>
            </a:r>
          </a:p>
          <a:p>
            <a:pPr marL="182880" lvl="0" indent="-154940"/>
            <a:r>
              <a:rPr lang="en" b="1" dirty="0" smtClean="0"/>
              <a:t>Feedback </a:t>
            </a:r>
            <a:r>
              <a:rPr lang="en" b="1" dirty="0"/>
              <a:t>from</a:t>
            </a:r>
            <a:r>
              <a:rPr lang="en" b="1" dirty="0" smtClean="0"/>
              <a:t>: </a:t>
            </a:r>
            <a:r>
              <a:rPr lang="en-GB" dirty="0"/>
              <a:t>Karna </a:t>
            </a:r>
            <a:r>
              <a:rPr lang="en-GB" dirty="0" err="1"/>
              <a:t>Rewatkar</a:t>
            </a:r>
            <a:r>
              <a:rPr lang="en-GB" dirty="0"/>
              <a:t> (Supervisor)</a:t>
            </a:r>
            <a:endParaRPr lang="en" dirty="0"/>
          </a:p>
          <a:p>
            <a:pPr marL="182880" lvl="0" indent="-154940"/>
            <a:r>
              <a:rPr lang="en" b="1" dirty="0"/>
              <a:t>Feedback</a:t>
            </a:r>
            <a:r>
              <a:rPr lang="en" b="1" dirty="0" smtClean="0"/>
              <a:t>: </a:t>
            </a:r>
            <a:r>
              <a:rPr lang="en-GB" dirty="0"/>
              <a:t>Finding that Faster R-CNN </a:t>
            </a:r>
            <a:r>
              <a:rPr lang="en-GB" dirty="0" err="1"/>
              <a:t>overfits</a:t>
            </a:r>
            <a:r>
              <a:rPr lang="en-GB" dirty="0"/>
              <a:t> this early, even on the large balanced dataset, is actually a more interesting result than if both models had trained similarly well. It's good that you tried a couple of fixes (reduced LR, more patience) rather than accepting the first run as final, even though neither worked. That gives you a stronger basis to say the issue is a genuine capacity-versus-data problem rather than just a tuning mistake</a:t>
            </a:r>
            <a:r>
              <a:rPr lang="en-GB" dirty="0" smtClean="0"/>
              <a:t>.</a:t>
            </a:r>
          </a:p>
          <a:p>
            <a:pPr marL="182880" lvl="0" indent="-154940"/>
            <a:r>
              <a:rPr lang="en" b="1" dirty="0" smtClean="0"/>
              <a:t>Related </a:t>
            </a:r>
            <a:r>
              <a:rPr lang="en" b="1" dirty="0"/>
              <a:t>to what task: </a:t>
            </a:r>
            <a:r>
              <a:rPr lang="en-GB" dirty="0"/>
              <a:t>Faster R-CNN overfitting investigation</a:t>
            </a:r>
            <a:r>
              <a:rPr lang="en-GB" dirty="0" smtClean="0"/>
              <a:t>.</a:t>
            </a:r>
          </a:p>
          <a:p>
            <a:pPr marL="182880" lvl="0" indent="-154940"/>
            <a:r>
              <a:rPr lang="en" b="1" dirty="0" smtClean="0"/>
              <a:t>Response/action </a:t>
            </a:r>
            <a:r>
              <a:rPr lang="en" b="1" dirty="0"/>
              <a:t>coming forward from this: </a:t>
            </a:r>
            <a:r>
              <a:rPr lang="en-GB" dirty="0" smtClean="0"/>
              <a:t>D</a:t>
            </a:r>
            <a:r>
              <a:rPr lang="en-GB" dirty="0" smtClean="0"/>
              <a:t>ecided </a:t>
            </a:r>
            <a:r>
              <a:rPr lang="en-GB" dirty="0"/>
              <a:t>to report it as a data-volume-related limitation rather than chase it further.</a:t>
            </a:r>
          </a:p>
          <a:p>
            <a:pPr marL="182880" lvl="0" indent="-154940"/>
            <a:endParaRPr lang="en" b="1" dirty="0"/>
          </a:p>
        </p:txBody>
      </p:sp>
      <p:sp>
        <p:nvSpPr>
          <p:cNvPr id="175" name="Google Shape;175;p21"/>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2/2</a:t>
            </a:r>
            <a:endParaRPr dirty="0"/>
          </a:p>
        </p:txBody>
      </p:sp>
      <p:sp>
        <p:nvSpPr>
          <p:cNvPr id="176" name="Google Shape;176;p21"/>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9</a:t>
            </a:r>
            <a:endParaRPr dirty="0"/>
          </a:p>
        </p:txBody>
      </p:sp>
    </p:spTree>
    <p:extLst>
      <p:ext uri="{BB962C8B-B14F-4D97-AF65-F5344CB8AC3E}">
        <p14:creationId xmlns:p14="http://schemas.microsoft.com/office/powerpoint/2010/main" val="27590000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0"/>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r>
              <a:rPr lang="en" dirty="0"/>
              <a:t>Week 10 - Log</a:t>
            </a:r>
            <a:endParaRPr lang="en-US" dirty="0"/>
          </a:p>
        </p:txBody>
      </p:sp>
      <p:sp>
        <p:nvSpPr>
          <p:cNvPr id="161" name="Google Shape;161;p20"/>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dirty="0"/>
              <a:t>Reflection</a:t>
            </a:r>
            <a:endParaRPr dirty="0"/>
          </a:p>
        </p:txBody>
      </p:sp>
      <p:sp>
        <p:nvSpPr>
          <p:cNvPr id="162" name="Google Shape;162;p20"/>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dirty="0"/>
              <a:t>What did you do?</a:t>
            </a:r>
            <a:endParaRPr dirty="0"/>
          </a:p>
        </p:txBody>
      </p:sp>
      <p:sp>
        <p:nvSpPr>
          <p:cNvPr id="163" name="Google Shape;163;p20"/>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r>
              <a:rPr lang="en" dirty="0" smtClean="0"/>
              <a:t>?</a:t>
            </a:r>
          </a:p>
          <a:p>
            <a:pPr marL="27940" lvl="0" indent="0">
              <a:buNone/>
            </a:pPr>
            <a:r>
              <a:rPr lang="en" dirty="0" smtClean="0"/>
              <a:t>The goal for this week is to </a:t>
            </a:r>
            <a:r>
              <a:rPr lang="en-GB" dirty="0"/>
              <a:t>run the formal H1 statistical tests and write up the model comparison</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have you actually been able to do? </a:t>
            </a:r>
            <a:endParaRPr lang="en" dirty="0" smtClean="0"/>
          </a:p>
          <a:p>
            <a:pPr marL="27940" lvl="0" indent="0">
              <a:buNone/>
            </a:pPr>
            <a:r>
              <a:rPr lang="en" dirty="0" smtClean="0"/>
              <a:t>I </a:t>
            </a:r>
            <a:r>
              <a:rPr lang="en-GB" dirty="0"/>
              <a:t>measured inference time and training wall-clock for both models; ran the Wilcoxon test and the bootstrap CI; updated the pipeline diagram; drafted the H1 Results/Discussion text</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Showcase what tasks you have been working on this week and provide evidence for it</a:t>
            </a:r>
            <a:r>
              <a:rPr lang="en" dirty="0" smtClean="0"/>
              <a:t>.</a:t>
            </a:r>
          </a:p>
          <a:p>
            <a:pPr marL="27940" lvl="0" indent="0" algn="l" rtl="0">
              <a:spcBef>
                <a:spcPts val="0"/>
              </a:spcBef>
              <a:spcAft>
                <a:spcPts val="0"/>
              </a:spcAft>
              <a:buSzPts val="1000"/>
              <a:buNone/>
            </a:pPr>
            <a:endParaRPr lang="en" dirty="0"/>
          </a:p>
          <a:p>
            <a:pPr marL="27940" lvl="0" indent="0">
              <a:buNone/>
            </a:pPr>
            <a:r>
              <a:rPr lang="en-GB" dirty="0" smtClean="0"/>
              <a:t>statistical </a:t>
            </a:r>
            <a:r>
              <a:rPr lang="en-GB" dirty="0"/>
              <a:t>results in outputs/reports/; thesis sections 4.1.3/5.1 draft.</a:t>
            </a:r>
            <a:endParaRPr dirty="0"/>
          </a:p>
        </p:txBody>
      </p:sp>
      <p:sp>
        <p:nvSpPr>
          <p:cNvPr id="164" name="Google Shape;164;p20"/>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 </a:t>
            </a:r>
            <a:endParaRPr lang="en" dirty="0" smtClean="0"/>
          </a:p>
          <a:p>
            <a:pPr marL="27940" lvl="0" indent="0" algn="l" rtl="0">
              <a:spcBef>
                <a:spcPts val="0"/>
              </a:spcBef>
              <a:spcAft>
                <a:spcPts val="0"/>
              </a:spcAft>
              <a:buSzPts val="1000"/>
              <a:buNone/>
            </a:pPr>
            <a:r>
              <a:rPr lang="en" dirty="0" smtClean="0"/>
              <a:t>The week went well - H1 fully tested and written up.</a:t>
            </a:r>
          </a:p>
          <a:p>
            <a:pPr marL="27940" lvl="0" indent="0" algn="l" rtl="0">
              <a:spcBef>
                <a:spcPts val="0"/>
              </a:spcBef>
              <a:spcAft>
                <a:spcPts val="0"/>
              </a:spcAft>
              <a:buSzPts val="1000"/>
              <a:buNone/>
            </a:pPr>
            <a:endParaRPr dirty="0"/>
          </a:p>
          <a:p>
            <a:pPr marL="182880" lvl="0" indent="-154940" algn="l" rtl="0">
              <a:spcBef>
                <a:spcPts val="0"/>
              </a:spcBef>
              <a:spcAft>
                <a:spcPts val="0"/>
              </a:spcAft>
              <a:buSzPts val="1000"/>
              <a:buChar char="●"/>
            </a:pPr>
            <a:r>
              <a:rPr lang="en" dirty="0"/>
              <a:t>What went well? </a:t>
            </a:r>
            <a:endParaRPr lang="en" dirty="0" smtClean="0"/>
          </a:p>
          <a:p>
            <a:pPr marL="27940" lvl="0" indent="0">
              <a:buNone/>
            </a:pPr>
            <a:r>
              <a:rPr lang="en-GB" dirty="0"/>
              <a:t>T</a:t>
            </a:r>
            <a:r>
              <a:rPr lang="en-GB" dirty="0" smtClean="0"/>
              <a:t>he </a:t>
            </a:r>
            <a:r>
              <a:rPr lang="en-GB" dirty="0"/>
              <a:t>bootstrap CI gave a clean, decisive answer</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didn’t go so well? </a:t>
            </a:r>
            <a:endParaRPr lang="en" dirty="0" smtClean="0"/>
          </a:p>
          <a:p>
            <a:pPr marL="27940" lvl="0" indent="0">
              <a:buNone/>
            </a:pPr>
            <a:r>
              <a:rPr lang="en-GB" dirty="0"/>
              <a:t>H1's accuracy criterion is rejected </a:t>
            </a:r>
            <a:r>
              <a:rPr lang="en-GB" dirty="0" smtClean="0"/>
              <a:t>- </a:t>
            </a:r>
            <a:r>
              <a:rPr lang="en-GB" dirty="0"/>
              <a:t>the opposite of the hypothesis </a:t>
            </a:r>
            <a:r>
              <a:rPr lang="en-GB" dirty="0" smtClean="0"/>
              <a:t>- </a:t>
            </a:r>
            <a:r>
              <a:rPr lang="en-GB" dirty="0"/>
              <a:t>needed careful framing</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did you learn? </a:t>
            </a:r>
            <a:endParaRPr lang="en" dirty="0" smtClean="0"/>
          </a:p>
          <a:p>
            <a:pPr marL="27940" lvl="0" indent="0">
              <a:buNone/>
            </a:pPr>
            <a:r>
              <a:rPr lang="en-GB" dirty="0" smtClean="0"/>
              <a:t>I learnt how </a:t>
            </a:r>
            <a:r>
              <a:rPr lang="en-GB" dirty="0"/>
              <a:t>to design and interpret an equivalence test against a margin, not just a plain significance test</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could be added as an Action point looking forward to next week</a:t>
            </a:r>
            <a:r>
              <a:rPr lang="en" dirty="0" smtClean="0"/>
              <a:t>?</a:t>
            </a:r>
            <a:endParaRPr lang="en-GB" dirty="0"/>
          </a:p>
          <a:p>
            <a:pPr marL="27940" lvl="0" indent="0">
              <a:buNone/>
            </a:pPr>
            <a:r>
              <a:rPr lang="en-GB" dirty="0" smtClean="0"/>
              <a:t>Action Point for the next week is to </a:t>
            </a:r>
            <a:r>
              <a:rPr lang="en-GB" dirty="0"/>
              <a:t>start collecting the first manual Sofia dataset.</a:t>
            </a:r>
            <a:endParaRPr lang="en-GB" dirty="0"/>
          </a:p>
        </p:txBody>
      </p:sp>
      <p:sp>
        <p:nvSpPr>
          <p:cNvPr id="165" name="Google Shape;165;p20"/>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1/2</a:t>
            </a:r>
            <a:endParaRPr dirty="0"/>
          </a:p>
        </p:txBody>
      </p:sp>
      <p:sp>
        <p:nvSpPr>
          <p:cNvPr id="166" name="Google Shape;166;p20"/>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a:t>10</a:t>
            </a:r>
            <a:endParaRPr sz="2400" dirty="0"/>
          </a:p>
        </p:txBody>
      </p:sp>
      <p:sp>
        <p:nvSpPr>
          <p:cNvPr id="167" name="Google Shape;167;p20"/>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12547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1"/>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Week 10 - Feedback</a:t>
            </a:r>
            <a:endParaRPr dirty="0"/>
          </a:p>
        </p:txBody>
      </p:sp>
      <p:sp>
        <p:nvSpPr>
          <p:cNvPr id="173" name="Google Shape;173;p21"/>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dirty="0"/>
              <a:t>manager, colleague, or team member feedback</a:t>
            </a:r>
            <a:endParaRPr dirty="0"/>
          </a:p>
        </p:txBody>
      </p:sp>
      <p:sp>
        <p:nvSpPr>
          <p:cNvPr id="174" name="Google Shape;174;p21"/>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r>
              <a:rPr lang="en-GB" b="1" dirty="0"/>
              <a:t>D</a:t>
            </a:r>
            <a:r>
              <a:rPr lang="en" b="1" dirty="0" smtClean="0"/>
              <a:t>ate: </a:t>
            </a:r>
            <a:r>
              <a:rPr lang="en-GB" dirty="0" smtClean="0"/>
              <a:t>19/06/2026</a:t>
            </a:r>
            <a:endParaRPr lang="en" b="1" dirty="0"/>
          </a:p>
          <a:p>
            <a:pPr marL="182880" lvl="0" indent="-154940"/>
            <a:r>
              <a:rPr lang="en" b="1" dirty="0"/>
              <a:t>Feedback </a:t>
            </a:r>
            <a:r>
              <a:rPr lang="en" b="1" dirty="0" smtClean="0"/>
              <a:t>from: </a:t>
            </a:r>
            <a:r>
              <a:rPr lang="en-GB" dirty="0" smtClean="0"/>
              <a:t>Karna </a:t>
            </a:r>
            <a:r>
              <a:rPr lang="en-GB" dirty="0" err="1"/>
              <a:t>Rewatkar</a:t>
            </a:r>
            <a:r>
              <a:rPr lang="en-GB" dirty="0"/>
              <a:t> (</a:t>
            </a:r>
            <a:r>
              <a:rPr lang="en-GB" dirty="0" err="1"/>
              <a:t>BUas</a:t>
            </a:r>
            <a:r>
              <a:rPr lang="en-GB" dirty="0"/>
              <a:t> Supervisor)</a:t>
            </a:r>
            <a:endParaRPr lang="en" b="1" dirty="0"/>
          </a:p>
          <a:p>
            <a:pPr marL="182880" lvl="0" indent="-154940"/>
            <a:r>
              <a:rPr lang="en" b="1" dirty="0" smtClean="0"/>
              <a:t>Feedback: </a:t>
            </a:r>
            <a:r>
              <a:rPr lang="en-GB" dirty="0" smtClean="0"/>
              <a:t>The </a:t>
            </a:r>
            <a:r>
              <a:rPr lang="en-GB" dirty="0"/>
              <a:t>statistical approach for H1 is appropriately rigorous </a:t>
            </a:r>
            <a:r>
              <a:rPr lang="en-GB" dirty="0" smtClean="0"/>
              <a:t>- </a:t>
            </a:r>
            <a:r>
              <a:rPr lang="en-GB" dirty="0"/>
              <a:t>treating the accuracy criterion as an equivalence question with a bootstrap CI, rather than just eyeballing the numbers, is exactly the kind of thing that will hold up under scrutiny. The result going against the original hypothesis isn't a problem as long as you're upfront about it in the discussion, which it sounds like you are. This is a good, complete piece of analysis to have finished.</a:t>
            </a:r>
            <a:endParaRPr lang="en" dirty="0"/>
          </a:p>
          <a:p>
            <a:pPr marL="182880" lvl="0" indent="-154940"/>
            <a:r>
              <a:rPr lang="en" b="1" dirty="0"/>
              <a:t>Related to what task: </a:t>
            </a:r>
            <a:r>
              <a:rPr lang="en-GB" dirty="0"/>
              <a:t>H1 statistical testing and write-up.</a:t>
            </a:r>
            <a:endParaRPr lang="en" dirty="0"/>
          </a:p>
          <a:p>
            <a:pPr marL="182880" lvl="0" indent="-154940"/>
            <a:r>
              <a:rPr lang="en" b="1" dirty="0"/>
              <a:t>Response/action coming forward from this: </a:t>
            </a:r>
            <a:r>
              <a:rPr lang="en-GB" dirty="0" smtClean="0"/>
              <a:t>K</a:t>
            </a:r>
            <a:r>
              <a:rPr lang="en-GB" dirty="0" smtClean="0"/>
              <a:t>ept </a:t>
            </a:r>
            <a:r>
              <a:rPr lang="en-GB" dirty="0"/>
              <a:t>the "partially supported" framing and explained why the accuracy prediction didn't hold.</a:t>
            </a:r>
            <a:endParaRPr lang="en" dirty="0"/>
          </a:p>
        </p:txBody>
      </p:sp>
      <p:sp>
        <p:nvSpPr>
          <p:cNvPr id="175" name="Google Shape;175;p21"/>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2/2</a:t>
            </a:r>
            <a:endParaRPr dirty="0"/>
          </a:p>
        </p:txBody>
      </p:sp>
      <p:sp>
        <p:nvSpPr>
          <p:cNvPr id="176" name="Google Shape;176;p21"/>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a:t>10</a:t>
            </a:r>
            <a:endParaRPr sz="2400" dirty="0"/>
          </a:p>
        </p:txBody>
      </p:sp>
    </p:spTree>
    <p:extLst>
      <p:ext uri="{BB962C8B-B14F-4D97-AF65-F5344CB8AC3E}">
        <p14:creationId xmlns:p14="http://schemas.microsoft.com/office/powerpoint/2010/main" val="40838121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4"/>
          <p:cNvSpPr txBox="1">
            <a:spLocks noGrp="1"/>
          </p:cNvSpPr>
          <p:nvPr>
            <p:ph type="title"/>
          </p:nvPr>
        </p:nvSpPr>
        <p:spPr>
          <a:xfrm>
            <a:off x="274320" y="1745053"/>
            <a:ext cx="2560200" cy="1551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b="1" dirty="0">
                <a:solidFill>
                  <a:schemeClr val="accent6">
                    <a:lumMod val="75000"/>
                  </a:schemeClr>
                </a:solidFill>
              </a:rPr>
              <a:t>You are halfway there!</a:t>
            </a:r>
            <a:endParaRPr b="1" dirty="0">
              <a:solidFill>
                <a:schemeClr val="accent6">
                  <a:lumMod val="75000"/>
                </a:schemeClr>
              </a:solidFill>
            </a:endParaRPr>
          </a:p>
        </p:txBody>
      </p:sp>
      <p:sp>
        <p:nvSpPr>
          <p:cNvPr id="110" name="Google Shape;110;p14"/>
          <p:cNvSpPr txBox="1">
            <a:spLocks noGrp="1"/>
          </p:cNvSpPr>
          <p:nvPr>
            <p:ph type="body" idx="2"/>
          </p:nvPr>
        </p:nvSpPr>
        <p:spPr>
          <a:xfrm>
            <a:off x="3383280" y="274320"/>
            <a:ext cx="5486400" cy="459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sz="1200" b="1" dirty="0"/>
              <a:t>You are now halfway your graduation project period, congratulations! Hopefully, you have learned a lot already by now and you have found your way around the company and the team you are working with. As a reminder, do not forget about the following deliverables:</a:t>
            </a:r>
          </a:p>
          <a:p>
            <a:pPr marL="0" lvl="0" indent="0" algn="l" rtl="0">
              <a:spcBef>
                <a:spcPts val="0"/>
              </a:spcBef>
              <a:spcAft>
                <a:spcPts val="0"/>
              </a:spcAft>
              <a:buNone/>
            </a:pPr>
            <a:endParaRPr lang="en-GB" sz="1200" b="1" dirty="0"/>
          </a:p>
          <a:p>
            <a:pPr algn="l" rtl="0" fontAlgn="base">
              <a:buFont typeface="+mj-lt"/>
              <a:buAutoNum type="arabicPeriod"/>
            </a:pPr>
            <a:r>
              <a:rPr lang="en-GB" sz="1200" dirty="0"/>
              <a:t>Remind your company supervisor about the 10</a:t>
            </a:r>
            <a:r>
              <a:rPr lang="en-GB" sz="1200" baseline="30000" dirty="0"/>
              <a:t>th</a:t>
            </a:r>
            <a:r>
              <a:rPr lang="en-GB" sz="1200" dirty="0"/>
              <a:t> week assessment. They should fill in the assessment sheet provided and discuss their outcomes with you. Reflect on their feedback and see how you can improve yourself for the second half of your graduation project period. Afterwards, your supervisor needs to send the signed version to your </a:t>
            </a:r>
            <a:r>
              <a:rPr lang="en-GB" sz="1200" dirty="0" err="1"/>
              <a:t>BUas</a:t>
            </a:r>
            <a:r>
              <a:rPr lang="en-GB" sz="1200" dirty="0"/>
              <a:t> supervisor! ​</a:t>
            </a:r>
            <a:br>
              <a:rPr lang="en-GB" sz="1200" dirty="0"/>
            </a:br>
            <a:r>
              <a:rPr lang="en-GB" sz="1200" dirty="0"/>
              <a:t>​</a:t>
            </a:r>
          </a:p>
          <a:p>
            <a:pPr algn="l" rtl="0" fontAlgn="base">
              <a:buFont typeface="+mj-lt"/>
              <a:buAutoNum type="arabicPeriod"/>
            </a:pPr>
            <a:r>
              <a:rPr lang="en-GB" sz="1200" dirty="0"/>
              <a:t>Plan a meeting with your Buas supervisor to discuss the progress of your graduation project. </a:t>
            </a:r>
            <a:br>
              <a:rPr lang="en-GB" sz="1200" dirty="0"/>
            </a:br>
            <a:endParaRPr lang="en-GB" sz="1200" dirty="0"/>
          </a:p>
          <a:p>
            <a:pPr algn="l" rtl="0" fontAlgn="base">
              <a:buFont typeface="+mj-lt"/>
              <a:buAutoNum type="arabicPeriod"/>
            </a:pPr>
            <a:r>
              <a:rPr lang="en-GB" sz="1200" dirty="0"/>
              <a:t>Do not forget to update your learning log! Make sure that the log is accessible for your Buas supervisor so they can have a look at your progress.</a:t>
            </a:r>
          </a:p>
          <a:p>
            <a:pPr algn="l" rtl="0" fontAlgn="base">
              <a:buFont typeface="+mj-lt"/>
              <a:buAutoNum type="arabicPeriod"/>
            </a:pPr>
            <a:endParaRPr lang="en-GB" sz="1200" dirty="0"/>
          </a:p>
          <a:p>
            <a:pPr algn="l" rtl="0" fontAlgn="base">
              <a:buFont typeface="+mj-lt"/>
              <a:buAutoNum type="arabicPeriod"/>
            </a:pPr>
            <a:r>
              <a:rPr lang="en-GB" sz="1200" dirty="0"/>
              <a:t>Start writing on your report! Check Brightspace for the guidelines.</a:t>
            </a:r>
          </a:p>
          <a:p>
            <a:pPr algn="l" rtl="0" fontAlgn="base">
              <a:buFont typeface="+mj-lt"/>
              <a:buAutoNum type="arabicPeriod"/>
            </a:pPr>
            <a:endParaRPr lang="en-GB" sz="1200" dirty="0"/>
          </a:p>
          <a:p>
            <a:pPr algn="l" rtl="0" fontAlgn="base">
              <a:buFont typeface="+mj-lt"/>
              <a:buAutoNum type="arabicPeriod"/>
            </a:pPr>
            <a:r>
              <a:rPr lang="en-GB" sz="1200" dirty="0"/>
              <a:t>Above all, don’t be shy! Ask all the questions that pop up and have coffee with your coworkers to learn about their career path and their education. You are there to learn, make the most of it!</a:t>
            </a:r>
            <a:endParaRPr lang="en-GB" dirty="0"/>
          </a:p>
          <a:p>
            <a:pPr marL="0" lvl="0" indent="0" algn="l" rtl="0">
              <a:spcBef>
                <a:spcPts val="0"/>
              </a:spcBef>
              <a:spcAft>
                <a:spcPts val="0"/>
              </a:spcAft>
              <a:buNone/>
            </a:pPr>
            <a:endParaRPr lang="en-GB" sz="1200" dirty="0"/>
          </a:p>
        </p:txBody>
      </p:sp>
    </p:spTree>
    <p:extLst>
      <p:ext uri="{BB962C8B-B14F-4D97-AF65-F5344CB8AC3E}">
        <p14:creationId xmlns:p14="http://schemas.microsoft.com/office/powerpoint/2010/main" val="25162100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0"/>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r>
              <a:rPr lang="en" dirty="0"/>
              <a:t>Week 11 - Log</a:t>
            </a:r>
            <a:endParaRPr lang="en-US" dirty="0"/>
          </a:p>
        </p:txBody>
      </p:sp>
      <p:sp>
        <p:nvSpPr>
          <p:cNvPr id="161" name="Google Shape;161;p20"/>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162" name="Google Shape;162;p20"/>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163" name="Google Shape;163;p20"/>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r>
              <a:rPr lang="en" dirty="0" smtClean="0"/>
              <a:t>?</a:t>
            </a:r>
          </a:p>
          <a:p>
            <a:pPr marL="27940" lvl="0" indent="0">
              <a:buNone/>
            </a:pPr>
            <a:r>
              <a:rPr lang="en" dirty="0" smtClean="0"/>
              <a:t>The goal for this week is to </a:t>
            </a:r>
            <a:r>
              <a:rPr lang="en-GB" dirty="0"/>
              <a:t>collect and start annotating the first manual </a:t>
            </a:r>
            <a:r>
              <a:rPr lang="en-GB" dirty="0" smtClean="0"/>
              <a:t>Sofia, Bulgaria (pilot-area) </a:t>
            </a:r>
            <a:r>
              <a:rPr lang="en-GB" dirty="0"/>
              <a:t>dataset</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have you actually been able to do? </a:t>
            </a:r>
            <a:endParaRPr lang="en" dirty="0" smtClean="0"/>
          </a:p>
          <a:p>
            <a:pPr marL="27940" lvl="0" indent="0">
              <a:buNone/>
            </a:pPr>
            <a:r>
              <a:rPr lang="en" dirty="0" smtClean="0"/>
              <a:t>I </a:t>
            </a:r>
            <a:r>
              <a:rPr lang="en-GB" dirty="0"/>
              <a:t>planned the route/method, recorded two driving-video sessions around Sofia, extracted candidate damage frames, began CVAT annotation across all four classes</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Showcase what tasks you have been working on this week and provide evidence for it</a:t>
            </a:r>
            <a:r>
              <a:rPr lang="en" dirty="0" smtClean="0"/>
              <a:t>.</a:t>
            </a:r>
          </a:p>
          <a:p>
            <a:pPr marL="27940" lvl="0" indent="0" algn="l" rtl="0">
              <a:spcBef>
                <a:spcPts val="0"/>
              </a:spcBef>
              <a:spcAft>
                <a:spcPts val="0"/>
              </a:spcAft>
              <a:buSzPts val="1000"/>
              <a:buNone/>
            </a:pPr>
            <a:endParaRPr lang="en" dirty="0"/>
          </a:p>
          <a:p>
            <a:pPr marL="27940" lvl="0" indent="0" algn="l" rtl="0">
              <a:spcBef>
                <a:spcPts val="0"/>
              </a:spcBef>
              <a:spcAft>
                <a:spcPts val="0"/>
              </a:spcAft>
              <a:buSzPts val="1000"/>
              <a:buNone/>
            </a:pPr>
            <a:endParaRPr lang="en" dirty="0" smtClean="0"/>
          </a:p>
          <a:p>
            <a:pPr marL="27940" lvl="0" indent="0">
              <a:buNone/>
            </a:pPr>
            <a:r>
              <a:rPr lang="en-GB" dirty="0"/>
              <a:t>data/manual/images/ and first annotated batches in data/manual/labels/.</a:t>
            </a:r>
            <a:endParaRPr lang="en" dirty="0" smtClean="0"/>
          </a:p>
        </p:txBody>
      </p:sp>
      <p:sp>
        <p:nvSpPr>
          <p:cNvPr id="164" name="Google Shape;164;p20"/>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 </a:t>
            </a:r>
            <a:endParaRPr lang="en" dirty="0" smtClean="0"/>
          </a:p>
          <a:p>
            <a:pPr marL="27940" lvl="0" indent="0" algn="l" rtl="0">
              <a:spcBef>
                <a:spcPts val="0"/>
              </a:spcBef>
              <a:spcAft>
                <a:spcPts val="0"/>
              </a:spcAft>
              <a:buSzPts val="1000"/>
              <a:buNone/>
            </a:pPr>
            <a:r>
              <a:rPr lang="en" dirty="0" smtClean="0"/>
              <a:t>The week went good, but the collection procedure was hard to perform.</a:t>
            </a:r>
          </a:p>
          <a:p>
            <a:pPr marL="27940" lvl="0" indent="0" algn="l" rtl="0">
              <a:spcBef>
                <a:spcPts val="0"/>
              </a:spcBef>
              <a:spcAft>
                <a:spcPts val="0"/>
              </a:spcAft>
              <a:buSzPts val="1000"/>
              <a:buNone/>
            </a:pPr>
            <a:endParaRPr dirty="0"/>
          </a:p>
          <a:p>
            <a:pPr marL="182880" lvl="0" indent="-154940" algn="l" rtl="0">
              <a:spcBef>
                <a:spcPts val="0"/>
              </a:spcBef>
              <a:spcAft>
                <a:spcPts val="0"/>
              </a:spcAft>
              <a:buSzPts val="1000"/>
              <a:buChar char="●"/>
            </a:pPr>
            <a:r>
              <a:rPr lang="en" dirty="0"/>
              <a:t>What went well? </a:t>
            </a:r>
            <a:endParaRPr lang="en" dirty="0" smtClean="0"/>
          </a:p>
          <a:p>
            <a:pPr marL="27940" lvl="0" indent="0">
              <a:buNone/>
            </a:pPr>
            <a:r>
              <a:rPr lang="en-GB" dirty="0"/>
              <a:t>T</a:t>
            </a:r>
            <a:r>
              <a:rPr lang="en-GB" dirty="0" smtClean="0"/>
              <a:t>he </a:t>
            </a:r>
            <a:r>
              <a:rPr lang="en-GB" dirty="0"/>
              <a:t>in-car mount gave consistent, usable footage across both sessions</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didn’t go so well? </a:t>
            </a:r>
            <a:endParaRPr lang="en" dirty="0" smtClean="0"/>
          </a:p>
          <a:p>
            <a:pPr marL="27940" lvl="0" indent="0">
              <a:buNone/>
            </a:pPr>
            <a:r>
              <a:rPr lang="en-GB" dirty="0"/>
              <a:t>A</a:t>
            </a:r>
            <a:r>
              <a:rPr lang="en-GB" dirty="0" smtClean="0"/>
              <a:t>nnotation </a:t>
            </a:r>
            <a:r>
              <a:rPr lang="en-GB" dirty="0"/>
              <a:t>is slower than expected </a:t>
            </a:r>
            <a:r>
              <a:rPr lang="en-GB" dirty="0" smtClean="0"/>
              <a:t>- </a:t>
            </a:r>
            <a:r>
              <a:rPr lang="en-GB" dirty="0"/>
              <a:t>more candidate frames than time to annotate this week</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did you learn? </a:t>
            </a:r>
            <a:endParaRPr lang="en" dirty="0" smtClean="0"/>
          </a:p>
          <a:p>
            <a:pPr marL="27940" lvl="0" indent="0">
              <a:buNone/>
            </a:pPr>
            <a:r>
              <a:rPr lang="en" dirty="0" smtClean="0"/>
              <a:t>I learn h</a:t>
            </a:r>
            <a:r>
              <a:rPr lang="en-GB" dirty="0" smtClean="0"/>
              <a:t>ow </a:t>
            </a:r>
            <a:r>
              <a:rPr lang="en-GB" dirty="0"/>
              <a:t>much manual annotation time a small real-world dataset needs compared to a ready-made benchmark</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could be added as an Action point looking forward to next week</a:t>
            </a:r>
            <a:r>
              <a:rPr lang="en" dirty="0" smtClean="0"/>
              <a:t>?</a:t>
            </a:r>
          </a:p>
          <a:p>
            <a:pPr marL="27940" lvl="0" indent="0">
              <a:buNone/>
            </a:pPr>
            <a:r>
              <a:rPr lang="en" dirty="0" smtClean="0"/>
              <a:t>As an Action Point for the next week is to </a:t>
            </a:r>
            <a:r>
              <a:rPr lang="en-GB" dirty="0"/>
              <a:t>finish annotation and start fine-tuning.</a:t>
            </a:r>
            <a:endParaRPr dirty="0"/>
          </a:p>
        </p:txBody>
      </p:sp>
      <p:sp>
        <p:nvSpPr>
          <p:cNvPr id="165" name="Google Shape;165;p20"/>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1/2</a:t>
            </a:r>
            <a:endParaRPr dirty="0"/>
          </a:p>
        </p:txBody>
      </p:sp>
      <p:sp>
        <p:nvSpPr>
          <p:cNvPr id="166" name="Google Shape;166;p20"/>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a:t>11</a:t>
            </a:r>
            <a:endParaRPr sz="2400" dirty="0"/>
          </a:p>
        </p:txBody>
      </p:sp>
      <p:sp>
        <p:nvSpPr>
          <p:cNvPr id="167" name="Google Shape;167;p20"/>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85366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1"/>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Week 11 - Feedback</a:t>
            </a:r>
            <a:endParaRPr dirty="0"/>
          </a:p>
        </p:txBody>
      </p:sp>
      <p:sp>
        <p:nvSpPr>
          <p:cNvPr id="173" name="Google Shape;173;p21"/>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dirty="0"/>
              <a:t>manager, colleague, or team member feedback</a:t>
            </a:r>
            <a:endParaRPr dirty="0"/>
          </a:p>
        </p:txBody>
      </p:sp>
      <p:sp>
        <p:nvSpPr>
          <p:cNvPr id="174" name="Google Shape;174;p21"/>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r>
              <a:rPr lang="en-GB" b="1" dirty="0"/>
              <a:t>D</a:t>
            </a:r>
            <a:r>
              <a:rPr lang="en" b="1" dirty="0"/>
              <a:t>ate</a:t>
            </a:r>
            <a:r>
              <a:rPr lang="en" b="1" dirty="0"/>
              <a:t>: </a:t>
            </a:r>
            <a:r>
              <a:rPr lang="en" dirty="0"/>
              <a:t>01/07/2026</a:t>
            </a:r>
            <a:endParaRPr lang="en" dirty="0"/>
          </a:p>
          <a:p>
            <a:pPr marL="182880" lvl="0" indent="-154940" algn="l" rtl="0">
              <a:spcBef>
                <a:spcPts val="0"/>
              </a:spcBef>
              <a:spcAft>
                <a:spcPts val="0"/>
              </a:spcAft>
              <a:buSzPts val="1000"/>
              <a:buChar char="●"/>
            </a:pPr>
            <a:r>
              <a:rPr lang="en" b="1" dirty="0"/>
              <a:t>Feedback from</a:t>
            </a:r>
            <a:r>
              <a:rPr lang="en" b="1" dirty="0" smtClean="0"/>
              <a:t>: </a:t>
            </a:r>
            <a:r>
              <a:rPr lang="en" dirty="0" smtClean="0"/>
              <a:t>Borislavv Nachev (peer)</a:t>
            </a:r>
            <a:endParaRPr lang="en" dirty="0"/>
          </a:p>
          <a:p>
            <a:pPr marL="182880" lvl="0" indent="-154940"/>
            <a:r>
              <a:rPr lang="en" b="1" dirty="0"/>
              <a:t>Feedback</a:t>
            </a:r>
            <a:r>
              <a:rPr lang="en" b="1" dirty="0" smtClean="0"/>
              <a:t>: </a:t>
            </a:r>
            <a:r>
              <a:rPr lang="en-GB" dirty="0"/>
              <a:t>Good discipline keeping this collection area separate from the Sveta </a:t>
            </a:r>
            <a:r>
              <a:rPr lang="en-GB" dirty="0" err="1"/>
              <a:t>Troitsa</a:t>
            </a:r>
            <a:r>
              <a:rPr lang="en-GB" dirty="0"/>
              <a:t> neighbourhood you'll use for the routing evaluation later </a:t>
            </a:r>
            <a:r>
              <a:rPr lang="en-GB" dirty="0" smtClean="0"/>
              <a:t>- </a:t>
            </a:r>
            <a:r>
              <a:rPr lang="en-GB" dirty="0"/>
              <a:t>that's the kind of thing that's easy to overlook and hard to fix retroactively if you get it wrong. The in-car recording setup sounds like it gave you consistent footage across both sessions, which should make annotation more straightforward. It's fine that annotation is taking longer than planned; that's normal for manual labelling work.</a:t>
            </a:r>
            <a:endParaRPr lang="en" dirty="0"/>
          </a:p>
          <a:p>
            <a:pPr marL="182880" lvl="0" indent="-154940"/>
            <a:r>
              <a:rPr lang="en" b="1" dirty="0"/>
              <a:t>Related to what task: </a:t>
            </a:r>
            <a:r>
              <a:rPr lang="en-GB" dirty="0" smtClean="0"/>
              <a:t>M</a:t>
            </a:r>
            <a:r>
              <a:rPr lang="en-GB" dirty="0" smtClean="0"/>
              <a:t>anual </a:t>
            </a:r>
            <a:r>
              <a:rPr lang="en-GB" dirty="0"/>
              <a:t>Sofia data collection planning.</a:t>
            </a:r>
            <a:endParaRPr lang="en" dirty="0"/>
          </a:p>
          <a:p>
            <a:pPr marL="182880" lvl="0" indent="-154940"/>
            <a:r>
              <a:rPr lang="en" b="1" dirty="0"/>
              <a:t>Response/action coming forward from this: </a:t>
            </a:r>
            <a:r>
              <a:rPr lang="en-GB" dirty="0" smtClean="0"/>
              <a:t>D</a:t>
            </a:r>
            <a:r>
              <a:rPr lang="en-GB" dirty="0" smtClean="0"/>
              <a:t>ocumented </a:t>
            </a:r>
            <a:r>
              <a:rPr lang="en-GB" dirty="0"/>
              <a:t>the non-overlap decision in the thesis.</a:t>
            </a:r>
          </a:p>
          <a:p>
            <a:pPr marL="182880" lvl="0" indent="-154940" algn="l" rtl="0">
              <a:spcBef>
                <a:spcPts val="0"/>
              </a:spcBef>
              <a:spcAft>
                <a:spcPts val="0"/>
              </a:spcAft>
              <a:buSzPts val="1000"/>
              <a:buChar char="●"/>
            </a:pPr>
            <a:endParaRPr lang="en" b="1" dirty="0"/>
          </a:p>
        </p:txBody>
      </p:sp>
      <p:sp>
        <p:nvSpPr>
          <p:cNvPr id="175" name="Google Shape;175;p21"/>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2/2</a:t>
            </a:r>
            <a:endParaRPr/>
          </a:p>
        </p:txBody>
      </p:sp>
      <p:sp>
        <p:nvSpPr>
          <p:cNvPr id="176" name="Google Shape;176;p21"/>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a:t>11</a:t>
            </a:r>
            <a:endParaRPr sz="2400" dirty="0"/>
          </a:p>
        </p:txBody>
      </p:sp>
    </p:spTree>
    <p:extLst>
      <p:ext uri="{BB962C8B-B14F-4D97-AF65-F5344CB8AC3E}">
        <p14:creationId xmlns:p14="http://schemas.microsoft.com/office/powerpoint/2010/main" val="21723267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0"/>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r>
              <a:rPr lang="en" dirty="0"/>
              <a:t>Week 12 - Log</a:t>
            </a:r>
            <a:endParaRPr lang="en-US" dirty="0"/>
          </a:p>
        </p:txBody>
      </p:sp>
      <p:sp>
        <p:nvSpPr>
          <p:cNvPr id="161" name="Google Shape;161;p20"/>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162" name="Google Shape;162;p20"/>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163" name="Google Shape;163;p20"/>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r>
              <a:rPr lang="en" dirty="0" smtClean="0"/>
              <a:t>?</a:t>
            </a:r>
          </a:p>
          <a:p>
            <a:pPr marL="27940" lvl="0" indent="0">
              <a:buNone/>
            </a:pPr>
            <a:r>
              <a:rPr lang="en" dirty="0" smtClean="0"/>
              <a:t>The goal for this week is to </a:t>
            </a:r>
            <a:r>
              <a:rPr lang="en-GB" dirty="0"/>
              <a:t>finish annotating the manual Sofia dataset and fine-tune both models</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have you actually been able to do? </a:t>
            </a:r>
            <a:endParaRPr lang="en" dirty="0" smtClean="0"/>
          </a:p>
          <a:p>
            <a:pPr marL="27940" lvl="0" indent="0">
              <a:buNone/>
            </a:pPr>
            <a:r>
              <a:rPr lang="en" dirty="0" smtClean="0"/>
              <a:t>I </a:t>
            </a:r>
            <a:r>
              <a:rPr lang="en-GB" dirty="0"/>
              <a:t>finished/verified all 201 pairs; split 131/28/42; baseline-evaluated both models (revealing a large domain gap); designed the fine-tuning protocol; fine-tuned both models</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Showcase what tasks you have been working on this week and provide evidence for it</a:t>
            </a:r>
            <a:r>
              <a:rPr lang="en" dirty="0" smtClean="0"/>
              <a:t>.</a:t>
            </a:r>
          </a:p>
          <a:p>
            <a:pPr marL="27940" lvl="0" indent="0" algn="l" rtl="0">
              <a:spcBef>
                <a:spcPts val="0"/>
              </a:spcBef>
              <a:spcAft>
                <a:spcPts val="0"/>
              </a:spcAft>
              <a:buSzPts val="1000"/>
              <a:buNone/>
            </a:pPr>
            <a:endParaRPr lang="en" dirty="0"/>
          </a:p>
          <a:p>
            <a:pPr marL="27940" lvl="0" indent="0" algn="l" rtl="0">
              <a:spcBef>
                <a:spcPts val="0"/>
              </a:spcBef>
              <a:spcAft>
                <a:spcPts val="0"/>
              </a:spcAft>
              <a:buSzPts val="1000"/>
              <a:buNone/>
            </a:pPr>
            <a:endParaRPr lang="en" dirty="0" smtClean="0"/>
          </a:p>
          <a:p>
            <a:pPr marL="27940" lvl="0" indent="0">
              <a:buNone/>
            </a:pPr>
            <a:r>
              <a:rPr lang="en-GB" dirty="0"/>
              <a:t>thesis Table: Sofia split; models/yolov8n_sofia_finetune/, models/</a:t>
            </a:r>
            <a:r>
              <a:rPr lang="en-GB" dirty="0" err="1"/>
              <a:t>fasterrcnn_sofia_finetune</a:t>
            </a:r>
            <a:r>
              <a:rPr lang="en-GB" dirty="0"/>
              <a:t>/; before/after results in thesis 5.2.</a:t>
            </a:r>
            <a:endParaRPr dirty="0"/>
          </a:p>
        </p:txBody>
      </p:sp>
      <p:sp>
        <p:nvSpPr>
          <p:cNvPr id="164" name="Google Shape;164;p20"/>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 </a:t>
            </a:r>
            <a:endParaRPr lang="en" dirty="0" smtClean="0"/>
          </a:p>
          <a:p>
            <a:pPr marL="27940" lvl="0" indent="0">
              <a:buNone/>
            </a:pPr>
            <a:r>
              <a:rPr lang="en" dirty="0" smtClean="0"/>
              <a:t>It was a </a:t>
            </a:r>
            <a:r>
              <a:rPr lang="en-GB" dirty="0"/>
              <a:t>big week </a:t>
            </a:r>
            <a:r>
              <a:rPr lang="en-GB" dirty="0" smtClean="0"/>
              <a:t>- </a:t>
            </a:r>
            <a:r>
              <a:rPr lang="en-GB" dirty="0"/>
              <a:t>one of the most important results in the thesis</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went well? </a:t>
            </a:r>
            <a:endParaRPr lang="en" dirty="0"/>
          </a:p>
          <a:p>
            <a:pPr marL="27940" lvl="0" indent="0" algn="l" rtl="0">
              <a:spcBef>
                <a:spcPts val="0"/>
              </a:spcBef>
              <a:spcAft>
                <a:spcPts val="0"/>
              </a:spcAft>
              <a:buSzPts val="1000"/>
              <a:buNone/>
            </a:pPr>
            <a:r>
              <a:rPr lang="en-GB" dirty="0"/>
              <a:t>F</a:t>
            </a:r>
            <a:r>
              <a:rPr lang="en-GB" dirty="0" smtClean="0"/>
              <a:t>ine-tuning </a:t>
            </a:r>
            <a:r>
              <a:rPr lang="en-GB" dirty="0"/>
              <a:t>on just 131 images produced a large, measurable improvement for both models</a:t>
            </a:r>
            <a:r>
              <a:rPr lang="en-GB" dirty="0" smtClean="0"/>
              <a:t>.</a:t>
            </a:r>
            <a:r>
              <a:rPr lang="en-GB" dirty="0"/>
              <a:t/>
            </a:r>
            <a:br>
              <a:rPr lang="en-GB" dirty="0"/>
            </a:br>
            <a:endParaRPr dirty="0" smtClean="0"/>
          </a:p>
          <a:p>
            <a:pPr marL="182880" lvl="0" indent="-154940" algn="l" rtl="0">
              <a:spcBef>
                <a:spcPts val="0"/>
              </a:spcBef>
              <a:spcAft>
                <a:spcPts val="0"/>
              </a:spcAft>
              <a:buSzPts val="1000"/>
              <a:buChar char="●"/>
            </a:pPr>
            <a:r>
              <a:rPr lang="en" dirty="0" smtClean="0"/>
              <a:t>What </a:t>
            </a:r>
            <a:r>
              <a:rPr lang="en" dirty="0"/>
              <a:t>didn’t go so well? </a:t>
            </a:r>
            <a:endParaRPr lang="en" dirty="0" smtClean="0"/>
          </a:p>
          <a:p>
            <a:pPr marL="27940" lvl="0" indent="0">
              <a:buNone/>
            </a:pPr>
            <a:r>
              <a:rPr lang="en-GB" dirty="0"/>
              <a:t>T</a:t>
            </a:r>
            <a:r>
              <a:rPr lang="en-GB" dirty="0" smtClean="0"/>
              <a:t>he </a:t>
            </a:r>
            <a:r>
              <a:rPr lang="en-GB" dirty="0"/>
              <a:t>pre-fine-tuning baseline on Sofia photos was much worse than expected </a:t>
            </a:r>
            <a:r>
              <a:rPr lang="en-GB" dirty="0" smtClean="0"/>
              <a:t>- </a:t>
            </a:r>
            <a:r>
              <a:rPr lang="en-GB" dirty="0"/>
              <a:t>worrying before the fine-tuned results came in</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did you learn? </a:t>
            </a:r>
            <a:endParaRPr lang="en" dirty="0" smtClean="0"/>
          </a:p>
          <a:p>
            <a:pPr marL="27940" lvl="0" indent="0">
              <a:buNone/>
            </a:pPr>
            <a:r>
              <a:rPr lang="en" dirty="0" smtClean="0"/>
              <a:t>I lernt that </a:t>
            </a:r>
            <a:r>
              <a:rPr lang="en-GB" dirty="0"/>
              <a:t>a benchmark-only model can collapse on real local images, and a little local data closes much of the gap</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could be added as an Action point looking forward to next week</a:t>
            </a:r>
            <a:r>
              <a:rPr lang="en" dirty="0" smtClean="0"/>
              <a:t>?</a:t>
            </a:r>
          </a:p>
          <a:p>
            <a:pPr marL="27940" lvl="0" indent="0">
              <a:buNone/>
            </a:pPr>
            <a:r>
              <a:rPr lang="en" dirty="0" smtClean="0"/>
              <a:t>The goal for the next week is to </a:t>
            </a:r>
            <a:r>
              <a:rPr lang="en-GB" dirty="0"/>
              <a:t> rebuild the app around the fine-tuned model.</a:t>
            </a:r>
            <a:endParaRPr dirty="0"/>
          </a:p>
        </p:txBody>
      </p:sp>
      <p:sp>
        <p:nvSpPr>
          <p:cNvPr id="165" name="Google Shape;165;p20"/>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1/2</a:t>
            </a:r>
            <a:endParaRPr dirty="0"/>
          </a:p>
        </p:txBody>
      </p:sp>
      <p:sp>
        <p:nvSpPr>
          <p:cNvPr id="166" name="Google Shape;166;p20"/>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a:t>12</a:t>
            </a:r>
            <a:endParaRPr sz="2400" dirty="0"/>
          </a:p>
        </p:txBody>
      </p:sp>
      <p:sp>
        <p:nvSpPr>
          <p:cNvPr id="167" name="Google Shape;167;p20"/>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92594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1"/>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Week 12 - Feedback</a:t>
            </a:r>
            <a:endParaRPr dirty="0"/>
          </a:p>
        </p:txBody>
      </p:sp>
      <p:sp>
        <p:nvSpPr>
          <p:cNvPr id="173" name="Google Shape;173;p21"/>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dirty="0"/>
              <a:t>manager, colleague, or team member feedback</a:t>
            </a:r>
            <a:endParaRPr dirty="0"/>
          </a:p>
        </p:txBody>
      </p:sp>
      <p:sp>
        <p:nvSpPr>
          <p:cNvPr id="174" name="Google Shape;174;p21"/>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r>
              <a:rPr lang="en-GB" b="1" dirty="0"/>
              <a:t>D</a:t>
            </a:r>
            <a:r>
              <a:rPr lang="en" b="1" dirty="0"/>
              <a:t>ate</a:t>
            </a:r>
            <a:r>
              <a:rPr lang="en" b="1" dirty="0"/>
              <a:t>: </a:t>
            </a:r>
            <a:r>
              <a:rPr lang="en" dirty="0"/>
              <a:t>10/07/2026</a:t>
            </a:r>
            <a:endParaRPr lang="en" dirty="0"/>
          </a:p>
          <a:p>
            <a:pPr marL="182880" lvl="0" indent="-154940" algn="l" rtl="0">
              <a:spcBef>
                <a:spcPts val="0"/>
              </a:spcBef>
              <a:spcAft>
                <a:spcPts val="0"/>
              </a:spcAft>
              <a:buSzPts val="1000"/>
              <a:buChar char="●"/>
            </a:pPr>
            <a:r>
              <a:rPr lang="en" b="1" dirty="0"/>
              <a:t>Feedback from</a:t>
            </a:r>
            <a:r>
              <a:rPr lang="en" b="1" dirty="0" smtClean="0"/>
              <a:t>: </a:t>
            </a:r>
            <a:r>
              <a:rPr lang="en" dirty="0" smtClean="0"/>
              <a:t>Karna Rewatkar (Supervisor)</a:t>
            </a:r>
            <a:endParaRPr lang="en" dirty="0"/>
          </a:p>
          <a:p>
            <a:pPr marL="182880" lvl="0" indent="-154940"/>
            <a:r>
              <a:rPr lang="en" b="1" dirty="0"/>
              <a:t>Feedback</a:t>
            </a:r>
            <a:r>
              <a:rPr lang="en" b="1" dirty="0" smtClean="0"/>
              <a:t>: </a:t>
            </a:r>
            <a:r>
              <a:rPr lang="en-GB" dirty="0"/>
              <a:t>This is probably the most important result in the thesis so far </a:t>
            </a:r>
            <a:r>
              <a:rPr lang="en-GB" dirty="0" smtClean="0"/>
              <a:t>- </a:t>
            </a:r>
            <a:r>
              <a:rPr lang="en-GB" dirty="0"/>
              <a:t>the size of the domain gap between RDD2022 and real Sofia photos, and how much a small amount of fine-tuning recovers, is a strong, concrete finding. Make sure this doesn't get buried as just another evaluation table; it deserves to anchor the discussion chapter. Good instinct running the baseline evaluation before fine-tuning so you have a clean before/after comparison to report.</a:t>
            </a:r>
            <a:endParaRPr lang="en" dirty="0"/>
          </a:p>
          <a:p>
            <a:pPr marL="182880" lvl="0" indent="-154940"/>
            <a:r>
              <a:rPr lang="en" b="1" dirty="0"/>
              <a:t>Related to what task: </a:t>
            </a:r>
            <a:r>
              <a:rPr lang="en-GB" dirty="0" smtClean="0"/>
              <a:t>D</a:t>
            </a:r>
            <a:r>
              <a:rPr lang="en-GB" dirty="0" smtClean="0"/>
              <a:t>omain-adaptation </a:t>
            </a:r>
            <a:r>
              <a:rPr lang="en-GB" dirty="0"/>
              <a:t>fine-tuning results.</a:t>
            </a:r>
            <a:endParaRPr lang="en" dirty="0"/>
          </a:p>
          <a:p>
            <a:pPr marL="182880" lvl="0" indent="-154940"/>
            <a:r>
              <a:rPr lang="en" b="1" dirty="0"/>
              <a:t>Response/action coming forward from this: </a:t>
            </a:r>
            <a:r>
              <a:rPr lang="en-GB" dirty="0" smtClean="0"/>
              <a:t>P</a:t>
            </a:r>
            <a:r>
              <a:rPr lang="en-GB" dirty="0" smtClean="0"/>
              <a:t>lanned </a:t>
            </a:r>
            <a:r>
              <a:rPr lang="en-GB" dirty="0"/>
              <a:t>to lead the Discussion chapter with this finding.</a:t>
            </a:r>
            <a:endParaRPr lang="en" dirty="0"/>
          </a:p>
        </p:txBody>
      </p:sp>
      <p:sp>
        <p:nvSpPr>
          <p:cNvPr id="175" name="Google Shape;175;p21"/>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2/2</a:t>
            </a:r>
            <a:endParaRPr/>
          </a:p>
        </p:txBody>
      </p:sp>
      <p:sp>
        <p:nvSpPr>
          <p:cNvPr id="176" name="Google Shape;176;p21"/>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a:t>12</a:t>
            </a:r>
            <a:endParaRPr sz="2400" dirty="0"/>
          </a:p>
        </p:txBody>
      </p:sp>
    </p:spTree>
    <p:extLst>
      <p:ext uri="{BB962C8B-B14F-4D97-AF65-F5344CB8AC3E}">
        <p14:creationId xmlns:p14="http://schemas.microsoft.com/office/powerpoint/2010/main" val="18110032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0"/>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r>
              <a:rPr lang="en" dirty="0"/>
              <a:t>Week 13 - Log</a:t>
            </a:r>
            <a:endParaRPr lang="en-US" dirty="0"/>
          </a:p>
        </p:txBody>
      </p:sp>
      <p:sp>
        <p:nvSpPr>
          <p:cNvPr id="161" name="Google Shape;161;p20"/>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162" name="Google Shape;162;p20"/>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163" name="Google Shape;163;p20"/>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r>
              <a:rPr lang="en" dirty="0" smtClean="0"/>
              <a:t>?</a:t>
            </a:r>
          </a:p>
          <a:p>
            <a:pPr marL="27940" lvl="0" indent="0">
              <a:buNone/>
            </a:pPr>
            <a:r>
              <a:rPr lang="en" dirty="0" smtClean="0"/>
              <a:t>The goal for this week is to </a:t>
            </a:r>
            <a:r>
              <a:rPr lang="en-GB" dirty="0"/>
              <a:t>rebuild the app around the fine-tuned model and finish the remaining pages</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have you actually been able to do? </a:t>
            </a:r>
            <a:endParaRPr lang="en" dirty="0" smtClean="0"/>
          </a:p>
          <a:p>
            <a:pPr marL="27940" lvl="0" indent="0">
              <a:buNone/>
            </a:pPr>
            <a:r>
              <a:rPr lang="en" dirty="0" smtClean="0"/>
              <a:t>I </a:t>
            </a:r>
            <a:r>
              <a:rPr lang="en-GB" dirty="0"/>
              <a:t>swapped the active model; rebuilt Damage Map (colouring, </a:t>
            </a:r>
            <a:r>
              <a:rPr lang="en-GB" dirty="0" err="1"/>
              <a:t>heatmap</a:t>
            </a:r>
            <a:r>
              <a:rPr lang="en-GB" dirty="0"/>
              <a:t>) and Safer Route Planner (alpha slider, comparison); full walkthrough with the fine-tuned model; fixed bugs found</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Showcase what tasks you have been working on this week and provide evidence for it</a:t>
            </a:r>
            <a:r>
              <a:rPr lang="en" dirty="0" smtClean="0"/>
              <a:t>.</a:t>
            </a:r>
          </a:p>
          <a:p>
            <a:pPr marL="27940" lvl="0" indent="0" algn="l" rtl="0">
              <a:spcBef>
                <a:spcPts val="0"/>
              </a:spcBef>
              <a:spcAft>
                <a:spcPts val="0"/>
              </a:spcAft>
              <a:buSzPts val="1000"/>
              <a:buNone/>
            </a:pPr>
            <a:endParaRPr lang="en" dirty="0"/>
          </a:p>
          <a:p>
            <a:pPr marL="27940" lvl="0" indent="0">
              <a:buNone/>
            </a:pPr>
            <a:r>
              <a:rPr lang="en-GB" dirty="0"/>
              <a:t>pages/3_Damage_Map.py, pages/4_Safer_Route_Planner.py; full walkthrough test.</a:t>
            </a:r>
            <a:endParaRPr lang="en" dirty="0" smtClean="0"/>
          </a:p>
        </p:txBody>
      </p:sp>
      <p:sp>
        <p:nvSpPr>
          <p:cNvPr id="164" name="Google Shape;164;p20"/>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a:t>
            </a:r>
            <a:r>
              <a:rPr lang="en" dirty="0" smtClean="0"/>
              <a:t>? </a:t>
            </a:r>
          </a:p>
          <a:p>
            <a:pPr marL="27940" lvl="0" indent="0">
              <a:buNone/>
            </a:pPr>
            <a:r>
              <a:rPr lang="en" dirty="0" smtClean="0"/>
              <a:t>The week went </a:t>
            </a:r>
            <a:r>
              <a:rPr lang="en-GB" dirty="0"/>
              <a:t>good </a:t>
            </a:r>
            <a:r>
              <a:rPr lang="en-GB" dirty="0" smtClean="0"/>
              <a:t>- </a:t>
            </a:r>
            <a:r>
              <a:rPr lang="en-GB" dirty="0"/>
              <a:t>the app is now feature-complete with the better model</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smtClean="0"/>
              <a:t>What </a:t>
            </a:r>
            <a:r>
              <a:rPr lang="en" dirty="0"/>
              <a:t>went well? </a:t>
            </a:r>
            <a:endParaRPr lang="en" dirty="0" smtClean="0"/>
          </a:p>
          <a:p>
            <a:pPr marL="27940" lvl="0" indent="0">
              <a:buNone/>
            </a:pPr>
            <a:r>
              <a:rPr lang="en-GB" dirty="0"/>
              <a:t>S</a:t>
            </a:r>
            <a:r>
              <a:rPr lang="en-GB" dirty="0" smtClean="0"/>
              <a:t>wapping </a:t>
            </a:r>
            <a:r>
              <a:rPr lang="en-GB" dirty="0"/>
              <a:t>the model required only a </a:t>
            </a:r>
            <a:r>
              <a:rPr lang="en-GB" dirty="0" err="1"/>
              <a:t>config</a:t>
            </a:r>
            <a:r>
              <a:rPr lang="en-GB" dirty="0"/>
              <a:t> change</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didn’t go so well? </a:t>
            </a:r>
            <a:endParaRPr lang="en" dirty="0" smtClean="0"/>
          </a:p>
          <a:p>
            <a:pPr marL="27940" lvl="0" indent="0">
              <a:buNone/>
            </a:pPr>
            <a:r>
              <a:rPr lang="en-GB" dirty="0"/>
              <a:t>M</a:t>
            </a:r>
            <a:r>
              <a:rPr lang="en-GB" dirty="0" smtClean="0"/>
              <a:t>arker/map-centring </a:t>
            </a:r>
            <a:r>
              <a:rPr lang="en-GB" dirty="0"/>
              <a:t>bugs resurfaced with real Sofia coordinates</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did you learn? </a:t>
            </a:r>
            <a:endParaRPr lang="en" dirty="0" smtClean="0"/>
          </a:p>
          <a:p>
            <a:pPr marL="27940" lvl="0" indent="0">
              <a:buNone/>
            </a:pPr>
            <a:r>
              <a:rPr lang="en" dirty="0" smtClean="0"/>
              <a:t>I learnt that </a:t>
            </a:r>
            <a:r>
              <a:rPr lang="en-GB" dirty="0"/>
              <a:t>real GPS data surfaces different edge </a:t>
            </a:r>
            <a:r>
              <a:rPr lang="en-GB" dirty="0" smtClean="0"/>
              <a:t>cases are better </a:t>
            </a:r>
            <a:r>
              <a:rPr lang="en-GB" dirty="0"/>
              <a:t>than synthetic test coordinates.</a:t>
            </a:r>
            <a:endParaRPr dirty="0"/>
          </a:p>
          <a:p>
            <a:pPr marL="182880" lvl="0" indent="-154940" algn="l" rtl="0">
              <a:spcBef>
                <a:spcPts val="0"/>
              </a:spcBef>
              <a:spcAft>
                <a:spcPts val="0"/>
              </a:spcAft>
              <a:buSzPts val="1000"/>
              <a:buChar char="●"/>
            </a:pPr>
            <a:r>
              <a:rPr lang="en" dirty="0"/>
              <a:t>What could be added as an Action point looking forward to next week</a:t>
            </a:r>
            <a:r>
              <a:rPr lang="en" dirty="0" smtClean="0"/>
              <a:t>?</a:t>
            </a:r>
          </a:p>
          <a:p>
            <a:pPr marL="27940" lvl="0" indent="0">
              <a:buNone/>
            </a:pPr>
            <a:r>
              <a:rPr lang="en" dirty="0" smtClean="0"/>
              <a:t>Action point for then next week is to </a:t>
            </a:r>
            <a:r>
              <a:rPr lang="en-GB" dirty="0"/>
              <a:t>collect the second Sofia photo set and attempt the first H3 test.</a:t>
            </a:r>
            <a:endParaRPr dirty="0"/>
          </a:p>
        </p:txBody>
      </p:sp>
      <p:sp>
        <p:nvSpPr>
          <p:cNvPr id="165" name="Google Shape;165;p20"/>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1/2</a:t>
            </a:r>
            <a:endParaRPr dirty="0"/>
          </a:p>
        </p:txBody>
      </p:sp>
      <p:sp>
        <p:nvSpPr>
          <p:cNvPr id="166" name="Google Shape;166;p20"/>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a:t>13</a:t>
            </a:r>
            <a:endParaRPr sz="2400" dirty="0"/>
          </a:p>
        </p:txBody>
      </p:sp>
      <p:sp>
        <p:nvSpPr>
          <p:cNvPr id="167" name="Google Shape;167;p20"/>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002840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1"/>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Week 13 - Feedback</a:t>
            </a:r>
            <a:endParaRPr dirty="0"/>
          </a:p>
        </p:txBody>
      </p:sp>
      <p:sp>
        <p:nvSpPr>
          <p:cNvPr id="173" name="Google Shape;173;p21"/>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dirty="0"/>
              <a:t>manager, colleague, or team member feedback</a:t>
            </a:r>
            <a:endParaRPr dirty="0"/>
          </a:p>
        </p:txBody>
      </p:sp>
      <p:sp>
        <p:nvSpPr>
          <p:cNvPr id="174" name="Google Shape;174;p21"/>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r>
              <a:rPr lang="en-GB" b="1" dirty="0"/>
              <a:t>D</a:t>
            </a:r>
            <a:r>
              <a:rPr lang="en" b="1" dirty="0"/>
              <a:t>ate</a:t>
            </a:r>
            <a:r>
              <a:rPr lang="en" b="1" dirty="0"/>
              <a:t>: </a:t>
            </a:r>
            <a:r>
              <a:rPr lang="en" dirty="0"/>
              <a:t>29/07/2026</a:t>
            </a:r>
            <a:endParaRPr lang="en" dirty="0"/>
          </a:p>
          <a:p>
            <a:pPr marL="182880" lvl="0" indent="-154940"/>
            <a:r>
              <a:rPr lang="en" b="1" dirty="0"/>
              <a:t>Feedback from</a:t>
            </a:r>
            <a:r>
              <a:rPr lang="en" b="1" dirty="0" smtClean="0"/>
              <a:t>: </a:t>
            </a:r>
            <a:r>
              <a:rPr lang="en-GB" dirty="0" err="1"/>
              <a:t>Borislav</a:t>
            </a:r>
            <a:r>
              <a:rPr lang="en-GB" dirty="0"/>
              <a:t> </a:t>
            </a:r>
            <a:r>
              <a:rPr lang="en-GB" dirty="0" err="1"/>
              <a:t>Nachev</a:t>
            </a:r>
            <a:r>
              <a:rPr lang="en-GB" dirty="0"/>
              <a:t> (peer)</a:t>
            </a:r>
            <a:endParaRPr lang="en" dirty="0"/>
          </a:p>
          <a:p>
            <a:pPr marL="182880" lvl="0" indent="-154940"/>
            <a:r>
              <a:rPr lang="en" b="1" dirty="0"/>
              <a:t>Feedback</a:t>
            </a:r>
            <a:r>
              <a:rPr lang="en" b="1" dirty="0" smtClean="0"/>
              <a:t>: </a:t>
            </a:r>
            <a:r>
              <a:rPr lang="en-GB" dirty="0"/>
              <a:t>The app is looking much more complete now that it's running on the fine-tuned model instead of the original small-dataset one. Exposing alpha as an adjustable slider rather than hard-coding it is a good usability decision </a:t>
            </a:r>
            <a:r>
              <a:rPr lang="en-GB" dirty="0" smtClean="0"/>
              <a:t>- </a:t>
            </a:r>
            <a:r>
              <a:rPr lang="en-GB" dirty="0"/>
              <a:t>it means a user can see directly how risk-aversion changes the recommended route. The bugs that showed up with real Sofia coordinates are a good reminder that synthetic test data doesn't always catch everything.</a:t>
            </a:r>
            <a:endParaRPr lang="en" dirty="0"/>
          </a:p>
          <a:p>
            <a:pPr marL="182880" lvl="0" indent="-154940"/>
            <a:r>
              <a:rPr lang="en" b="1" dirty="0"/>
              <a:t>Related to what task: </a:t>
            </a:r>
            <a:r>
              <a:rPr lang="en-GB" dirty="0"/>
              <a:t>Safer Route Planner rebuild</a:t>
            </a:r>
            <a:endParaRPr lang="en" dirty="0"/>
          </a:p>
          <a:p>
            <a:pPr marL="182880" lvl="0" indent="-154940"/>
            <a:r>
              <a:rPr lang="en" b="1" dirty="0"/>
              <a:t>Response/action coming forward from this: </a:t>
            </a:r>
            <a:r>
              <a:rPr lang="en-GB" dirty="0"/>
              <a:t>kept alpha as a UI-exposed, adjustable parameter.</a:t>
            </a:r>
          </a:p>
          <a:p>
            <a:pPr marL="182880" lvl="0" indent="-154940" algn="l" rtl="0">
              <a:spcBef>
                <a:spcPts val="0"/>
              </a:spcBef>
              <a:spcAft>
                <a:spcPts val="0"/>
              </a:spcAft>
              <a:buSzPts val="1000"/>
              <a:buChar char="●"/>
            </a:pPr>
            <a:endParaRPr lang="en" b="1" dirty="0"/>
          </a:p>
        </p:txBody>
      </p:sp>
      <p:sp>
        <p:nvSpPr>
          <p:cNvPr id="175" name="Google Shape;175;p21"/>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2/2</a:t>
            </a:r>
            <a:endParaRPr/>
          </a:p>
        </p:txBody>
      </p:sp>
      <p:sp>
        <p:nvSpPr>
          <p:cNvPr id="176" name="Google Shape;176;p21"/>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a:t>13</a:t>
            </a:r>
            <a:endParaRPr sz="2400" dirty="0"/>
          </a:p>
        </p:txBody>
      </p:sp>
    </p:spTree>
    <p:extLst>
      <p:ext uri="{BB962C8B-B14F-4D97-AF65-F5344CB8AC3E}">
        <p14:creationId xmlns:p14="http://schemas.microsoft.com/office/powerpoint/2010/main" val="27378589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0"/>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r>
              <a:rPr lang="en" dirty="0"/>
              <a:t>Week 14 - Log</a:t>
            </a:r>
            <a:endParaRPr lang="en-US" dirty="0"/>
          </a:p>
        </p:txBody>
      </p:sp>
      <p:sp>
        <p:nvSpPr>
          <p:cNvPr id="161" name="Google Shape;161;p20"/>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162" name="Google Shape;162;p20"/>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163" name="Google Shape;163;p20"/>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r>
              <a:rPr lang="en" dirty="0" smtClean="0"/>
              <a:t>?</a:t>
            </a:r>
          </a:p>
          <a:p>
            <a:pPr marL="27940" lvl="0" indent="0">
              <a:buNone/>
            </a:pPr>
            <a:r>
              <a:rPr lang="en" dirty="0" smtClean="0"/>
              <a:t>The goal for this week is to </a:t>
            </a:r>
            <a:r>
              <a:rPr lang="en-GB" dirty="0"/>
              <a:t>collect the second Sofia photo set and run the first H3 routing test</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have you actually been able to do? </a:t>
            </a:r>
            <a:endParaRPr lang="en" dirty="0" smtClean="0"/>
          </a:p>
          <a:p>
            <a:pPr marL="27940" lvl="0" indent="0">
              <a:buNone/>
            </a:pPr>
            <a:r>
              <a:rPr lang="en" dirty="0" smtClean="0"/>
              <a:t>I </a:t>
            </a:r>
            <a:r>
              <a:rPr lang="en-GB" dirty="0"/>
              <a:t>planned and collected three sessions of geotagged photos in Sveta </a:t>
            </a:r>
            <a:r>
              <a:rPr lang="en-GB" dirty="0" err="1" smtClean="0"/>
              <a:t>Troitsa</a:t>
            </a:r>
            <a:r>
              <a:rPr lang="en-GB" dirty="0" smtClean="0"/>
              <a:t> district; </a:t>
            </a:r>
            <a:r>
              <a:rPr lang="en-GB" dirty="0"/>
              <a:t>ran an initial 40-route city-wide H3 sample; found only 4 edges citywide carried recorded risk, so the test was inconclusive</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Showcase what tasks you have been working on this week and provide evidence for it</a:t>
            </a:r>
            <a:r>
              <a:rPr lang="en" dirty="0" smtClean="0"/>
              <a:t>.</a:t>
            </a:r>
          </a:p>
          <a:p>
            <a:pPr marL="182880" lvl="0" indent="-154940" algn="l" rtl="0">
              <a:spcBef>
                <a:spcPts val="0"/>
              </a:spcBef>
              <a:spcAft>
                <a:spcPts val="0"/>
              </a:spcAft>
              <a:buSzPts val="1000"/>
              <a:buChar char="●"/>
            </a:pPr>
            <a:endParaRPr lang="en" dirty="0"/>
          </a:p>
          <a:p>
            <a:pPr marL="27940" lvl="0" indent="0">
              <a:buNone/>
            </a:pPr>
            <a:r>
              <a:rPr lang="en-GB" dirty="0"/>
              <a:t>geotagged photos in data/manual/; first (inconclusive) outputs/geo/</a:t>
            </a:r>
            <a:r>
              <a:rPr lang="en-GB" dirty="0" err="1"/>
              <a:t>route_comparison.json</a:t>
            </a:r>
            <a:r>
              <a:rPr lang="en-GB" dirty="0"/>
              <a:t>.</a:t>
            </a:r>
            <a:endParaRPr dirty="0"/>
          </a:p>
        </p:txBody>
      </p:sp>
      <p:sp>
        <p:nvSpPr>
          <p:cNvPr id="164" name="Google Shape;164;p20"/>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 </a:t>
            </a:r>
            <a:endParaRPr lang="en" dirty="0" smtClean="0"/>
          </a:p>
          <a:p>
            <a:pPr marL="27940" lvl="0" indent="0">
              <a:buNone/>
            </a:pPr>
            <a:r>
              <a:rPr lang="en" dirty="0" smtClean="0"/>
              <a:t>The week didn’t go so well, </a:t>
            </a:r>
            <a:r>
              <a:rPr lang="en-GB" dirty="0"/>
              <a:t>first H3 attempt failed, for an understandable </a:t>
            </a:r>
            <a:r>
              <a:rPr lang="en-GB" dirty="0" smtClean="0"/>
              <a:t>reason</a:t>
            </a:r>
          </a:p>
          <a:p>
            <a:pPr marL="27940" lvl="0" indent="0">
              <a:buNone/>
            </a:pPr>
            <a:endParaRPr dirty="0"/>
          </a:p>
          <a:p>
            <a:pPr marL="182880" lvl="0" indent="-154940" algn="l" rtl="0">
              <a:spcBef>
                <a:spcPts val="0"/>
              </a:spcBef>
              <a:spcAft>
                <a:spcPts val="0"/>
              </a:spcAft>
              <a:buSzPts val="1000"/>
              <a:buChar char="●"/>
            </a:pPr>
            <a:r>
              <a:rPr lang="en" dirty="0"/>
              <a:t>What went well? </a:t>
            </a:r>
            <a:endParaRPr lang="en" dirty="0" smtClean="0"/>
          </a:p>
          <a:p>
            <a:pPr marL="27940" lvl="0" indent="0">
              <a:buNone/>
            </a:pPr>
            <a:r>
              <a:rPr lang="en-GB" dirty="0"/>
              <a:t>C</a:t>
            </a:r>
            <a:r>
              <a:rPr lang="en-GB" dirty="0" smtClean="0"/>
              <a:t>orrectly </a:t>
            </a:r>
            <a:r>
              <a:rPr lang="en-GB" dirty="0"/>
              <a:t>diagnosed the failure as sparse data, not a broken mechanism</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didn’t go so well? </a:t>
            </a:r>
            <a:endParaRPr lang="en" dirty="0" smtClean="0"/>
          </a:p>
          <a:p>
            <a:pPr marL="27940" lvl="0" indent="0">
              <a:buNone/>
            </a:pPr>
            <a:r>
              <a:rPr lang="en-GB" dirty="0"/>
              <a:t>C</a:t>
            </a:r>
            <a:r>
              <a:rPr lang="en-GB" dirty="0" smtClean="0"/>
              <a:t>ity-wide </a:t>
            </a:r>
            <a:r>
              <a:rPr lang="en-GB" dirty="0"/>
              <a:t>random sampling wasted most of the data-collection effort on hazard-free areas</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did you learn? </a:t>
            </a:r>
            <a:endParaRPr lang="en" dirty="0"/>
          </a:p>
          <a:p>
            <a:pPr marL="27940" lvl="0" indent="0">
              <a:buNone/>
            </a:pPr>
            <a:r>
              <a:rPr lang="en" dirty="0" smtClean="0"/>
              <a:t>I learnt that </a:t>
            </a:r>
            <a:r>
              <a:rPr lang="en-GB" dirty="0" smtClean="0"/>
              <a:t>a </a:t>
            </a:r>
            <a:r>
              <a:rPr lang="en-GB" dirty="0"/>
              <a:t>sparse-data routing test needs concentrated, not thinly spread, data collection</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could be added as an Action point looking forward to next week</a:t>
            </a:r>
            <a:r>
              <a:rPr lang="en" dirty="0" smtClean="0"/>
              <a:t>?</a:t>
            </a:r>
          </a:p>
          <a:p>
            <a:pPr marL="27940" lvl="0" indent="0">
              <a:buNone/>
            </a:pPr>
            <a:r>
              <a:rPr lang="en" dirty="0" smtClean="0"/>
              <a:t>As an Action Point for the next week is to </a:t>
            </a:r>
            <a:r>
              <a:rPr lang="en-GB" dirty="0"/>
              <a:t>re-run H3 restricted to the data-rich neighbourhood.</a:t>
            </a:r>
            <a:endParaRPr dirty="0"/>
          </a:p>
        </p:txBody>
      </p:sp>
      <p:sp>
        <p:nvSpPr>
          <p:cNvPr id="165" name="Google Shape;165;p20"/>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1/2</a:t>
            </a:r>
            <a:endParaRPr dirty="0"/>
          </a:p>
        </p:txBody>
      </p:sp>
      <p:sp>
        <p:nvSpPr>
          <p:cNvPr id="166" name="Google Shape;166;p20"/>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a:t>14</a:t>
            </a:r>
            <a:endParaRPr sz="2400" dirty="0"/>
          </a:p>
        </p:txBody>
      </p:sp>
      <p:sp>
        <p:nvSpPr>
          <p:cNvPr id="167" name="Google Shape;167;p20"/>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57685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1"/>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Week 14 - Feedback</a:t>
            </a:r>
            <a:endParaRPr dirty="0"/>
          </a:p>
        </p:txBody>
      </p:sp>
      <p:sp>
        <p:nvSpPr>
          <p:cNvPr id="173" name="Google Shape;173;p21"/>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dirty="0"/>
              <a:t>manager, colleague, or team member feedback</a:t>
            </a:r>
            <a:endParaRPr dirty="0"/>
          </a:p>
        </p:txBody>
      </p:sp>
      <p:sp>
        <p:nvSpPr>
          <p:cNvPr id="174" name="Google Shape;174;p21"/>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r>
              <a:rPr lang="en-GB" b="1" dirty="0"/>
              <a:t>D</a:t>
            </a:r>
            <a:r>
              <a:rPr lang="en" b="1" dirty="0"/>
              <a:t>ate</a:t>
            </a:r>
            <a:r>
              <a:rPr lang="en" b="1" dirty="0"/>
              <a:t>: </a:t>
            </a:r>
            <a:r>
              <a:rPr lang="en" dirty="0"/>
              <a:t>05/08/2026</a:t>
            </a:r>
            <a:endParaRPr lang="en" dirty="0"/>
          </a:p>
          <a:p>
            <a:pPr marL="182880" lvl="0" indent="-154940"/>
            <a:r>
              <a:rPr lang="en" b="1" dirty="0"/>
              <a:t>Feedback from</a:t>
            </a:r>
            <a:r>
              <a:rPr lang="en" b="1" dirty="0" smtClean="0"/>
              <a:t>: </a:t>
            </a:r>
            <a:r>
              <a:rPr lang="en-GB" dirty="0" err="1"/>
              <a:t>Borislav</a:t>
            </a:r>
            <a:r>
              <a:rPr lang="en-GB" dirty="0"/>
              <a:t> </a:t>
            </a:r>
            <a:r>
              <a:rPr lang="en-GB" dirty="0" err="1"/>
              <a:t>Nachev</a:t>
            </a:r>
            <a:r>
              <a:rPr lang="en-GB" dirty="0"/>
              <a:t> (peer)</a:t>
            </a:r>
            <a:endParaRPr lang="en" dirty="0"/>
          </a:p>
          <a:p>
            <a:pPr marL="182880" lvl="0" indent="-154940"/>
            <a:r>
              <a:rPr lang="en" b="1" dirty="0"/>
              <a:t>Feedback</a:t>
            </a:r>
            <a:r>
              <a:rPr lang="en" b="1" dirty="0" smtClean="0"/>
              <a:t>: </a:t>
            </a:r>
            <a:r>
              <a:rPr lang="en-GB" dirty="0"/>
              <a:t>It's disappointing that the first H3 sample didn't produce a usable result, but diagnosing why rather than assuming the routing logic was broken was the right response. Four risky edges out of over 27,000 was never going to give you a meaningful sample no matter how the routing cost was calculated. Concentrating the next round of data collection into one neighbourhood is clearly the right fix, and it's good you spotted it this quickly rather than losing more time on city-wide sampling.</a:t>
            </a:r>
            <a:endParaRPr lang="en" dirty="0"/>
          </a:p>
          <a:p>
            <a:pPr marL="182880" lvl="0" indent="-154940"/>
            <a:r>
              <a:rPr lang="en" b="1" dirty="0"/>
              <a:t>Related to what task: </a:t>
            </a:r>
            <a:r>
              <a:rPr lang="en-GB" dirty="0" smtClean="0"/>
              <a:t>F</a:t>
            </a:r>
            <a:r>
              <a:rPr lang="en-GB" dirty="0" smtClean="0"/>
              <a:t>irst </a:t>
            </a:r>
            <a:r>
              <a:rPr lang="en-GB" dirty="0"/>
              <a:t>H3 routing sample (city-wide).</a:t>
            </a:r>
            <a:endParaRPr lang="en" dirty="0"/>
          </a:p>
          <a:p>
            <a:pPr marL="182880" lvl="0" indent="-154940"/>
            <a:r>
              <a:rPr lang="en" b="1" dirty="0"/>
              <a:t>Response/action coming forward from this: </a:t>
            </a:r>
            <a:r>
              <a:rPr lang="en-GB" dirty="0" smtClean="0"/>
              <a:t>R</a:t>
            </a:r>
            <a:r>
              <a:rPr lang="en-GB" dirty="0" smtClean="0"/>
              <a:t>estricted </a:t>
            </a:r>
            <a:r>
              <a:rPr lang="en-GB" dirty="0"/>
              <a:t>the next sample to nodes inside Sveta </a:t>
            </a:r>
            <a:r>
              <a:rPr lang="en-GB" dirty="0" err="1"/>
              <a:t>Troitsa</a:t>
            </a:r>
            <a:r>
              <a:rPr lang="en-GB" dirty="0"/>
              <a:t> only.</a:t>
            </a:r>
            <a:endParaRPr lang="en" dirty="0"/>
          </a:p>
        </p:txBody>
      </p:sp>
      <p:sp>
        <p:nvSpPr>
          <p:cNvPr id="175" name="Google Shape;175;p21"/>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2/2</a:t>
            </a:r>
            <a:endParaRPr/>
          </a:p>
        </p:txBody>
      </p:sp>
      <p:sp>
        <p:nvSpPr>
          <p:cNvPr id="176" name="Google Shape;176;p21"/>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a:t>14</a:t>
            </a:r>
            <a:endParaRPr sz="2400" dirty="0"/>
          </a:p>
        </p:txBody>
      </p:sp>
    </p:spTree>
    <p:extLst>
      <p:ext uri="{BB962C8B-B14F-4D97-AF65-F5344CB8AC3E}">
        <p14:creationId xmlns:p14="http://schemas.microsoft.com/office/powerpoint/2010/main" val="39922176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0"/>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r>
              <a:rPr lang="en" dirty="0"/>
              <a:t>Week 15 - Log</a:t>
            </a:r>
            <a:endParaRPr lang="en-US" dirty="0"/>
          </a:p>
        </p:txBody>
      </p:sp>
      <p:sp>
        <p:nvSpPr>
          <p:cNvPr id="161" name="Google Shape;161;p20"/>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162" name="Google Shape;162;p20"/>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163" name="Google Shape;163;p20"/>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r>
              <a:rPr lang="en" dirty="0" smtClean="0"/>
              <a:t>?</a:t>
            </a:r>
          </a:p>
          <a:p>
            <a:pPr marL="27940" lvl="0" indent="0">
              <a:buNone/>
            </a:pPr>
            <a:r>
              <a:rPr lang="en" dirty="0" smtClean="0"/>
              <a:t>The goal for this week is to </a:t>
            </a:r>
            <a:r>
              <a:rPr lang="en-GB" dirty="0"/>
              <a:t>complete the remaining hypothesis tests </a:t>
            </a:r>
            <a:r>
              <a:rPr lang="en-GB" dirty="0" smtClean="0"/>
              <a:t>- </a:t>
            </a:r>
            <a:r>
              <a:rPr lang="en-GB" dirty="0"/>
              <a:t>re-run H3, run H4 and H2</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have you actually been able to do? </a:t>
            </a:r>
            <a:endParaRPr lang="en" dirty="0" smtClean="0"/>
          </a:p>
          <a:p>
            <a:pPr marL="27940" lvl="0" indent="0">
              <a:buNone/>
            </a:pPr>
            <a:r>
              <a:rPr lang="en-GB" dirty="0"/>
              <a:t> </a:t>
            </a:r>
            <a:r>
              <a:rPr lang="en-GB" dirty="0" smtClean="0"/>
              <a:t>I re-ran </a:t>
            </a:r>
            <a:r>
              <a:rPr lang="en-GB" dirty="0"/>
              <a:t>the 40-route H3 sample restricted to the neighbourhood (successful this time), ran Wilcoxon; rated 16 segments for H4 and ran Spearman; selected/labelled the 42-image H2 sample and ran the classification evaluation</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Showcase what tasks you have been working on this week and provide evidence for it</a:t>
            </a:r>
            <a:r>
              <a:rPr lang="en" dirty="0" smtClean="0"/>
              <a:t>.</a:t>
            </a:r>
          </a:p>
          <a:p>
            <a:pPr marL="27940" lvl="0" indent="0" algn="l" rtl="0">
              <a:spcBef>
                <a:spcPts val="0"/>
              </a:spcBef>
              <a:spcAft>
                <a:spcPts val="0"/>
              </a:spcAft>
              <a:buSzPts val="1000"/>
              <a:buNone/>
            </a:pPr>
            <a:endParaRPr lang="en" dirty="0"/>
          </a:p>
          <a:p>
            <a:pPr marL="27940" lvl="0" indent="0">
              <a:buNone/>
            </a:pPr>
            <a:r>
              <a:rPr lang="en-GB" dirty="0"/>
              <a:t>outputs/reports/h4_evaluation_results.csv, h2_evaluation_results.csv, h2_confusion_matrix.png.</a:t>
            </a:r>
            <a:endParaRPr lang="en" dirty="0" smtClean="0"/>
          </a:p>
        </p:txBody>
      </p:sp>
      <p:sp>
        <p:nvSpPr>
          <p:cNvPr id="164" name="Google Shape;164;p20"/>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 </a:t>
            </a:r>
            <a:endParaRPr lang="en" dirty="0" smtClean="0"/>
          </a:p>
          <a:p>
            <a:pPr marL="27940" lvl="0" indent="0">
              <a:buNone/>
            </a:pPr>
            <a:r>
              <a:rPr lang="en" dirty="0" smtClean="0"/>
              <a:t>The week went excellect - </a:t>
            </a:r>
            <a:r>
              <a:rPr lang="en-GB" dirty="0" smtClean="0"/>
              <a:t>all </a:t>
            </a:r>
            <a:r>
              <a:rPr lang="en-GB" dirty="0"/>
              <a:t>four hypotheses now have a result</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went well? </a:t>
            </a:r>
            <a:endParaRPr lang="en" dirty="0" smtClean="0"/>
          </a:p>
          <a:p>
            <a:pPr marL="27940" lvl="0" indent="0">
              <a:buNone/>
            </a:pPr>
            <a:r>
              <a:rPr lang="en-GB" dirty="0"/>
              <a:t>H3 and H4 came back supported once data was concentrated, confirming last week's diagnosis</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didn’t go so well? </a:t>
            </a:r>
            <a:endParaRPr lang="en" dirty="0" smtClean="0"/>
          </a:p>
          <a:p>
            <a:pPr marL="27940" lvl="0" indent="0">
              <a:buNone/>
            </a:pPr>
            <a:r>
              <a:rPr lang="en-GB" dirty="0"/>
              <a:t>H2 fell short of its F1 target; misses traced to detector recall, not the scoring rule</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did you learn? </a:t>
            </a:r>
            <a:endParaRPr lang="en" dirty="0" smtClean="0"/>
          </a:p>
          <a:p>
            <a:pPr marL="27940" lvl="0" indent="0">
              <a:buNone/>
            </a:pPr>
            <a:r>
              <a:rPr lang="en" dirty="0" smtClean="0"/>
              <a:t>I learnt that </a:t>
            </a:r>
            <a:r>
              <a:rPr lang="en-GB" dirty="0" smtClean="0"/>
              <a:t>a </a:t>
            </a:r>
            <a:r>
              <a:rPr lang="en-GB" dirty="0"/>
              <a:t>disappointing headline number can still have a clear, defensible explanation once you inspect the detail</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could be added as an Action point looking forward to next week</a:t>
            </a:r>
            <a:r>
              <a:rPr lang="en" dirty="0" smtClean="0"/>
              <a:t>?</a:t>
            </a:r>
          </a:p>
          <a:p>
            <a:pPr marL="27940" lvl="0" indent="0">
              <a:buNone/>
            </a:pPr>
            <a:r>
              <a:rPr lang="en" dirty="0" smtClean="0"/>
              <a:t>Action Point for next week is to </a:t>
            </a:r>
            <a:r>
              <a:rPr lang="en-GB" dirty="0"/>
              <a:t>design and start the usability study pilot.</a:t>
            </a:r>
            <a:endParaRPr dirty="0"/>
          </a:p>
        </p:txBody>
      </p:sp>
      <p:sp>
        <p:nvSpPr>
          <p:cNvPr id="165" name="Google Shape;165;p20"/>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1/2</a:t>
            </a:r>
            <a:endParaRPr dirty="0"/>
          </a:p>
        </p:txBody>
      </p:sp>
      <p:sp>
        <p:nvSpPr>
          <p:cNvPr id="166" name="Google Shape;166;p20"/>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a:t>15</a:t>
            </a:r>
            <a:endParaRPr sz="2400" dirty="0"/>
          </a:p>
        </p:txBody>
      </p:sp>
      <p:sp>
        <p:nvSpPr>
          <p:cNvPr id="167" name="Google Shape;167;p20"/>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076502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1"/>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Week 15 - Feedback</a:t>
            </a:r>
            <a:endParaRPr dirty="0"/>
          </a:p>
        </p:txBody>
      </p:sp>
      <p:sp>
        <p:nvSpPr>
          <p:cNvPr id="173" name="Google Shape;173;p21"/>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dirty="0"/>
              <a:t>manager, colleague, or team member feedback</a:t>
            </a:r>
            <a:endParaRPr dirty="0"/>
          </a:p>
        </p:txBody>
      </p:sp>
      <p:sp>
        <p:nvSpPr>
          <p:cNvPr id="174" name="Google Shape;174;p21"/>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r>
              <a:rPr lang="en-GB" b="1" dirty="0"/>
              <a:t>D</a:t>
            </a:r>
            <a:r>
              <a:rPr lang="en" b="1" dirty="0"/>
              <a:t>ate</a:t>
            </a:r>
            <a:r>
              <a:rPr lang="en" b="1" dirty="0"/>
              <a:t>: </a:t>
            </a:r>
            <a:r>
              <a:rPr lang="en" dirty="0"/>
              <a:t>13/08/2026</a:t>
            </a:r>
            <a:endParaRPr lang="en" dirty="0"/>
          </a:p>
          <a:p>
            <a:pPr marL="182880" lvl="0" indent="-154940"/>
            <a:r>
              <a:rPr lang="en" b="1" dirty="0"/>
              <a:t>Feedback from</a:t>
            </a:r>
            <a:r>
              <a:rPr lang="en" b="1" dirty="0" smtClean="0"/>
              <a:t>: </a:t>
            </a:r>
            <a:r>
              <a:rPr lang="en-GB" dirty="0" err="1"/>
              <a:t>Borislav</a:t>
            </a:r>
            <a:r>
              <a:rPr lang="en-GB" dirty="0"/>
              <a:t> </a:t>
            </a:r>
            <a:r>
              <a:rPr lang="en-GB" dirty="0" err="1"/>
              <a:t>Nachev</a:t>
            </a:r>
            <a:r>
              <a:rPr lang="en-GB" dirty="0"/>
              <a:t> (peer)</a:t>
            </a:r>
            <a:endParaRPr lang="en" dirty="0"/>
          </a:p>
          <a:p>
            <a:pPr marL="182880" lvl="0" indent="-154940"/>
            <a:r>
              <a:rPr lang="en" b="1" dirty="0"/>
              <a:t>Feedback</a:t>
            </a:r>
            <a:r>
              <a:rPr lang="en" b="1" dirty="0" smtClean="0"/>
              <a:t>: </a:t>
            </a:r>
            <a:r>
              <a:rPr lang="en-GB" dirty="0"/>
              <a:t>A strong week </a:t>
            </a:r>
            <a:r>
              <a:rPr lang="en-GB" dirty="0" smtClean="0"/>
              <a:t>- </a:t>
            </a:r>
            <a:r>
              <a:rPr lang="en-GB" dirty="0"/>
              <a:t>getting results for H2, H3 and H4 all in the same stretch is good progress, and H3/H4 coming back supported once the data was concentrated confirms last week's diagnosis was correct. H2 falling short of its target isn't ideal, but tracing the misses back to detector recall rather than the scoring rule turns it into a much more useful and defensible discussion point than a plain negative result. This is exactly the kind of inspection work that makes a results chapter convincing.</a:t>
            </a:r>
            <a:endParaRPr lang="en" dirty="0"/>
          </a:p>
          <a:p>
            <a:pPr marL="182880" lvl="0" indent="-154940"/>
            <a:r>
              <a:rPr lang="en" b="1" dirty="0"/>
              <a:t>Related to what task: </a:t>
            </a:r>
            <a:r>
              <a:rPr lang="en-GB" dirty="0"/>
              <a:t>H2 risk-classification evaluation.</a:t>
            </a:r>
            <a:endParaRPr lang="en" dirty="0"/>
          </a:p>
          <a:p>
            <a:pPr marL="182880" lvl="0" indent="-154940"/>
            <a:r>
              <a:rPr lang="en" b="1" dirty="0"/>
              <a:t>Response/action coming forward from this: </a:t>
            </a:r>
            <a:r>
              <a:rPr lang="en-GB" dirty="0" smtClean="0"/>
              <a:t>B</a:t>
            </a:r>
            <a:r>
              <a:rPr lang="en-GB" dirty="0" smtClean="0"/>
              <a:t>uilt </a:t>
            </a:r>
            <a:r>
              <a:rPr lang="en-GB" dirty="0"/>
              <a:t>the H2 discussion around the detection-recall explanation.</a:t>
            </a:r>
          </a:p>
          <a:p>
            <a:pPr marL="182880" lvl="0" indent="-154940" algn="l" rtl="0">
              <a:spcBef>
                <a:spcPts val="0"/>
              </a:spcBef>
              <a:spcAft>
                <a:spcPts val="0"/>
              </a:spcAft>
              <a:buSzPts val="1000"/>
              <a:buChar char="●"/>
            </a:pPr>
            <a:endParaRPr lang="en" b="1" dirty="0"/>
          </a:p>
        </p:txBody>
      </p:sp>
      <p:sp>
        <p:nvSpPr>
          <p:cNvPr id="175" name="Google Shape;175;p21"/>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2/2</a:t>
            </a:r>
            <a:endParaRPr/>
          </a:p>
        </p:txBody>
      </p:sp>
      <p:sp>
        <p:nvSpPr>
          <p:cNvPr id="176" name="Google Shape;176;p21"/>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a:t>15</a:t>
            </a:r>
            <a:endParaRPr sz="2400" dirty="0"/>
          </a:p>
        </p:txBody>
      </p:sp>
    </p:spTree>
    <p:extLst>
      <p:ext uri="{BB962C8B-B14F-4D97-AF65-F5344CB8AC3E}">
        <p14:creationId xmlns:p14="http://schemas.microsoft.com/office/powerpoint/2010/main" val="23658328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0"/>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r>
              <a:rPr lang="en" dirty="0"/>
              <a:t>Week 16 - Log</a:t>
            </a:r>
            <a:endParaRPr lang="en-US" dirty="0"/>
          </a:p>
        </p:txBody>
      </p:sp>
      <p:sp>
        <p:nvSpPr>
          <p:cNvPr id="161" name="Google Shape;161;p20"/>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162" name="Google Shape;162;p20"/>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163" name="Google Shape;163;p20"/>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r>
              <a:rPr lang="en" dirty="0" smtClean="0"/>
              <a:t>?</a:t>
            </a:r>
          </a:p>
          <a:p>
            <a:pPr marL="27940" lvl="0" indent="0">
              <a:buNone/>
            </a:pPr>
            <a:r>
              <a:rPr lang="en-GB" dirty="0" smtClean="0"/>
              <a:t>The goal for this week is to run </a:t>
            </a:r>
            <a:r>
              <a:rPr lang="en-GB" dirty="0"/>
              <a:t>the first usability-study round (5-person pilot) and fix the clearest issues</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have you actually been able to do? </a:t>
            </a:r>
            <a:endParaRPr lang="en" dirty="0" smtClean="0"/>
          </a:p>
          <a:p>
            <a:pPr marL="27940" lvl="0" indent="0">
              <a:buNone/>
            </a:pPr>
            <a:r>
              <a:rPr lang="en-GB" dirty="0" smtClean="0"/>
              <a:t>I </a:t>
            </a:r>
            <a:r>
              <a:rPr lang="en-GB" dirty="0"/>
              <a:t>designed the survey/script; ran 5 pilot participants; compiled closed-question stats and coded first themes; fixed the clearest interface issues (alpha-slider help text, map pin-selection hint</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Showcase what tasks you have been working on this week and provide evidence for it</a:t>
            </a:r>
            <a:r>
              <a:rPr lang="en" dirty="0" smtClean="0"/>
              <a:t>.</a:t>
            </a:r>
          </a:p>
          <a:p>
            <a:pPr marL="27940" lvl="0" indent="0" algn="l" rtl="0">
              <a:spcBef>
                <a:spcPts val="0"/>
              </a:spcBef>
              <a:spcAft>
                <a:spcPts val="0"/>
              </a:spcAft>
              <a:buSzPts val="1000"/>
              <a:buNone/>
            </a:pPr>
            <a:endParaRPr lang="en" dirty="0"/>
          </a:p>
          <a:p>
            <a:pPr marL="27940" lvl="0" indent="0">
              <a:buNone/>
            </a:pPr>
            <a:r>
              <a:rPr lang="en-GB" dirty="0"/>
              <a:t>pilot stats in outputs/reports/; updated help text in pages/4_Safer_Route_Planner.py.</a:t>
            </a:r>
            <a:endParaRPr lang="en" dirty="0" smtClean="0"/>
          </a:p>
        </p:txBody>
      </p:sp>
      <p:sp>
        <p:nvSpPr>
          <p:cNvPr id="164" name="Google Shape;164;p20"/>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 </a:t>
            </a:r>
            <a:endParaRPr lang="en" dirty="0" smtClean="0"/>
          </a:p>
          <a:p>
            <a:pPr marL="27940" lvl="0" indent="0">
              <a:buNone/>
            </a:pPr>
            <a:r>
              <a:rPr lang="en" dirty="0" smtClean="0"/>
              <a:t>The week was useful - </a:t>
            </a:r>
            <a:r>
              <a:rPr lang="en-GB" dirty="0"/>
              <a:t>the pilot caught real problems before the full study</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went well? </a:t>
            </a:r>
            <a:endParaRPr lang="en" dirty="0" smtClean="0"/>
          </a:p>
          <a:p>
            <a:pPr marL="27940" lvl="0" indent="0">
              <a:buNone/>
            </a:pPr>
            <a:r>
              <a:rPr lang="en-GB" dirty="0"/>
              <a:t>P</a:t>
            </a:r>
            <a:r>
              <a:rPr lang="en-GB" dirty="0" smtClean="0"/>
              <a:t>articipants </a:t>
            </a:r>
            <a:r>
              <a:rPr lang="en-GB" dirty="0"/>
              <a:t>understood the risk colour-coding correctly without being told</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didn’t go so well? </a:t>
            </a:r>
            <a:endParaRPr lang="en" dirty="0" smtClean="0"/>
          </a:p>
          <a:p>
            <a:pPr marL="27940" lvl="0" indent="0">
              <a:buNone/>
            </a:pPr>
            <a:r>
              <a:rPr lang="en-GB" dirty="0"/>
              <a:t>S</a:t>
            </a:r>
            <a:r>
              <a:rPr lang="en-GB" dirty="0" smtClean="0"/>
              <a:t>everal </a:t>
            </a:r>
            <a:r>
              <a:rPr lang="en-GB" dirty="0"/>
              <a:t>found the alpha slider and pin selection unclear </a:t>
            </a:r>
            <a:r>
              <a:rPr lang="en-GB" dirty="0" smtClean="0"/>
              <a:t>- </a:t>
            </a:r>
            <a:r>
              <a:rPr lang="en-GB" dirty="0"/>
              <a:t>a genuine interface problem</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did you learn? </a:t>
            </a:r>
            <a:endParaRPr lang="en" dirty="0" smtClean="0"/>
          </a:p>
          <a:p>
            <a:pPr marL="27940" lvl="0" indent="0">
              <a:buNone/>
            </a:pPr>
            <a:r>
              <a:rPr lang="en" dirty="0" smtClean="0"/>
              <a:t>I learnt that </a:t>
            </a:r>
            <a:r>
              <a:rPr lang="en-GB" dirty="0"/>
              <a:t>a small pilot is enough to catch the most obvious interface issues before scaling up</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could be added as an Action point looking forward to next </a:t>
            </a:r>
            <a:r>
              <a:rPr lang="en" dirty="0" smtClean="0"/>
              <a:t>week?</a:t>
            </a:r>
          </a:p>
          <a:p>
            <a:pPr marL="27940" lvl="0" indent="0">
              <a:buNone/>
            </a:pPr>
            <a:r>
              <a:rPr lang="en" dirty="0" smtClean="0"/>
              <a:t>As an Aciton Point for the next week is to </a:t>
            </a:r>
            <a:r>
              <a:rPr lang="en-GB" dirty="0"/>
              <a:t>recruit 5 more participants and finalise the pipeline.</a:t>
            </a:r>
            <a:endParaRPr dirty="0"/>
          </a:p>
        </p:txBody>
      </p:sp>
      <p:sp>
        <p:nvSpPr>
          <p:cNvPr id="165" name="Google Shape;165;p20"/>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1/2</a:t>
            </a:r>
            <a:endParaRPr dirty="0"/>
          </a:p>
        </p:txBody>
      </p:sp>
      <p:sp>
        <p:nvSpPr>
          <p:cNvPr id="166" name="Google Shape;166;p20"/>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a:t>16</a:t>
            </a:r>
            <a:endParaRPr sz="2400" dirty="0"/>
          </a:p>
        </p:txBody>
      </p:sp>
      <p:sp>
        <p:nvSpPr>
          <p:cNvPr id="167" name="Google Shape;167;p20"/>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13473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1"/>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Week 16 - Feedback</a:t>
            </a:r>
            <a:endParaRPr dirty="0"/>
          </a:p>
        </p:txBody>
      </p:sp>
      <p:sp>
        <p:nvSpPr>
          <p:cNvPr id="173" name="Google Shape;173;p21"/>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dirty="0"/>
              <a:t>manager, colleague, or team member feedback</a:t>
            </a:r>
            <a:endParaRPr dirty="0"/>
          </a:p>
        </p:txBody>
      </p:sp>
      <p:sp>
        <p:nvSpPr>
          <p:cNvPr id="174" name="Google Shape;174;p21"/>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r>
              <a:rPr lang="en-GB" b="1" dirty="0"/>
              <a:t>D</a:t>
            </a:r>
            <a:r>
              <a:rPr lang="en" b="1" dirty="0"/>
              <a:t>ate</a:t>
            </a:r>
            <a:r>
              <a:rPr lang="en" b="1" dirty="0"/>
              <a:t>: </a:t>
            </a:r>
            <a:r>
              <a:rPr lang="en" dirty="0"/>
              <a:t>28/08/2026</a:t>
            </a:r>
            <a:endParaRPr lang="en" dirty="0"/>
          </a:p>
          <a:p>
            <a:pPr marL="182880" lvl="0" indent="-154940"/>
            <a:r>
              <a:rPr lang="en" b="1" dirty="0"/>
              <a:t>Feedback from</a:t>
            </a:r>
            <a:r>
              <a:rPr lang="en" b="1" dirty="0" smtClean="0"/>
              <a:t>: </a:t>
            </a:r>
            <a:r>
              <a:rPr lang="en-GB" dirty="0"/>
              <a:t>Karna </a:t>
            </a:r>
            <a:r>
              <a:rPr lang="en-GB" dirty="0" err="1"/>
              <a:t>Rewatkar</a:t>
            </a:r>
            <a:r>
              <a:rPr lang="en-GB" dirty="0"/>
              <a:t> (Supervisor)</a:t>
            </a:r>
            <a:endParaRPr lang="en" dirty="0"/>
          </a:p>
          <a:p>
            <a:pPr marL="182880" lvl="0" indent="-154940"/>
            <a:r>
              <a:rPr lang="en" b="1" dirty="0"/>
              <a:t>Feedback</a:t>
            </a:r>
            <a:r>
              <a:rPr lang="en" b="1" dirty="0" smtClean="0"/>
              <a:t>: </a:t>
            </a:r>
            <a:r>
              <a:rPr lang="en-GB" dirty="0"/>
              <a:t>Running a five-person pilot before the full usability study was a sensible choice, and it paid off </a:t>
            </a:r>
            <a:r>
              <a:rPr lang="en-GB" dirty="0" smtClean="0"/>
              <a:t>- </a:t>
            </a:r>
            <a:r>
              <a:rPr lang="en-GB" dirty="0"/>
              <a:t>catching the alpha-slider and pin-selection confusion now means the next five participants will have a cleaner experience and give you cleaner data. It's a good sign that participants worked out the risk colour-coding on their own without being told what it meant. Fixing the clearest issues immediately, rather than waiting until after the full sample, was the right call.</a:t>
            </a:r>
            <a:endParaRPr lang="en" dirty="0"/>
          </a:p>
          <a:p>
            <a:pPr marL="182880" lvl="0" indent="-154940"/>
            <a:r>
              <a:rPr lang="en" b="1" dirty="0"/>
              <a:t>Related to what task: </a:t>
            </a:r>
            <a:r>
              <a:rPr lang="en-GB" dirty="0"/>
              <a:t>usability study pilot (5 participants).</a:t>
            </a:r>
            <a:endParaRPr lang="en" dirty="0"/>
          </a:p>
          <a:p>
            <a:pPr marL="182880" lvl="0" indent="-154940"/>
            <a:r>
              <a:rPr lang="en" b="1" dirty="0"/>
              <a:t>Response/action coming forward from this: </a:t>
            </a:r>
            <a:r>
              <a:rPr lang="en-GB" dirty="0"/>
              <a:t>applied the interface fixes before recruiting the rest.</a:t>
            </a:r>
            <a:endParaRPr lang="en" dirty="0"/>
          </a:p>
        </p:txBody>
      </p:sp>
      <p:sp>
        <p:nvSpPr>
          <p:cNvPr id="175" name="Google Shape;175;p21"/>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2/2</a:t>
            </a:r>
            <a:endParaRPr/>
          </a:p>
        </p:txBody>
      </p:sp>
      <p:sp>
        <p:nvSpPr>
          <p:cNvPr id="176" name="Google Shape;176;p21"/>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a:t>16</a:t>
            </a:r>
            <a:endParaRPr sz="2400" dirty="0"/>
          </a:p>
        </p:txBody>
      </p:sp>
    </p:spTree>
    <p:extLst>
      <p:ext uri="{BB962C8B-B14F-4D97-AF65-F5344CB8AC3E}">
        <p14:creationId xmlns:p14="http://schemas.microsoft.com/office/powerpoint/2010/main" val="19672901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0"/>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r>
              <a:rPr lang="en"/>
              <a:t>Week 1</a:t>
            </a:r>
            <a:r>
              <a:rPr lang="en" dirty="0"/>
              <a:t>7</a:t>
            </a:r>
            <a:r>
              <a:rPr lang="en"/>
              <a:t> </a:t>
            </a:r>
            <a:r>
              <a:rPr lang="en" dirty="0"/>
              <a:t>- Log</a:t>
            </a:r>
            <a:endParaRPr lang="en-US" dirty="0"/>
          </a:p>
        </p:txBody>
      </p:sp>
      <p:sp>
        <p:nvSpPr>
          <p:cNvPr id="161" name="Google Shape;161;p20"/>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162" name="Google Shape;162;p20"/>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163" name="Google Shape;163;p20"/>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r>
              <a:rPr lang="en" dirty="0" smtClean="0"/>
              <a:t>?</a:t>
            </a:r>
          </a:p>
          <a:p>
            <a:pPr marL="27940" lvl="0" indent="0">
              <a:buNone/>
            </a:pPr>
            <a:r>
              <a:rPr lang="en" dirty="0" smtClean="0"/>
              <a:t>The goal for this week is to </a:t>
            </a:r>
            <a:r>
              <a:rPr lang="en-GB" dirty="0"/>
              <a:t>run the second usability-study round (5 more, 10 total) and finalise/freeze the pipeline</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have you actually been able to do? </a:t>
            </a:r>
            <a:endParaRPr lang="en" dirty="0" smtClean="0"/>
          </a:p>
          <a:p>
            <a:pPr marL="27940" lvl="0" indent="0">
              <a:buNone/>
            </a:pPr>
            <a:r>
              <a:rPr lang="en" dirty="0" smtClean="0"/>
              <a:t>I </a:t>
            </a:r>
            <a:r>
              <a:rPr lang="en-GB" dirty="0"/>
              <a:t>ran the remaining 5 participants; recomputed stats for n=10; coded the final 7 themes; ran a full pipeline smoke test; froze model weights and </a:t>
            </a:r>
            <a:r>
              <a:rPr lang="en-GB" dirty="0" err="1"/>
              <a:t>configs</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Showcase what tasks you have been working on this week and provide evidence for it</a:t>
            </a:r>
            <a:r>
              <a:rPr lang="en" dirty="0" smtClean="0"/>
              <a:t>.</a:t>
            </a:r>
          </a:p>
          <a:p>
            <a:pPr marL="27940" lvl="0" indent="0" algn="l" rtl="0">
              <a:spcBef>
                <a:spcPts val="0"/>
              </a:spcBef>
              <a:spcAft>
                <a:spcPts val="0"/>
              </a:spcAft>
              <a:buSzPts val="1000"/>
              <a:buNone/>
            </a:pPr>
            <a:endParaRPr lang="en" dirty="0"/>
          </a:p>
          <a:p>
            <a:pPr marL="27940" lvl="0" indent="0" algn="l" rtl="0">
              <a:spcBef>
                <a:spcPts val="0"/>
              </a:spcBef>
              <a:spcAft>
                <a:spcPts val="0"/>
              </a:spcAft>
              <a:buSzPts val="1000"/>
              <a:buNone/>
            </a:pPr>
            <a:endParaRPr lang="en" dirty="0" smtClean="0"/>
          </a:p>
          <a:p>
            <a:pPr marL="27940" lvl="0" indent="0">
              <a:buNone/>
            </a:pPr>
            <a:r>
              <a:rPr lang="en-GB" dirty="0"/>
              <a:t>outputs/reports/qualitative_survey_means_n10.png; thesis/qualitative_thematic_analysis.md; frozen models/, </a:t>
            </a:r>
            <a:r>
              <a:rPr lang="en-GB" dirty="0" err="1"/>
              <a:t>config</a:t>
            </a:r>
            <a:r>
              <a:rPr lang="en-GB" dirty="0"/>
              <a:t>/.</a:t>
            </a:r>
            <a:endParaRPr dirty="0"/>
          </a:p>
        </p:txBody>
      </p:sp>
      <p:sp>
        <p:nvSpPr>
          <p:cNvPr id="164" name="Google Shape;164;p20"/>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 </a:t>
            </a:r>
            <a:endParaRPr lang="en" dirty="0" smtClean="0"/>
          </a:p>
          <a:p>
            <a:pPr marL="27940" lvl="0" indent="0">
              <a:buNone/>
            </a:pPr>
            <a:r>
              <a:rPr lang="en" dirty="0" smtClean="0"/>
              <a:t>The week was satisfying - </a:t>
            </a:r>
            <a:r>
              <a:rPr lang="en-GB" dirty="0"/>
              <a:t>both the qualitative study and the pipeline are complete</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went well? </a:t>
            </a:r>
            <a:endParaRPr lang="en" dirty="0" smtClean="0"/>
          </a:p>
          <a:p>
            <a:pPr marL="27940" lvl="0" indent="0">
              <a:buNone/>
            </a:pPr>
            <a:r>
              <a:rPr lang="en-GB" dirty="0" smtClean="0"/>
              <a:t>Thing that went well is that </a:t>
            </a:r>
            <a:r>
              <a:rPr lang="en-GB" dirty="0"/>
              <a:t>themes from the second group matched and reinforced the first group's</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didn’t go so well? </a:t>
            </a:r>
            <a:endParaRPr lang="en" dirty="0" smtClean="0"/>
          </a:p>
          <a:p>
            <a:pPr marL="27940" lvl="0" indent="0">
              <a:buNone/>
            </a:pPr>
            <a:r>
              <a:rPr lang="en-GB" dirty="0"/>
              <a:t>R</a:t>
            </a:r>
            <a:r>
              <a:rPr lang="en-GB" dirty="0" smtClean="0"/>
              <a:t>e-coding </a:t>
            </a:r>
            <a:r>
              <a:rPr lang="en-GB" dirty="0"/>
              <a:t>across the full sample took longer than expected</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did you learn? </a:t>
            </a:r>
            <a:endParaRPr lang="en" dirty="0" smtClean="0"/>
          </a:p>
          <a:p>
            <a:pPr marL="27940" lvl="0" indent="0">
              <a:buNone/>
            </a:pPr>
            <a:r>
              <a:rPr lang="en" dirty="0" smtClean="0"/>
              <a:t>During the week I learnt that </a:t>
            </a:r>
            <a:r>
              <a:rPr lang="en-GB" dirty="0"/>
              <a:t>thematic coding isn't one-pass </a:t>
            </a:r>
            <a:r>
              <a:rPr lang="en-GB" dirty="0" smtClean="0"/>
              <a:t>- </a:t>
            </a:r>
            <a:r>
              <a:rPr lang="en-GB" dirty="0"/>
              <a:t>new data should prompt revisiting earlier codes</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could be added as an Action point looking forward to next week</a:t>
            </a:r>
            <a:r>
              <a:rPr lang="en" dirty="0" smtClean="0"/>
              <a:t>?</a:t>
            </a:r>
          </a:p>
          <a:p>
            <a:pPr marL="27940" lvl="0" indent="0" algn="l" rtl="0">
              <a:spcBef>
                <a:spcPts val="0"/>
              </a:spcBef>
              <a:spcAft>
                <a:spcPts val="0"/>
              </a:spcAft>
              <a:buSzPts val="1000"/>
              <a:buNone/>
            </a:pPr>
            <a:r>
              <a:rPr lang="en" dirty="0" smtClean="0"/>
              <a:t>As an Action Point for the next week is to start writing the thesis.</a:t>
            </a:r>
            <a:endParaRPr dirty="0"/>
          </a:p>
        </p:txBody>
      </p:sp>
      <p:sp>
        <p:nvSpPr>
          <p:cNvPr id="165" name="Google Shape;165;p20"/>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1/2</a:t>
            </a:r>
            <a:endParaRPr dirty="0"/>
          </a:p>
        </p:txBody>
      </p:sp>
      <p:sp>
        <p:nvSpPr>
          <p:cNvPr id="166" name="Google Shape;166;p20"/>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a:t>17</a:t>
            </a:r>
            <a:endParaRPr sz="2400" dirty="0"/>
          </a:p>
        </p:txBody>
      </p:sp>
      <p:sp>
        <p:nvSpPr>
          <p:cNvPr id="167" name="Google Shape;167;p20"/>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617607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1"/>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Week 17 - Feedback</a:t>
            </a:r>
            <a:endParaRPr dirty="0"/>
          </a:p>
        </p:txBody>
      </p:sp>
      <p:sp>
        <p:nvSpPr>
          <p:cNvPr id="173" name="Google Shape;173;p21"/>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dirty="0"/>
              <a:t>manager, colleague, or team member feedback</a:t>
            </a:r>
            <a:endParaRPr dirty="0"/>
          </a:p>
        </p:txBody>
      </p:sp>
      <p:sp>
        <p:nvSpPr>
          <p:cNvPr id="174" name="Google Shape;174;p21"/>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r>
              <a:rPr lang="en-GB" b="1" dirty="0"/>
              <a:t>D</a:t>
            </a:r>
            <a:r>
              <a:rPr lang="en" b="1" dirty="0"/>
              <a:t>ate</a:t>
            </a:r>
            <a:r>
              <a:rPr lang="en" b="1" dirty="0"/>
              <a:t>: </a:t>
            </a:r>
            <a:r>
              <a:rPr lang="en" dirty="0"/>
              <a:t>02/09/2026</a:t>
            </a:r>
            <a:endParaRPr lang="en" dirty="0"/>
          </a:p>
          <a:p>
            <a:pPr marL="182880" lvl="0" indent="-154940"/>
            <a:r>
              <a:rPr lang="en" b="1" dirty="0"/>
              <a:t>Feedback from</a:t>
            </a:r>
            <a:r>
              <a:rPr lang="en" b="1" dirty="0" smtClean="0"/>
              <a:t>: </a:t>
            </a:r>
            <a:r>
              <a:rPr lang="en-GB" dirty="0"/>
              <a:t>Karna </a:t>
            </a:r>
            <a:r>
              <a:rPr lang="en-GB" dirty="0" err="1"/>
              <a:t>Rewatkar</a:t>
            </a:r>
            <a:r>
              <a:rPr lang="en-GB" dirty="0"/>
              <a:t> (Supervisor)</a:t>
            </a:r>
            <a:endParaRPr lang="en" dirty="0"/>
          </a:p>
          <a:p>
            <a:pPr marL="182880" lvl="0" indent="-154940"/>
            <a:r>
              <a:rPr lang="en" b="1" dirty="0"/>
              <a:t>Feedback</a:t>
            </a:r>
            <a:r>
              <a:rPr lang="en" b="1" dirty="0" smtClean="0"/>
              <a:t>: </a:t>
            </a:r>
            <a:r>
              <a:rPr lang="en-GB" dirty="0"/>
              <a:t>It's a good sign that the themes from the second group of participants reinforced rather than contradicted the first group's — that gives you more confidence that the seven themes are genuinely representative and not just an artefact of five people. Freezing the pipeline and the model weights at the same time as finishing the qualitative study is good planning, since it means nothing you write about afterwards can shift under you. This was a solid, well-sequenced week</a:t>
            </a:r>
            <a:r>
              <a:rPr lang="en-GB" dirty="0" smtClean="0"/>
              <a:t>.</a:t>
            </a:r>
          </a:p>
          <a:p>
            <a:pPr marL="182880" lvl="0" indent="-154940"/>
            <a:r>
              <a:rPr lang="en" b="1" dirty="0" smtClean="0"/>
              <a:t>Related to what task: </a:t>
            </a:r>
            <a:r>
              <a:rPr lang="en-GB" dirty="0" smtClean="0"/>
              <a:t>F</a:t>
            </a:r>
            <a:r>
              <a:rPr lang="en-GB" dirty="0" smtClean="0"/>
              <a:t>ull-sample </a:t>
            </a:r>
            <a:r>
              <a:rPr lang="en-GB" dirty="0"/>
              <a:t>(n=10) thematic coding</a:t>
            </a:r>
            <a:r>
              <a:rPr lang="en-GB" dirty="0" smtClean="0"/>
              <a:t>.</a:t>
            </a:r>
          </a:p>
          <a:p>
            <a:pPr marL="182880" lvl="0" indent="-154940"/>
            <a:r>
              <a:rPr lang="en" b="1" dirty="0" smtClean="0"/>
              <a:t>Response/action coming forward from this: </a:t>
            </a:r>
            <a:r>
              <a:rPr lang="en-GB" dirty="0"/>
              <a:t>noted theme stability across the two participant groups in the write-up.</a:t>
            </a:r>
            <a:endParaRPr lang="en" dirty="0"/>
          </a:p>
        </p:txBody>
      </p:sp>
      <p:sp>
        <p:nvSpPr>
          <p:cNvPr id="175" name="Google Shape;175;p21"/>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2/2</a:t>
            </a:r>
            <a:endParaRPr/>
          </a:p>
        </p:txBody>
      </p:sp>
      <p:sp>
        <p:nvSpPr>
          <p:cNvPr id="176" name="Google Shape;176;p21"/>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a:t>17</a:t>
            </a:r>
            <a:endParaRPr sz="2400" dirty="0"/>
          </a:p>
        </p:txBody>
      </p:sp>
    </p:spTree>
    <p:extLst>
      <p:ext uri="{BB962C8B-B14F-4D97-AF65-F5344CB8AC3E}">
        <p14:creationId xmlns:p14="http://schemas.microsoft.com/office/powerpoint/2010/main" val="33654149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0"/>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r>
              <a:rPr lang="en" dirty="0"/>
              <a:t>Week 18 - Log</a:t>
            </a:r>
            <a:endParaRPr lang="en-US" dirty="0"/>
          </a:p>
        </p:txBody>
      </p:sp>
      <p:sp>
        <p:nvSpPr>
          <p:cNvPr id="161" name="Google Shape;161;p20"/>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162" name="Google Shape;162;p20"/>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163" name="Google Shape;163;p20"/>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r>
              <a:rPr lang="en" dirty="0" smtClean="0"/>
              <a:t>?</a:t>
            </a:r>
          </a:p>
          <a:p>
            <a:pPr marL="27940" lvl="0" indent="0">
              <a:buNone/>
            </a:pPr>
            <a:r>
              <a:rPr lang="en" dirty="0" smtClean="0"/>
              <a:t>The goal for this week is to </a:t>
            </a:r>
            <a:r>
              <a:rPr lang="en-GB" dirty="0"/>
              <a:t>write Introduction, Related Work and Methodology, including the qualitative method</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have you actually been able to do? </a:t>
            </a:r>
            <a:endParaRPr lang="en" dirty="0" smtClean="0"/>
          </a:p>
          <a:p>
            <a:pPr marL="27940" lvl="0" indent="0">
              <a:buNone/>
            </a:pPr>
            <a:r>
              <a:rPr lang="en" dirty="0" smtClean="0"/>
              <a:t>I </a:t>
            </a:r>
            <a:r>
              <a:rPr lang="en-GB" dirty="0"/>
              <a:t>wrote Introduction, Related Work, Methodology (dataset, models, risk scoring, routing, prototype, qualitative method); built remaining figures; internal consistency pass</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Showcase what tasks you have been working on this week and provide evidence for it</a:t>
            </a:r>
            <a:r>
              <a:rPr lang="en" dirty="0" smtClean="0"/>
              <a:t>.</a:t>
            </a:r>
          </a:p>
          <a:p>
            <a:pPr marL="27940" lvl="0" indent="0" algn="l" rtl="0">
              <a:spcBef>
                <a:spcPts val="0"/>
              </a:spcBef>
              <a:spcAft>
                <a:spcPts val="0"/>
              </a:spcAft>
              <a:buSzPts val="1000"/>
              <a:buNone/>
            </a:pPr>
            <a:endParaRPr lang="en" dirty="0"/>
          </a:p>
          <a:p>
            <a:pPr marL="27940" lvl="0" indent="0">
              <a:buNone/>
            </a:pPr>
            <a:r>
              <a:rPr lang="en-GB" dirty="0"/>
              <a:t>thesis sections </a:t>
            </a:r>
            <a:r>
              <a:rPr lang="en-GB" dirty="0" smtClean="0"/>
              <a:t>1-3 </a:t>
            </a:r>
            <a:r>
              <a:rPr lang="en-GB" dirty="0"/>
              <a:t>draft; thesis/figures/ updated.</a:t>
            </a:r>
            <a:endParaRPr dirty="0"/>
          </a:p>
        </p:txBody>
      </p:sp>
      <p:sp>
        <p:nvSpPr>
          <p:cNvPr id="164" name="Google Shape;164;p20"/>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 </a:t>
            </a:r>
            <a:endParaRPr lang="en" dirty="0" smtClean="0"/>
          </a:p>
          <a:p>
            <a:pPr marL="27940" lvl="0" indent="0">
              <a:buNone/>
            </a:pPr>
            <a:r>
              <a:rPr lang="en" dirty="0" smtClean="0"/>
              <a:t>The weeks was </a:t>
            </a:r>
            <a:r>
              <a:rPr lang="en-GB" dirty="0"/>
              <a:t>heavy but productive</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went well? </a:t>
            </a:r>
            <a:endParaRPr lang="en" dirty="0" smtClean="0"/>
          </a:p>
          <a:p>
            <a:pPr marL="27940" lvl="0" indent="0">
              <a:buNone/>
            </a:pPr>
            <a:r>
              <a:rPr lang="en-GB" dirty="0"/>
              <a:t>H</a:t>
            </a:r>
            <a:r>
              <a:rPr lang="en-GB" dirty="0" smtClean="0"/>
              <a:t>aving </a:t>
            </a:r>
            <a:r>
              <a:rPr lang="en-GB" dirty="0"/>
              <a:t>all results already frozen and documented made the Methodology chapter fast to write accurately</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didn’t go so well? </a:t>
            </a:r>
            <a:endParaRPr lang="en" dirty="0" smtClean="0"/>
          </a:p>
          <a:p>
            <a:pPr marL="27940" lvl="0" indent="0">
              <a:buNone/>
            </a:pPr>
            <a:r>
              <a:rPr lang="en-GB" dirty="0"/>
              <a:t>W</a:t>
            </a:r>
            <a:r>
              <a:rPr lang="en-GB" dirty="0" smtClean="0"/>
              <a:t>riting </a:t>
            </a:r>
            <a:r>
              <a:rPr lang="en-GB" dirty="0"/>
              <a:t>volume was bigger than expected; some sections needed a second pass</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did you learn? </a:t>
            </a:r>
            <a:endParaRPr lang="en" dirty="0" smtClean="0"/>
          </a:p>
          <a:p>
            <a:pPr marL="27940" lvl="0" indent="0">
              <a:buNone/>
            </a:pPr>
            <a:r>
              <a:rPr lang="en" dirty="0" smtClean="0"/>
              <a:t>I learnt that </a:t>
            </a:r>
            <a:r>
              <a:rPr lang="en-GB" dirty="0"/>
              <a:t>writing goes faster when the underlying numbers are already frozen and verified</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could be added as an Action point looking forward to next week</a:t>
            </a:r>
            <a:r>
              <a:rPr lang="en" dirty="0" smtClean="0"/>
              <a:t>?</a:t>
            </a:r>
          </a:p>
          <a:p>
            <a:pPr marL="27940" lvl="0" indent="0">
              <a:buNone/>
            </a:pPr>
            <a:r>
              <a:rPr lang="en" dirty="0" smtClean="0"/>
              <a:t>As an Action Point for the next week is to </a:t>
            </a:r>
            <a:r>
              <a:rPr lang="en-GB" dirty="0"/>
              <a:t> write Results, Discussion, Ethics, Conclusion.</a:t>
            </a:r>
            <a:endParaRPr dirty="0"/>
          </a:p>
        </p:txBody>
      </p:sp>
      <p:sp>
        <p:nvSpPr>
          <p:cNvPr id="165" name="Google Shape;165;p20"/>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1/2</a:t>
            </a:r>
            <a:endParaRPr dirty="0"/>
          </a:p>
        </p:txBody>
      </p:sp>
      <p:sp>
        <p:nvSpPr>
          <p:cNvPr id="166" name="Google Shape;166;p20"/>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a:t>18</a:t>
            </a:r>
            <a:endParaRPr sz="2400" dirty="0"/>
          </a:p>
        </p:txBody>
      </p:sp>
      <p:sp>
        <p:nvSpPr>
          <p:cNvPr id="167" name="Google Shape;167;p20"/>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756383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1"/>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Week 18 - Feedback</a:t>
            </a:r>
            <a:endParaRPr dirty="0"/>
          </a:p>
        </p:txBody>
      </p:sp>
      <p:sp>
        <p:nvSpPr>
          <p:cNvPr id="173" name="Google Shape;173;p21"/>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dirty="0"/>
              <a:t>manager, colleague, or team member feedback</a:t>
            </a:r>
            <a:endParaRPr dirty="0"/>
          </a:p>
        </p:txBody>
      </p:sp>
      <p:sp>
        <p:nvSpPr>
          <p:cNvPr id="174" name="Google Shape;174;p21"/>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r>
              <a:rPr lang="en-GB" b="1" dirty="0"/>
              <a:t>D</a:t>
            </a:r>
            <a:r>
              <a:rPr lang="en" b="1" dirty="0"/>
              <a:t>ate: </a:t>
            </a:r>
            <a:r>
              <a:rPr lang="en" dirty="0" smtClean="0"/>
              <a:t>10/09/2026</a:t>
            </a:r>
            <a:endParaRPr lang="en" dirty="0"/>
          </a:p>
          <a:p>
            <a:pPr marL="182880" lvl="0" indent="-154940"/>
            <a:r>
              <a:rPr lang="en" b="1" dirty="0"/>
              <a:t>Feedback from: </a:t>
            </a:r>
            <a:r>
              <a:rPr lang="en-GB" dirty="0"/>
              <a:t>Karna </a:t>
            </a:r>
            <a:r>
              <a:rPr lang="en-GB" dirty="0" err="1"/>
              <a:t>Rewatkar</a:t>
            </a:r>
            <a:r>
              <a:rPr lang="en-GB" dirty="0"/>
              <a:t> (Supervisor)</a:t>
            </a:r>
            <a:endParaRPr lang="en" dirty="0"/>
          </a:p>
          <a:p>
            <a:pPr marL="182880" lvl="0" indent="-154940"/>
            <a:r>
              <a:rPr lang="en" b="1" dirty="0"/>
              <a:t>Feedback: </a:t>
            </a:r>
            <a:r>
              <a:rPr lang="en-GB" dirty="0"/>
              <a:t>The Introduction and Methodology draft reads well and the pacing is good - it's clear you're writing from results you've already verified rather than writing speculatively. One thing to tighten: the qualitative usability method section needs to explicitly say how it connects to H2 and H4, since that link is part of why the study was designed the way it was. Otherwise this is a strong first full draft of the opening chapters.</a:t>
            </a:r>
            <a:endParaRPr lang="en" dirty="0"/>
          </a:p>
          <a:p>
            <a:pPr marL="182880" lvl="0" indent="-154940"/>
            <a:r>
              <a:rPr lang="en" b="1" dirty="0"/>
              <a:t>Related to what task: </a:t>
            </a:r>
            <a:r>
              <a:rPr lang="en-GB" dirty="0"/>
              <a:t>Methodology chapter draft.</a:t>
            </a:r>
            <a:endParaRPr lang="en" dirty="0"/>
          </a:p>
          <a:p>
            <a:pPr marL="182880" lvl="0" indent="-154940"/>
            <a:r>
              <a:rPr lang="en" b="1" dirty="0"/>
              <a:t>Response/action coming forward from this: </a:t>
            </a:r>
            <a:r>
              <a:rPr lang="en-GB" dirty="0"/>
              <a:t>added an explicit link back to H2 and H4.</a:t>
            </a:r>
            <a:endParaRPr lang="en" dirty="0"/>
          </a:p>
        </p:txBody>
      </p:sp>
      <p:sp>
        <p:nvSpPr>
          <p:cNvPr id="175" name="Google Shape;175;p21"/>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2/2</a:t>
            </a:r>
            <a:endParaRPr/>
          </a:p>
        </p:txBody>
      </p:sp>
      <p:sp>
        <p:nvSpPr>
          <p:cNvPr id="176" name="Google Shape;176;p21"/>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a:t>18</a:t>
            </a:r>
            <a:endParaRPr sz="2400" dirty="0"/>
          </a:p>
        </p:txBody>
      </p:sp>
    </p:spTree>
    <p:extLst>
      <p:ext uri="{BB962C8B-B14F-4D97-AF65-F5344CB8AC3E}">
        <p14:creationId xmlns:p14="http://schemas.microsoft.com/office/powerpoint/2010/main" val="39733255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0"/>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r>
              <a:rPr lang="en" dirty="0"/>
              <a:t>Week 19 - Log</a:t>
            </a:r>
            <a:endParaRPr lang="en-US" dirty="0"/>
          </a:p>
        </p:txBody>
      </p:sp>
      <p:sp>
        <p:nvSpPr>
          <p:cNvPr id="161" name="Google Shape;161;p20"/>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162" name="Google Shape;162;p20"/>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163" name="Google Shape;163;p20"/>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r>
              <a:rPr lang="en" dirty="0" smtClean="0"/>
              <a:t>?</a:t>
            </a:r>
          </a:p>
          <a:p>
            <a:pPr marL="27940" lvl="0" indent="0">
              <a:buNone/>
            </a:pPr>
            <a:r>
              <a:rPr lang="en" dirty="0" smtClean="0"/>
              <a:t>The goal for this week is to </a:t>
            </a:r>
            <a:r>
              <a:rPr lang="en-GB" dirty="0"/>
              <a:t>write Results, Discussion, Ethics, Conclusion; final touches and proofread</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have you actually been able to do? </a:t>
            </a:r>
            <a:endParaRPr lang="en" dirty="0" smtClean="0"/>
          </a:p>
          <a:p>
            <a:pPr marL="27940" lvl="0" indent="0">
              <a:buNone/>
            </a:pPr>
            <a:r>
              <a:rPr lang="en" dirty="0" smtClean="0"/>
              <a:t>I </a:t>
            </a:r>
            <a:r>
              <a:rPr lang="en-GB" dirty="0"/>
              <a:t>wrote Results (</a:t>
            </a:r>
            <a:r>
              <a:rPr lang="en-GB" dirty="0" smtClean="0"/>
              <a:t>H1-H4</a:t>
            </a:r>
            <a:r>
              <a:rPr lang="en-GB" dirty="0"/>
              <a:t>, qualitative), Discussion (H1, domain gap, H2 shortfall, H3/H4 coverage, limitations, implications, future work), Ethics, Conclusion; finalised abstract; full proofread/reference check</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Showcase what tasks you have been working on this week and provide evidence for it</a:t>
            </a:r>
            <a:r>
              <a:rPr lang="en" dirty="0" smtClean="0"/>
              <a:t>.</a:t>
            </a:r>
            <a:endParaRPr lang="en" dirty="0"/>
          </a:p>
          <a:p>
            <a:pPr marL="27940" lvl="0" indent="0" algn="l" rtl="0">
              <a:spcBef>
                <a:spcPts val="0"/>
              </a:spcBef>
              <a:spcAft>
                <a:spcPts val="0"/>
              </a:spcAft>
              <a:buSzPts val="1000"/>
              <a:buNone/>
            </a:pPr>
            <a:endParaRPr lang="en" dirty="0"/>
          </a:p>
          <a:p>
            <a:pPr marL="27940" lvl="0" indent="0" algn="l" rtl="0">
              <a:spcBef>
                <a:spcPts val="0"/>
              </a:spcBef>
              <a:spcAft>
                <a:spcPts val="0"/>
              </a:spcAft>
              <a:buSzPts val="1000"/>
              <a:buNone/>
            </a:pPr>
            <a:endParaRPr lang="en" dirty="0"/>
          </a:p>
          <a:p>
            <a:pPr marL="27940" lvl="0" indent="0">
              <a:buNone/>
            </a:pPr>
            <a:r>
              <a:rPr lang="en-GB" dirty="0"/>
              <a:t>thesis sections 4–7 complete; final abstract.</a:t>
            </a:r>
            <a:endParaRPr lang="en" dirty="0" smtClean="0"/>
          </a:p>
        </p:txBody>
      </p:sp>
      <p:sp>
        <p:nvSpPr>
          <p:cNvPr id="164" name="Google Shape;164;p20"/>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 </a:t>
            </a:r>
            <a:endParaRPr lang="en" dirty="0" smtClean="0"/>
          </a:p>
          <a:p>
            <a:pPr marL="27940" lvl="0" indent="0">
              <a:buNone/>
            </a:pPr>
            <a:r>
              <a:rPr lang="en" dirty="0" smtClean="0"/>
              <a:t>The week as </a:t>
            </a:r>
            <a:r>
              <a:rPr lang="en-GB" dirty="0"/>
              <a:t>demanding but rewarding </a:t>
            </a:r>
            <a:r>
              <a:rPr lang="en-GB" dirty="0" smtClean="0"/>
              <a:t>- </a:t>
            </a:r>
            <a:r>
              <a:rPr lang="en-GB" dirty="0"/>
              <a:t>full draft now exists</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went well? </a:t>
            </a:r>
            <a:endParaRPr lang="en" dirty="0" smtClean="0"/>
          </a:p>
          <a:p>
            <a:pPr marL="27940" lvl="0" indent="0">
              <a:buNone/>
            </a:pPr>
            <a:r>
              <a:rPr lang="en-GB" dirty="0"/>
              <a:t>Discussion came together cleanly since each result already had an explanation from earlier weeks</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didn’t go so well? </a:t>
            </a:r>
            <a:endParaRPr lang="en" dirty="0"/>
          </a:p>
          <a:p>
            <a:pPr marL="27940" lvl="0" indent="0" algn="l" rtl="0">
              <a:spcBef>
                <a:spcPts val="0"/>
              </a:spcBef>
              <a:spcAft>
                <a:spcPts val="0"/>
              </a:spcAft>
              <a:buSzPts val="1000"/>
              <a:buNone/>
            </a:pPr>
            <a:r>
              <a:rPr lang="en" dirty="0" smtClean="0"/>
              <a:t>P</a:t>
            </a:r>
            <a:r>
              <a:rPr lang="en-GB" dirty="0" err="1" smtClean="0"/>
              <a:t>roofread</a:t>
            </a:r>
            <a:r>
              <a:rPr lang="en-GB" dirty="0" smtClean="0"/>
              <a:t> </a:t>
            </a:r>
            <a:r>
              <a:rPr lang="en-GB" dirty="0"/>
              <a:t>surfaced several numerical inconsistencies between sections</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did you learn? </a:t>
            </a:r>
            <a:endParaRPr lang="en" dirty="0" smtClean="0"/>
          </a:p>
          <a:p>
            <a:pPr marL="27940" lvl="0" indent="0">
              <a:buNone/>
            </a:pPr>
            <a:r>
              <a:rPr lang="en" dirty="0" smtClean="0"/>
              <a:t>I learnt that </a:t>
            </a:r>
            <a:r>
              <a:rPr lang="en-GB" dirty="0"/>
              <a:t>a full cross-check of numbers across the whole document is essential, not a last-minute task</a:t>
            </a:r>
            <a:r>
              <a:rPr lang="en-GB" dirty="0" smtClean="0"/>
              <a:t>.</a:t>
            </a:r>
          </a:p>
          <a:p>
            <a:pPr marL="27940" lvl="0" indent="0">
              <a:buNone/>
            </a:pPr>
            <a:r>
              <a:rPr lang="en" dirty="0" smtClean="0"/>
              <a:t> </a:t>
            </a:r>
            <a:endParaRPr dirty="0"/>
          </a:p>
          <a:p>
            <a:pPr marL="182880" lvl="0" indent="-154940" algn="l" rtl="0">
              <a:spcBef>
                <a:spcPts val="0"/>
              </a:spcBef>
              <a:spcAft>
                <a:spcPts val="0"/>
              </a:spcAft>
              <a:buSzPts val="1000"/>
              <a:buChar char="●"/>
            </a:pPr>
            <a:r>
              <a:rPr lang="en" dirty="0"/>
              <a:t>What could be added as an Action point looking forward to next week</a:t>
            </a:r>
            <a:r>
              <a:rPr lang="en" dirty="0" smtClean="0"/>
              <a:t>?</a:t>
            </a:r>
          </a:p>
          <a:p>
            <a:pPr marL="27940" lvl="0" indent="0" algn="l" rtl="0">
              <a:spcBef>
                <a:spcPts val="0"/>
              </a:spcBef>
              <a:spcAft>
                <a:spcPts val="0"/>
              </a:spcAft>
              <a:buSzPts val="1000"/>
              <a:buNone/>
            </a:pPr>
            <a:r>
              <a:rPr lang="en" dirty="0" smtClean="0"/>
              <a:t>The action point for the next weeks is to finish all evidencing documents.</a:t>
            </a:r>
            <a:endParaRPr dirty="0"/>
          </a:p>
        </p:txBody>
      </p:sp>
      <p:sp>
        <p:nvSpPr>
          <p:cNvPr id="165" name="Google Shape;165;p20"/>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1/2</a:t>
            </a:r>
            <a:endParaRPr dirty="0"/>
          </a:p>
        </p:txBody>
      </p:sp>
      <p:sp>
        <p:nvSpPr>
          <p:cNvPr id="166" name="Google Shape;166;p20"/>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a:t>19</a:t>
            </a:r>
            <a:endParaRPr sz="2400" dirty="0"/>
          </a:p>
        </p:txBody>
      </p:sp>
      <p:sp>
        <p:nvSpPr>
          <p:cNvPr id="167" name="Google Shape;167;p20"/>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191494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1"/>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Week 19 - Feedback</a:t>
            </a:r>
            <a:endParaRPr dirty="0"/>
          </a:p>
        </p:txBody>
      </p:sp>
      <p:sp>
        <p:nvSpPr>
          <p:cNvPr id="173" name="Google Shape;173;p21"/>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dirty="0"/>
              <a:t>manager, colleague, or team member feedback</a:t>
            </a:r>
            <a:endParaRPr dirty="0"/>
          </a:p>
        </p:txBody>
      </p:sp>
      <p:sp>
        <p:nvSpPr>
          <p:cNvPr id="174" name="Google Shape;174;p21"/>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r>
              <a:rPr lang="en-GB" b="1" dirty="0"/>
              <a:t>D</a:t>
            </a:r>
            <a:r>
              <a:rPr lang="en" b="1" dirty="0"/>
              <a:t>ate</a:t>
            </a:r>
            <a:r>
              <a:rPr lang="en" b="1" dirty="0"/>
              <a:t>: </a:t>
            </a:r>
            <a:r>
              <a:rPr lang="en" dirty="0"/>
              <a:t>17/09/2026</a:t>
            </a:r>
            <a:endParaRPr lang="en" dirty="0"/>
          </a:p>
          <a:p>
            <a:pPr marL="182880" lvl="0" indent="-154940"/>
            <a:r>
              <a:rPr lang="en" b="1" dirty="0"/>
              <a:t>Feedback from</a:t>
            </a:r>
            <a:r>
              <a:rPr lang="en" b="1" dirty="0" smtClean="0"/>
              <a:t>: </a:t>
            </a:r>
            <a:r>
              <a:rPr lang="en-GB" dirty="0"/>
              <a:t>Karna </a:t>
            </a:r>
            <a:r>
              <a:rPr lang="en-GB" dirty="0" err="1"/>
              <a:t>Rewatkar</a:t>
            </a:r>
            <a:r>
              <a:rPr lang="en-GB" dirty="0"/>
              <a:t> (Supervisor)</a:t>
            </a:r>
            <a:endParaRPr lang="en" dirty="0"/>
          </a:p>
          <a:p>
            <a:pPr marL="182880" lvl="0" indent="-154940"/>
            <a:r>
              <a:rPr lang="en" b="1" dirty="0"/>
              <a:t>Feedback</a:t>
            </a:r>
            <a:r>
              <a:rPr lang="en" b="1" dirty="0" smtClean="0"/>
              <a:t>: </a:t>
            </a:r>
            <a:r>
              <a:rPr lang="en-GB" dirty="0"/>
              <a:t>The full draft is in good shape, and the Discussion chapter does a good job of tying H1 through H4 into one coherent narrative rather than treating them as four separate results. A handful of numbers didn't quite match between the Results and Discussion sections, which is a common issue at this stage of writing and worth doing one more full pass to catch. Once that's cleaned up, this reads as a complete and well-argued thesis.</a:t>
            </a:r>
            <a:endParaRPr lang="en" dirty="0"/>
          </a:p>
          <a:p>
            <a:pPr marL="182880" lvl="0" indent="-154940"/>
            <a:r>
              <a:rPr lang="en" b="1" dirty="0"/>
              <a:t>Related to what task: </a:t>
            </a:r>
            <a:r>
              <a:rPr lang="en-GB" dirty="0" smtClean="0"/>
              <a:t>Fu</a:t>
            </a:r>
            <a:r>
              <a:rPr lang="en-GB" dirty="0" smtClean="0"/>
              <a:t>ll </a:t>
            </a:r>
            <a:r>
              <a:rPr lang="en-GB" dirty="0"/>
              <a:t>thesis draft (Results-Conclusion).</a:t>
            </a:r>
            <a:endParaRPr lang="en" dirty="0"/>
          </a:p>
          <a:p>
            <a:pPr marL="182880" lvl="0" indent="-154940"/>
            <a:r>
              <a:rPr lang="en" b="1" dirty="0"/>
              <a:t>Response/action coming forward from this: </a:t>
            </a:r>
            <a:r>
              <a:rPr lang="en-GB" dirty="0" smtClean="0"/>
              <a:t>C</a:t>
            </a:r>
            <a:r>
              <a:rPr lang="en-GB" dirty="0" smtClean="0"/>
              <a:t>ompleted </a:t>
            </a:r>
            <a:r>
              <a:rPr lang="en-GB" dirty="0"/>
              <a:t>a full consistency pass before submission.</a:t>
            </a:r>
          </a:p>
          <a:p>
            <a:pPr marL="182880" lvl="0" indent="-154940" algn="l" rtl="0">
              <a:spcBef>
                <a:spcPts val="0"/>
              </a:spcBef>
              <a:spcAft>
                <a:spcPts val="0"/>
              </a:spcAft>
              <a:buSzPts val="1000"/>
              <a:buChar char="●"/>
            </a:pPr>
            <a:endParaRPr lang="en" b="1" dirty="0"/>
          </a:p>
        </p:txBody>
      </p:sp>
      <p:sp>
        <p:nvSpPr>
          <p:cNvPr id="175" name="Google Shape;175;p21"/>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2/2</a:t>
            </a:r>
            <a:endParaRPr/>
          </a:p>
        </p:txBody>
      </p:sp>
      <p:sp>
        <p:nvSpPr>
          <p:cNvPr id="176" name="Google Shape;176;p21"/>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a:t>19</a:t>
            </a:r>
            <a:endParaRPr sz="2400" dirty="0"/>
          </a:p>
        </p:txBody>
      </p:sp>
    </p:spTree>
    <p:extLst>
      <p:ext uri="{BB962C8B-B14F-4D97-AF65-F5344CB8AC3E}">
        <p14:creationId xmlns:p14="http://schemas.microsoft.com/office/powerpoint/2010/main" val="15585670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0"/>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r>
              <a:rPr lang="en" dirty="0"/>
              <a:t>Week 20 - Log</a:t>
            </a:r>
            <a:endParaRPr lang="en-US" dirty="0"/>
          </a:p>
        </p:txBody>
      </p:sp>
      <p:sp>
        <p:nvSpPr>
          <p:cNvPr id="161" name="Google Shape;161;p20"/>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162" name="Google Shape;162;p20"/>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163" name="Google Shape;163;p20"/>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r>
              <a:rPr lang="en" dirty="0" smtClean="0"/>
              <a:t>?</a:t>
            </a:r>
          </a:p>
          <a:p>
            <a:pPr marL="27940" lvl="0" indent="0">
              <a:buNone/>
            </a:pPr>
            <a:r>
              <a:rPr lang="en" dirty="0" smtClean="0"/>
              <a:t>The goal for this week is to </a:t>
            </a:r>
            <a:r>
              <a:rPr lang="en-GB" dirty="0"/>
              <a:t>finish the Work Log, Learning Log and Assessment Rubric</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have you actually been able to do? </a:t>
            </a:r>
            <a:endParaRPr lang="en" dirty="0" smtClean="0"/>
          </a:p>
          <a:p>
            <a:pPr marL="27940" lvl="0" indent="0">
              <a:buNone/>
            </a:pPr>
            <a:r>
              <a:rPr lang="en-GB" dirty="0" smtClean="0"/>
              <a:t>I </a:t>
            </a:r>
            <a:r>
              <a:rPr lang="en-GB" dirty="0"/>
              <a:t>finalised the 20-week Work Log, wrote all Learning Log entries, collected/organised evidence links, filled the Assessment Rubric across all five ILOs</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Showcase what tasks you have been working on this week and provide evidence for it</a:t>
            </a:r>
            <a:r>
              <a:rPr lang="en" dirty="0" smtClean="0"/>
              <a:t>.</a:t>
            </a:r>
          </a:p>
          <a:p>
            <a:pPr marL="27940" lvl="0" indent="0" algn="l" rtl="0">
              <a:spcBef>
                <a:spcPts val="0"/>
              </a:spcBef>
              <a:spcAft>
                <a:spcPts val="0"/>
              </a:spcAft>
              <a:buSzPts val="1000"/>
              <a:buNone/>
            </a:pPr>
            <a:endParaRPr lang="en" dirty="0"/>
          </a:p>
          <a:p>
            <a:pPr marL="27940" lvl="0" indent="0">
              <a:buNone/>
            </a:pPr>
            <a:r>
              <a:rPr lang="en-GB" dirty="0"/>
              <a:t>thesis/evidencing/ complete, with evidence links.</a:t>
            </a:r>
            <a:endParaRPr dirty="0"/>
          </a:p>
        </p:txBody>
      </p:sp>
      <p:sp>
        <p:nvSpPr>
          <p:cNvPr id="164" name="Google Shape;164;p20"/>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 </a:t>
            </a:r>
            <a:endParaRPr lang="en" dirty="0" smtClean="0"/>
          </a:p>
          <a:p>
            <a:pPr marL="27940" lvl="0" indent="0">
              <a:buNone/>
            </a:pPr>
            <a:r>
              <a:rPr lang="en-GB" dirty="0" smtClean="0"/>
              <a:t>It was a </a:t>
            </a:r>
            <a:r>
              <a:rPr lang="en-GB" dirty="0"/>
              <a:t>satisfying final week </a:t>
            </a:r>
            <a:r>
              <a:rPr lang="en-GB" dirty="0" smtClean="0"/>
              <a:t>- </a:t>
            </a:r>
            <a:r>
              <a:rPr lang="en-GB" dirty="0"/>
              <a:t>the whole portfolio is complete and consistent</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went well? </a:t>
            </a:r>
            <a:endParaRPr lang="en" dirty="0" smtClean="0"/>
          </a:p>
          <a:p>
            <a:pPr marL="27940" lvl="0" indent="0" algn="l" rtl="0">
              <a:spcBef>
                <a:spcPts val="0"/>
              </a:spcBef>
              <a:spcAft>
                <a:spcPts val="0"/>
              </a:spcAft>
              <a:buSzPts val="1000"/>
              <a:buNone/>
            </a:pPr>
            <a:r>
              <a:rPr lang="en" dirty="0" smtClean="0"/>
              <a:t>Finalizing Work and Learning Log on time.</a:t>
            </a:r>
          </a:p>
          <a:p>
            <a:pPr marL="27940" lvl="0" indent="0" algn="l" rtl="0">
              <a:spcBef>
                <a:spcPts val="0"/>
              </a:spcBef>
              <a:spcAft>
                <a:spcPts val="0"/>
              </a:spcAft>
              <a:buSzPts val="1000"/>
              <a:buNone/>
            </a:pPr>
            <a:endParaRPr dirty="0"/>
          </a:p>
          <a:p>
            <a:pPr marL="182880" lvl="0" indent="-154940"/>
            <a:r>
              <a:rPr lang="en" dirty="0"/>
              <a:t>What didn’t go so well? </a:t>
            </a:r>
            <a:endParaRPr lang="en" dirty="0"/>
          </a:p>
          <a:p>
            <a:pPr marL="27940" lvl="0" indent="0">
              <a:buNone/>
            </a:pPr>
            <a:r>
              <a:rPr lang="en-GB" dirty="0" smtClean="0"/>
              <a:t>checking </a:t>
            </a:r>
            <a:r>
              <a:rPr lang="en-GB" dirty="0"/>
              <a:t>every evidence link against the final, frozen files took longer than planned</a:t>
            </a:r>
            <a:r>
              <a:rPr lang="en-GB" dirty="0" smtClean="0"/>
              <a:t>.</a:t>
            </a:r>
          </a:p>
          <a:p>
            <a:pPr marL="27940" lvl="0" indent="0">
              <a:buNone/>
            </a:pPr>
            <a:endParaRPr dirty="0"/>
          </a:p>
          <a:p>
            <a:pPr marL="182880" lvl="0" indent="-154940" algn="l" rtl="0">
              <a:spcBef>
                <a:spcPts val="0"/>
              </a:spcBef>
              <a:spcAft>
                <a:spcPts val="0"/>
              </a:spcAft>
              <a:buSzPts val="1000"/>
              <a:buChar char="●"/>
            </a:pPr>
            <a:r>
              <a:rPr lang="en" dirty="0"/>
              <a:t>What did you learn? </a:t>
            </a:r>
            <a:endParaRPr lang="en" dirty="0" smtClean="0"/>
          </a:p>
          <a:p>
            <a:pPr marL="27940" lvl="0" indent="0">
              <a:buNone/>
            </a:pPr>
            <a:r>
              <a:rPr lang="en" dirty="0" smtClean="0"/>
              <a:t>I learnt that evidencing </a:t>
            </a:r>
            <a:r>
              <a:rPr lang="en-GB" dirty="0"/>
              <a:t>is much </a:t>
            </a:r>
            <a:r>
              <a:rPr lang="en-GB" dirty="0" smtClean="0"/>
              <a:t>easier if done divided on multiple tasks</a:t>
            </a:r>
          </a:p>
          <a:p>
            <a:pPr marL="27940" lvl="0" indent="0">
              <a:buNone/>
            </a:pPr>
            <a:endParaRPr dirty="0"/>
          </a:p>
          <a:p>
            <a:pPr marL="182880" lvl="0" indent="-154940" algn="l" rtl="0">
              <a:spcBef>
                <a:spcPts val="0"/>
              </a:spcBef>
              <a:spcAft>
                <a:spcPts val="0"/>
              </a:spcAft>
              <a:buSzPts val="1000"/>
              <a:buChar char="●"/>
            </a:pPr>
            <a:r>
              <a:rPr lang="en" dirty="0"/>
              <a:t>What could be added as an Action point looking forward to next week</a:t>
            </a:r>
            <a:r>
              <a:rPr lang="en" dirty="0" smtClean="0"/>
              <a:t>?</a:t>
            </a:r>
          </a:p>
          <a:p>
            <a:pPr marL="27940" lvl="0" indent="0" algn="l" rtl="0">
              <a:spcBef>
                <a:spcPts val="0"/>
              </a:spcBef>
              <a:spcAft>
                <a:spcPts val="0"/>
              </a:spcAft>
              <a:buSzPts val="1000"/>
              <a:buNone/>
            </a:pPr>
            <a:r>
              <a:rPr lang="en" dirty="0" smtClean="0"/>
              <a:t>Action point for next weeks is to prepare myself for the oral exam and its presentation.</a:t>
            </a:r>
            <a:endParaRPr dirty="0"/>
          </a:p>
        </p:txBody>
      </p:sp>
      <p:sp>
        <p:nvSpPr>
          <p:cNvPr id="165" name="Google Shape;165;p20"/>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1/2</a:t>
            </a:r>
            <a:endParaRPr dirty="0"/>
          </a:p>
        </p:txBody>
      </p:sp>
      <p:sp>
        <p:nvSpPr>
          <p:cNvPr id="166" name="Google Shape;166;p20"/>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a:t>20</a:t>
            </a:r>
            <a:endParaRPr sz="2400" dirty="0"/>
          </a:p>
        </p:txBody>
      </p:sp>
      <p:sp>
        <p:nvSpPr>
          <p:cNvPr id="167" name="Google Shape;167;p20"/>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934175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1"/>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Week 20 - Feedback</a:t>
            </a:r>
            <a:endParaRPr dirty="0"/>
          </a:p>
        </p:txBody>
      </p:sp>
      <p:sp>
        <p:nvSpPr>
          <p:cNvPr id="173" name="Google Shape;173;p21"/>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dirty="0"/>
              <a:t>manager, colleague, or team member feedback</a:t>
            </a:r>
            <a:endParaRPr dirty="0"/>
          </a:p>
        </p:txBody>
      </p:sp>
      <p:sp>
        <p:nvSpPr>
          <p:cNvPr id="174" name="Google Shape;174;p21"/>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r>
              <a:rPr lang="en-GB" b="1" dirty="0"/>
              <a:t>D</a:t>
            </a:r>
            <a:r>
              <a:rPr lang="en" b="1" dirty="0"/>
              <a:t>ate</a:t>
            </a:r>
            <a:r>
              <a:rPr lang="en" b="1" dirty="0"/>
              <a:t>: </a:t>
            </a:r>
            <a:r>
              <a:rPr lang="en" dirty="0"/>
              <a:t>25/09/2026</a:t>
            </a:r>
            <a:endParaRPr lang="en" dirty="0"/>
          </a:p>
          <a:p>
            <a:pPr marL="182880" lvl="0" indent="-154940"/>
            <a:r>
              <a:rPr lang="en" b="1" dirty="0"/>
              <a:t>Feedback from</a:t>
            </a:r>
            <a:r>
              <a:rPr lang="en" b="1" dirty="0" smtClean="0"/>
              <a:t>: </a:t>
            </a:r>
            <a:r>
              <a:rPr lang="en-GB" b="1" dirty="0"/>
              <a:t> </a:t>
            </a:r>
            <a:r>
              <a:rPr lang="en-GB" dirty="0"/>
              <a:t>Karna </a:t>
            </a:r>
            <a:r>
              <a:rPr lang="en-GB" dirty="0" err="1"/>
              <a:t>Rewatkar</a:t>
            </a:r>
            <a:r>
              <a:rPr lang="en-GB" dirty="0"/>
              <a:t> (Supervisor)</a:t>
            </a:r>
            <a:endParaRPr lang="en" dirty="0"/>
          </a:p>
          <a:p>
            <a:pPr marL="182880" lvl="0" indent="-154940"/>
            <a:r>
              <a:rPr lang="en" b="1" dirty="0"/>
              <a:t>Feedback</a:t>
            </a:r>
            <a:r>
              <a:rPr lang="en" b="1" dirty="0" smtClean="0"/>
              <a:t>: </a:t>
            </a:r>
            <a:r>
              <a:rPr lang="en-GB" dirty="0"/>
              <a:t>The evidencing is thorough, and the fact that every claim traces back to a specific file, output, or thesis section makes it easy to verify where the work actually came from. It's clear the Work Log was kept up throughout rather than reconstructed at the end, which shows in how consistent the weekly entries are. This is ready for submission.</a:t>
            </a:r>
            <a:endParaRPr lang="en" dirty="0"/>
          </a:p>
          <a:p>
            <a:pPr marL="182880" lvl="0" indent="-154940"/>
            <a:r>
              <a:rPr lang="en" b="1" dirty="0"/>
              <a:t>Related to what task: </a:t>
            </a:r>
            <a:r>
              <a:rPr lang="en-GB" dirty="0" smtClean="0"/>
              <a:t>F</a:t>
            </a:r>
            <a:r>
              <a:rPr lang="en-GB" dirty="0" smtClean="0"/>
              <a:t>inal </a:t>
            </a:r>
            <a:r>
              <a:rPr lang="en-GB" dirty="0"/>
              <a:t>evidencing documents.</a:t>
            </a:r>
            <a:endParaRPr lang="en" dirty="0"/>
          </a:p>
          <a:p>
            <a:pPr marL="182880" lvl="0" indent="-154940" algn="l" rtl="0">
              <a:spcBef>
                <a:spcPts val="0"/>
              </a:spcBef>
              <a:spcAft>
                <a:spcPts val="0"/>
              </a:spcAft>
              <a:buSzPts val="1000"/>
              <a:buChar char="●"/>
            </a:pPr>
            <a:r>
              <a:rPr lang="en" b="1" dirty="0"/>
              <a:t>Response/action coming forward from this: </a:t>
            </a:r>
            <a:r>
              <a:rPr lang="en" dirty="0" smtClean="0"/>
              <a:t>The portfolio is finalized so now should focus on preparing for the oral exam</a:t>
            </a:r>
            <a:endParaRPr lang="en" dirty="0"/>
          </a:p>
        </p:txBody>
      </p:sp>
      <p:sp>
        <p:nvSpPr>
          <p:cNvPr id="175" name="Google Shape;175;p21"/>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2/2</a:t>
            </a:r>
            <a:endParaRPr/>
          </a:p>
        </p:txBody>
      </p:sp>
      <p:sp>
        <p:nvSpPr>
          <p:cNvPr id="176" name="Google Shape;176;p21"/>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a:t>20</a:t>
            </a:r>
            <a:endParaRPr sz="2400" dirty="0"/>
          </a:p>
        </p:txBody>
      </p:sp>
    </p:spTree>
    <p:extLst>
      <p:ext uri="{BB962C8B-B14F-4D97-AF65-F5344CB8AC3E}">
        <p14:creationId xmlns:p14="http://schemas.microsoft.com/office/powerpoint/2010/main" val="16606437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4"/>
          <p:cNvSpPr txBox="1">
            <a:spLocks noGrp="1"/>
          </p:cNvSpPr>
          <p:nvPr>
            <p:ph type="title"/>
          </p:nvPr>
        </p:nvSpPr>
        <p:spPr>
          <a:xfrm>
            <a:off x="274320" y="1745053"/>
            <a:ext cx="2560200" cy="1551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b="1" dirty="0">
                <a:solidFill>
                  <a:schemeClr val="accent6">
                    <a:lumMod val="75000"/>
                  </a:schemeClr>
                </a:solidFill>
              </a:rPr>
              <a:t>You made it!</a:t>
            </a:r>
            <a:endParaRPr b="1" dirty="0">
              <a:solidFill>
                <a:schemeClr val="accent6">
                  <a:lumMod val="75000"/>
                </a:schemeClr>
              </a:solidFill>
            </a:endParaRPr>
          </a:p>
        </p:txBody>
      </p:sp>
      <p:sp>
        <p:nvSpPr>
          <p:cNvPr id="110" name="Google Shape;110;p14"/>
          <p:cNvSpPr txBox="1">
            <a:spLocks noGrp="1"/>
          </p:cNvSpPr>
          <p:nvPr>
            <p:ph type="body" idx="2"/>
          </p:nvPr>
        </p:nvSpPr>
        <p:spPr>
          <a:xfrm>
            <a:off x="3383280" y="274320"/>
            <a:ext cx="5486400" cy="459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sz="1200" b="1" dirty="0"/>
              <a:t>You made it to the end of your graduation project period, congratulations! Hopefully, you have learned a lot and you gained experience with the work field, working with other professionals and became more independent in your work. As a reminder, do not forget about the following deliverables:</a:t>
            </a:r>
          </a:p>
          <a:p>
            <a:pPr marL="0" lvl="0" indent="0" algn="l" rtl="0">
              <a:spcBef>
                <a:spcPts val="0"/>
              </a:spcBef>
              <a:spcAft>
                <a:spcPts val="0"/>
              </a:spcAft>
              <a:buNone/>
            </a:pPr>
            <a:endParaRPr lang="en-GB" sz="1200" b="1" dirty="0"/>
          </a:p>
          <a:p>
            <a:pPr marL="228600" lvl="0" indent="-228600" algn="l" rtl="0">
              <a:spcBef>
                <a:spcPts val="0"/>
              </a:spcBef>
              <a:spcAft>
                <a:spcPts val="0"/>
              </a:spcAft>
              <a:buAutoNum type="arabicParenR"/>
            </a:pPr>
            <a:r>
              <a:rPr lang="en-GB" sz="1200" dirty="0"/>
              <a:t>Remind your company supervisor about the 20</a:t>
            </a:r>
            <a:r>
              <a:rPr lang="en-GB" sz="1200" baseline="30000" dirty="0"/>
              <a:t>th</a:t>
            </a:r>
            <a:r>
              <a:rPr lang="en-GB" sz="1200" dirty="0"/>
              <a:t> week assessment. They should fill in the assessment sheet provided and discuss their outcomes with you. Reflect on their feedback and see how you improved yourself compared to the 10</a:t>
            </a:r>
            <a:r>
              <a:rPr lang="en-GB" sz="1200" baseline="30000" dirty="0"/>
              <a:t>th</a:t>
            </a:r>
            <a:r>
              <a:rPr lang="en-GB" sz="1200" dirty="0"/>
              <a:t> week feedback. Afterwards, your supervisor needs to send the signed version to your </a:t>
            </a:r>
            <a:r>
              <a:rPr lang="en-GB" sz="1200" dirty="0" err="1"/>
              <a:t>BUas</a:t>
            </a:r>
            <a:r>
              <a:rPr lang="en-GB" sz="1200" dirty="0"/>
              <a:t> supervisor! </a:t>
            </a:r>
            <a:br>
              <a:rPr lang="en-GB" sz="1200" dirty="0"/>
            </a:br>
            <a:endParaRPr lang="en-GB" sz="1200" dirty="0"/>
          </a:p>
          <a:p>
            <a:pPr marL="228600" lvl="0" indent="-228600" algn="l" rtl="0">
              <a:spcBef>
                <a:spcPts val="0"/>
              </a:spcBef>
              <a:spcAft>
                <a:spcPts val="0"/>
              </a:spcAft>
              <a:buAutoNum type="arabicParenR"/>
            </a:pPr>
            <a:r>
              <a:rPr lang="en-GB" sz="1200" dirty="0"/>
              <a:t>Plan a meeting with your company supervisor, your Buas supervisor and you to discuss the end of your graduation project. </a:t>
            </a:r>
            <a:br>
              <a:rPr lang="en-GB" sz="1200" dirty="0"/>
            </a:br>
            <a:endParaRPr lang="en-GB" sz="1200" dirty="0"/>
          </a:p>
          <a:p>
            <a:pPr marL="228600" lvl="0" indent="-228600" algn="l" rtl="0">
              <a:spcBef>
                <a:spcPts val="0"/>
              </a:spcBef>
              <a:spcAft>
                <a:spcPts val="0"/>
              </a:spcAft>
              <a:buAutoNum type="arabicParenR"/>
            </a:pPr>
            <a:r>
              <a:rPr lang="en-GB" sz="1200" dirty="0"/>
              <a:t>Do not forget to update your learning log! Make sure that the log is accessible for your Buas supervisor so they can have a look at what you have done.</a:t>
            </a:r>
          </a:p>
          <a:p>
            <a:pPr marL="228600" lvl="0" indent="-228600" algn="l" rtl="0">
              <a:spcBef>
                <a:spcPts val="0"/>
              </a:spcBef>
              <a:spcAft>
                <a:spcPts val="0"/>
              </a:spcAft>
              <a:buAutoNum type="arabicParenR"/>
            </a:pPr>
            <a:endParaRPr lang="en-GB" sz="1200" dirty="0"/>
          </a:p>
          <a:p>
            <a:pPr marL="228600" lvl="0" indent="-228600" algn="l" rtl="0">
              <a:spcBef>
                <a:spcPts val="0"/>
              </a:spcBef>
              <a:spcAft>
                <a:spcPts val="0"/>
              </a:spcAft>
              <a:buAutoNum type="arabicParenR"/>
            </a:pPr>
            <a:r>
              <a:rPr lang="en-GB" sz="1200" dirty="0"/>
              <a:t>Finalize all the deliverables and hand them in on time! </a:t>
            </a:r>
          </a:p>
          <a:p>
            <a:pPr marL="228600" lvl="0" indent="-228600" algn="l" rtl="0">
              <a:spcBef>
                <a:spcPts val="0"/>
              </a:spcBef>
              <a:spcAft>
                <a:spcPts val="0"/>
              </a:spcAft>
              <a:buAutoNum type="arabicParenR"/>
            </a:pPr>
            <a:endParaRPr lang="en-GB" sz="1200" dirty="0"/>
          </a:p>
          <a:p>
            <a:pPr marL="228600" lvl="0" indent="-228600" algn="l" rtl="0">
              <a:spcBef>
                <a:spcPts val="0"/>
              </a:spcBef>
              <a:spcAft>
                <a:spcPts val="0"/>
              </a:spcAft>
              <a:buAutoNum type="arabicParenR"/>
            </a:pPr>
            <a:r>
              <a:rPr lang="en-GB" sz="1200" dirty="0"/>
              <a:t>Make sure to thank your supervisor at the company and other team members! Update your LinkedIn and maybe add your colleagues to further build your network.</a:t>
            </a:r>
          </a:p>
          <a:p>
            <a:pPr marL="0" lvl="0" indent="0" algn="l" rtl="0">
              <a:spcBef>
                <a:spcPts val="0"/>
              </a:spcBef>
              <a:spcAft>
                <a:spcPts val="0"/>
              </a:spcAft>
              <a:buNone/>
            </a:pPr>
            <a:endParaRPr lang="en-GB" sz="1200" dirty="0"/>
          </a:p>
        </p:txBody>
      </p:sp>
    </p:spTree>
    <p:extLst>
      <p:ext uri="{BB962C8B-B14F-4D97-AF65-F5344CB8AC3E}">
        <p14:creationId xmlns:p14="http://schemas.microsoft.com/office/powerpoint/2010/main" val="2643562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38"/>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dirty="0"/>
              <a:t>Section </a:t>
            </a:r>
            <a:r>
              <a:rPr lang="en" dirty="0"/>
              <a:t>C</a:t>
            </a:r>
            <a:endParaRPr sz="6000" dirty="0"/>
          </a:p>
        </p:txBody>
      </p:sp>
      <p:sp>
        <p:nvSpPr>
          <p:cNvPr id="357" name="Google Shape;357;p38"/>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Progress</a:t>
            </a:r>
            <a:endParaRPr dirty="0"/>
          </a:p>
          <a:p>
            <a:pPr marL="0" lvl="0" indent="0" algn="ctr" rtl="0">
              <a:spcBef>
                <a:spcPts val="0"/>
              </a:spcBef>
              <a:spcAft>
                <a:spcPts val="0"/>
              </a:spcAft>
              <a:buNone/>
            </a:pPr>
            <a:r>
              <a:rPr lang="en" dirty="0"/>
              <a:t>Intended Learning Outcomes</a:t>
            </a:r>
            <a:endParaRPr sz="3000" dirty="0"/>
          </a:p>
        </p:txBody>
      </p:sp>
      <p:sp>
        <p:nvSpPr>
          <p:cNvPr id="358" name="Google Shape;358;p38"/>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40000" dirty="0">
                <a:solidFill>
                  <a:srgbClr val="999999"/>
                </a:solidFill>
                <a:latin typeface="Roboto"/>
                <a:ea typeface="Roboto"/>
                <a:cs typeface="Roboto"/>
              </a:rPr>
              <a:t>C</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62">
          <a:extLst>
            <a:ext uri="{FF2B5EF4-FFF2-40B4-BE49-F238E27FC236}">
              <a16:creationId xmlns:a16="http://schemas.microsoft.com/office/drawing/2014/main" id="{295F5BAE-BA7D-E898-3F38-25CAB23A3D48}"/>
            </a:ext>
          </a:extLst>
        </p:cNvPr>
        <p:cNvGrpSpPr/>
        <p:nvPr/>
      </p:nvGrpSpPr>
      <p:grpSpPr>
        <a:xfrm>
          <a:off x="0" y="0"/>
          <a:ext cx="0" cy="0"/>
          <a:chOff x="0" y="0"/>
          <a:chExt cx="0" cy="0"/>
        </a:xfrm>
      </p:grpSpPr>
      <p:sp>
        <p:nvSpPr>
          <p:cNvPr id="363" name="Google Shape;363;p39">
            <a:extLst>
              <a:ext uri="{FF2B5EF4-FFF2-40B4-BE49-F238E27FC236}">
                <a16:creationId xmlns:a16="http://schemas.microsoft.com/office/drawing/2014/main" id="{1729EDB1-B126-19CD-A001-392E7030EEB2}"/>
              </a:ext>
            </a:extLst>
          </p:cNvPr>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ILO 1</a:t>
            </a:r>
            <a:endParaRPr dirty="0"/>
          </a:p>
        </p:txBody>
      </p:sp>
      <p:sp>
        <p:nvSpPr>
          <p:cNvPr id="364" name="Google Shape;364;p39">
            <a:extLst>
              <a:ext uri="{FF2B5EF4-FFF2-40B4-BE49-F238E27FC236}">
                <a16:creationId xmlns:a16="http://schemas.microsoft.com/office/drawing/2014/main" id="{4CDD4960-C537-A1AC-A736-420D31FDF211}"/>
              </a:ext>
            </a:extLst>
          </p:cNvPr>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nl-NL" dirty="0"/>
              <a:t>Research</a:t>
            </a:r>
            <a:endParaRPr dirty="0"/>
          </a:p>
        </p:txBody>
      </p:sp>
      <p:sp>
        <p:nvSpPr>
          <p:cNvPr id="365" name="Google Shape;365;p39">
            <a:extLst>
              <a:ext uri="{FF2B5EF4-FFF2-40B4-BE49-F238E27FC236}">
                <a16:creationId xmlns:a16="http://schemas.microsoft.com/office/drawing/2014/main" id="{177721F2-072E-C20D-9BA3-4592D43D9756}"/>
              </a:ext>
            </a:extLst>
          </p:cNvPr>
          <p:cNvSpPr txBox="1">
            <a:spLocks noGrp="1"/>
          </p:cNvSpPr>
          <p:nvPr>
            <p:ph type="subTitle" idx="2"/>
          </p:nvPr>
        </p:nvSpPr>
        <p:spPr>
          <a:xfrm>
            <a:off x="3097824" y="3353563"/>
            <a:ext cx="5588976" cy="685800"/>
          </a:xfrm>
          <a:prstGeom prst="rect">
            <a:avLst/>
          </a:prstGeom>
        </p:spPr>
        <p:txBody>
          <a:bodyPr spcFirstLastPara="1" wrap="square" lIns="91425" tIns="91425" rIns="91425" bIns="91425" anchor="ctr" anchorCtr="0">
            <a:noAutofit/>
          </a:bodyPr>
          <a:lstStyle/>
          <a:p>
            <a:pPr marL="0" indent="0"/>
            <a:r>
              <a:rPr lang="en-US" dirty="0"/>
              <a:t>The student demonstrates the ability to conduct research according to data science and AI industry standards and apply knowledge in a professional context.</a:t>
            </a:r>
            <a:endParaRPr lang="nl-NL" dirty="0"/>
          </a:p>
        </p:txBody>
      </p:sp>
      <p:sp>
        <p:nvSpPr>
          <p:cNvPr id="366" name="Google Shape;366;p39">
            <a:extLst>
              <a:ext uri="{FF2B5EF4-FFF2-40B4-BE49-F238E27FC236}">
                <a16:creationId xmlns:a16="http://schemas.microsoft.com/office/drawing/2014/main" id="{2F48EDC3-8EBE-DB53-F444-215868F67080}"/>
              </a:ext>
            </a:extLst>
          </p:cNvPr>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40000">
                <a:solidFill>
                  <a:srgbClr val="999999"/>
                </a:solidFill>
                <a:latin typeface="Roboto"/>
                <a:ea typeface="Roboto"/>
                <a:cs typeface="Roboto"/>
                <a:sym typeface="Roboto"/>
              </a:rPr>
              <a:t>1</a:t>
            </a:r>
            <a:endParaRPr sz="4000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36688219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2"/>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ILO 1</a:t>
            </a:r>
            <a:endParaRPr/>
          </a:p>
        </p:txBody>
      </p:sp>
      <p:sp>
        <p:nvSpPr>
          <p:cNvPr id="395" name="Google Shape;395;p42"/>
          <p:cNvSpPr txBox="1">
            <a:spLocks noGrp="1"/>
          </p:cNvSpPr>
          <p:nvPr>
            <p:ph type="body" idx="1"/>
          </p:nvPr>
        </p:nvSpPr>
        <p:spPr>
          <a:xfrm>
            <a:off x="182880" y="1069848"/>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dirty="0">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dirty="0">
              <a:solidFill>
                <a:schemeClr val="lt1"/>
              </a:solidFill>
            </a:endParaRPr>
          </a:p>
          <a:p>
            <a:pPr marL="0" lvl="0" indent="0" algn="l" rtl="0">
              <a:lnSpc>
                <a:spcPct val="115000"/>
              </a:lnSpc>
              <a:spcBef>
                <a:spcPts val="0"/>
              </a:spcBef>
              <a:spcAft>
                <a:spcPts val="0"/>
              </a:spcAft>
              <a:buNone/>
            </a:pPr>
            <a:endParaRPr sz="700" i="1" dirty="0">
              <a:solidFill>
                <a:schemeClr val="lt1"/>
              </a:solidFill>
              <a:latin typeface="Helvetica Neue"/>
              <a:ea typeface="Helvetica Neue"/>
              <a:cs typeface="Helvetica Neue"/>
              <a:sym typeface="Helvetica Neue"/>
            </a:endParaRPr>
          </a:p>
        </p:txBody>
      </p:sp>
      <p:sp>
        <p:nvSpPr>
          <p:cNvPr id="396" name="Google Shape;396;p42"/>
          <p:cNvSpPr txBox="1">
            <a:spLocks noGrp="1"/>
          </p:cNvSpPr>
          <p:nvPr>
            <p:ph type="title" idx="3"/>
          </p:nvPr>
        </p:nvSpPr>
        <p:spPr>
          <a:xfrm>
            <a:off x="2049462" y="82200"/>
            <a:ext cx="6663217"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Intended Learning Outcomes and Assessment Indicators for the purpose of obtaining a bachelor’s degree in Data </a:t>
            </a:r>
            <a:r>
              <a:rPr lang="en-US" dirty="0" err="1"/>
              <a:t>Scinece</a:t>
            </a:r>
            <a:r>
              <a:rPr lang="en-US" dirty="0"/>
              <a:t> and AI</a:t>
            </a:r>
            <a:endParaRPr lang="en-GB" dirty="0"/>
          </a:p>
        </p:txBody>
      </p:sp>
      <p:sp>
        <p:nvSpPr>
          <p:cNvPr id="397" name="Google Shape;397;p42"/>
          <p:cNvSpPr txBox="1">
            <a:spLocks noGrp="1"/>
          </p:cNvSpPr>
          <p:nvPr>
            <p:ph type="title" idx="4"/>
          </p:nvPr>
        </p:nvSpPr>
        <p:spPr>
          <a:xfrm>
            <a:off x="68250" y="576000"/>
            <a:ext cx="1981212"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800" dirty="0"/>
              <a:t>Relevance</a:t>
            </a:r>
            <a:endParaRPr sz="2800" dirty="0"/>
          </a:p>
        </p:txBody>
      </p:sp>
      <p:sp>
        <p:nvSpPr>
          <p:cNvPr id="398" name="Google Shape;398;p42"/>
          <p:cNvSpPr txBox="1">
            <a:spLocks noGrp="1"/>
          </p:cNvSpPr>
          <p:nvPr>
            <p:ph type="title" idx="5"/>
          </p:nvPr>
        </p:nvSpPr>
        <p:spPr>
          <a:xfrm>
            <a:off x="2488951" y="576000"/>
            <a:ext cx="5854775" cy="493800"/>
          </a:xfrm>
          <a:prstGeom prst="rect">
            <a:avLst/>
          </a:prstGeom>
        </p:spPr>
        <p:txBody>
          <a:bodyPr spcFirstLastPara="1" wrap="square" lIns="91425" tIns="91425" rIns="91425" bIns="91425" anchor="ctr" anchorCtr="0">
            <a:noAutofit/>
          </a:bodyPr>
          <a:lstStyle/>
          <a:p>
            <a:r>
              <a:rPr lang="en-GB" dirty="0"/>
              <a:t>Students is able to clearly identify, </a:t>
            </a:r>
            <a:r>
              <a:rPr lang="en-GB" dirty="0" err="1"/>
              <a:t>analyze</a:t>
            </a:r>
            <a:r>
              <a:rPr lang="en-GB" dirty="0"/>
              <a:t>, and articulate a problem or issue that is relevant to the commissioned product, demonstrating extensive critical evaluation and understanding of its implications.</a:t>
            </a:r>
            <a:endParaRPr lang="nl-NL" dirty="0"/>
          </a:p>
        </p:txBody>
      </p:sp>
      <p:sp>
        <p:nvSpPr>
          <p:cNvPr id="399" name="Google Shape;399;p42"/>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900" dirty="0"/>
              <a:t>Research</a:t>
            </a:r>
            <a:br>
              <a:rPr lang="en-US" sz="900" dirty="0"/>
            </a:br>
            <a:endParaRPr sz="900" dirty="0"/>
          </a:p>
        </p:txBody>
      </p:sp>
      <p:sp>
        <p:nvSpPr>
          <p:cNvPr id="7" name="TextBox 6">
            <a:extLst>
              <a:ext uri="{FF2B5EF4-FFF2-40B4-BE49-F238E27FC236}">
                <a16:creationId xmlns:a16="http://schemas.microsoft.com/office/drawing/2014/main" id="{2D93DE6F-3DFF-6961-EE62-4797770601EE}"/>
              </a:ext>
            </a:extLst>
          </p:cNvPr>
          <p:cNvSpPr txBox="1"/>
          <p:nvPr/>
        </p:nvSpPr>
        <p:spPr>
          <a:xfrm>
            <a:off x="8531799" y="134111"/>
            <a:ext cx="543951" cy="307777"/>
          </a:xfrm>
          <a:prstGeom prst="rect">
            <a:avLst/>
          </a:prstGeom>
          <a:noFill/>
        </p:spPr>
        <p:txBody>
          <a:bodyPr wrap="square">
            <a:spAutoFit/>
          </a:bodyPr>
          <a:lstStyle/>
          <a:p>
            <a:r>
              <a:rPr lang="en" dirty="0"/>
              <a:t>1/3</a:t>
            </a:r>
            <a:endParaRPr lang="en-GB"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92">
          <a:extLst>
            <a:ext uri="{FF2B5EF4-FFF2-40B4-BE49-F238E27FC236}">
              <a16:creationId xmlns:a16="http://schemas.microsoft.com/office/drawing/2014/main" id="{FCF9FA16-64DC-9CAA-12A3-66CD60944E2B}"/>
            </a:ext>
          </a:extLst>
        </p:cNvPr>
        <p:cNvGrpSpPr/>
        <p:nvPr/>
      </p:nvGrpSpPr>
      <p:grpSpPr>
        <a:xfrm>
          <a:off x="0" y="0"/>
          <a:ext cx="0" cy="0"/>
          <a:chOff x="0" y="0"/>
          <a:chExt cx="0" cy="0"/>
        </a:xfrm>
      </p:grpSpPr>
      <p:sp>
        <p:nvSpPr>
          <p:cNvPr id="393" name="Google Shape;393;p42">
            <a:extLst>
              <a:ext uri="{FF2B5EF4-FFF2-40B4-BE49-F238E27FC236}">
                <a16:creationId xmlns:a16="http://schemas.microsoft.com/office/drawing/2014/main" id="{4B76868B-265F-A07C-272A-12BCFF07CE68}"/>
              </a:ext>
            </a:extLst>
          </p:cNvPr>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ILO 1</a:t>
            </a:r>
            <a:endParaRPr/>
          </a:p>
        </p:txBody>
      </p:sp>
      <p:sp>
        <p:nvSpPr>
          <p:cNvPr id="395" name="Google Shape;395;p42">
            <a:extLst>
              <a:ext uri="{FF2B5EF4-FFF2-40B4-BE49-F238E27FC236}">
                <a16:creationId xmlns:a16="http://schemas.microsoft.com/office/drawing/2014/main" id="{754AA99B-49CD-4E0D-DB2F-8891160D951E}"/>
              </a:ext>
            </a:extLst>
          </p:cNvPr>
          <p:cNvSpPr txBox="1">
            <a:spLocks noGrp="1"/>
          </p:cNvSpPr>
          <p:nvPr>
            <p:ph type="body" idx="1"/>
          </p:nvPr>
        </p:nvSpPr>
        <p:spPr>
          <a:xfrm>
            <a:off x="182880" y="1069848"/>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dirty="0">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dirty="0">
              <a:solidFill>
                <a:schemeClr val="lt1"/>
              </a:solidFill>
            </a:endParaRPr>
          </a:p>
          <a:p>
            <a:pPr marL="0" lvl="0" indent="0" algn="l" rtl="0">
              <a:lnSpc>
                <a:spcPct val="115000"/>
              </a:lnSpc>
              <a:spcBef>
                <a:spcPts val="0"/>
              </a:spcBef>
              <a:spcAft>
                <a:spcPts val="0"/>
              </a:spcAft>
              <a:buNone/>
            </a:pPr>
            <a:endParaRPr sz="700" i="1" dirty="0">
              <a:solidFill>
                <a:schemeClr val="lt1"/>
              </a:solidFill>
              <a:latin typeface="Helvetica Neue"/>
              <a:ea typeface="Helvetica Neue"/>
              <a:cs typeface="Helvetica Neue"/>
              <a:sym typeface="Helvetica Neue"/>
            </a:endParaRPr>
          </a:p>
        </p:txBody>
      </p:sp>
      <p:sp>
        <p:nvSpPr>
          <p:cNvPr id="396" name="Google Shape;396;p42">
            <a:extLst>
              <a:ext uri="{FF2B5EF4-FFF2-40B4-BE49-F238E27FC236}">
                <a16:creationId xmlns:a16="http://schemas.microsoft.com/office/drawing/2014/main" id="{90365685-565A-A154-BB39-BB60757F018A}"/>
              </a:ext>
            </a:extLst>
          </p:cNvPr>
          <p:cNvSpPr txBox="1">
            <a:spLocks noGrp="1"/>
          </p:cNvSpPr>
          <p:nvPr>
            <p:ph type="title" idx="3"/>
          </p:nvPr>
        </p:nvSpPr>
        <p:spPr>
          <a:xfrm>
            <a:off x="2049461" y="0"/>
            <a:ext cx="6663217"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Intended Learning Outcomes and Assessment Indicators for the purpose of obtaining a bachelor’s degree in Data </a:t>
            </a:r>
            <a:r>
              <a:rPr lang="en-US" dirty="0" err="1"/>
              <a:t>Scinece</a:t>
            </a:r>
            <a:r>
              <a:rPr lang="en-US" dirty="0"/>
              <a:t> and AI</a:t>
            </a:r>
            <a:endParaRPr lang="en-GB" dirty="0"/>
          </a:p>
        </p:txBody>
      </p:sp>
      <p:sp>
        <p:nvSpPr>
          <p:cNvPr id="397" name="Google Shape;397;p42">
            <a:extLst>
              <a:ext uri="{FF2B5EF4-FFF2-40B4-BE49-F238E27FC236}">
                <a16:creationId xmlns:a16="http://schemas.microsoft.com/office/drawing/2014/main" id="{37A5E0AB-1078-F672-DBB3-847B17E31B2F}"/>
              </a:ext>
            </a:extLst>
          </p:cNvPr>
          <p:cNvSpPr txBox="1">
            <a:spLocks noGrp="1"/>
          </p:cNvSpPr>
          <p:nvPr>
            <p:ph type="title" idx="4"/>
          </p:nvPr>
        </p:nvSpPr>
        <p:spPr>
          <a:xfrm>
            <a:off x="68249" y="576000"/>
            <a:ext cx="2353795"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800" dirty="0"/>
              <a:t>Methodology</a:t>
            </a:r>
            <a:endParaRPr sz="2800" dirty="0"/>
          </a:p>
        </p:txBody>
      </p:sp>
      <p:sp>
        <p:nvSpPr>
          <p:cNvPr id="398" name="Google Shape;398;p42">
            <a:extLst>
              <a:ext uri="{FF2B5EF4-FFF2-40B4-BE49-F238E27FC236}">
                <a16:creationId xmlns:a16="http://schemas.microsoft.com/office/drawing/2014/main" id="{D691AE9C-7F94-3244-8631-ECC0D2A3DF4A}"/>
              </a:ext>
            </a:extLst>
          </p:cNvPr>
          <p:cNvSpPr txBox="1">
            <a:spLocks noGrp="1"/>
          </p:cNvSpPr>
          <p:nvPr>
            <p:ph type="title" idx="5"/>
          </p:nvPr>
        </p:nvSpPr>
        <p:spPr>
          <a:xfrm>
            <a:off x="2488951" y="576000"/>
            <a:ext cx="5854775" cy="493800"/>
          </a:xfrm>
          <a:prstGeom prst="rect">
            <a:avLst/>
          </a:prstGeom>
        </p:spPr>
        <p:txBody>
          <a:bodyPr spcFirstLastPara="1" wrap="square" lIns="91425" tIns="91425" rIns="91425" bIns="91425" anchor="ctr" anchorCtr="0">
            <a:noAutofit/>
          </a:bodyPr>
          <a:lstStyle/>
          <a:p>
            <a:r>
              <a:rPr lang="en-GB" dirty="0"/>
              <a:t>Students is able to select and apply appropriate methodologies that align with the scope and expected outcomes of their research, effectively gathering extensive data from a wide variety of relevant sources.</a:t>
            </a:r>
            <a:endParaRPr lang="nl-NL" dirty="0"/>
          </a:p>
        </p:txBody>
      </p:sp>
      <p:sp>
        <p:nvSpPr>
          <p:cNvPr id="399" name="Google Shape;399;p42">
            <a:extLst>
              <a:ext uri="{FF2B5EF4-FFF2-40B4-BE49-F238E27FC236}">
                <a16:creationId xmlns:a16="http://schemas.microsoft.com/office/drawing/2014/main" id="{E2C5F091-595D-FD87-F026-2788346F76D6}"/>
              </a:ext>
            </a:extLst>
          </p:cNvPr>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900" dirty="0"/>
              <a:t>Research</a:t>
            </a:r>
            <a:br>
              <a:rPr lang="en-US" sz="900" dirty="0"/>
            </a:br>
            <a:endParaRPr sz="900" dirty="0"/>
          </a:p>
        </p:txBody>
      </p:sp>
      <p:sp>
        <p:nvSpPr>
          <p:cNvPr id="2" name="TextBox 1">
            <a:extLst>
              <a:ext uri="{FF2B5EF4-FFF2-40B4-BE49-F238E27FC236}">
                <a16:creationId xmlns:a16="http://schemas.microsoft.com/office/drawing/2014/main" id="{27C4F6E0-E743-DF0C-D7EE-90433D3D4F13}"/>
              </a:ext>
            </a:extLst>
          </p:cNvPr>
          <p:cNvSpPr txBox="1"/>
          <p:nvPr/>
        </p:nvSpPr>
        <p:spPr>
          <a:xfrm>
            <a:off x="8531799" y="134111"/>
            <a:ext cx="543951" cy="307777"/>
          </a:xfrm>
          <a:prstGeom prst="rect">
            <a:avLst/>
          </a:prstGeom>
          <a:noFill/>
        </p:spPr>
        <p:txBody>
          <a:bodyPr wrap="square">
            <a:spAutoFit/>
          </a:bodyPr>
          <a:lstStyle/>
          <a:p>
            <a:r>
              <a:rPr lang="en" dirty="0"/>
              <a:t>2/3</a:t>
            </a:r>
            <a:endParaRPr lang="en-GB" dirty="0"/>
          </a:p>
        </p:txBody>
      </p:sp>
    </p:spTree>
    <p:extLst>
      <p:ext uri="{BB962C8B-B14F-4D97-AF65-F5344CB8AC3E}">
        <p14:creationId xmlns:p14="http://schemas.microsoft.com/office/powerpoint/2010/main" val="42914790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392">
          <a:extLst>
            <a:ext uri="{FF2B5EF4-FFF2-40B4-BE49-F238E27FC236}">
              <a16:creationId xmlns:a16="http://schemas.microsoft.com/office/drawing/2014/main" id="{B29A38E7-2F5C-AA10-8A47-70D257ACA440}"/>
            </a:ext>
          </a:extLst>
        </p:cNvPr>
        <p:cNvGrpSpPr/>
        <p:nvPr/>
      </p:nvGrpSpPr>
      <p:grpSpPr>
        <a:xfrm>
          <a:off x="0" y="0"/>
          <a:ext cx="0" cy="0"/>
          <a:chOff x="0" y="0"/>
          <a:chExt cx="0" cy="0"/>
        </a:xfrm>
      </p:grpSpPr>
      <p:sp>
        <p:nvSpPr>
          <p:cNvPr id="393" name="Google Shape;393;p42">
            <a:extLst>
              <a:ext uri="{FF2B5EF4-FFF2-40B4-BE49-F238E27FC236}">
                <a16:creationId xmlns:a16="http://schemas.microsoft.com/office/drawing/2014/main" id="{67AAD546-03DB-1CF1-B83B-4FD13E83D7E7}"/>
              </a:ext>
            </a:extLst>
          </p:cNvPr>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ILO 1</a:t>
            </a:r>
            <a:endParaRPr/>
          </a:p>
        </p:txBody>
      </p:sp>
      <p:sp>
        <p:nvSpPr>
          <p:cNvPr id="395" name="Google Shape;395;p42">
            <a:extLst>
              <a:ext uri="{FF2B5EF4-FFF2-40B4-BE49-F238E27FC236}">
                <a16:creationId xmlns:a16="http://schemas.microsoft.com/office/drawing/2014/main" id="{2B55FACA-86AD-5BB7-9A53-EB3D24BFEB70}"/>
              </a:ext>
            </a:extLst>
          </p:cNvPr>
          <p:cNvSpPr txBox="1">
            <a:spLocks noGrp="1"/>
          </p:cNvSpPr>
          <p:nvPr>
            <p:ph type="body" idx="1"/>
          </p:nvPr>
        </p:nvSpPr>
        <p:spPr>
          <a:xfrm>
            <a:off x="182880" y="1069848"/>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dirty="0">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dirty="0">
              <a:solidFill>
                <a:schemeClr val="lt1"/>
              </a:solidFill>
            </a:endParaRPr>
          </a:p>
          <a:p>
            <a:pPr marL="0" lvl="0" indent="0" algn="l" rtl="0">
              <a:lnSpc>
                <a:spcPct val="115000"/>
              </a:lnSpc>
              <a:spcBef>
                <a:spcPts val="0"/>
              </a:spcBef>
              <a:spcAft>
                <a:spcPts val="0"/>
              </a:spcAft>
              <a:buNone/>
            </a:pPr>
            <a:endParaRPr sz="700" i="1" dirty="0">
              <a:solidFill>
                <a:schemeClr val="lt1"/>
              </a:solidFill>
              <a:latin typeface="Helvetica Neue"/>
              <a:ea typeface="Helvetica Neue"/>
              <a:cs typeface="Helvetica Neue"/>
              <a:sym typeface="Helvetica Neue"/>
            </a:endParaRPr>
          </a:p>
        </p:txBody>
      </p:sp>
      <p:sp>
        <p:nvSpPr>
          <p:cNvPr id="396" name="Google Shape;396;p42">
            <a:extLst>
              <a:ext uri="{FF2B5EF4-FFF2-40B4-BE49-F238E27FC236}">
                <a16:creationId xmlns:a16="http://schemas.microsoft.com/office/drawing/2014/main" id="{62FED935-CDD3-C179-5D76-6A8CDF155D55}"/>
              </a:ext>
            </a:extLst>
          </p:cNvPr>
          <p:cNvSpPr txBox="1">
            <a:spLocks noGrp="1"/>
          </p:cNvSpPr>
          <p:nvPr>
            <p:ph type="title" idx="3"/>
          </p:nvPr>
        </p:nvSpPr>
        <p:spPr>
          <a:xfrm>
            <a:off x="2049461" y="0"/>
            <a:ext cx="6663217"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Intended Learning Outcomes and Assessment Indicators for the purpose of obtaining a bachelor’s degree in Data </a:t>
            </a:r>
            <a:r>
              <a:rPr lang="en-US" dirty="0" err="1"/>
              <a:t>Scinece</a:t>
            </a:r>
            <a:r>
              <a:rPr lang="en-US" dirty="0"/>
              <a:t> and AI</a:t>
            </a:r>
            <a:endParaRPr lang="en-GB" dirty="0"/>
          </a:p>
        </p:txBody>
      </p:sp>
      <p:sp>
        <p:nvSpPr>
          <p:cNvPr id="397" name="Google Shape;397;p42">
            <a:extLst>
              <a:ext uri="{FF2B5EF4-FFF2-40B4-BE49-F238E27FC236}">
                <a16:creationId xmlns:a16="http://schemas.microsoft.com/office/drawing/2014/main" id="{B8E4F657-7EE3-CBBF-BE9A-581C8907A4AB}"/>
              </a:ext>
            </a:extLst>
          </p:cNvPr>
          <p:cNvSpPr txBox="1">
            <a:spLocks noGrp="1"/>
          </p:cNvSpPr>
          <p:nvPr>
            <p:ph type="title" idx="4"/>
          </p:nvPr>
        </p:nvSpPr>
        <p:spPr>
          <a:xfrm>
            <a:off x="68250" y="576000"/>
            <a:ext cx="1981212"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800" dirty="0"/>
              <a:t>Application</a:t>
            </a:r>
            <a:endParaRPr sz="2800" dirty="0"/>
          </a:p>
        </p:txBody>
      </p:sp>
      <p:sp>
        <p:nvSpPr>
          <p:cNvPr id="398" name="Google Shape;398;p42">
            <a:extLst>
              <a:ext uri="{FF2B5EF4-FFF2-40B4-BE49-F238E27FC236}">
                <a16:creationId xmlns:a16="http://schemas.microsoft.com/office/drawing/2014/main" id="{373DD8F2-EDDE-ACE7-8A72-12A315342119}"/>
              </a:ext>
            </a:extLst>
          </p:cNvPr>
          <p:cNvSpPr txBox="1">
            <a:spLocks noGrp="1"/>
          </p:cNvSpPr>
          <p:nvPr>
            <p:ph type="title" idx="5"/>
          </p:nvPr>
        </p:nvSpPr>
        <p:spPr>
          <a:xfrm>
            <a:off x="2488951" y="576000"/>
            <a:ext cx="5854775" cy="493800"/>
          </a:xfrm>
          <a:prstGeom prst="rect">
            <a:avLst/>
          </a:prstGeom>
        </p:spPr>
        <p:txBody>
          <a:bodyPr spcFirstLastPara="1" wrap="square" lIns="91425" tIns="91425" rIns="91425" bIns="91425" anchor="ctr" anchorCtr="0">
            <a:noAutofit/>
          </a:bodyPr>
          <a:lstStyle/>
          <a:p>
            <a:r>
              <a:rPr lang="en-GB" dirty="0"/>
              <a:t>Students is able to able to apply relevant data, appropriate models, and the knowledge and skills from the Data Science and AI curriculum to inform and support key decisions and evaluations related to a primary product or project.</a:t>
            </a:r>
            <a:endParaRPr lang="nl-NL" dirty="0"/>
          </a:p>
        </p:txBody>
      </p:sp>
      <p:sp>
        <p:nvSpPr>
          <p:cNvPr id="399" name="Google Shape;399;p42">
            <a:extLst>
              <a:ext uri="{FF2B5EF4-FFF2-40B4-BE49-F238E27FC236}">
                <a16:creationId xmlns:a16="http://schemas.microsoft.com/office/drawing/2014/main" id="{C031EB76-B59E-4FC6-2369-F18BD5AFA545}"/>
              </a:ext>
            </a:extLst>
          </p:cNvPr>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900" dirty="0"/>
              <a:t>Research</a:t>
            </a:r>
            <a:br>
              <a:rPr lang="en-US" sz="900" dirty="0"/>
            </a:br>
            <a:endParaRPr sz="900" dirty="0"/>
          </a:p>
        </p:txBody>
      </p:sp>
      <p:sp>
        <p:nvSpPr>
          <p:cNvPr id="2" name="TextBox 1">
            <a:extLst>
              <a:ext uri="{FF2B5EF4-FFF2-40B4-BE49-F238E27FC236}">
                <a16:creationId xmlns:a16="http://schemas.microsoft.com/office/drawing/2014/main" id="{E063DA8C-82ED-A7FF-314E-06625FF7A6C3}"/>
              </a:ext>
            </a:extLst>
          </p:cNvPr>
          <p:cNvSpPr txBox="1"/>
          <p:nvPr/>
        </p:nvSpPr>
        <p:spPr>
          <a:xfrm>
            <a:off x="8531799" y="134111"/>
            <a:ext cx="543951" cy="307777"/>
          </a:xfrm>
          <a:prstGeom prst="rect">
            <a:avLst/>
          </a:prstGeom>
          <a:noFill/>
        </p:spPr>
        <p:txBody>
          <a:bodyPr wrap="square">
            <a:spAutoFit/>
          </a:bodyPr>
          <a:lstStyle/>
          <a:p>
            <a:r>
              <a:rPr lang="en" dirty="0"/>
              <a:t>3/3</a:t>
            </a:r>
            <a:endParaRPr lang="en-GB" dirty="0"/>
          </a:p>
        </p:txBody>
      </p:sp>
    </p:spTree>
    <p:extLst>
      <p:ext uri="{BB962C8B-B14F-4D97-AF65-F5344CB8AC3E}">
        <p14:creationId xmlns:p14="http://schemas.microsoft.com/office/powerpoint/2010/main" val="174387724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ILO </a:t>
            </a:r>
            <a:r>
              <a:rPr lang="en-NL" dirty="0"/>
              <a:t>2</a:t>
            </a:r>
            <a:endParaRPr dirty="0"/>
          </a:p>
        </p:txBody>
      </p:sp>
      <p:sp>
        <p:nvSpPr>
          <p:cNvPr id="364" name="Google Shape;364;p3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nl-NL" dirty="0"/>
              <a:t>Product</a:t>
            </a:r>
            <a:endParaRPr dirty="0"/>
          </a:p>
        </p:txBody>
      </p:sp>
      <p:sp>
        <p:nvSpPr>
          <p:cNvPr id="365" name="Google Shape;365;p39"/>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p>
            <a:pPr marL="0" indent="0"/>
            <a:r>
              <a:rPr lang="en-US" dirty="0"/>
              <a:t>The student demonstrates the ability to create and deliver a professional product that meets the standards of the Data Science and AI industry.</a:t>
            </a:r>
          </a:p>
        </p:txBody>
      </p:sp>
      <p:sp>
        <p:nvSpPr>
          <p:cNvPr id="366" name="Google Shape;366;p3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NL" sz="40000" dirty="0">
                <a:solidFill>
                  <a:srgbClr val="999999"/>
                </a:solidFill>
                <a:latin typeface="Roboto"/>
                <a:ea typeface="Roboto"/>
                <a:cs typeface="Roboto"/>
                <a:sym typeface="Roboto"/>
              </a:rPr>
              <a:t>2</a:t>
            </a:r>
            <a:endParaRPr sz="40000" dirty="0">
              <a:solidFill>
                <a:srgbClr val="999999"/>
              </a:solidFill>
              <a:latin typeface="Roboto"/>
              <a:ea typeface="Roboto"/>
              <a:cs typeface="Roboto"/>
              <a:sym typeface="Roboto"/>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48"/>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ILO 2</a:t>
            </a:r>
            <a:endParaRPr/>
          </a:p>
        </p:txBody>
      </p:sp>
      <p:sp>
        <p:nvSpPr>
          <p:cNvPr id="457" name="Google Shape;457;p48"/>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1/2</a:t>
            </a:r>
            <a:endParaRPr dirty="0"/>
          </a:p>
        </p:txBody>
      </p:sp>
      <p:sp>
        <p:nvSpPr>
          <p:cNvPr id="458" name="Google Shape;458;p48"/>
          <p:cNvSpPr txBox="1">
            <a:spLocks noGrp="1"/>
          </p:cNvSpPr>
          <p:nvPr>
            <p:ph type="body" idx="1"/>
          </p:nvPr>
        </p:nvSpPr>
        <p:spPr>
          <a:xfrm>
            <a:off x="182880" y="1069848"/>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700" i="1" dirty="0">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dirty="0"/>
          </a:p>
        </p:txBody>
      </p:sp>
      <p:sp>
        <p:nvSpPr>
          <p:cNvPr id="459" name="Google Shape;459;p48"/>
          <p:cNvSpPr txBox="1">
            <a:spLocks noGrp="1"/>
          </p:cNvSpPr>
          <p:nvPr>
            <p:ph type="title" idx="3"/>
          </p:nvPr>
        </p:nvSpPr>
        <p:spPr>
          <a:xfrm>
            <a:off x="2049461" y="0"/>
            <a:ext cx="5576290" cy="576000"/>
          </a:xfrm>
          <a:prstGeom prst="rect">
            <a:avLst/>
          </a:prstGeom>
        </p:spPr>
        <p:txBody>
          <a:bodyPr spcFirstLastPara="1" wrap="square" lIns="91425" tIns="91425" rIns="91425" bIns="91425" anchor="ctr" anchorCtr="0">
            <a:noAutofit/>
          </a:bodyPr>
          <a:lstStyle/>
          <a:p>
            <a:r>
              <a:rPr lang="en-US" dirty="0"/>
              <a:t>The student demonstrates the ability to create and deliver a professional product that meets the standards of the Data Science and AI industry.</a:t>
            </a:r>
            <a:endParaRPr lang="en-GB" dirty="0"/>
          </a:p>
        </p:txBody>
      </p:sp>
      <p:sp>
        <p:nvSpPr>
          <p:cNvPr id="460" name="Google Shape;460;p48"/>
          <p:cNvSpPr txBox="1">
            <a:spLocks noGrp="1"/>
          </p:cNvSpPr>
          <p:nvPr>
            <p:ph type="title" idx="4"/>
          </p:nvPr>
        </p:nvSpPr>
        <p:spPr>
          <a:xfrm>
            <a:off x="68249" y="576000"/>
            <a:ext cx="2063864"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400" dirty="0"/>
              <a:t>Usefulness</a:t>
            </a:r>
            <a:endParaRPr sz="2400" dirty="0"/>
          </a:p>
        </p:txBody>
      </p:sp>
      <p:sp>
        <p:nvSpPr>
          <p:cNvPr id="461" name="Google Shape;461;p48"/>
          <p:cNvSpPr txBox="1">
            <a:spLocks noGrp="1"/>
          </p:cNvSpPr>
          <p:nvPr>
            <p:ph type="title" idx="5"/>
          </p:nvPr>
        </p:nvSpPr>
        <p:spPr>
          <a:xfrm>
            <a:off x="2132113" y="576000"/>
            <a:ext cx="6261550" cy="493800"/>
          </a:xfrm>
          <a:prstGeom prst="rect">
            <a:avLst/>
          </a:prstGeom>
        </p:spPr>
        <p:txBody>
          <a:bodyPr spcFirstLastPara="1" wrap="square" lIns="91425" tIns="91425" rIns="91425" bIns="91425" anchor="ctr" anchorCtr="0">
            <a:noAutofit/>
          </a:bodyPr>
          <a:lstStyle/>
          <a:p>
            <a:r>
              <a:rPr lang="en-GB" dirty="0"/>
              <a:t>Students is able to develop a product that appropriately and clearly achieves the identified goal, supported by thorough testing and evaluation with stakeholders</a:t>
            </a:r>
          </a:p>
        </p:txBody>
      </p:sp>
      <p:sp>
        <p:nvSpPr>
          <p:cNvPr id="462" name="Google Shape;462;p48"/>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1100" dirty="0"/>
              <a:t>Product</a:t>
            </a:r>
            <a:endParaRPr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55">
          <a:extLst>
            <a:ext uri="{FF2B5EF4-FFF2-40B4-BE49-F238E27FC236}">
              <a16:creationId xmlns:a16="http://schemas.microsoft.com/office/drawing/2014/main" id="{C6AB58CA-63ED-227A-387A-45495EA81792}"/>
            </a:ext>
          </a:extLst>
        </p:cNvPr>
        <p:cNvGrpSpPr/>
        <p:nvPr/>
      </p:nvGrpSpPr>
      <p:grpSpPr>
        <a:xfrm>
          <a:off x="0" y="0"/>
          <a:ext cx="0" cy="0"/>
          <a:chOff x="0" y="0"/>
          <a:chExt cx="0" cy="0"/>
        </a:xfrm>
      </p:grpSpPr>
      <p:sp>
        <p:nvSpPr>
          <p:cNvPr id="456" name="Google Shape;456;p48">
            <a:extLst>
              <a:ext uri="{FF2B5EF4-FFF2-40B4-BE49-F238E27FC236}">
                <a16:creationId xmlns:a16="http://schemas.microsoft.com/office/drawing/2014/main" id="{387F404A-6975-6198-85FC-E91555A6CAB0}"/>
              </a:ext>
            </a:extLst>
          </p:cNvPr>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ILO 2</a:t>
            </a:r>
            <a:endParaRPr/>
          </a:p>
        </p:txBody>
      </p:sp>
      <p:sp>
        <p:nvSpPr>
          <p:cNvPr id="457" name="Google Shape;457;p48">
            <a:extLst>
              <a:ext uri="{FF2B5EF4-FFF2-40B4-BE49-F238E27FC236}">
                <a16:creationId xmlns:a16="http://schemas.microsoft.com/office/drawing/2014/main" id="{ABE32A8C-EF47-3B69-31D1-9E7CAB2D3B06}"/>
              </a:ext>
            </a:extLst>
          </p:cNvPr>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2/2</a:t>
            </a:r>
            <a:endParaRPr dirty="0"/>
          </a:p>
        </p:txBody>
      </p:sp>
      <p:sp>
        <p:nvSpPr>
          <p:cNvPr id="458" name="Google Shape;458;p48">
            <a:extLst>
              <a:ext uri="{FF2B5EF4-FFF2-40B4-BE49-F238E27FC236}">
                <a16:creationId xmlns:a16="http://schemas.microsoft.com/office/drawing/2014/main" id="{244472F4-7C5A-E9B6-EF34-C8DB4CCE0035}"/>
              </a:ext>
            </a:extLst>
          </p:cNvPr>
          <p:cNvSpPr txBox="1">
            <a:spLocks noGrp="1"/>
          </p:cNvSpPr>
          <p:nvPr>
            <p:ph type="body" idx="1"/>
          </p:nvPr>
        </p:nvSpPr>
        <p:spPr>
          <a:xfrm>
            <a:off x="182880" y="1069848"/>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700" i="1" dirty="0">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dirty="0"/>
          </a:p>
        </p:txBody>
      </p:sp>
      <p:sp>
        <p:nvSpPr>
          <p:cNvPr id="459" name="Google Shape;459;p48">
            <a:extLst>
              <a:ext uri="{FF2B5EF4-FFF2-40B4-BE49-F238E27FC236}">
                <a16:creationId xmlns:a16="http://schemas.microsoft.com/office/drawing/2014/main" id="{88D6A412-48D3-9FC0-1E65-63222226BEFD}"/>
              </a:ext>
            </a:extLst>
          </p:cNvPr>
          <p:cNvSpPr txBox="1">
            <a:spLocks noGrp="1"/>
          </p:cNvSpPr>
          <p:nvPr>
            <p:ph type="title" idx="3"/>
          </p:nvPr>
        </p:nvSpPr>
        <p:spPr>
          <a:xfrm>
            <a:off x="2049461" y="0"/>
            <a:ext cx="5576290" cy="576000"/>
          </a:xfrm>
          <a:prstGeom prst="rect">
            <a:avLst/>
          </a:prstGeom>
        </p:spPr>
        <p:txBody>
          <a:bodyPr spcFirstLastPara="1" wrap="square" lIns="91425" tIns="91425" rIns="91425" bIns="91425" anchor="ctr" anchorCtr="0">
            <a:noAutofit/>
          </a:bodyPr>
          <a:lstStyle/>
          <a:p>
            <a:r>
              <a:rPr lang="en-US" dirty="0"/>
              <a:t>The student demonstrates the ability to create and deliver a professional product that meets the standards of the Data Science and AI industry.</a:t>
            </a:r>
            <a:endParaRPr lang="en-GB" dirty="0"/>
          </a:p>
        </p:txBody>
      </p:sp>
      <p:sp>
        <p:nvSpPr>
          <p:cNvPr id="460" name="Google Shape;460;p48">
            <a:extLst>
              <a:ext uri="{FF2B5EF4-FFF2-40B4-BE49-F238E27FC236}">
                <a16:creationId xmlns:a16="http://schemas.microsoft.com/office/drawing/2014/main" id="{0485BE02-178C-5FA8-0FCB-2A699F44536F}"/>
              </a:ext>
            </a:extLst>
          </p:cNvPr>
          <p:cNvSpPr txBox="1">
            <a:spLocks noGrp="1"/>
          </p:cNvSpPr>
          <p:nvPr>
            <p:ph type="title" idx="4"/>
          </p:nvPr>
        </p:nvSpPr>
        <p:spPr>
          <a:xfrm>
            <a:off x="68249" y="576000"/>
            <a:ext cx="2063864"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400" dirty="0"/>
              <a:t>Quality</a:t>
            </a:r>
            <a:endParaRPr sz="2400" dirty="0"/>
          </a:p>
        </p:txBody>
      </p:sp>
      <p:sp>
        <p:nvSpPr>
          <p:cNvPr id="461" name="Google Shape;461;p48">
            <a:extLst>
              <a:ext uri="{FF2B5EF4-FFF2-40B4-BE49-F238E27FC236}">
                <a16:creationId xmlns:a16="http://schemas.microsoft.com/office/drawing/2014/main" id="{7BC43B53-29F8-A116-93D4-2B20C1FC7E71}"/>
              </a:ext>
            </a:extLst>
          </p:cNvPr>
          <p:cNvSpPr txBox="1">
            <a:spLocks noGrp="1"/>
          </p:cNvSpPr>
          <p:nvPr>
            <p:ph type="title" idx="5"/>
          </p:nvPr>
        </p:nvSpPr>
        <p:spPr>
          <a:xfrm>
            <a:off x="2132113" y="576000"/>
            <a:ext cx="6261550" cy="493800"/>
          </a:xfrm>
          <a:prstGeom prst="rect">
            <a:avLst/>
          </a:prstGeom>
        </p:spPr>
        <p:txBody>
          <a:bodyPr spcFirstLastPara="1" wrap="square" lIns="91425" tIns="91425" rIns="91425" bIns="91425" anchor="ctr" anchorCtr="0">
            <a:noAutofit/>
          </a:bodyPr>
          <a:lstStyle/>
          <a:p>
            <a:r>
              <a:rPr lang="en-GB" dirty="0"/>
              <a:t>Students is able to develop a professional-quality product that meets industry standards and is ready for use in its intended purpose</a:t>
            </a:r>
          </a:p>
        </p:txBody>
      </p:sp>
      <p:sp>
        <p:nvSpPr>
          <p:cNvPr id="462" name="Google Shape;462;p48">
            <a:extLst>
              <a:ext uri="{FF2B5EF4-FFF2-40B4-BE49-F238E27FC236}">
                <a16:creationId xmlns:a16="http://schemas.microsoft.com/office/drawing/2014/main" id="{6E650C45-4FBD-13A6-35A7-63BC9D545147}"/>
              </a:ext>
            </a:extLst>
          </p:cNvPr>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1100" dirty="0"/>
              <a:t>Product</a:t>
            </a:r>
            <a:endParaRPr sz="1100" dirty="0"/>
          </a:p>
        </p:txBody>
      </p:sp>
    </p:spTree>
    <p:extLst>
      <p:ext uri="{BB962C8B-B14F-4D97-AF65-F5344CB8AC3E}">
        <p14:creationId xmlns:p14="http://schemas.microsoft.com/office/powerpoint/2010/main" val="227939084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4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ILO 3</a:t>
            </a:r>
            <a:endParaRPr dirty="0"/>
          </a:p>
        </p:txBody>
      </p:sp>
      <p:sp>
        <p:nvSpPr>
          <p:cNvPr id="468" name="Google Shape;468;p4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indent="0"/>
            <a:r>
              <a:rPr lang="en-US" dirty="0"/>
              <a:t>Project Management</a:t>
            </a:r>
            <a:endParaRPr dirty="0"/>
          </a:p>
        </p:txBody>
      </p:sp>
      <p:sp>
        <p:nvSpPr>
          <p:cNvPr id="469" name="Google Shape;469;p49"/>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p>
            <a:pPr marL="0" indent="0"/>
            <a:r>
              <a:rPr lang="en-US" dirty="0"/>
              <a:t>The student demonstrates the ability to manage the process that leads to the completion of the product in a professional manner and according to industry standards.</a:t>
            </a:r>
            <a:endParaRPr lang="nl-NL" dirty="0"/>
          </a:p>
        </p:txBody>
      </p:sp>
      <p:sp>
        <p:nvSpPr>
          <p:cNvPr id="470" name="Google Shape;470;p49"/>
          <p:cNvSpPr txBox="1"/>
          <p:nvPr/>
        </p:nvSpPr>
        <p:spPr>
          <a:xfrm>
            <a:off x="-420624" y="749808"/>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40000">
                <a:solidFill>
                  <a:srgbClr val="999999"/>
                </a:solidFill>
                <a:latin typeface="Roboto"/>
                <a:ea typeface="Roboto"/>
                <a:cs typeface="Roboto"/>
                <a:sym typeface="Roboto"/>
              </a:rPr>
              <a:t>3</a:t>
            </a:r>
            <a:endParaRPr sz="40000">
              <a:solidFill>
                <a:srgbClr val="999999"/>
              </a:solidFill>
              <a:latin typeface="Roboto"/>
              <a:ea typeface="Roboto"/>
              <a:cs typeface="Roboto"/>
              <a:sym typeface="Roboto"/>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5" name="Google Shape;475;p50"/>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ILO 3</a:t>
            </a:r>
            <a:endParaRPr dirty="0"/>
          </a:p>
        </p:txBody>
      </p:sp>
      <p:sp>
        <p:nvSpPr>
          <p:cNvPr id="476" name="Google Shape;476;p50"/>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1/3</a:t>
            </a:r>
            <a:endParaRPr dirty="0"/>
          </a:p>
        </p:txBody>
      </p:sp>
      <p:sp>
        <p:nvSpPr>
          <p:cNvPr id="477" name="Google Shape;477;p50"/>
          <p:cNvSpPr txBox="1">
            <a:spLocks noGrp="1"/>
          </p:cNvSpPr>
          <p:nvPr>
            <p:ph type="body" idx="1"/>
          </p:nvPr>
        </p:nvSpPr>
        <p:spPr>
          <a:xfrm>
            <a:off x="182880" y="1069848"/>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dirty="0">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dirty="0">
              <a:solidFill>
                <a:schemeClr val="lt1"/>
              </a:solidFill>
            </a:endParaRPr>
          </a:p>
          <a:p>
            <a:pPr marL="0" lvl="0" indent="0" algn="l" rtl="0">
              <a:lnSpc>
                <a:spcPct val="115000"/>
              </a:lnSpc>
              <a:spcBef>
                <a:spcPts val="0"/>
              </a:spcBef>
              <a:spcAft>
                <a:spcPts val="0"/>
              </a:spcAft>
              <a:buNone/>
            </a:pPr>
            <a:endParaRPr sz="700" i="1" dirty="0">
              <a:solidFill>
                <a:schemeClr val="lt1"/>
              </a:solidFill>
              <a:latin typeface="Helvetica Neue"/>
              <a:ea typeface="Helvetica Neue"/>
              <a:cs typeface="Helvetica Neue"/>
              <a:sym typeface="Helvetica Neue"/>
            </a:endParaRPr>
          </a:p>
        </p:txBody>
      </p:sp>
      <p:sp>
        <p:nvSpPr>
          <p:cNvPr id="479" name="Google Shape;479;p50"/>
          <p:cNvSpPr txBox="1">
            <a:spLocks noGrp="1"/>
          </p:cNvSpPr>
          <p:nvPr>
            <p:ph type="title" idx="4"/>
          </p:nvPr>
        </p:nvSpPr>
        <p:spPr>
          <a:xfrm>
            <a:off x="68249" y="576000"/>
            <a:ext cx="1885445"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400" dirty="0">
                <a:solidFill>
                  <a:srgbClr val="FFFFFF"/>
                </a:solidFill>
              </a:rPr>
              <a:t>Process</a:t>
            </a:r>
            <a:endParaRPr sz="2400" dirty="0">
              <a:solidFill>
                <a:srgbClr val="FFFFFF"/>
              </a:solidFill>
            </a:endParaRPr>
          </a:p>
        </p:txBody>
      </p:sp>
      <p:sp>
        <p:nvSpPr>
          <p:cNvPr id="480" name="Google Shape;480;p50"/>
          <p:cNvSpPr txBox="1">
            <a:spLocks noGrp="1"/>
          </p:cNvSpPr>
          <p:nvPr>
            <p:ph type="title" idx="5"/>
          </p:nvPr>
        </p:nvSpPr>
        <p:spPr>
          <a:xfrm>
            <a:off x="1784194" y="576000"/>
            <a:ext cx="7118940" cy="493800"/>
          </a:xfrm>
          <a:prstGeom prst="rect">
            <a:avLst/>
          </a:prstGeom>
        </p:spPr>
        <p:txBody>
          <a:bodyPr spcFirstLastPara="1" wrap="square" lIns="91425" tIns="91425" rIns="91425" bIns="91425" anchor="ctr" anchorCtr="0">
            <a:noAutofit/>
          </a:bodyPr>
          <a:lstStyle/>
          <a:p>
            <a:r>
              <a:rPr lang="en-GB" dirty="0"/>
              <a:t>Students is able to implement all appropriate phases of product development excellently, adhering to professional standards throughout the process.</a:t>
            </a:r>
          </a:p>
        </p:txBody>
      </p:sp>
      <p:sp>
        <p:nvSpPr>
          <p:cNvPr id="8" name="Google Shape;459;p48">
            <a:extLst>
              <a:ext uri="{FF2B5EF4-FFF2-40B4-BE49-F238E27FC236}">
                <a16:creationId xmlns:a16="http://schemas.microsoft.com/office/drawing/2014/main" id="{DE8B85CC-86BE-FFBA-5E25-9E5D1318CD48}"/>
              </a:ext>
            </a:extLst>
          </p:cNvPr>
          <p:cNvSpPr txBox="1">
            <a:spLocks noGrp="1"/>
          </p:cNvSpPr>
          <p:nvPr>
            <p:ph type="title" idx="3"/>
          </p:nvPr>
        </p:nvSpPr>
        <p:spPr>
          <a:xfrm>
            <a:off x="2049461" y="0"/>
            <a:ext cx="5051635" cy="576000"/>
          </a:xfrm>
          <a:prstGeom prst="rect">
            <a:avLst/>
          </a:prstGeom>
        </p:spPr>
        <p:txBody>
          <a:bodyPr spcFirstLastPara="1" wrap="square" lIns="91425" tIns="91425" rIns="91425" bIns="91425" anchor="ctr" anchorCtr="0">
            <a:noAutofit/>
          </a:bodyPr>
          <a:lstStyle/>
          <a:p>
            <a:pPr marL="0" indent="0"/>
            <a:r>
              <a:rPr lang="en-US" dirty="0"/>
              <a:t>The student demonstrates the ability to manage the process that leads to the completion of the product in a professional manner and according to industry standards.</a:t>
            </a:r>
            <a:endParaRPr lang="nl-NL" dirty="0"/>
          </a:p>
        </p:txBody>
      </p:sp>
      <p:sp>
        <p:nvSpPr>
          <p:cNvPr id="4" name="Google Shape;462;p48">
            <a:extLst>
              <a:ext uri="{FF2B5EF4-FFF2-40B4-BE49-F238E27FC236}">
                <a16:creationId xmlns:a16="http://schemas.microsoft.com/office/drawing/2014/main" id="{4B1AFA75-0BFC-2AF2-8AED-33D45D7F8644}"/>
              </a:ext>
            </a:extLst>
          </p:cNvPr>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indent="0"/>
            <a:r>
              <a:rPr lang="en-US" sz="1400" dirty="0"/>
              <a:t>Project Management</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474">
          <a:extLst>
            <a:ext uri="{FF2B5EF4-FFF2-40B4-BE49-F238E27FC236}">
              <a16:creationId xmlns:a16="http://schemas.microsoft.com/office/drawing/2014/main" id="{17D9BCB1-0555-2AC7-7BC1-F3F5B5E9A4B1}"/>
            </a:ext>
          </a:extLst>
        </p:cNvPr>
        <p:cNvGrpSpPr/>
        <p:nvPr/>
      </p:nvGrpSpPr>
      <p:grpSpPr>
        <a:xfrm>
          <a:off x="0" y="0"/>
          <a:ext cx="0" cy="0"/>
          <a:chOff x="0" y="0"/>
          <a:chExt cx="0" cy="0"/>
        </a:xfrm>
      </p:grpSpPr>
      <p:sp>
        <p:nvSpPr>
          <p:cNvPr id="475" name="Google Shape;475;p50">
            <a:extLst>
              <a:ext uri="{FF2B5EF4-FFF2-40B4-BE49-F238E27FC236}">
                <a16:creationId xmlns:a16="http://schemas.microsoft.com/office/drawing/2014/main" id="{7B712E37-5400-B9BC-9549-D7BA4A248F70}"/>
              </a:ext>
            </a:extLst>
          </p:cNvPr>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ILO 3</a:t>
            </a:r>
            <a:endParaRPr dirty="0"/>
          </a:p>
        </p:txBody>
      </p:sp>
      <p:sp>
        <p:nvSpPr>
          <p:cNvPr id="476" name="Google Shape;476;p50">
            <a:extLst>
              <a:ext uri="{FF2B5EF4-FFF2-40B4-BE49-F238E27FC236}">
                <a16:creationId xmlns:a16="http://schemas.microsoft.com/office/drawing/2014/main" id="{EE3DAEA9-929D-CE57-6E07-ADD4E57E2730}"/>
              </a:ext>
            </a:extLst>
          </p:cNvPr>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2/3</a:t>
            </a:r>
            <a:endParaRPr dirty="0"/>
          </a:p>
        </p:txBody>
      </p:sp>
      <p:sp>
        <p:nvSpPr>
          <p:cNvPr id="477" name="Google Shape;477;p50">
            <a:extLst>
              <a:ext uri="{FF2B5EF4-FFF2-40B4-BE49-F238E27FC236}">
                <a16:creationId xmlns:a16="http://schemas.microsoft.com/office/drawing/2014/main" id="{36C05713-6FC2-CBB7-83CE-69E63C9843F5}"/>
              </a:ext>
            </a:extLst>
          </p:cNvPr>
          <p:cNvSpPr txBox="1">
            <a:spLocks noGrp="1"/>
          </p:cNvSpPr>
          <p:nvPr>
            <p:ph type="body" idx="1"/>
          </p:nvPr>
        </p:nvSpPr>
        <p:spPr>
          <a:xfrm>
            <a:off x="182880" y="1069848"/>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dirty="0">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dirty="0">
              <a:solidFill>
                <a:schemeClr val="lt1"/>
              </a:solidFill>
            </a:endParaRPr>
          </a:p>
          <a:p>
            <a:pPr marL="0" lvl="0" indent="0" algn="l" rtl="0">
              <a:lnSpc>
                <a:spcPct val="115000"/>
              </a:lnSpc>
              <a:spcBef>
                <a:spcPts val="0"/>
              </a:spcBef>
              <a:spcAft>
                <a:spcPts val="0"/>
              </a:spcAft>
              <a:buNone/>
            </a:pPr>
            <a:endParaRPr sz="700" i="1" dirty="0">
              <a:solidFill>
                <a:schemeClr val="lt1"/>
              </a:solidFill>
              <a:latin typeface="Helvetica Neue"/>
              <a:ea typeface="Helvetica Neue"/>
              <a:cs typeface="Helvetica Neue"/>
              <a:sym typeface="Helvetica Neue"/>
            </a:endParaRPr>
          </a:p>
        </p:txBody>
      </p:sp>
      <p:sp>
        <p:nvSpPr>
          <p:cNvPr id="479" name="Google Shape;479;p50">
            <a:extLst>
              <a:ext uri="{FF2B5EF4-FFF2-40B4-BE49-F238E27FC236}">
                <a16:creationId xmlns:a16="http://schemas.microsoft.com/office/drawing/2014/main" id="{830F7524-DBA7-0A98-33B1-25DCDB22A871}"/>
              </a:ext>
            </a:extLst>
          </p:cNvPr>
          <p:cNvSpPr txBox="1">
            <a:spLocks noGrp="1"/>
          </p:cNvSpPr>
          <p:nvPr>
            <p:ph type="title" idx="4"/>
          </p:nvPr>
        </p:nvSpPr>
        <p:spPr>
          <a:xfrm>
            <a:off x="68249" y="576000"/>
            <a:ext cx="230027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800" dirty="0">
                <a:solidFill>
                  <a:srgbClr val="FFFFFF"/>
                </a:solidFill>
              </a:rPr>
              <a:t>Risk Management</a:t>
            </a:r>
            <a:endParaRPr sz="1800" dirty="0">
              <a:solidFill>
                <a:srgbClr val="FFFFFF"/>
              </a:solidFill>
            </a:endParaRPr>
          </a:p>
        </p:txBody>
      </p:sp>
      <p:sp>
        <p:nvSpPr>
          <p:cNvPr id="480" name="Google Shape;480;p50">
            <a:extLst>
              <a:ext uri="{FF2B5EF4-FFF2-40B4-BE49-F238E27FC236}">
                <a16:creationId xmlns:a16="http://schemas.microsoft.com/office/drawing/2014/main" id="{D3C916F0-FB6A-F672-EE61-F7DEFEC7B901}"/>
              </a:ext>
            </a:extLst>
          </p:cNvPr>
          <p:cNvSpPr txBox="1">
            <a:spLocks noGrp="1"/>
          </p:cNvSpPr>
          <p:nvPr>
            <p:ph type="title" idx="5"/>
          </p:nvPr>
        </p:nvSpPr>
        <p:spPr>
          <a:xfrm>
            <a:off x="2368520" y="576000"/>
            <a:ext cx="6396340" cy="493800"/>
          </a:xfrm>
          <a:prstGeom prst="rect">
            <a:avLst/>
          </a:prstGeom>
        </p:spPr>
        <p:txBody>
          <a:bodyPr spcFirstLastPara="1" wrap="square" lIns="91425" tIns="91425" rIns="91425" bIns="91425" anchor="ctr" anchorCtr="0">
            <a:noAutofit/>
          </a:bodyPr>
          <a:lstStyle/>
          <a:p>
            <a:r>
              <a:rPr lang="en-GB" dirty="0"/>
              <a:t>Students is be able to implement a professional problem-solving process, thoroughly supported by an appropriate framework or model to </a:t>
            </a:r>
            <a:r>
              <a:rPr lang="en-GB" dirty="0" err="1"/>
              <a:t>analyze</a:t>
            </a:r>
            <a:r>
              <a:rPr lang="en-GB" dirty="0"/>
              <a:t> and address encountered problems.</a:t>
            </a:r>
          </a:p>
        </p:txBody>
      </p:sp>
      <p:sp>
        <p:nvSpPr>
          <p:cNvPr id="8" name="Google Shape;459;p48">
            <a:extLst>
              <a:ext uri="{FF2B5EF4-FFF2-40B4-BE49-F238E27FC236}">
                <a16:creationId xmlns:a16="http://schemas.microsoft.com/office/drawing/2014/main" id="{9104081E-5C83-4D26-DFC4-D9374F846419}"/>
              </a:ext>
            </a:extLst>
          </p:cNvPr>
          <p:cNvSpPr txBox="1">
            <a:spLocks noGrp="1"/>
          </p:cNvSpPr>
          <p:nvPr>
            <p:ph type="title" idx="3"/>
          </p:nvPr>
        </p:nvSpPr>
        <p:spPr>
          <a:xfrm>
            <a:off x="2049461" y="0"/>
            <a:ext cx="5051635" cy="576000"/>
          </a:xfrm>
          <a:prstGeom prst="rect">
            <a:avLst/>
          </a:prstGeom>
        </p:spPr>
        <p:txBody>
          <a:bodyPr spcFirstLastPara="1" wrap="square" lIns="91425" tIns="91425" rIns="91425" bIns="91425" anchor="ctr" anchorCtr="0">
            <a:noAutofit/>
          </a:bodyPr>
          <a:lstStyle/>
          <a:p>
            <a:pPr marL="0" indent="0"/>
            <a:r>
              <a:rPr lang="en-US" dirty="0"/>
              <a:t>The student demonstrates the ability to manage the process that leads to the completion of the product in a professional manner and according to industry standards.</a:t>
            </a:r>
            <a:endParaRPr lang="nl-NL" dirty="0"/>
          </a:p>
        </p:txBody>
      </p:sp>
      <p:sp>
        <p:nvSpPr>
          <p:cNvPr id="4" name="Google Shape;462;p48">
            <a:extLst>
              <a:ext uri="{FF2B5EF4-FFF2-40B4-BE49-F238E27FC236}">
                <a16:creationId xmlns:a16="http://schemas.microsoft.com/office/drawing/2014/main" id="{A6719589-295D-40A8-CBF6-9251C2D48027}"/>
              </a:ext>
            </a:extLst>
          </p:cNvPr>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indent="0"/>
            <a:r>
              <a:rPr lang="en-US" sz="1400" dirty="0"/>
              <a:t>Project Management</a:t>
            </a:r>
          </a:p>
        </p:txBody>
      </p:sp>
    </p:spTree>
    <p:extLst>
      <p:ext uri="{BB962C8B-B14F-4D97-AF65-F5344CB8AC3E}">
        <p14:creationId xmlns:p14="http://schemas.microsoft.com/office/powerpoint/2010/main" val="227358003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4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ILO 4</a:t>
            </a:r>
            <a:endParaRPr dirty="0"/>
          </a:p>
        </p:txBody>
      </p:sp>
      <p:sp>
        <p:nvSpPr>
          <p:cNvPr id="468" name="Google Shape;468;p4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indent="0"/>
            <a:r>
              <a:rPr lang="en-US" dirty="0"/>
              <a:t>Professionalism</a:t>
            </a:r>
          </a:p>
        </p:txBody>
      </p:sp>
      <p:sp>
        <p:nvSpPr>
          <p:cNvPr id="469" name="Google Shape;469;p49"/>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p>
            <a:pPr marL="0" indent="0"/>
            <a:r>
              <a:rPr lang="en-US" dirty="0"/>
              <a:t>The student demonstrates the ability to professionally communicate and collaborate in a business/research context</a:t>
            </a:r>
            <a:endParaRPr lang="nl-NL" dirty="0"/>
          </a:p>
        </p:txBody>
      </p:sp>
      <p:sp>
        <p:nvSpPr>
          <p:cNvPr id="470" name="Google Shape;470;p49"/>
          <p:cNvSpPr txBox="1"/>
          <p:nvPr/>
        </p:nvSpPr>
        <p:spPr>
          <a:xfrm>
            <a:off x="-420624" y="749808"/>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40000">
                <a:solidFill>
                  <a:srgbClr val="999999"/>
                </a:solidFill>
                <a:latin typeface="Roboto"/>
                <a:ea typeface="Roboto"/>
                <a:cs typeface="Roboto"/>
                <a:sym typeface="Roboto"/>
              </a:rPr>
              <a:t>4</a:t>
            </a:r>
            <a:endParaRPr sz="4000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411156162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5" name="Google Shape;475;p50"/>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ILO 4</a:t>
            </a:r>
            <a:endParaRPr/>
          </a:p>
        </p:txBody>
      </p:sp>
      <p:sp>
        <p:nvSpPr>
          <p:cNvPr id="476" name="Google Shape;476;p50"/>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1/3</a:t>
            </a:r>
            <a:endParaRPr dirty="0"/>
          </a:p>
        </p:txBody>
      </p:sp>
      <p:sp>
        <p:nvSpPr>
          <p:cNvPr id="477" name="Google Shape;477;p50"/>
          <p:cNvSpPr txBox="1">
            <a:spLocks noGrp="1"/>
          </p:cNvSpPr>
          <p:nvPr>
            <p:ph type="body" idx="1"/>
          </p:nvPr>
        </p:nvSpPr>
        <p:spPr>
          <a:xfrm>
            <a:off x="182880" y="1069848"/>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dirty="0">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dirty="0">
              <a:solidFill>
                <a:schemeClr val="lt1"/>
              </a:solidFill>
            </a:endParaRPr>
          </a:p>
          <a:p>
            <a:pPr marL="0" lvl="0" indent="0" algn="l" rtl="0">
              <a:lnSpc>
                <a:spcPct val="115000"/>
              </a:lnSpc>
              <a:spcBef>
                <a:spcPts val="0"/>
              </a:spcBef>
              <a:spcAft>
                <a:spcPts val="0"/>
              </a:spcAft>
              <a:buNone/>
            </a:pPr>
            <a:endParaRPr sz="700" i="1" dirty="0">
              <a:solidFill>
                <a:schemeClr val="lt1"/>
              </a:solidFill>
              <a:latin typeface="Helvetica Neue"/>
              <a:ea typeface="Helvetica Neue"/>
              <a:cs typeface="Helvetica Neue"/>
              <a:sym typeface="Helvetica Neue"/>
            </a:endParaRPr>
          </a:p>
        </p:txBody>
      </p:sp>
      <p:sp>
        <p:nvSpPr>
          <p:cNvPr id="479" name="Google Shape;479;p50"/>
          <p:cNvSpPr txBox="1">
            <a:spLocks noGrp="1"/>
          </p:cNvSpPr>
          <p:nvPr>
            <p:ph type="title" idx="4"/>
          </p:nvPr>
        </p:nvSpPr>
        <p:spPr>
          <a:xfrm>
            <a:off x="68250" y="576000"/>
            <a:ext cx="2072784"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800" dirty="0">
                <a:solidFill>
                  <a:srgbClr val="FFFFFF"/>
                </a:solidFill>
              </a:rPr>
              <a:t>Collaboration</a:t>
            </a:r>
            <a:endParaRPr sz="1800" dirty="0">
              <a:solidFill>
                <a:srgbClr val="FFFFFF"/>
              </a:solidFill>
            </a:endParaRPr>
          </a:p>
        </p:txBody>
      </p:sp>
      <p:sp>
        <p:nvSpPr>
          <p:cNvPr id="480" name="Google Shape;480;p50"/>
          <p:cNvSpPr txBox="1">
            <a:spLocks noGrp="1"/>
          </p:cNvSpPr>
          <p:nvPr>
            <p:ph type="title" idx="5"/>
          </p:nvPr>
        </p:nvSpPr>
        <p:spPr>
          <a:xfrm>
            <a:off x="1998299" y="576000"/>
            <a:ext cx="6162451" cy="493800"/>
          </a:xfrm>
          <a:prstGeom prst="rect">
            <a:avLst/>
          </a:prstGeom>
        </p:spPr>
        <p:txBody>
          <a:bodyPr spcFirstLastPara="1" wrap="square" lIns="91425" tIns="91425" rIns="91425" bIns="91425" anchor="ctr" anchorCtr="0">
            <a:noAutofit/>
          </a:bodyPr>
          <a:lstStyle/>
          <a:p>
            <a:r>
              <a:rPr lang="en-GB" dirty="0"/>
              <a:t>Students is able to effectively engage key stakeholders and a broader network of experts throughout the process, aligning with industry expectations</a:t>
            </a:r>
            <a:endParaRPr lang="nl-NL" dirty="0"/>
          </a:p>
        </p:txBody>
      </p:sp>
      <p:sp>
        <p:nvSpPr>
          <p:cNvPr id="7" name="Google Shape;459;p48">
            <a:extLst>
              <a:ext uri="{FF2B5EF4-FFF2-40B4-BE49-F238E27FC236}">
                <a16:creationId xmlns:a16="http://schemas.microsoft.com/office/drawing/2014/main" id="{53BB9E1B-97C5-2DA9-6DD8-8B90626EFB7C}"/>
              </a:ext>
            </a:extLst>
          </p:cNvPr>
          <p:cNvSpPr txBox="1">
            <a:spLocks noGrp="1"/>
          </p:cNvSpPr>
          <p:nvPr>
            <p:ph type="title" idx="3"/>
          </p:nvPr>
        </p:nvSpPr>
        <p:spPr>
          <a:xfrm>
            <a:off x="2049461" y="0"/>
            <a:ext cx="5826455" cy="576000"/>
          </a:xfrm>
          <a:prstGeom prst="rect">
            <a:avLst/>
          </a:prstGeom>
        </p:spPr>
        <p:txBody>
          <a:bodyPr spcFirstLastPara="1" wrap="square" lIns="91425" tIns="91425" rIns="91425" bIns="91425" anchor="ctr" anchorCtr="0">
            <a:noAutofit/>
          </a:bodyPr>
          <a:lstStyle/>
          <a:p>
            <a:pPr marL="0" indent="0"/>
            <a:r>
              <a:rPr lang="en-US" dirty="0"/>
              <a:t>The student demonstrates the ability to professionally communicate and collaborate in a business/research context</a:t>
            </a:r>
            <a:endParaRPr lang="nl-NL" dirty="0"/>
          </a:p>
        </p:txBody>
      </p:sp>
      <p:sp>
        <p:nvSpPr>
          <p:cNvPr id="2" name="Google Shape;462;p48">
            <a:extLst>
              <a:ext uri="{FF2B5EF4-FFF2-40B4-BE49-F238E27FC236}">
                <a16:creationId xmlns:a16="http://schemas.microsoft.com/office/drawing/2014/main" id="{0DF68E2A-4FDB-D5FA-06F1-F3DB970B9CD1}"/>
              </a:ext>
            </a:extLst>
          </p:cNvPr>
          <p:cNvSpPr txBox="1">
            <a:spLocks noGrp="1"/>
          </p:cNvSpPr>
          <p:nvPr>
            <p:ph type="title" idx="6"/>
          </p:nvPr>
        </p:nvSpPr>
        <p:spPr>
          <a:xfrm>
            <a:off x="845550" y="39077"/>
            <a:ext cx="1368600" cy="576000"/>
          </a:xfrm>
          <a:prstGeom prst="rect">
            <a:avLst/>
          </a:prstGeom>
        </p:spPr>
        <p:txBody>
          <a:bodyPr spcFirstLastPara="1" wrap="square" lIns="91425" tIns="91425" rIns="91425" bIns="91425" anchor="ctr" anchorCtr="0">
            <a:noAutofit/>
          </a:bodyPr>
          <a:lstStyle/>
          <a:p>
            <a:r>
              <a:rPr lang="en-US" sz="1100" dirty="0" err="1"/>
              <a:t>Professionalizm</a:t>
            </a:r>
            <a:endParaRPr lang="en-US" sz="1100" dirty="0"/>
          </a:p>
        </p:txBody>
      </p:sp>
    </p:spTree>
    <p:extLst>
      <p:ext uri="{BB962C8B-B14F-4D97-AF65-F5344CB8AC3E}">
        <p14:creationId xmlns:p14="http://schemas.microsoft.com/office/powerpoint/2010/main" val="388906780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474">
          <a:extLst>
            <a:ext uri="{FF2B5EF4-FFF2-40B4-BE49-F238E27FC236}">
              <a16:creationId xmlns:a16="http://schemas.microsoft.com/office/drawing/2014/main" id="{6E61D359-B2F9-8FF4-37F1-9D84EA845400}"/>
            </a:ext>
          </a:extLst>
        </p:cNvPr>
        <p:cNvGrpSpPr/>
        <p:nvPr/>
      </p:nvGrpSpPr>
      <p:grpSpPr>
        <a:xfrm>
          <a:off x="0" y="0"/>
          <a:ext cx="0" cy="0"/>
          <a:chOff x="0" y="0"/>
          <a:chExt cx="0" cy="0"/>
        </a:xfrm>
      </p:grpSpPr>
      <p:sp>
        <p:nvSpPr>
          <p:cNvPr id="475" name="Google Shape;475;p50">
            <a:extLst>
              <a:ext uri="{FF2B5EF4-FFF2-40B4-BE49-F238E27FC236}">
                <a16:creationId xmlns:a16="http://schemas.microsoft.com/office/drawing/2014/main" id="{860824A7-EFCD-8BC6-F804-426B2D83A225}"/>
              </a:ext>
            </a:extLst>
          </p:cNvPr>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ILO 4</a:t>
            </a:r>
            <a:endParaRPr dirty="0"/>
          </a:p>
        </p:txBody>
      </p:sp>
      <p:sp>
        <p:nvSpPr>
          <p:cNvPr id="476" name="Google Shape;476;p50">
            <a:extLst>
              <a:ext uri="{FF2B5EF4-FFF2-40B4-BE49-F238E27FC236}">
                <a16:creationId xmlns:a16="http://schemas.microsoft.com/office/drawing/2014/main" id="{AE57B895-CC07-E50E-2C0B-4B1CA43C87F4}"/>
              </a:ext>
            </a:extLst>
          </p:cNvPr>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2/3</a:t>
            </a:r>
            <a:endParaRPr dirty="0"/>
          </a:p>
        </p:txBody>
      </p:sp>
      <p:sp>
        <p:nvSpPr>
          <p:cNvPr id="477" name="Google Shape;477;p50">
            <a:extLst>
              <a:ext uri="{FF2B5EF4-FFF2-40B4-BE49-F238E27FC236}">
                <a16:creationId xmlns:a16="http://schemas.microsoft.com/office/drawing/2014/main" id="{2EB17D5F-AE6A-92C6-5089-ACB59D1DFBF0}"/>
              </a:ext>
            </a:extLst>
          </p:cNvPr>
          <p:cNvSpPr txBox="1">
            <a:spLocks noGrp="1"/>
          </p:cNvSpPr>
          <p:nvPr>
            <p:ph type="body" idx="1"/>
          </p:nvPr>
        </p:nvSpPr>
        <p:spPr>
          <a:xfrm>
            <a:off x="182880" y="1069848"/>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dirty="0">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dirty="0">
              <a:solidFill>
                <a:schemeClr val="lt1"/>
              </a:solidFill>
            </a:endParaRPr>
          </a:p>
          <a:p>
            <a:pPr marL="0" lvl="0" indent="0" algn="l" rtl="0">
              <a:lnSpc>
                <a:spcPct val="115000"/>
              </a:lnSpc>
              <a:spcBef>
                <a:spcPts val="0"/>
              </a:spcBef>
              <a:spcAft>
                <a:spcPts val="0"/>
              </a:spcAft>
              <a:buNone/>
            </a:pPr>
            <a:endParaRPr sz="700" i="1" dirty="0">
              <a:solidFill>
                <a:schemeClr val="lt1"/>
              </a:solidFill>
              <a:latin typeface="Helvetica Neue"/>
              <a:ea typeface="Helvetica Neue"/>
              <a:cs typeface="Helvetica Neue"/>
              <a:sym typeface="Helvetica Neue"/>
            </a:endParaRPr>
          </a:p>
        </p:txBody>
      </p:sp>
      <p:sp>
        <p:nvSpPr>
          <p:cNvPr id="479" name="Google Shape;479;p50">
            <a:extLst>
              <a:ext uri="{FF2B5EF4-FFF2-40B4-BE49-F238E27FC236}">
                <a16:creationId xmlns:a16="http://schemas.microsoft.com/office/drawing/2014/main" id="{4942D1AF-E758-5EC2-2251-DA008FABC936}"/>
              </a:ext>
            </a:extLst>
          </p:cNvPr>
          <p:cNvSpPr txBox="1">
            <a:spLocks noGrp="1"/>
          </p:cNvSpPr>
          <p:nvPr>
            <p:ph type="title" idx="4"/>
          </p:nvPr>
        </p:nvSpPr>
        <p:spPr>
          <a:xfrm>
            <a:off x="68249" y="576000"/>
            <a:ext cx="230027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sz="1800" dirty="0">
                <a:solidFill>
                  <a:srgbClr val="FFFFFF"/>
                </a:solidFill>
              </a:rPr>
              <a:t>Ethics &amp; Legal</a:t>
            </a:r>
            <a:endParaRPr sz="1800" dirty="0">
              <a:solidFill>
                <a:srgbClr val="FFFFFF"/>
              </a:solidFill>
            </a:endParaRPr>
          </a:p>
        </p:txBody>
      </p:sp>
      <p:sp>
        <p:nvSpPr>
          <p:cNvPr id="480" name="Google Shape;480;p50">
            <a:extLst>
              <a:ext uri="{FF2B5EF4-FFF2-40B4-BE49-F238E27FC236}">
                <a16:creationId xmlns:a16="http://schemas.microsoft.com/office/drawing/2014/main" id="{5BFC4CD0-264F-C9BB-5428-C9D7F451CA38}"/>
              </a:ext>
            </a:extLst>
          </p:cNvPr>
          <p:cNvSpPr txBox="1">
            <a:spLocks noGrp="1"/>
          </p:cNvSpPr>
          <p:nvPr>
            <p:ph type="title" idx="5"/>
          </p:nvPr>
        </p:nvSpPr>
        <p:spPr>
          <a:xfrm>
            <a:off x="2368520" y="576000"/>
            <a:ext cx="6396340" cy="493800"/>
          </a:xfrm>
          <a:prstGeom prst="rect">
            <a:avLst/>
          </a:prstGeom>
        </p:spPr>
        <p:txBody>
          <a:bodyPr spcFirstLastPara="1" wrap="square" lIns="91425" tIns="91425" rIns="91425" bIns="91425" anchor="ctr" anchorCtr="0">
            <a:noAutofit/>
          </a:bodyPr>
          <a:lstStyle/>
          <a:p>
            <a:r>
              <a:rPr lang="en-GB" dirty="0"/>
              <a:t>The student is able to evaluate and apply ethical and legal frameworks and methodologies in alignment with industry standards, demonstrating how these principles inform and guide decisions made in their projects or portfolios</a:t>
            </a:r>
          </a:p>
        </p:txBody>
      </p:sp>
      <p:sp>
        <p:nvSpPr>
          <p:cNvPr id="8" name="Google Shape;459;p48">
            <a:extLst>
              <a:ext uri="{FF2B5EF4-FFF2-40B4-BE49-F238E27FC236}">
                <a16:creationId xmlns:a16="http://schemas.microsoft.com/office/drawing/2014/main" id="{CB63CC33-2C94-737E-31F7-1C7DB9C19F27}"/>
              </a:ext>
            </a:extLst>
          </p:cNvPr>
          <p:cNvSpPr txBox="1">
            <a:spLocks noGrp="1"/>
          </p:cNvSpPr>
          <p:nvPr>
            <p:ph type="title" idx="3"/>
          </p:nvPr>
        </p:nvSpPr>
        <p:spPr>
          <a:xfrm>
            <a:off x="2314320" y="0"/>
            <a:ext cx="5051635" cy="576000"/>
          </a:xfrm>
          <a:prstGeom prst="rect">
            <a:avLst/>
          </a:prstGeom>
        </p:spPr>
        <p:txBody>
          <a:bodyPr spcFirstLastPara="1" wrap="square" lIns="91425" tIns="91425" rIns="91425" bIns="91425" anchor="ctr" anchorCtr="0">
            <a:noAutofit/>
          </a:bodyPr>
          <a:lstStyle/>
          <a:p>
            <a:pPr marL="0" indent="0"/>
            <a:r>
              <a:rPr lang="en-US" dirty="0"/>
              <a:t>The student demonstrates the ability to professionally communicate and collaborate in a business/research context</a:t>
            </a:r>
            <a:endParaRPr lang="nl-NL" dirty="0"/>
          </a:p>
        </p:txBody>
      </p:sp>
      <p:sp>
        <p:nvSpPr>
          <p:cNvPr id="4" name="Google Shape;462;p48">
            <a:extLst>
              <a:ext uri="{FF2B5EF4-FFF2-40B4-BE49-F238E27FC236}">
                <a16:creationId xmlns:a16="http://schemas.microsoft.com/office/drawing/2014/main" id="{6DD9938A-0032-481C-42A8-B06E9CAD45D8}"/>
              </a:ext>
            </a:extLst>
          </p:cNvPr>
          <p:cNvSpPr txBox="1">
            <a:spLocks noGrp="1"/>
          </p:cNvSpPr>
          <p:nvPr>
            <p:ph type="title" idx="6"/>
          </p:nvPr>
        </p:nvSpPr>
        <p:spPr>
          <a:xfrm>
            <a:off x="845549" y="0"/>
            <a:ext cx="1468769" cy="576000"/>
          </a:xfrm>
          <a:prstGeom prst="rect">
            <a:avLst/>
          </a:prstGeom>
        </p:spPr>
        <p:txBody>
          <a:bodyPr spcFirstLastPara="1" wrap="square" lIns="91425" tIns="91425" rIns="91425" bIns="91425" anchor="ctr" anchorCtr="0">
            <a:noAutofit/>
          </a:bodyPr>
          <a:lstStyle/>
          <a:p>
            <a:pPr marL="0" indent="0"/>
            <a:r>
              <a:rPr lang="en-US" sz="1400" dirty="0"/>
              <a:t>Professionalism</a:t>
            </a:r>
          </a:p>
        </p:txBody>
      </p:sp>
    </p:spTree>
    <p:extLst>
      <p:ext uri="{BB962C8B-B14F-4D97-AF65-F5344CB8AC3E}">
        <p14:creationId xmlns:p14="http://schemas.microsoft.com/office/powerpoint/2010/main" val="208674254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474">
          <a:extLst>
            <a:ext uri="{FF2B5EF4-FFF2-40B4-BE49-F238E27FC236}">
              <a16:creationId xmlns:a16="http://schemas.microsoft.com/office/drawing/2014/main" id="{28E4A57D-E8FD-038B-6B2F-CFEAE839F1DD}"/>
            </a:ext>
          </a:extLst>
        </p:cNvPr>
        <p:cNvGrpSpPr/>
        <p:nvPr/>
      </p:nvGrpSpPr>
      <p:grpSpPr>
        <a:xfrm>
          <a:off x="0" y="0"/>
          <a:ext cx="0" cy="0"/>
          <a:chOff x="0" y="0"/>
          <a:chExt cx="0" cy="0"/>
        </a:xfrm>
      </p:grpSpPr>
      <p:sp>
        <p:nvSpPr>
          <p:cNvPr id="475" name="Google Shape;475;p50">
            <a:extLst>
              <a:ext uri="{FF2B5EF4-FFF2-40B4-BE49-F238E27FC236}">
                <a16:creationId xmlns:a16="http://schemas.microsoft.com/office/drawing/2014/main" id="{4478063A-CF62-907E-E10C-CDC65F5EE15F}"/>
              </a:ext>
            </a:extLst>
          </p:cNvPr>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ILO 4</a:t>
            </a:r>
            <a:endParaRPr dirty="0"/>
          </a:p>
        </p:txBody>
      </p:sp>
      <p:sp>
        <p:nvSpPr>
          <p:cNvPr id="476" name="Google Shape;476;p50">
            <a:extLst>
              <a:ext uri="{FF2B5EF4-FFF2-40B4-BE49-F238E27FC236}">
                <a16:creationId xmlns:a16="http://schemas.microsoft.com/office/drawing/2014/main" id="{9ED2B224-643D-95B0-B276-EC21B7C0AAE2}"/>
              </a:ext>
            </a:extLst>
          </p:cNvPr>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3/3</a:t>
            </a:r>
            <a:endParaRPr dirty="0"/>
          </a:p>
        </p:txBody>
      </p:sp>
      <p:sp>
        <p:nvSpPr>
          <p:cNvPr id="477" name="Google Shape;477;p50">
            <a:extLst>
              <a:ext uri="{FF2B5EF4-FFF2-40B4-BE49-F238E27FC236}">
                <a16:creationId xmlns:a16="http://schemas.microsoft.com/office/drawing/2014/main" id="{3045061A-096A-1216-9B4D-68C76B030F0E}"/>
              </a:ext>
            </a:extLst>
          </p:cNvPr>
          <p:cNvSpPr txBox="1">
            <a:spLocks noGrp="1"/>
          </p:cNvSpPr>
          <p:nvPr>
            <p:ph type="body" idx="1"/>
          </p:nvPr>
        </p:nvSpPr>
        <p:spPr>
          <a:xfrm>
            <a:off x="182880" y="1069848"/>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dirty="0">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dirty="0">
              <a:solidFill>
                <a:schemeClr val="lt1"/>
              </a:solidFill>
            </a:endParaRPr>
          </a:p>
          <a:p>
            <a:pPr marL="0" lvl="0" indent="0" algn="l" rtl="0">
              <a:lnSpc>
                <a:spcPct val="115000"/>
              </a:lnSpc>
              <a:spcBef>
                <a:spcPts val="0"/>
              </a:spcBef>
              <a:spcAft>
                <a:spcPts val="0"/>
              </a:spcAft>
              <a:buNone/>
            </a:pPr>
            <a:endParaRPr sz="700" i="1" dirty="0">
              <a:solidFill>
                <a:schemeClr val="lt1"/>
              </a:solidFill>
              <a:latin typeface="Helvetica Neue"/>
              <a:ea typeface="Helvetica Neue"/>
              <a:cs typeface="Helvetica Neue"/>
              <a:sym typeface="Helvetica Neue"/>
            </a:endParaRPr>
          </a:p>
        </p:txBody>
      </p:sp>
      <p:sp>
        <p:nvSpPr>
          <p:cNvPr id="479" name="Google Shape;479;p50">
            <a:extLst>
              <a:ext uri="{FF2B5EF4-FFF2-40B4-BE49-F238E27FC236}">
                <a16:creationId xmlns:a16="http://schemas.microsoft.com/office/drawing/2014/main" id="{999E417F-D7F4-B13C-8589-EDFE7ECA2CDE}"/>
              </a:ext>
            </a:extLst>
          </p:cNvPr>
          <p:cNvSpPr txBox="1">
            <a:spLocks noGrp="1"/>
          </p:cNvSpPr>
          <p:nvPr>
            <p:ph type="title" idx="4"/>
          </p:nvPr>
        </p:nvSpPr>
        <p:spPr>
          <a:xfrm>
            <a:off x="68250" y="576000"/>
            <a:ext cx="2072784"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800" dirty="0">
                <a:solidFill>
                  <a:srgbClr val="FFFFFF"/>
                </a:solidFill>
              </a:rPr>
              <a:t>Communication</a:t>
            </a:r>
            <a:endParaRPr sz="1800" dirty="0">
              <a:solidFill>
                <a:srgbClr val="FFFFFF"/>
              </a:solidFill>
            </a:endParaRPr>
          </a:p>
        </p:txBody>
      </p:sp>
      <p:sp>
        <p:nvSpPr>
          <p:cNvPr id="480" name="Google Shape;480;p50">
            <a:extLst>
              <a:ext uri="{FF2B5EF4-FFF2-40B4-BE49-F238E27FC236}">
                <a16:creationId xmlns:a16="http://schemas.microsoft.com/office/drawing/2014/main" id="{D9A8002D-E519-7407-7DDD-E1B65C7F5446}"/>
              </a:ext>
            </a:extLst>
          </p:cNvPr>
          <p:cNvSpPr txBox="1">
            <a:spLocks noGrp="1"/>
          </p:cNvSpPr>
          <p:nvPr>
            <p:ph type="title" idx="5"/>
          </p:nvPr>
        </p:nvSpPr>
        <p:spPr>
          <a:xfrm>
            <a:off x="1998299" y="576000"/>
            <a:ext cx="6162451" cy="493800"/>
          </a:xfrm>
          <a:prstGeom prst="rect">
            <a:avLst/>
          </a:prstGeom>
        </p:spPr>
        <p:txBody>
          <a:bodyPr spcFirstLastPara="1" wrap="square" lIns="91425" tIns="91425" rIns="91425" bIns="91425" anchor="ctr" anchorCtr="0">
            <a:noAutofit/>
          </a:bodyPr>
          <a:lstStyle/>
          <a:p>
            <a:r>
              <a:rPr lang="en-GB" dirty="0"/>
              <a:t>Students is able to effectively communicate complex information, ideas, problems, and solutions to both specialist and non-specialist audiences in a clear and engaging manner.</a:t>
            </a:r>
            <a:endParaRPr lang="nl-NL" dirty="0"/>
          </a:p>
        </p:txBody>
      </p:sp>
      <p:sp>
        <p:nvSpPr>
          <p:cNvPr id="7" name="Google Shape;459;p48">
            <a:extLst>
              <a:ext uri="{FF2B5EF4-FFF2-40B4-BE49-F238E27FC236}">
                <a16:creationId xmlns:a16="http://schemas.microsoft.com/office/drawing/2014/main" id="{A47B4753-3CDE-BD59-5C62-F3F81B6E1163}"/>
              </a:ext>
            </a:extLst>
          </p:cNvPr>
          <p:cNvSpPr txBox="1">
            <a:spLocks noGrp="1"/>
          </p:cNvSpPr>
          <p:nvPr>
            <p:ph type="title" idx="3"/>
          </p:nvPr>
        </p:nvSpPr>
        <p:spPr>
          <a:xfrm>
            <a:off x="2049461" y="0"/>
            <a:ext cx="5826455" cy="576000"/>
          </a:xfrm>
          <a:prstGeom prst="rect">
            <a:avLst/>
          </a:prstGeom>
        </p:spPr>
        <p:txBody>
          <a:bodyPr spcFirstLastPara="1" wrap="square" lIns="91425" tIns="91425" rIns="91425" bIns="91425" anchor="ctr" anchorCtr="0">
            <a:noAutofit/>
          </a:bodyPr>
          <a:lstStyle/>
          <a:p>
            <a:pPr marL="0" indent="0"/>
            <a:r>
              <a:rPr lang="en-US" dirty="0"/>
              <a:t>The student demonstrates the ability to professionally communicate and collaborate in a business/research context</a:t>
            </a:r>
            <a:endParaRPr lang="nl-NL" dirty="0"/>
          </a:p>
        </p:txBody>
      </p:sp>
      <p:sp>
        <p:nvSpPr>
          <p:cNvPr id="2" name="Google Shape;462;p48">
            <a:extLst>
              <a:ext uri="{FF2B5EF4-FFF2-40B4-BE49-F238E27FC236}">
                <a16:creationId xmlns:a16="http://schemas.microsoft.com/office/drawing/2014/main" id="{F875C590-16CF-4BC9-2D58-83481D589700}"/>
              </a:ext>
            </a:extLst>
          </p:cNvPr>
          <p:cNvSpPr txBox="1">
            <a:spLocks noGrp="1"/>
          </p:cNvSpPr>
          <p:nvPr>
            <p:ph type="title" idx="6"/>
          </p:nvPr>
        </p:nvSpPr>
        <p:spPr>
          <a:xfrm>
            <a:off x="845550" y="39077"/>
            <a:ext cx="1368600" cy="576000"/>
          </a:xfrm>
          <a:prstGeom prst="rect">
            <a:avLst/>
          </a:prstGeom>
        </p:spPr>
        <p:txBody>
          <a:bodyPr spcFirstLastPara="1" wrap="square" lIns="91425" tIns="91425" rIns="91425" bIns="91425" anchor="ctr" anchorCtr="0">
            <a:noAutofit/>
          </a:bodyPr>
          <a:lstStyle/>
          <a:p>
            <a:r>
              <a:rPr lang="en-US" sz="1100" dirty="0"/>
              <a:t>Professionalism</a:t>
            </a:r>
          </a:p>
        </p:txBody>
      </p:sp>
    </p:spTree>
    <p:extLst>
      <p:ext uri="{BB962C8B-B14F-4D97-AF65-F5344CB8AC3E}">
        <p14:creationId xmlns:p14="http://schemas.microsoft.com/office/powerpoint/2010/main" val="213811504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4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ILO 5</a:t>
            </a:r>
            <a:endParaRPr dirty="0"/>
          </a:p>
        </p:txBody>
      </p:sp>
      <p:sp>
        <p:nvSpPr>
          <p:cNvPr id="468" name="Google Shape;468;p4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indent="0"/>
            <a:r>
              <a:rPr lang="en-US" dirty="0"/>
              <a:t>Learning</a:t>
            </a:r>
          </a:p>
        </p:txBody>
      </p:sp>
      <p:sp>
        <p:nvSpPr>
          <p:cNvPr id="469" name="Google Shape;469;p49"/>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p>
            <a:pPr marL="0" indent="0"/>
            <a:r>
              <a:rPr lang="en-US" dirty="0"/>
              <a:t>The student demonstrates the ability to systematically reflect, learn, and request feedback on professional products, processes, and behavior, and apply where appropriate.</a:t>
            </a:r>
            <a:endParaRPr lang="nl-NL" dirty="0"/>
          </a:p>
        </p:txBody>
      </p:sp>
      <p:sp>
        <p:nvSpPr>
          <p:cNvPr id="470" name="Google Shape;470;p49"/>
          <p:cNvSpPr txBox="1"/>
          <p:nvPr/>
        </p:nvSpPr>
        <p:spPr>
          <a:xfrm>
            <a:off x="-420624" y="749808"/>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40000" dirty="0">
                <a:solidFill>
                  <a:srgbClr val="999999"/>
                </a:solidFill>
                <a:latin typeface="Roboto"/>
                <a:ea typeface="Roboto"/>
                <a:cs typeface="Roboto"/>
              </a:rPr>
              <a:t>5</a:t>
            </a:r>
          </a:p>
        </p:txBody>
      </p:sp>
    </p:spTree>
    <p:extLst>
      <p:ext uri="{BB962C8B-B14F-4D97-AF65-F5344CB8AC3E}">
        <p14:creationId xmlns:p14="http://schemas.microsoft.com/office/powerpoint/2010/main" val="336910565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5" name="Google Shape;475;p50"/>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ILO 5</a:t>
            </a:r>
            <a:endParaRPr dirty="0"/>
          </a:p>
        </p:txBody>
      </p:sp>
      <p:sp>
        <p:nvSpPr>
          <p:cNvPr id="476" name="Google Shape;476;p50"/>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1/2</a:t>
            </a:r>
            <a:endParaRPr dirty="0"/>
          </a:p>
        </p:txBody>
      </p:sp>
      <p:sp>
        <p:nvSpPr>
          <p:cNvPr id="477" name="Google Shape;477;p50"/>
          <p:cNvSpPr txBox="1">
            <a:spLocks noGrp="1"/>
          </p:cNvSpPr>
          <p:nvPr>
            <p:ph type="body" idx="1"/>
          </p:nvPr>
        </p:nvSpPr>
        <p:spPr>
          <a:xfrm>
            <a:off x="182880" y="1069848"/>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dirty="0">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dirty="0">
              <a:solidFill>
                <a:schemeClr val="lt1"/>
              </a:solidFill>
            </a:endParaRPr>
          </a:p>
          <a:p>
            <a:pPr marL="0" lvl="0" indent="0" algn="l" rtl="0">
              <a:lnSpc>
                <a:spcPct val="115000"/>
              </a:lnSpc>
              <a:spcBef>
                <a:spcPts val="0"/>
              </a:spcBef>
              <a:spcAft>
                <a:spcPts val="0"/>
              </a:spcAft>
              <a:buNone/>
            </a:pPr>
            <a:endParaRPr sz="700" i="1" dirty="0">
              <a:solidFill>
                <a:schemeClr val="lt1"/>
              </a:solidFill>
              <a:latin typeface="Helvetica Neue"/>
              <a:ea typeface="Helvetica Neue"/>
              <a:cs typeface="Helvetica Neue"/>
              <a:sym typeface="Helvetica Neue"/>
            </a:endParaRPr>
          </a:p>
        </p:txBody>
      </p:sp>
      <p:sp>
        <p:nvSpPr>
          <p:cNvPr id="479" name="Google Shape;479;p50"/>
          <p:cNvSpPr txBox="1">
            <a:spLocks noGrp="1"/>
          </p:cNvSpPr>
          <p:nvPr>
            <p:ph type="title" idx="4"/>
          </p:nvPr>
        </p:nvSpPr>
        <p:spPr>
          <a:xfrm>
            <a:off x="68249" y="576000"/>
            <a:ext cx="1898575"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800" dirty="0"/>
              <a:t>Feedback</a:t>
            </a:r>
            <a:endParaRPr lang="en" sz="2800" dirty="0">
              <a:solidFill>
                <a:srgbClr val="FFFFFF"/>
              </a:solidFill>
            </a:endParaRPr>
          </a:p>
        </p:txBody>
      </p:sp>
      <p:sp>
        <p:nvSpPr>
          <p:cNvPr id="480" name="Google Shape;480;p50"/>
          <p:cNvSpPr txBox="1">
            <a:spLocks noGrp="1"/>
          </p:cNvSpPr>
          <p:nvPr>
            <p:ph type="title" idx="5"/>
          </p:nvPr>
        </p:nvSpPr>
        <p:spPr>
          <a:xfrm>
            <a:off x="2214150" y="576000"/>
            <a:ext cx="5946599" cy="493800"/>
          </a:xfrm>
          <a:prstGeom prst="rect">
            <a:avLst/>
          </a:prstGeom>
        </p:spPr>
        <p:txBody>
          <a:bodyPr spcFirstLastPara="1" wrap="square" lIns="91425" tIns="91425" rIns="91425" bIns="91425" anchor="ctr" anchorCtr="0">
            <a:noAutofit/>
          </a:bodyPr>
          <a:lstStyle/>
          <a:p>
            <a:r>
              <a:rPr lang="en-GB" dirty="0"/>
              <a:t>Students is able to implement appropriate methods for requesting feedback from experts and stakeholders, enabling them to critically reflect on their professional products, processes, and </a:t>
            </a:r>
            <a:r>
              <a:rPr lang="en-GB" dirty="0" err="1"/>
              <a:t>behavior</a:t>
            </a:r>
            <a:r>
              <a:rPr lang="en-GB" dirty="0"/>
              <a:t>.</a:t>
            </a:r>
            <a:endParaRPr lang="nl-NL" dirty="0"/>
          </a:p>
        </p:txBody>
      </p:sp>
      <p:sp>
        <p:nvSpPr>
          <p:cNvPr id="7" name="Google Shape;459;p48">
            <a:extLst>
              <a:ext uri="{FF2B5EF4-FFF2-40B4-BE49-F238E27FC236}">
                <a16:creationId xmlns:a16="http://schemas.microsoft.com/office/drawing/2014/main" id="{53BB9E1B-97C5-2DA9-6DD8-8B90626EFB7C}"/>
              </a:ext>
            </a:extLst>
          </p:cNvPr>
          <p:cNvSpPr txBox="1">
            <a:spLocks noGrp="1"/>
          </p:cNvSpPr>
          <p:nvPr>
            <p:ph type="title" idx="3"/>
          </p:nvPr>
        </p:nvSpPr>
        <p:spPr>
          <a:xfrm>
            <a:off x="2049461" y="0"/>
            <a:ext cx="5127715" cy="576000"/>
          </a:xfrm>
          <a:prstGeom prst="rect">
            <a:avLst/>
          </a:prstGeom>
        </p:spPr>
        <p:txBody>
          <a:bodyPr spcFirstLastPara="1" wrap="square" lIns="91425" tIns="91425" rIns="91425" bIns="91425" anchor="ctr" anchorCtr="0">
            <a:noAutofit/>
          </a:bodyPr>
          <a:lstStyle/>
          <a:p>
            <a:r>
              <a:rPr lang="en-US" dirty="0"/>
              <a:t>The student demonstrates the ability to systematically reflect, learn, and request feedback on professional products, processes, and behavior, and apply where appropriate.</a:t>
            </a:r>
            <a:endParaRPr lang="nl-NL" dirty="0"/>
          </a:p>
        </p:txBody>
      </p:sp>
      <p:sp>
        <p:nvSpPr>
          <p:cNvPr id="2" name="Google Shape;462;p48">
            <a:extLst>
              <a:ext uri="{FF2B5EF4-FFF2-40B4-BE49-F238E27FC236}">
                <a16:creationId xmlns:a16="http://schemas.microsoft.com/office/drawing/2014/main" id="{0DF68E2A-4FDB-D5FA-06F1-F3DB970B9CD1}"/>
              </a:ext>
            </a:extLst>
          </p:cNvPr>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r>
              <a:rPr lang="en-US" sz="1100" dirty="0"/>
              <a:t>Learning</a:t>
            </a:r>
          </a:p>
        </p:txBody>
      </p:sp>
    </p:spTree>
    <p:extLst>
      <p:ext uri="{BB962C8B-B14F-4D97-AF65-F5344CB8AC3E}">
        <p14:creationId xmlns:p14="http://schemas.microsoft.com/office/powerpoint/2010/main" val="274225865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474">
          <a:extLst>
            <a:ext uri="{FF2B5EF4-FFF2-40B4-BE49-F238E27FC236}">
              <a16:creationId xmlns:a16="http://schemas.microsoft.com/office/drawing/2014/main" id="{163B541D-835F-F3E9-2402-1F1B76A8E3FA}"/>
            </a:ext>
          </a:extLst>
        </p:cNvPr>
        <p:cNvGrpSpPr/>
        <p:nvPr/>
      </p:nvGrpSpPr>
      <p:grpSpPr>
        <a:xfrm>
          <a:off x="0" y="0"/>
          <a:ext cx="0" cy="0"/>
          <a:chOff x="0" y="0"/>
          <a:chExt cx="0" cy="0"/>
        </a:xfrm>
      </p:grpSpPr>
      <p:sp>
        <p:nvSpPr>
          <p:cNvPr id="475" name="Google Shape;475;p50">
            <a:extLst>
              <a:ext uri="{FF2B5EF4-FFF2-40B4-BE49-F238E27FC236}">
                <a16:creationId xmlns:a16="http://schemas.microsoft.com/office/drawing/2014/main" id="{DA426EAA-CC36-73DB-3507-DE7621843A5A}"/>
              </a:ext>
            </a:extLst>
          </p:cNvPr>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ILO 5</a:t>
            </a:r>
            <a:endParaRPr dirty="0"/>
          </a:p>
        </p:txBody>
      </p:sp>
      <p:sp>
        <p:nvSpPr>
          <p:cNvPr id="476" name="Google Shape;476;p50">
            <a:extLst>
              <a:ext uri="{FF2B5EF4-FFF2-40B4-BE49-F238E27FC236}">
                <a16:creationId xmlns:a16="http://schemas.microsoft.com/office/drawing/2014/main" id="{A085FE4B-E969-DAFA-481A-3654A868D5CC}"/>
              </a:ext>
            </a:extLst>
          </p:cNvPr>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2/2</a:t>
            </a:r>
            <a:endParaRPr dirty="0"/>
          </a:p>
        </p:txBody>
      </p:sp>
      <p:sp>
        <p:nvSpPr>
          <p:cNvPr id="477" name="Google Shape;477;p50">
            <a:extLst>
              <a:ext uri="{FF2B5EF4-FFF2-40B4-BE49-F238E27FC236}">
                <a16:creationId xmlns:a16="http://schemas.microsoft.com/office/drawing/2014/main" id="{4422F7EE-F8E2-1632-E015-B398A148320C}"/>
              </a:ext>
            </a:extLst>
          </p:cNvPr>
          <p:cNvSpPr txBox="1">
            <a:spLocks noGrp="1"/>
          </p:cNvSpPr>
          <p:nvPr>
            <p:ph type="body" idx="1"/>
          </p:nvPr>
        </p:nvSpPr>
        <p:spPr>
          <a:xfrm>
            <a:off x="182880" y="1069848"/>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dirty="0">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dirty="0">
              <a:solidFill>
                <a:schemeClr val="lt1"/>
              </a:solidFill>
            </a:endParaRPr>
          </a:p>
          <a:p>
            <a:pPr marL="0" lvl="0" indent="0" algn="l" rtl="0">
              <a:lnSpc>
                <a:spcPct val="115000"/>
              </a:lnSpc>
              <a:spcBef>
                <a:spcPts val="0"/>
              </a:spcBef>
              <a:spcAft>
                <a:spcPts val="0"/>
              </a:spcAft>
              <a:buNone/>
            </a:pPr>
            <a:endParaRPr sz="700" i="1" dirty="0">
              <a:solidFill>
                <a:schemeClr val="lt1"/>
              </a:solidFill>
              <a:latin typeface="Helvetica Neue"/>
              <a:ea typeface="Helvetica Neue"/>
              <a:cs typeface="Helvetica Neue"/>
              <a:sym typeface="Helvetica Neue"/>
            </a:endParaRPr>
          </a:p>
        </p:txBody>
      </p:sp>
      <p:sp>
        <p:nvSpPr>
          <p:cNvPr id="479" name="Google Shape;479;p50">
            <a:extLst>
              <a:ext uri="{FF2B5EF4-FFF2-40B4-BE49-F238E27FC236}">
                <a16:creationId xmlns:a16="http://schemas.microsoft.com/office/drawing/2014/main" id="{49D15DC4-D0DF-9D9B-2F55-93221DC163A5}"/>
              </a:ext>
            </a:extLst>
          </p:cNvPr>
          <p:cNvSpPr txBox="1">
            <a:spLocks noGrp="1"/>
          </p:cNvSpPr>
          <p:nvPr>
            <p:ph type="title" idx="4"/>
          </p:nvPr>
        </p:nvSpPr>
        <p:spPr>
          <a:xfrm>
            <a:off x="68249" y="576000"/>
            <a:ext cx="1898575"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800" dirty="0"/>
              <a:t>Implementation</a:t>
            </a:r>
            <a:endParaRPr lang="en" sz="1800" dirty="0">
              <a:solidFill>
                <a:srgbClr val="FFFFFF"/>
              </a:solidFill>
            </a:endParaRPr>
          </a:p>
        </p:txBody>
      </p:sp>
      <p:sp>
        <p:nvSpPr>
          <p:cNvPr id="480" name="Google Shape;480;p50">
            <a:extLst>
              <a:ext uri="{FF2B5EF4-FFF2-40B4-BE49-F238E27FC236}">
                <a16:creationId xmlns:a16="http://schemas.microsoft.com/office/drawing/2014/main" id="{418FA87E-E555-3568-84E3-6C7EF74A02DC}"/>
              </a:ext>
            </a:extLst>
          </p:cNvPr>
          <p:cNvSpPr txBox="1">
            <a:spLocks noGrp="1"/>
          </p:cNvSpPr>
          <p:nvPr>
            <p:ph type="title" idx="5"/>
          </p:nvPr>
        </p:nvSpPr>
        <p:spPr>
          <a:xfrm>
            <a:off x="2214150" y="576000"/>
            <a:ext cx="5946599" cy="493800"/>
          </a:xfrm>
          <a:prstGeom prst="rect">
            <a:avLst/>
          </a:prstGeom>
        </p:spPr>
        <p:txBody>
          <a:bodyPr spcFirstLastPara="1" wrap="square" lIns="91425" tIns="91425" rIns="91425" bIns="91425" anchor="ctr" anchorCtr="0">
            <a:noAutofit/>
          </a:bodyPr>
          <a:lstStyle/>
          <a:p>
            <a:r>
              <a:rPr lang="en-GB" dirty="0"/>
              <a:t>Students is able to clearly and concisely articulate key insights from reflection and feedback and apply appropriate modifications to products, processes, and/or </a:t>
            </a:r>
            <a:r>
              <a:rPr lang="en-GB" dirty="0" err="1"/>
              <a:t>behavior</a:t>
            </a:r>
            <a:r>
              <a:rPr lang="en-GB" dirty="0"/>
              <a:t> based on those insights.</a:t>
            </a:r>
            <a:endParaRPr lang="nl-NL" dirty="0"/>
          </a:p>
        </p:txBody>
      </p:sp>
      <p:sp>
        <p:nvSpPr>
          <p:cNvPr id="7" name="Google Shape;459;p48">
            <a:extLst>
              <a:ext uri="{FF2B5EF4-FFF2-40B4-BE49-F238E27FC236}">
                <a16:creationId xmlns:a16="http://schemas.microsoft.com/office/drawing/2014/main" id="{B2B9EA72-0FA8-AA72-4C56-4B4FA62B4372}"/>
              </a:ext>
            </a:extLst>
          </p:cNvPr>
          <p:cNvSpPr txBox="1">
            <a:spLocks noGrp="1"/>
          </p:cNvSpPr>
          <p:nvPr>
            <p:ph type="title" idx="3"/>
          </p:nvPr>
        </p:nvSpPr>
        <p:spPr>
          <a:xfrm>
            <a:off x="2049461" y="0"/>
            <a:ext cx="5127715" cy="576000"/>
          </a:xfrm>
          <a:prstGeom prst="rect">
            <a:avLst/>
          </a:prstGeom>
        </p:spPr>
        <p:txBody>
          <a:bodyPr spcFirstLastPara="1" wrap="square" lIns="91425" tIns="91425" rIns="91425" bIns="91425" anchor="ctr" anchorCtr="0">
            <a:noAutofit/>
          </a:bodyPr>
          <a:lstStyle/>
          <a:p>
            <a:r>
              <a:rPr lang="en-US" dirty="0"/>
              <a:t>The student demonstrates the ability to systematically reflect, learn, and request feedback on professional products, processes, and behavior, and apply where appropriate.</a:t>
            </a:r>
            <a:endParaRPr lang="nl-NL" dirty="0"/>
          </a:p>
        </p:txBody>
      </p:sp>
      <p:sp>
        <p:nvSpPr>
          <p:cNvPr id="2" name="Google Shape;462;p48">
            <a:extLst>
              <a:ext uri="{FF2B5EF4-FFF2-40B4-BE49-F238E27FC236}">
                <a16:creationId xmlns:a16="http://schemas.microsoft.com/office/drawing/2014/main" id="{1D7CDF46-2631-9CE8-5E4E-15582BE66E1A}"/>
              </a:ext>
            </a:extLst>
          </p:cNvPr>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r>
              <a:rPr lang="en-US" sz="1100" dirty="0"/>
              <a:t>Learning</a:t>
            </a:r>
          </a:p>
        </p:txBody>
      </p:sp>
    </p:spTree>
    <p:extLst>
      <p:ext uri="{BB962C8B-B14F-4D97-AF65-F5344CB8AC3E}">
        <p14:creationId xmlns:p14="http://schemas.microsoft.com/office/powerpoint/2010/main" val="2509397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52"/>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dirty="0"/>
              <a:t>Section D</a:t>
            </a:r>
            <a:endParaRPr sz="6000" dirty="0"/>
          </a:p>
        </p:txBody>
      </p:sp>
      <p:sp>
        <p:nvSpPr>
          <p:cNvPr id="498" name="Google Shape;498;p52"/>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Reflection</a:t>
            </a:r>
            <a:endParaRPr sz="3000"/>
          </a:p>
        </p:txBody>
      </p:sp>
      <p:sp>
        <p:nvSpPr>
          <p:cNvPr id="499" name="Google Shape;499;p52"/>
          <p:cNvSpPr txBox="1"/>
          <p:nvPr/>
        </p:nvSpPr>
        <p:spPr>
          <a:xfrm>
            <a:off x="-278956" y="736062"/>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40000" dirty="0">
                <a:solidFill>
                  <a:srgbClr val="999999"/>
                </a:solidFill>
                <a:latin typeface="Roboto"/>
                <a:ea typeface="Roboto"/>
                <a:cs typeface="Roboto"/>
                <a:sym typeface="Roboto"/>
              </a:rPr>
              <a:t>D</a:t>
            </a:r>
            <a:endParaRPr sz="40000" dirty="0">
              <a:solidFill>
                <a:srgbClr val="999999"/>
              </a:solidFill>
              <a:latin typeface="Roboto"/>
              <a:ea typeface="Roboto"/>
              <a:cs typeface="Roboto"/>
              <a:sym typeface="Roboto"/>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53"/>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What did I achieve this block?</a:t>
            </a:r>
            <a:endParaRPr/>
          </a:p>
        </p:txBody>
      </p:sp>
      <p:sp>
        <p:nvSpPr>
          <p:cNvPr id="505" name="Google Shape;505;p53"/>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1/2</a:t>
            </a:r>
            <a:endParaRPr/>
          </a:p>
        </p:txBody>
      </p:sp>
      <p:sp>
        <p:nvSpPr>
          <p:cNvPr id="506" name="Google Shape;506;p53"/>
          <p:cNvSpPr txBox="1">
            <a:spLocks noGrp="1"/>
          </p:cNvSpPr>
          <p:nvPr>
            <p:ph type="subTitle" idx="1"/>
          </p:nvPr>
        </p:nvSpPr>
        <p:spPr>
          <a:xfrm>
            <a:off x="182880" y="667512"/>
            <a:ext cx="5486400" cy="4023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dirty="0"/>
              <a:t>My most significant achievements during my </a:t>
            </a:r>
            <a:r>
              <a:rPr lang="en-US" dirty="0"/>
              <a:t>graduation project</a:t>
            </a:r>
            <a:endParaRPr dirty="0"/>
          </a:p>
        </p:txBody>
      </p:sp>
      <p:sp>
        <p:nvSpPr>
          <p:cNvPr id="507" name="Google Shape;507;p53"/>
          <p:cNvSpPr txBox="1">
            <a:spLocks noGrp="1"/>
          </p:cNvSpPr>
          <p:nvPr>
            <p:ph type="body" idx="3"/>
          </p:nvPr>
        </p:nvSpPr>
        <p:spPr>
          <a:xfrm>
            <a:off x="182880" y="1069848"/>
            <a:ext cx="8778300" cy="38952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dirty="0"/>
              <a:t>...</a:t>
            </a:r>
            <a:endParaRPr dirty="0"/>
          </a:p>
          <a:p>
            <a:pPr marL="0" lvl="0" indent="0" algn="just" rtl="0">
              <a:spcBef>
                <a:spcPts val="800"/>
              </a:spcBef>
              <a:spcAft>
                <a:spcPts val="0"/>
              </a:spcAft>
              <a:buNone/>
            </a:pPr>
            <a:endParaRPr dirty="0"/>
          </a:p>
          <a:p>
            <a:pPr marL="0" lvl="0" indent="0" algn="just" rtl="0">
              <a:spcBef>
                <a:spcPts val="800"/>
              </a:spcBef>
              <a:spcAft>
                <a:spcPts val="0"/>
              </a:spcAft>
              <a:buNone/>
            </a:pPr>
            <a:r>
              <a:rPr lang="en" sz="1400" b="1" dirty="0"/>
              <a:t>My most difficult challenges my </a:t>
            </a:r>
            <a:r>
              <a:rPr lang="en-US" sz="1400" b="1" dirty="0"/>
              <a:t>graduation project</a:t>
            </a:r>
            <a:endParaRPr sz="1400" b="1" dirty="0"/>
          </a:p>
          <a:p>
            <a:pPr marL="0" lvl="0" indent="0" algn="just" rtl="0">
              <a:spcBef>
                <a:spcPts val="800"/>
              </a:spcBef>
              <a:spcAft>
                <a:spcPts val="0"/>
              </a:spcAft>
              <a:buNone/>
            </a:pPr>
            <a:r>
              <a:rPr lang="en" dirty="0"/>
              <a:t>...</a:t>
            </a:r>
            <a:endParaRPr dirty="0"/>
          </a:p>
          <a:p>
            <a:pPr marL="0" lvl="0" indent="0" algn="just" rtl="0">
              <a:spcBef>
                <a:spcPts val="800"/>
              </a:spcBef>
              <a:spcAft>
                <a:spcPts val="0"/>
              </a:spcAft>
              <a:buNone/>
            </a:pPr>
            <a:endParaRPr dirty="0"/>
          </a:p>
          <a:p>
            <a:pPr marL="0" lvl="0" indent="0" algn="just" rtl="0">
              <a:spcBef>
                <a:spcPts val="800"/>
              </a:spcBef>
              <a:spcAft>
                <a:spcPts val="0"/>
              </a:spcAft>
              <a:buNone/>
            </a:pPr>
            <a:r>
              <a:rPr lang="en" sz="1400" b="1" dirty="0"/>
              <a:t>The most important lessons I learned during my </a:t>
            </a:r>
            <a:r>
              <a:rPr lang="en-US" sz="1400" b="1" dirty="0"/>
              <a:t>graduation project</a:t>
            </a:r>
            <a:endParaRPr sz="1400" b="1" dirty="0"/>
          </a:p>
          <a:p>
            <a:pPr marL="0" lvl="0" indent="0" algn="just" rtl="0">
              <a:spcBef>
                <a:spcPts val="800"/>
              </a:spcBef>
              <a:spcAft>
                <a:spcPts val="800"/>
              </a:spcAft>
              <a:buNone/>
            </a:pPr>
            <a:r>
              <a:rPr lang="en" dirty="0"/>
              <a:t>...</a:t>
            </a:r>
            <a:endParaRPr dirty="0"/>
          </a:p>
        </p:txBody>
      </p:sp>
      <p:sp>
        <p:nvSpPr>
          <p:cNvPr id="508" name="Google Shape;508;p53"/>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D</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53"/>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What did I achieve this block?</a:t>
            </a:r>
            <a:endParaRPr/>
          </a:p>
        </p:txBody>
      </p:sp>
      <p:sp>
        <p:nvSpPr>
          <p:cNvPr id="505" name="Google Shape;505;p53"/>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1/2</a:t>
            </a:r>
            <a:endParaRPr/>
          </a:p>
        </p:txBody>
      </p:sp>
      <p:sp>
        <p:nvSpPr>
          <p:cNvPr id="506" name="Google Shape;506;p53"/>
          <p:cNvSpPr txBox="1">
            <a:spLocks noGrp="1"/>
          </p:cNvSpPr>
          <p:nvPr>
            <p:ph type="subTitle" idx="1"/>
          </p:nvPr>
        </p:nvSpPr>
        <p:spPr>
          <a:xfrm>
            <a:off x="182880" y="667512"/>
            <a:ext cx="6027420" cy="4023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dirty="0"/>
              <a:t>These where the qualities </a:t>
            </a:r>
            <a:r>
              <a:rPr lang="en-GB" dirty="0"/>
              <a:t>I</a:t>
            </a:r>
            <a:r>
              <a:rPr lang="en" dirty="0"/>
              <a:t> intended to work on indicated in section A</a:t>
            </a:r>
          </a:p>
          <a:p>
            <a:pPr marL="0" lvl="0" indent="0" algn="l" rtl="0">
              <a:spcBef>
                <a:spcPts val="0"/>
              </a:spcBef>
              <a:spcAft>
                <a:spcPts val="800"/>
              </a:spcAft>
              <a:buNone/>
            </a:pPr>
            <a:endParaRPr dirty="0"/>
          </a:p>
        </p:txBody>
      </p:sp>
      <p:sp>
        <p:nvSpPr>
          <p:cNvPr id="507" name="Google Shape;507;p53"/>
          <p:cNvSpPr txBox="1">
            <a:spLocks noGrp="1"/>
          </p:cNvSpPr>
          <p:nvPr>
            <p:ph type="body" idx="3"/>
          </p:nvPr>
        </p:nvSpPr>
        <p:spPr>
          <a:xfrm>
            <a:off x="182880" y="1069848"/>
            <a:ext cx="8778300" cy="38952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dirty="0"/>
              <a:t>...</a:t>
            </a:r>
            <a:endParaRPr dirty="0"/>
          </a:p>
          <a:p>
            <a:pPr marL="0" lvl="0" indent="0" algn="just" rtl="0">
              <a:spcBef>
                <a:spcPts val="800"/>
              </a:spcBef>
              <a:spcAft>
                <a:spcPts val="0"/>
              </a:spcAft>
              <a:buNone/>
            </a:pPr>
            <a:endParaRPr dirty="0"/>
          </a:p>
          <a:p>
            <a:pPr marL="0" lvl="0" indent="0" algn="just" rtl="0">
              <a:spcBef>
                <a:spcPts val="800"/>
              </a:spcBef>
              <a:spcAft>
                <a:spcPts val="0"/>
              </a:spcAft>
              <a:buNone/>
            </a:pPr>
            <a:r>
              <a:rPr lang="en-GB" sz="1400" b="1" dirty="0"/>
              <a:t>This is how I feel like I improved on those qualities</a:t>
            </a:r>
            <a:endParaRPr sz="1400" b="1" dirty="0"/>
          </a:p>
          <a:p>
            <a:pPr marL="0" lvl="0" indent="0" algn="just" rtl="0">
              <a:spcBef>
                <a:spcPts val="800"/>
              </a:spcBef>
              <a:spcAft>
                <a:spcPts val="0"/>
              </a:spcAft>
              <a:buNone/>
            </a:pPr>
            <a:r>
              <a:rPr lang="en" dirty="0"/>
              <a:t>...</a:t>
            </a:r>
            <a:endParaRPr dirty="0"/>
          </a:p>
          <a:p>
            <a:pPr marL="0" lvl="0" indent="0" algn="just" rtl="0">
              <a:spcBef>
                <a:spcPts val="800"/>
              </a:spcBef>
              <a:spcAft>
                <a:spcPts val="0"/>
              </a:spcAft>
              <a:buNone/>
            </a:pPr>
            <a:endParaRPr dirty="0"/>
          </a:p>
          <a:p>
            <a:pPr marL="0" lvl="0" indent="0" algn="just" rtl="0">
              <a:spcBef>
                <a:spcPts val="800"/>
              </a:spcBef>
              <a:spcAft>
                <a:spcPts val="0"/>
              </a:spcAft>
              <a:buNone/>
            </a:pPr>
            <a:r>
              <a:rPr lang="en-GB" sz="1400" b="1" dirty="0"/>
              <a:t>This is the advice I would give myself if I would start my graduation project with the knowledge I have now</a:t>
            </a:r>
            <a:endParaRPr sz="1400" b="1" dirty="0"/>
          </a:p>
          <a:p>
            <a:pPr marL="0" lvl="0" indent="0" algn="just" rtl="0">
              <a:spcBef>
                <a:spcPts val="800"/>
              </a:spcBef>
              <a:spcAft>
                <a:spcPts val="800"/>
              </a:spcAft>
              <a:buNone/>
            </a:pPr>
            <a:r>
              <a:rPr lang="en" dirty="0"/>
              <a:t>...</a:t>
            </a:r>
            <a:endParaRPr dirty="0"/>
          </a:p>
        </p:txBody>
      </p:sp>
      <p:sp>
        <p:nvSpPr>
          <p:cNvPr id="508" name="Google Shape;508;p53"/>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D</a:t>
            </a:r>
          </a:p>
        </p:txBody>
      </p:sp>
    </p:spTree>
    <p:extLst>
      <p:ext uri="{BB962C8B-B14F-4D97-AF65-F5344CB8AC3E}">
        <p14:creationId xmlns:p14="http://schemas.microsoft.com/office/powerpoint/2010/main" val="3347921444"/>
      </p:ext>
    </p:extLst>
  </p:cSld>
  <p:clrMapOvr>
    <a:masterClrMapping/>
  </p:clrMapOvr>
</p:sld>
</file>

<file path=ppt/theme/theme1.xml><?xml version="1.0" encoding="utf-8"?>
<a:theme xmlns:a="http://schemas.openxmlformats.org/drawingml/2006/main" name="BUAS Gameday">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3C78D8"/>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5ff92c65-ed86-4457-baee-ccd535c9ea21">
      <Terms xmlns="http://schemas.microsoft.com/office/infopath/2007/PartnerControls"/>
    </lcf76f155ced4ddcb4097134ff3c332f>
    <TaxCatchAll xmlns="6c8d291c-a5bf-4049-930d-38db8e991d8e"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BADAD4AA324BF48804EF76FD903323C" ma:contentTypeVersion="15" ma:contentTypeDescription="Een nieuw document maken." ma:contentTypeScope="" ma:versionID="fe102fc92a60fb44f88498837809608c">
  <xsd:schema xmlns:xsd="http://www.w3.org/2001/XMLSchema" xmlns:xs="http://www.w3.org/2001/XMLSchema" xmlns:p="http://schemas.microsoft.com/office/2006/metadata/properties" xmlns:ns2="5ff92c65-ed86-4457-baee-ccd535c9ea21" xmlns:ns3="6c8d291c-a5bf-4049-930d-38db8e991d8e" targetNamespace="http://schemas.microsoft.com/office/2006/metadata/properties" ma:root="true" ma:fieldsID="02f72fefe31d96546aeabc284eee7b20" ns2:_="" ns3:_="">
    <xsd:import namespace="5ff92c65-ed86-4457-baee-ccd535c9ea21"/>
    <xsd:import namespace="6c8d291c-a5bf-4049-930d-38db8e991d8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f92c65-ed86-4457-baee-ccd535c9ea2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Afbeeldingtags" ma:readOnly="false" ma:fieldId="{5cf76f15-5ced-4ddc-b409-7134ff3c332f}" ma:taxonomyMulti="true" ma:sspId="365a90ea-d0e7-4aae-8ef9-9f5dd1eb65e3"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c8d291c-a5bf-4049-930d-38db8e991d8e" elementFormDefault="qualified">
    <xsd:import namespace="http://schemas.microsoft.com/office/2006/documentManagement/types"/>
    <xsd:import namespace="http://schemas.microsoft.com/office/infopath/2007/PartnerControls"/>
    <xsd:element name="SharedWithUsers" ma:index="12"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Gedeeld met details" ma:internalName="SharedWithDetails" ma:readOnly="true">
      <xsd:simpleType>
        <xsd:restriction base="dms:Note">
          <xsd:maxLength value="255"/>
        </xsd:restriction>
      </xsd:simpleType>
    </xsd:element>
    <xsd:element name="TaxCatchAll" ma:index="16" nillable="true" ma:displayName="Taxonomy Catch All Column" ma:hidden="true" ma:list="{2ad53588-c864-4711-ad43-fad96b40598a}" ma:internalName="TaxCatchAll" ma:showField="CatchAllData" ma:web="6c8d291c-a5bf-4049-930d-38db8e991d8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067B86F-F5BB-4BE6-9A37-0E19E53CB68B}">
  <ds:schemaRefs>
    <ds:schemaRef ds:uri="http://schemas.microsoft.com/office/2006/metadata/properties"/>
    <ds:schemaRef ds:uri="http://www.w3.org/2000/xmlns/"/>
    <ds:schemaRef ds:uri="5ff92c65-ed86-4457-baee-ccd535c9ea21"/>
    <ds:schemaRef ds:uri="http://schemas.microsoft.com/office/infopath/2007/PartnerControls"/>
    <ds:schemaRef ds:uri="6c8d291c-a5bf-4049-930d-38db8e991d8e"/>
    <ds:schemaRef ds:uri="http://www.w3.org/2001/XMLSchema-instance"/>
  </ds:schemaRefs>
</ds:datastoreItem>
</file>

<file path=customXml/itemProps2.xml><?xml version="1.0" encoding="utf-8"?>
<ds:datastoreItem xmlns:ds="http://schemas.openxmlformats.org/officeDocument/2006/customXml" ds:itemID="{98D9791E-52D0-4ABB-925A-4EAECF798D9B}">
  <ds:schemaRefs>
    <ds:schemaRef ds:uri="http://schemas.microsoft.com/sharepoint/v3/contenttype/forms"/>
  </ds:schemaRefs>
</ds:datastoreItem>
</file>

<file path=customXml/itemProps3.xml><?xml version="1.0" encoding="utf-8"?>
<ds:datastoreItem xmlns:ds="http://schemas.openxmlformats.org/officeDocument/2006/customXml" ds:itemID="{FD274795-8130-4893-9AFD-BAA9B90058EA}">
  <ds:schemaRefs>
    <ds:schemaRef ds:uri="http://schemas.microsoft.com/office/2006/metadata/contentType"/>
    <ds:schemaRef ds:uri="http://schemas.microsoft.com/office/2006/metadata/properties/metaAttributes"/>
    <ds:schemaRef ds:uri="http://www.w3.org/2000/xmlns/"/>
    <ds:schemaRef ds:uri="http://www.w3.org/2001/XMLSchema"/>
    <ds:schemaRef ds:uri="5ff92c65-ed86-4457-baee-ccd535c9ea21"/>
    <ds:schemaRef ds:uri="6c8d291c-a5bf-4049-930d-38db8e991d8e"/>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1579</TotalTime>
  <Words>9817</Words>
  <Application>Microsoft Office PowerPoint</Application>
  <PresentationFormat>On-screen Show (16:9)</PresentationFormat>
  <Paragraphs>999</Paragraphs>
  <Slides>71</Slides>
  <Notes>70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71</vt:i4>
      </vt:variant>
    </vt:vector>
  </HeadingPairs>
  <TitlesOfParts>
    <vt:vector size="82" baseType="lpstr">
      <vt:lpstr>Roboto Light</vt:lpstr>
      <vt:lpstr>Alfa Slab One</vt:lpstr>
      <vt:lpstr>Roboto Thin</vt:lpstr>
      <vt:lpstr>Helvetica Neue</vt:lpstr>
      <vt:lpstr>Proxima Nova</vt:lpstr>
      <vt:lpstr>Roboto</vt:lpstr>
      <vt:lpstr>Segoe UI</vt:lpstr>
      <vt:lpstr>Open Sans</vt:lpstr>
      <vt:lpstr>Times New Roman</vt:lpstr>
      <vt:lpstr>Arial</vt:lpstr>
      <vt:lpstr>BUAS Gameday</vt:lpstr>
      <vt:lpstr>Vladislav Stoimenov 235030 Gradation Project</vt:lpstr>
      <vt:lpstr>How To Use This Template</vt:lpstr>
      <vt:lpstr>Learning Log Structure</vt:lpstr>
      <vt:lpstr>Section A</vt:lpstr>
      <vt:lpstr>What is my plan?</vt:lpstr>
      <vt:lpstr>Where am I starting?</vt:lpstr>
      <vt:lpstr>What are my goals?</vt:lpstr>
      <vt:lpstr>Section B</vt:lpstr>
      <vt:lpstr>Week 1 - Log</vt:lpstr>
      <vt:lpstr>Week 1 - Feedback</vt:lpstr>
      <vt:lpstr>Week 2 - Log</vt:lpstr>
      <vt:lpstr>Week 2 - Feedback</vt:lpstr>
      <vt:lpstr>Week 3 - Log</vt:lpstr>
      <vt:lpstr>Week 3 - Feedback</vt:lpstr>
      <vt:lpstr>Week 4 - Log</vt:lpstr>
      <vt:lpstr>Week 4 - Feedback</vt:lpstr>
      <vt:lpstr>Week 5 - Log</vt:lpstr>
      <vt:lpstr>Week 5 - Feedback</vt:lpstr>
      <vt:lpstr>Week 6 - Log</vt:lpstr>
      <vt:lpstr>Week 6 - Feedback</vt:lpstr>
      <vt:lpstr>Week 7 - Log</vt:lpstr>
      <vt:lpstr>Week 7 - Feedback</vt:lpstr>
      <vt:lpstr>Week 8 - Log</vt:lpstr>
      <vt:lpstr>Week 8 - Feedback</vt:lpstr>
      <vt:lpstr>Week 9 - Log</vt:lpstr>
      <vt:lpstr>Week 9 - Feedback</vt:lpstr>
      <vt:lpstr>Week 10 - Log</vt:lpstr>
      <vt:lpstr>Week 10 - Feedback</vt:lpstr>
      <vt:lpstr>You are halfway there!</vt:lpstr>
      <vt:lpstr>Week 11 - Log</vt:lpstr>
      <vt:lpstr>Week 11 - Feedback</vt:lpstr>
      <vt:lpstr>Week 12 - Log</vt:lpstr>
      <vt:lpstr>Week 12 - Feedback</vt:lpstr>
      <vt:lpstr>Week 13 - Log</vt:lpstr>
      <vt:lpstr>Week 13 - Feedback</vt:lpstr>
      <vt:lpstr>Week 14 - Log</vt:lpstr>
      <vt:lpstr>Week 14 - Feedback</vt:lpstr>
      <vt:lpstr>Week 15 - Log</vt:lpstr>
      <vt:lpstr>Week 15 - Feedback</vt:lpstr>
      <vt:lpstr>Week 16 - Log</vt:lpstr>
      <vt:lpstr>Week 16 - Feedback</vt:lpstr>
      <vt:lpstr>Week 17 - Log</vt:lpstr>
      <vt:lpstr>Week 17 - Feedback</vt:lpstr>
      <vt:lpstr>Week 18 - Log</vt:lpstr>
      <vt:lpstr>Week 18 - Feedback</vt:lpstr>
      <vt:lpstr>Week 19 - Log</vt:lpstr>
      <vt:lpstr>Week 19 - Feedback</vt:lpstr>
      <vt:lpstr>Week 20 - Log</vt:lpstr>
      <vt:lpstr>Week 20 - Feedback</vt:lpstr>
      <vt:lpstr>You made it!</vt:lpstr>
      <vt:lpstr>Section C</vt:lpstr>
      <vt:lpstr>ILO 1</vt:lpstr>
      <vt:lpstr>ILO 1</vt:lpstr>
      <vt:lpstr>ILO 1</vt:lpstr>
      <vt:lpstr>ILO 1</vt:lpstr>
      <vt:lpstr>ILO 2</vt:lpstr>
      <vt:lpstr>ILO 2</vt:lpstr>
      <vt:lpstr>ILO 2</vt:lpstr>
      <vt:lpstr>ILO 3</vt:lpstr>
      <vt:lpstr>ILO 3</vt:lpstr>
      <vt:lpstr>ILO 3</vt:lpstr>
      <vt:lpstr>ILO 4</vt:lpstr>
      <vt:lpstr>ILO 4</vt:lpstr>
      <vt:lpstr>ILO 4</vt:lpstr>
      <vt:lpstr>ILO 4</vt:lpstr>
      <vt:lpstr>ILO 5</vt:lpstr>
      <vt:lpstr>ILO 5</vt:lpstr>
      <vt:lpstr>ILO 5</vt:lpstr>
      <vt:lpstr>Section D</vt:lpstr>
      <vt:lpstr>What did I achieve this block?</vt:lpstr>
      <vt:lpstr>What did I achieve this block?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«studentname» «studentid» «studentacademicproject»</dc:title>
  <cp:lastModifiedBy>Vladi</cp:lastModifiedBy>
  <cp:revision>241</cp:revision>
  <dcterms:modified xsi:type="dcterms:W3CDTF">2026-10-11T14:43:04Z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0x0101000BADAD4AA324BF48804EF76FD903323C</vt:lpwstr>
  </property>
  <property fmtid="{D5CDD505-2E9C-101B-9397-08002B2CF9AE}" pid="3" name="MediaServiceImageTags">
    <vt:lpwstr/>
  </property>
</Properties>
</file>