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76"/>
  </p:notesMasterIdLst>
  <p:sldIdLst>
    <p:sldId id="378" r:id="rId5"/>
    <p:sldId id="257" r:id="rId6"/>
    <p:sldId id="258" r:id="rId7"/>
    <p:sldId id="263" r:id="rId8"/>
    <p:sldId id="261" r:id="rId9"/>
    <p:sldId id="260" r:id="rId10"/>
    <p:sldId id="262" r:id="rId11"/>
    <p:sldId id="305" r:id="rId12"/>
    <p:sldId id="264" r:id="rId13"/>
    <p:sldId id="265" r:id="rId14"/>
    <p:sldId id="339" r:id="rId15"/>
    <p:sldId id="340" r:id="rId16"/>
    <p:sldId id="341" r:id="rId17"/>
    <p:sldId id="342" r:id="rId18"/>
    <p:sldId id="345" r:id="rId19"/>
    <p:sldId id="346" r:id="rId20"/>
    <p:sldId id="347" r:id="rId21"/>
    <p:sldId id="348" r:id="rId22"/>
    <p:sldId id="349" r:id="rId23"/>
    <p:sldId id="350" r:id="rId24"/>
    <p:sldId id="351" r:id="rId25"/>
    <p:sldId id="352" r:id="rId26"/>
    <p:sldId id="353" r:id="rId27"/>
    <p:sldId id="354" r:id="rId28"/>
    <p:sldId id="355" r:id="rId29"/>
    <p:sldId id="356" r:id="rId30"/>
    <p:sldId id="343" r:id="rId31"/>
    <p:sldId id="344" r:id="rId32"/>
    <p:sldId id="357" r:id="rId33"/>
    <p:sldId id="358" r:id="rId34"/>
    <p:sldId id="359" r:id="rId35"/>
    <p:sldId id="360" r:id="rId36"/>
    <p:sldId id="361" r:id="rId37"/>
    <p:sldId id="362" r:id="rId38"/>
    <p:sldId id="363" r:id="rId39"/>
    <p:sldId id="364" r:id="rId40"/>
    <p:sldId id="365" r:id="rId41"/>
    <p:sldId id="366" r:id="rId42"/>
    <p:sldId id="367" r:id="rId43"/>
    <p:sldId id="368" r:id="rId44"/>
    <p:sldId id="377" r:id="rId45"/>
    <p:sldId id="376" r:id="rId46"/>
    <p:sldId id="369" r:id="rId47"/>
    <p:sldId id="370" r:id="rId48"/>
    <p:sldId id="371" r:id="rId49"/>
    <p:sldId id="372" r:id="rId50"/>
    <p:sldId id="373" r:id="rId51"/>
    <p:sldId id="374" r:id="rId52"/>
    <p:sldId id="375" r:id="rId53"/>
    <p:sldId id="379" r:id="rId54"/>
    <p:sldId id="282" r:id="rId55"/>
    <p:sldId id="387" r:id="rId56"/>
    <p:sldId id="286" r:id="rId57"/>
    <p:sldId id="399" r:id="rId58"/>
    <p:sldId id="398" r:id="rId59"/>
    <p:sldId id="315" r:id="rId60"/>
    <p:sldId id="292" r:id="rId61"/>
    <p:sldId id="400" r:id="rId62"/>
    <p:sldId id="293" r:id="rId63"/>
    <p:sldId id="294" r:id="rId64"/>
    <p:sldId id="401" r:id="rId65"/>
    <p:sldId id="299" r:id="rId66"/>
    <p:sldId id="300" r:id="rId67"/>
    <p:sldId id="402" r:id="rId68"/>
    <p:sldId id="403" r:id="rId69"/>
    <p:sldId id="336" r:id="rId70"/>
    <p:sldId id="330" r:id="rId71"/>
    <p:sldId id="404" r:id="rId72"/>
    <p:sldId id="296" r:id="rId73"/>
    <p:sldId id="297" r:id="rId74"/>
    <p:sldId id="380" r:id="rId75"/>
  </p:sldIdLst>
  <p:sldSz cx="9144000" cy="5143500" type="screen16x9"/>
  <p:notesSz cx="6858000" cy="9144000"/>
  <p:embeddedFontLst>
    <p:embeddedFont>
      <p:font typeface="Roboto Light" panose="020B0604020202020204" charset="0"/>
      <p:regular r:id="rId77"/>
      <p:italic r:id="rId78"/>
    </p:embeddedFont>
    <p:embeddedFont>
      <p:font typeface="Segoe UI" panose="020B0502040204020203" pitchFamily="34" charset="0"/>
      <p:regular r:id="rId79"/>
      <p:bold r:id="rId80"/>
      <p:italic r:id="rId81"/>
      <p:boldItalic r:id="rId82"/>
    </p:embeddedFont>
    <p:embeddedFont>
      <p:font typeface="Roboto" panose="02000000000000000000" pitchFamily="2" charset="0"/>
      <p:regular r:id="rId83"/>
      <p:bold r:id="rId84"/>
      <p:italic r:id="rId85"/>
      <p:boldItalic r:id="rId86"/>
    </p:embeddedFont>
    <p:embeddedFont>
      <p:font typeface="Open Sans" panose="020B0604020202020204" charset="0"/>
      <p:regular r:id="rId87"/>
      <p:bold r:id="rId88"/>
      <p:italic r:id="rId89"/>
      <p:boldItalic r:id="rId90"/>
    </p:embeddedFont>
    <p:embeddedFont>
      <p:font typeface="Helvetica Neue" panose="020B0604020202020204" charset="0"/>
      <p:regular r:id="rId91"/>
      <p:bold r:id="rId92"/>
      <p:italic r:id="rId93"/>
      <p:boldItalic r:id="rId94"/>
    </p:embeddedFont>
    <p:embeddedFont>
      <p:font typeface="Roboto Thin" panose="020B0604020202020204" charset="0"/>
      <p:regular r:id="rId95"/>
      <p:italic r:id="rId96"/>
    </p:embeddedFont>
    <p:embeddedFont>
      <p:font typeface="Proxima Nova" panose="020B0604020202020204" charset="0"/>
      <p:regular r:id="rId97"/>
      <p:bold r:id="rId98"/>
      <p:italic r:id="rId99"/>
      <p:boldItalic r:id="rId10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C4821C5-7DAE-40AD-6BC5-33696CD2F500}" name="Buckens, Myrthe" initials="MB" userId="S::buckens.m@buas.nl::d647a740-c1b5-45be-8984-ac0295ff2426"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5" autoAdjust="0"/>
    <p:restoredTop sz="94702" autoAdjust="0"/>
  </p:normalViewPr>
  <p:slideViewPr>
    <p:cSldViewPr snapToGrid="0">
      <p:cViewPr varScale="1">
        <p:scale>
          <a:sx n="144" d="100"/>
          <a:sy n="144" d="100"/>
        </p:scale>
        <p:origin x="1272" y="120"/>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80" d="100"/>
        <a:sy n="1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font" Target="fonts/font8.fntdata"/><Relationship Id="rId89" Type="http://schemas.openxmlformats.org/officeDocument/2006/relationships/font" Target="fonts/font13.fntdata"/><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font" Target="fonts/font3.fntdata"/><Relationship Id="rId102" Type="http://schemas.openxmlformats.org/officeDocument/2006/relationships/presProps" Target="presProps.xml"/><Relationship Id="rId5" Type="http://schemas.openxmlformats.org/officeDocument/2006/relationships/slide" Target="slides/slide1.xml"/><Relationship Id="rId90" Type="http://schemas.openxmlformats.org/officeDocument/2006/relationships/font" Target="fonts/font14.fntdata"/><Relationship Id="rId95" Type="http://schemas.openxmlformats.org/officeDocument/2006/relationships/font" Target="fonts/font19.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font" Target="fonts/font4.fntdata"/><Relationship Id="rId85" Type="http://schemas.openxmlformats.org/officeDocument/2006/relationships/font" Target="fonts/font9.fntdata"/><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font" Target="fonts/font7.fntdata"/><Relationship Id="rId88" Type="http://schemas.openxmlformats.org/officeDocument/2006/relationships/font" Target="fonts/font12.fntdata"/><Relationship Id="rId91" Type="http://schemas.openxmlformats.org/officeDocument/2006/relationships/font" Target="fonts/font15.fntdata"/><Relationship Id="rId96" Type="http://schemas.openxmlformats.org/officeDocument/2006/relationships/font" Target="fonts/font20.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microsoft.com/office/2018/10/relationships/authors" Target="author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font" Target="fonts/font2.fntdata"/><Relationship Id="rId81" Type="http://schemas.openxmlformats.org/officeDocument/2006/relationships/font" Target="fonts/font5.fntdata"/><Relationship Id="rId86" Type="http://schemas.openxmlformats.org/officeDocument/2006/relationships/font" Target="fonts/font10.fntdata"/><Relationship Id="rId94" Type="http://schemas.openxmlformats.org/officeDocument/2006/relationships/font" Target="fonts/font18.fntdata"/><Relationship Id="rId99" Type="http://schemas.openxmlformats.org/officeDocument/2006/relationships/font" Target="fonts/font23.fntdata"/><Relationship Id="rId101"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notesMaster" Target="notesMasters/notesMaster1.xml"/><Relationship Id="rId97" Type="http://schemas.openxmlformats.org/officeDocument/2006/relationships/font" Target="fonts/font21.fntdata"/><Relationship Id="rId104"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font" Target="fonts/font16.fntdata"/><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font" Target="fonts/font11.fntdata"/><Relationship Id="rId61" Type="http://schemas.openxmlformats.org/officeDocument/2006/relationships/slide" Target="slides/slide57.xml"/><Relationship Id="rId82" Type="http://schemas.openxmlformats.org/officeDocument/2006/relationships/font" Target="fonts/font6.fntdata"/><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font" Target="fonts/font1.fntdata"/><Relationship Id="rId100" Type="http://schemas.openxmlformats.org/officeDocument/2006/relationships/font" Target="fonts/font24.fntdata"/><Relationship Id="rId105"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font" Target="fonts/font17.fntdata"/><Relationship Id="rId98" Type="http://schemas.openxmlformats.org/officeDocument/2006/relationships/font" Target="fonts/font22.fntdata"/><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UPDATED EVERY WEEK</a:t>
            </a:r>
            <a:endParaRPr dirty="0"/>
          </a:p>
          <a:p>
            <a:pPr marL="0" lvl="0" indent="0" algn="l" rtl="0">
              <a:spcBef>
                <a:spcPts val="0"/>
              </a:spcBef>
              <a:spcAft>
                <a:spcPts val="0"/>
              </a:spcAft>
              <a:buNone/>
            </a:pPr>
            <a:r>
              <a:rPr lang="en" dirty="0"/>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0"/>
              </a:spcBef>
              <a:spcAft>
                <a:spcPts val="0"/>
              </a:spcAft>
              <a:buNone/>
            </a:pPr>
            <a:r>
              <a:rPr lang="en" dirty="0"/>
              <a:t>(Some reflection is almost always a good idea as it provides the foundation for Section C.)</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a:p>
          <a:p>
            <a:pPr marL="0" lvl="0" indent="0" algn="l" rtl="0">
              <a:spcBef>
                <a:spcPts val="0"/>
              </a:spcBef>
              <a:spcAft>
                <a:spcPts val="0"/>
              </a:spcAft>
              <a:buNone/>
            </a:pPr>
            <a:endParaRPr/>
          </a:p>
          <a:p>
            <a:pPr marL="0" lvl="0" indent="0" algn="l" rtl="0">
              <a:spcBef>
                <a:spcPts val="0"/>
              </a:spcBef>
              <a:spcAft>
                <a:spcPts val="0"/>
              </a:spcAft>
              <a:buNone/>
            </a:pPr>
            <a:r>
              <a:rPr lang="en"/>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UPDATED EVERY WEEK</a:t>
            </a:r>
            <a:endParaRPr dirty="0"/>
          </a:p>
          <a:p>
            <a:pPr marL="0" lvl="0" indent="0" algn="l" rtl="0">
              <a:spcBef>
                <a:spcPts val="0"/>
              </a:spcBef>
              <a:spcAft>
                <a:spcPts val="0"/>
              </a:spcAft>
              <a:buNone/>
            </a:pPr>
            <a:r>
              <a:rPr lang="en" dirty="0"/>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0"/>
              </a:spcBef>
              <a:spcAft>
                <a:spcPts val="0"/>
              </a:spcAft>
              <a:buNone/>
            </a:pPr>
            <a:r>
              <a:rPr lang="en" dirty="0"/>
              <a:t>(Some reflection is almost always a good idea as it provides the foundation for Section C.)</a:t>
            </a:r>
            <a:endParaRPr dirty="0"/>
          </a:p>
        </p:txBody>
      </p:sp>
    </p:spTree>
    <p:extLst>
      <p:ext uri="{BB962C8B-B14F-4D97-AF65-F5344CB8AC3E}">
        <p14:creationId xmlns:p14="http://schemas.microsoft.com/office/powerpoint/2010/main" val="326737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0181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2941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3604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1863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84030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30918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126471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27685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3844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36028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4266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3751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37014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32373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59324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76991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953281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168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96567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86742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0663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12891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37238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74140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853912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18686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84996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2600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6119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9201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40580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3663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386351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6133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8930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26350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550654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693564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59600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84254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COMPLETED IN WEEK 20, BUT SHOULD BE UPDATED REGULARLY</a:t>
            </a:r>
            <a:endParaRPr dirty="0"/>
          </a:p>
          <a:p>
            <a:pPr marL="0" lvl="0" indent="0" algn="l" rtl="0">
              <a:spcBef>
                <a:spcPts val="0"/>
              </a:spcBef>
              <a:spcAft>
                <a:spcPts val="0"/>
              </a:spcAft>
              <a:buNone/>
            </a:pPr>
            <a:r>
              <a:rPr lang="en" dirty="0"/>
              <a:t>This is where you link your evidence to each of the Intended Learning Outcomes of this block.</a:t>
            </a:r>
            <a:endParaRPr dirty="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a:extLst>
            <a:ext uri="{FF2B5EF4-FFF2-40B4-BE49-F238E27FC236}">
              <a16:creationId xmlns:a16="http://schemas.microsoft.com/office/drawing/2014/main" id="{24BC6F97-84BF-2F97-5CB1-7A9691B9BBCB}"/>
            </a:ext>
          </a:extLst>
        </p:cNvPr>
        <p:cNvGrpSpPr/>
        <p:nvPr/>
      </p:nvGrpSpPr>
      <p:grpSpPr>
        <a:xfrm>
          <a:off x="0" y="0"/>
          <a:ext cx="0" cy="0"/>
          <a:chOff x="0" y="0"/>
          <a:chExt cx="0" cy="0"/>
        </a:xfrm>
      </p:grpSpPr>
      <p:sp>
        <p:nvSpPr>
          <p:cNvPr id="360" name="Google Shape;360;g6b4f495656_0_703:notes">
            <a:extLst>
              <a:ext uri="{FF2B5EF4-FFF2-40B4-BE49-F238E27FC236}">
                <a16:creationId xmlns:a16="http://schemas.microsoft.com/office/drawing/2014/main" id="{19F6F6F7-1B29-CED8-152B-FA3E60A546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a:extLst>
              <a:ext uri="{FF2B5EF4-FFF2-40B4-BE49-F238E27FC236}">
                <a16:creationId xmlns:a16="http://schemas.microsoft.com/office/drawing/2014/main" id="{A3C8058E-363A-D595-85D0-0F005F2680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982960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F88C2208-766C-C3A4-0289-A973D2D4894E}"/>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F12BA31E-A348-E8AA-0B97-7B14B6C9A2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A938629C-A21F-1913-91BD-9C0F1FC0EF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3021529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062FC12A-4AE3-9384-0933-9E22434D6558}"/>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6D894EE8-40D1-C473-907B-1DB83E1BA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F4F60824-6A1A-00AF-7BA4-5CA1F70574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18985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6b602ea5a7_1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6b602ea5a7_1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a:extLst>
            <a:ext uri="{FF2B5EF4-FFF2-40B4-BE49-F238E27FC236}">
              <a16:creationId xmlns:a16="http://schemas.microsoft.com/office/drawing/2014/main" id="{FCAA020E-FB45-AC51-2AE3-616A73A5C2D2}"/>
            </a:ext>
          </a:extLst>
        </p:cNvPr>
        <p:cNvGrpSpPr/>
        <p:nvPr/>
      </p:nvGrpSpPr>
      <p:grpSpPr>
        <a:xfrm>
          <a:off x="0" y="0"/>
          <a:ext cx="0" cy="0"/>
          <a:chOff x="0" y="0"/>
          <a:chExt cx="0" cy="0"/>
        </a:xfrm>
      </p:grpSpPr>
      <p:sp>
        <p:nvSpPr>
          <p:cNvPr id="453" name="Google Shape;453;g6b602ea5a7_1_346:notes">
            <a:extLst>
              <a:ext uri="{FF2B5EF4-FFF2-40B4-BE49-F238E27FC236}">
                <a16:creationId xmlns:a16="http://schemas.microsoft.com/office/drawing/2014/main" id="{71CE232E-AE41-B182-924B-63E276EA7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6b602ea5a7_1_346:notes">
            <a:extLst>
              <a:ext uri="{FF2B5EF4-FFF2-40B4-BE49-F238E27FC236}">
                <a16:creationId xmlns:a16="http://schemas.microsoft.com/office/drawing/2014/main" id="{D288A570-55B4-B7A6-CE99-C74F1CBE9B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8357605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9E5271FF-013C-9B4B-3711-DCCA3506F86A}"/>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AA6831BE-4551-1D73-2127-E88ACC9F6D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F84D9DE6-3B9D-A6E6-46DA-CD3D97D895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021884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389750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39040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FBB8AD7A-C6AD-4A50-DA2C-79B66D1CB3C7}"/>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A1FE9A43-5A94-6035-09FA-F559D1F6E3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E65FA0CF-4D02-0867-74BD-990CB26C14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67195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0DCE54AB-AB5D-45D5-F748-8CEE3908C2B5}"/>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1F3E51F6-EFDC-6112-E3FA-DBA3978973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8D947759-31C2-F625-1BBD-D973561C5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543863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724404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736188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A25F3289-1130-8B87-4772-55047E10ADD3}"/>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2644CD2B-D529-9B97-A6DF-A44D8EDFBC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993014CE-6780-733F-5F4A-FFC85F1EFF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24403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95325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sp>
        <p:nvSpPr>
          <p:cNvPr id="16" name="Google Shape;16;p2"/>
          <p:cNvSpPr txBox="1"/>
          <p:nvPr/>
        </p:nvSpPr>
        <p:spPr>
          <a:xfrm>
            <a:off x="1846250" y="4412100"/>
            <a:ext cx="6527400" cy="598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dirty="0">
                <a:solidFill>
                  <a:srgbClr val="999999"/>
                </a:solidFill>
                <a:latin typeface="Helvetica Neue"/>
                <a:ea typeface="Helvetica Neue"/>
                <a:cs typeface="Helvetica Neue"/>
                <a:sym typeface="Helvetica Neue"/>
              </a:rPr>
              <a:t>Project Brief &amp; Assessment Assignment : </a:t>
            </a:r>
            <a:r>
              <a:rPr lang="en" sz="700" b="1" dirty="0">
                <a:latin typeface="Helvetica Neue"/>
                <a:ea typeface="Helvetica Neue"/>
                <a:cs typeface="Helvetica Neue"/>
                <a:sym typeface="Helvetica Neue"/>
              </a:rPr>
              <a:t>In Microsoft Team </a:t>
            </a:r>
            <a:r>
              <a:rPr kumimoji="0" lang="en-US" altLang="en-US" sz="700" b="1" i="0" u="none" strike="noStrike" cap="none" normalizeH="0" baseline="0" dirty="0">
                <a:ln>
                  <a:noFill/>
                </a:ln>
                <a:solidFill>
                  <a:srgbClr val="242424"/>
                </a:solidFill>
                <a:effectLst/>
                <a:latin typeface="Segoe UI" panose="020B0502040204020203" pitchFamily="34" charset="0"/>
                <a:cs typeface="Segoe UI" panose="020B0502040204020203" pitchFamily="34" charset="0"/>
              </a:rPr>
              <a:t>FAI2.P1-01  Project 2A</a:t>
            </a:r>
            <a:endParaRPr sz="700" b="1" dirty="0">
              <a:latin typeface="Helvetica Neue"/>
              <a:ea typeface="Helvetica Neue"/>
              <a:cs typeface="Helvetica Neue"/>
              <a:sym typeface="Helvetica Neue"/>
            </a:endParaRPr>
          </a:p>
          <a:p>
            <a:pPr marL="0" lvl="0" indent="0" algn="l" rtl="0">
              <a:spcBef>
                <a:spcPts val="0"/>
              </a:spcBef>
              <a:spcAft>
                <a:spcPts val="0"/>
              </a:spcAft>
              <a:buNone/>
            </a:pPr>
            <a:endParaRPr dirty="0">
              <a:latin typeface="Roboto"/>
              <a:ea typeface="Roboto"/>
              <a:cs typeface="Roboto"/>
              <a:sym typeface="Roboto"/>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8" name="Google Shape;38;p6"/>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
        <p:nvSpPr>
          <p:cNvPr id="43" name="Google Shape;43;p6"/>
          <p:cNvSpPr txBox="1"/>
          <p:nvPr/>
        </p:nvSpPr>
        <p:spPr>
          <a:xfrm>
            <a:off x="5852160" y="1252728"/>
            <a:ext cx="3108900" cy="1828800"/>
          </a:xfrm>
          <a:prstGeom prst="rect">
            <a:avLst/>
          </a:prstGeom>
          <a:noFill/>
          <a:ln w="9525" cap="flat" cmpd="sng">
            <a:solidFill>
              <a:srgbClr val="CCCCCC"/>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CCCCCC"/>
                </a:solidFill>
                <a:latin typeface="Roboto"/>
                <a:ea typeface="Roboto"/>
                <a:cs typeface="Roboto"/>
                <a:sym typeface="Roboto"/>
              </a:rPr>
              <a:t>Room for Pictures</a:t>
            </a:r>
            <a:endParaRPr sz="1000">
              <a:solidFill>
                <a:srgbClr val="CCCCCC"/>
              </a:solidFill>
              <a:latin typeface="Roboto"/>
              <a:ea typeface="Roboto"/>
              <a:cs typeface="Roboto"/>
              <a:sym typeface="Roboto"/>
            </a:endParaRPr>
          </a:p>
        </p:txBody>
      </p:sp>
      <p:sp>
        <p:nvSpPr>
          <p:cNvPr id="44" name="Google Shape;44;p6"/>
          <p:cNvSpPr txBox="1"/>
          <p:nvPr/>
        </p:nvSpPr>
        <p:spPr>
          <a:xfrm>
            <a:off x="5852160" y="3136253"/>
            <a:ext cx="3108900" cy="1828800"/>
          </a:xfrm>
          <a:prstGeom prst="rect">
            <a:avLst/>
          </a:prstGeom>
          <a:noFill/>
          <a:ln w="9525" cap="flat" cmpd="sng">
            <a:solidFill>
              <a:srgbClr val="CCCCCC"/>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CCCCCC"/>
                </a:solidFill>
                <a:latin typeface="Roboto"/>
                <a:ea typeface="Roboto"/>
                <a:cs typeface="Roboto"/>
                <a:sym typeface="Roboto"/>
              </a:rPr>
              <a:t>Room for Pictures</a:t>
            </a:r>
            <a:endParaRPr sz="1000">
              <a:solidFill>
                <a:srgbClr val="CCCCCC"/>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eeks">
  <p:cSld name="CUSTOM_2_2">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Feedback Slides">
  <p:cSld name="CUSTOM_2_2_1">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git" TargetMode="Externa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1dd517d4c198e0e7c256fdd5edfa65bfef27918c/thesis/Thesis_Vladislav_Stoimenov.pdf" TargetMode="External"/><Relationship Id="rId5" Type="http://schemas.openxmlformats.org/officeDocument/2006/relationships/hyperlink" Target="https://github.com/VladislavStoimenov235030/Vladislav_Stoimenov_Graduation_Project_25_26/blob/1dd517d4c198e0e7c256fdd5edfa65bfef27918c/thesis/thesis%20writing/thesis_template/references.bib" TargetMode="External"/><Relationship Id="rId4" Type="http://schemas.openxmlformats.org/officeDocument/2006/relationships/hyperlink" Target="https://github.com/VladislavStoimenov235030/Vladislav_Stoimenov_Graduation_Project_25_26/blob/1dd517d4c198e0e7c256fdd5edfa65bfef27918c/requirements.txt"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tree/1dd517d4c198e0e7c256fdd5edfa65bfef27918c/data" TargetMode="External"/><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1dd517d4c198e0e7c256fdd5edfa65bfef27918c/scripts/create_rdd2022_4classes_small.py" TargetMode="External"/><Relationship Id="rId4" Type="http://schemas.openxmlformats.org/officeDocument/2006/relationships/hyperlink" Target="https://github.com/VladislavStoimenov235030/Vladislav_Stoimenov_Graduation_Project_25_26/blob/1dd517d4c198e0e7c256fdd5edfa65bfef27918c/notebooks/01_explore_rdd2022.ipynb"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1dd517d4c198e0e7c256fdd5edfa65bfef27918c/notebooks/03_first_yolo_training_sample_dataset.ipynb" TargetMode="External"/><Relationship Id="rId2" Type="http://schemas.openxmlformats.org/officeDocument/2006/relationships/notesSlide" Target="../notesSlides/notesSlide12.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product_architecture_plan.png" TargetMode="External"/><Relationship Id="rId4" Type="http://schemas.openxmlformats.org/officeDocument/2006/relationships/hyperlink" Target="https://github.com/VladislavStoimenov235030/Vladislav_Stoimenov_Graduation_Project_25_26/blob/1dd517d4c198e0e7c256fdd5edfa65bfef27918c/notebooks/07_fasterrcnn_small_dataset.ipynb"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config/risk_weights.yaml" TargetMode="External"/><Relationship Id="rId7" Type="http://schemas.openxmlformats.org/officeDocument/2006/relationships/hyperlink" Target="https://github.com/VladislavStoimenov235030/Vladislav_Stoimenov_Graduation_Project_25_26/blob/1dd517d4c198e0e7c256fdd5edfa65bfef27918c/thesis/Thesis_Vladislav_Stoimenov.pdf" TargetMode="Externa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src/risk" TargetMode="External"/><Relationship Id="rId5" Type="http://schemas.openxmlformats.org/officeDocument/2006/relationships/hyperlink" Target="https://github.com/VladislavStoimenov235030/Vladislav_Stoimenov_Graduation_Project_25_26/blob/99fa36ab76431c2be7275b69f5fcc5cb937224fb/src/risk/observation_risk.py" TargetMode="External"/><Relationship Id="rId4" Type="http://schemas.openxmlformats.org/officeDocument/2006/relationships/hyperlink" Target="https://github.com/VladislavStoimenov235030/Vladislav_Stoimenov_Graduation_Project_25_26/blob/99fa36ab76431c2be7275b69f5fcc5cb937224fb/src/risk/scoring.py"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src/geospatial/network.py" TargetMode="External"/><Relationship Id="rId7" Type="http://schemas.openxmlformats.org/officeDocument/2006/relationships/hyperlink" Target="https://github.com/VladislavStoimenov235030/Vladislav_Stoimenov_Graduation_Project_25_26/blob/99fa36ab76431c2be7275b69f5fcc5cb937224fb/config/risk_weights.yaml" TargetMode="Externa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rc/routing/router.py" TargetMode="External"/><Relationship Id="rId5" Type="http://schemas.openxmlformats.org/officeDocument/2006/relationships/hyperlink" Target="https://github.com/VladislavStoimenov235030/Vladislav_Stoimenov_Graduation_Project_25_26/blob/99fa36ab76431c2be7275b69f5fcc5cb937224fb/src/risk/segment_aggregation.py" TargetMode="External"/><Relationship Id="rId4" Type="http://schemas.openxmlformats.org/officeDocument/2006/relationships/hyperlink" Target="https://github.com/VladislavStoimenov235030/Vladislav_Stoimenov_Graduation_Project_25_26/blob/99fa36ab76431c2be7275b69f5fcc5cb937224fb/src/geospatial/matching.py"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99fa36ab76431c2be7275b69f5fcc5cb937224fb/pages/4_Safer_Route_Planner.py" TargetMode="External"/><Relationship Id="rId3" Type="http://schemas.openxmlformats.org/officeDocument/2006/relationships/hyperlink" Target="https://github.com/VladislavStoimenov235030/Vladislav_Stoimenov_Graduation_Project_25_26/blob/99fa36ab76431c2be7275b69f5fcc5cb937224fb/app.py" TargetMode="External"/><Relationship Id="rId7" Type="http://schemas.openxmlformats.org/officeDocument/2006/relationships/hyperlink" Target="https://github.com/VladislavStoimenov235030/Vladislav_Stoimenov_Graduation_Project_25_26/blob/99fa36ab76431c2be7275b69f5fcc5cb937224fb/pages/3_Damage_Map.py" TargetMode="Externa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pages/1_Dashboard.py" TargetMode="External"/><Relationship Id="rId5" Type="http://schemas.openxmlformats.org/officeDocument/2006/relationships/hyperlink" Target="https://github.com/VladislavStoimenov235030/Vladislav_Stoimenov_Graduation_Project_25_26/blob/99fa36ab76431c2be7275b69f5fcc5cb937224fb/src/app/database.py" TargetMode="External"/><Relationship Id="rId4" Type="http://schemas.openxmlformats.org/officeDocument/2006/relationships/hyperlink" Target="https://github.com/VladislavStoimenov235030/Vladislav_Stoimenov_Graduation_Project_25_26/blob/99fa36ab76431c2be7275b69f5fcc5cb937224fb/pages/2_Upload_and_Detect.py"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notebooks/02_visual_inspection_rd2022.ipynb" TargetMode="External"/><Relationship Id="rId7" Type="http://schemas.openxmlformats.org/officeDocument/2006/relationships/hyperlink" Target="https://github.com/VladislavStoimenov235030/Vladislav_Stoimenov_Graduation_Project_25_26/tree/99fa36ab76431c2be7275b69f5fcc5cb937224fb/notebooks"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notebooks/08_fasterrcnn_medium_dataset.ipynb" TargetMode="External"/><Relationship Id="rId5" Type="http://schemas.openxmlformats.org/officeDocument/2006/relationships/hyperlink" Target="https://github.com/VladislavStoimenov235030/Vladislav_Stoimenov_Graduation_Project_25_26/blob/99fa36ab76431c2be7275b69f5fcc5cb937224fb/notebooks/05_yolov8n_retrain_medium_dataset.ipynb" TargetMode="External"/><Relationship Id="rId4" Type="http://schemas.openxmlformats.org/officeDocument/2006/relationships/hyperlink" Target="https://github.com/VladislavStoimenov235030/Vladislav_Stoimenov_Graduation_Project_25_26/tree/1dd517d4c198e0e7c256fdd5edfa65bfef27918c/data"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scripts/create_rdd2022_4classes_large.py" TargetMode="External"/><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thesis/Thesis_Vladislav_Stoimenov.pdf" TargetMode="External"/><Relationship Id="rId4" Type="http://schemas.openxmlformats.org/officeDocument/2006/relationships/hyperlink" Target="https://github.com/VladislavStoimenov235030/Vladislav_Stoimenov_Graduation_Project_25_26/tree/1dd517d4c198e0e7c256fdd5edfa65bfef27918c/data"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notebooks/09_yolov8n_large_dataset.ipynb" TargetMode="External"/><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blob/99fa36ab76431c2be7275b69f5fcc5cb937224fb/notebooks/10_fasterrcnn_large_dataset.ipynb"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notebooks/10_fasterrcnn_large_dataset.ipynb" TargetMode="External"/><Relationship Id="rId4" Type="http://schemas.openxmlformats.org/officeDocument/2006/relationships/hyperlink" Target="https://github.com/VladislavStoimenov235030/Vladislav_Stoimenov_Graduation_Project_25_26/tree/99fa36ab76431c2be7275b69f5fcc5cb937224fb/outputs/reports"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data/manual/labels" TargetMode="External"/><Relationship Id="rId5" Type="http://schemas.openxmlformats.org/officeDocument/2006/relationships/hyperlink" Target="https://github.com/VladislavStoimenov235030/Vladislav_Stoimenov_Graduation_Project_25_26/tree/99fa36ab76431c2be7275b69f5fcc5cb937224fb/data/manual/images" TargetMode="External"/><Relationship Id="rId4" Type="http://schemas.openxmlformats.org/officeDocument/2006/relationships/hyperlink" Target="https://github.com/VladislavStoimenov235030/Vladislav_Stoimenov_Graduation_Project_25_26/tree/99fa36ab76431c2be7275b69f5fcc5cb937224fb/data/manual"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tree/99fa36ab76431c2be7275b69f5fcc5cb937224fb/models/fasterrcnn_sofia_finetune" TargetMode="External"/><Relationship Id="rId3" Type="http://schemas.openxmlformats.org/officeDocument/2006/relationships/hyperlink" Target="https://github.com/VladislavStoimenov235030/Vladislav_Stoimenov_Graduation_Project_25_26/tree/99fa36ab76431c2be7275b69f5fcc5cb937224fb/data/manual/labels" TargetMode="External"/><Relationship Id="rId7" Type="http://schemas.openxmlformats.org/officeDocument/2006/relationships/hyperlink" Target="https://github.com/VladislavStoimenov235030/Vladislav_Stoimenov_Graduation_Project_25_26/tree/99fa36ab76431c2be7275b69f5fcc5cb937224fb/models/yolov8n_sofia_finetune" TargetMode="External"/><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notebooks" TargetMode="External"/><Relationship Id="rId5" Type="http://schemas.openxmlformats.org/officeDocument/2006/relationships/hyperlink" Target="https://github.com/VladislavStoimenov235030/Vladislav_Stoimenov_Graduation_Project_25_26/tree/99fa36ab76431c2be7275b69f5fcc5cb937224fb/outputs/reports" TargetMode="External"/><Relationship Id="rId4" Type="http://schemas.openxmlformats.org/officeDocument/2006/relationships/hyperlink" Target="https://github.com/VladislavStoimenov235030/Vladislav_Stoimenov_Graduation_Project_25_26/blob/99fa36ab76431c2be7275b69f5fcc5cb937224fb/thesis/Thesis_Vladislav_Stoimenov.pdf"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config/app_config.yaml" TargetMode="External"/><Relationship Id="rId7" Type="http://schemas.openxmlformats.org/officeDocument/2006/relationships/hyperlink" Target="https://github.com/VladislavStoimenov235030/Vladislav_Stoimenov_Graduation_Project_25_26/blob/99fa36ab76431c2be7275b69f5fcc5cb937224fb/pages/1_Dashboard.py" TargetMode="External"/><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rc/app/database.py" TargetMode="External"/><Relationship Id="rId5" Type="http://schemas.openxmlformats.org/officeDocument/2006/relationships/hyperlink" Target="https://github.com/VladislavStoimenov235030/Vladislav_Stoimenov_Graduation_Project_25_26/blob/99fa36ab76431c2be7275b69f5fcc5cb937224fb/pages/4_Safer_Route_Planner.py" TargetMode="External"/><Relationship Id="rId4" Type="http://schemas.openxmlformats.org/officeDocument/2006/relationships/hyperlink" Target="https://github.com/VladislavStoimenov235030/Vladislav_Stoimenov_Graduation_Project_25_26/blob/99fa36ab76431c2be7275b69f5fcc5cb937224fb/pages/3_Damage_Map.py"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outputs/geo/segment_risk.csv" TargetMode="External"/><Relationship Id="rId5" Type="http://schemas.openxmlformats.org/officeDocument/2006/relationships/hyperlink" Target="https://github.com/VladislavStoimenov235030/Vladislav_Stoimenov_Graduation_Project_25_26/blob/99fa36ab76431c2be7275b69f5fcc5cb937224fb/outputs/geo/route_comparison.json" TargetMode="External"/><Relationship Id="rId4" Type="http://schemas.openxmlformats.org/officeDocument/2006/relationships/hyperlink" Target="https://github.com/VladislavStoimenov235030/Vladislav_Stoimenov_Graduation_Project_25_26/tree/99fa36ab76431c2be7275b69f5fcc5cb937224fb/data/manual"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99fa36ab76431c2be7275b69f5fcc5cb937224fb/scripts/evaluate_h2_risk_classification.py" TargetMode="External"/><Relationship Id="rId3" Type="http://schemas.openxmlformats.org/officeDocument/2006/relationships/hyperlink" Target="https://github.com/VladislavStoimenov235030/Vladislav_Stoimenov_Graduation_Project_25_26/blob/99fa36ab76431c2be7275b69f5fcc5cb937224fb/outputs/geo/segment_risk.csv" TargetMode="External"/><Relationship Id="rId7" Type="http://schemas.openxmlformats.org/officeDocument/2006/relationships/hyperlink" Target="https://github.com/VladislavStoimenov235030/Vladislav_Stoimenov_Graduation_Project_25_26/blob/99fa36ab76431c2be7275b69f5fcc5cb937224fb/outputs/reports/h2_confusion_matrix.png" TargetMode="External"/><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cripts/evaluate_h4_heatmap_validation.py" TargetMode="External"/><Relationship Id="rId5" Type="http://schemas.openxmlformats.org/officeDocument/2006/relationships/hyperlink" Target="https://github.com/VladislavStoimenov235030/Vladislav_Stoimenov_Graduation_Project_25_26/blob/99fa36ab76431c2be7275b69f5fcc5cb937224fb/outputs/reports/h4_evaluation_results.csv" TargetMode="External"/><Relationship Id="rId4" Type="http://schemas.openxmlformats.org/officeDocument/2006/relationships/hyperlink" Target="https://github.com/VladislavStoimenov235030/Vladislav_Stoimenov_Graduation_Project_25_26/tree/99fa36ab76431c2be7275b69f5fcc5cb937224fb/outputs/reports" TargetMode="External"/><Relationship Id="rId9" Type="http://schemas.openxmlformats.org/officeDocument/2006/relationships/hyperlink" Target="https://github.com/VladislavStoimenov235030/Vladislav_Stoimenov_Graduation_Project_25_26/blob/99fa36ab76431c2be7275b69f5fcc5cb937224fb/thesis/Thesis_Vladislav_Stoimenov.pdf"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Road_Guard_AI_Usability_Study_Responses_Qualitative_Results.csv" TargetMode="External"/><Relationship Id="rId2" Type="http://schemas.openxmlformats.org/officeDocument/2006/relationships/notesSlide" Target="../notesSlides/notesSlide39.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config/risk_weights.yaml" TargetMode="External"/><Relationship Id="rId5" Type="http://schemas.openxmlformats.org/officeDocument/2006/relationships/hyperlink" Target="https://github.com/VladislavStoimenov235030/Vladislav_Stoimenov_Graduation_Project_25_26/blob/99fa36ab76431c2be7275b69f5fcc5cb937224fb/pages/4_Safer_Route_Planner.py" TargetMode="External"/><Relationship Id="rId4" Type="http://schemas.openxmlformats.org/officeDocument/2006/relationships/hyperlink" Target="https://github.com/VladislavStoimenov235030/Vladislav_Stoimenov_Graduation_Project_25_26/blob/99fa36ab76431c2be7275b69f5fcc5cb937224fb/thesis/qualitative_thematic_analysis.md"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Road_Guard_AI_Usability_Study_Responses_Qualitative_Results.csv" TargetMode="External"/><Relationship Id="rId7" Type="http://schemas.openxmlformats.org/officeDocument/2006/relationships/hyperlink" Target="https://github.com/VladislavStoimenov235030/Vladislav_Stoimenov_Graduation_Project_25_26/tree/99fa36ab76431c2be7275b69f5fcc5cb937224fb/thesis/screenshots" TargetMode="External"/><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models/fasterrcnn_sofia_finetune" TargetMode="External"/><Relationship Id="rId5" Type="http://schemas.openxmlformats.org/officeDocument/2006/relationships/hyperlink" Target="https://github.com/VladislavStoimenov235030/Vladislav_Stoimenov_Graduation_Project_25_26/blob/99fa36ab76431c2be7275b69f5fcc5cb937224fb/thesis/qualitative_thematic_analysis.md" TargetMode="External"/><Relationship Id="rId4" Type="http://schemas.openxmlformats.org/officeDocument/2006/relationships/hyperlink" Target="https://github.com/VladislavStoimenov235030/Vladislav_Stoimenov_Graduation_Project_25_26/blob/99fa36ab76431c2be7275b69f5fcc5cb937224fb/scripts/analyze_qualitative_survey.py" TargetMode="Externa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43.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tree/99fa36ab76431c2be7275b69f5fcc5cb937224fb/thesis/figures" TargetMode="Externa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6CADD77-9632-5219-D3F3-7C407344BAFA}"/>
              </a:ext>
            </a:extLst>
          </p:cNvPr>
          <p:cNvSpPr/>
          <p:nvPr/>
        </p:nvSpPr>
        <p:spPr>
          <a:xfrm>
            <a:off x="1866900" y="4425950"/>
            <a:ext cx="3625850" cy="2921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Google Shape;93;p12">
            <a:extLst>
              <a:ext uri="{FF2B5EF4-FFF2-40B4-BE49-F238E27FC236}">
                <a16:creationId xmlns:a16="http://schemas.microsoft.com/office/drawing/2014/main" id="{195C2A37-13A1-EB47-4FA0-6B54B87CD731}"/>
              </a:ext>
            </a:extLst>
          </p:cNvPr>
          <p:cNvSpPr txBox="1">
            <a:spLocks noGrp="1"/>
          </p:cNvSpPr>
          <p:nvPr>
            <p:ph type="ctrTitle"/>
          </p:nvPr>
        </p:nvSpPr>
        <p:spPr>
          <a:xfrm>
            <a:off x="3200399" y="54230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err="1" smtClean="0">
                <a:solidFill>
                  <a:srgbClr val="FFFFFF"/>
                </a:solidFill>
                <a:latin typeface="Roboto"/>
                <a:ea typeface="Roboto"/>
                <a:cs typeface="Roboto"/>
                <a:sym typeface="Roboto"/>
              </a:rPr>
              <a:t>Vladislav</a:t>
            </a:r>
            <a:r>
              <a:rPr lang="en-GB" dirty="0" smtClean="0">
                <a:solidFill>
                  <a:srgbClr val="FFFFFF"/>
                </a:solidFill>
                <a:latin typeface="Roboto"/>
                <a:ea typeface="Roboto"/>
                <a:cs typeface="Roboto"/>
                <a:sym typeface="Roboto"/>
              </a:rPr>
              <a:t> Stoimenov</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en-GB" dirty="0" smtClean="0">
                <a:solidFill>
                  <a:srgbClr val="FFFFFF"/>
                </a:solidFill>
                <a:latin typeface="Roboto"/>
                <a:ea typeface="Roboto"/>
                <a:cs typeface="Roboto"/>
                <a:sym typeface="Roboto"/>
              </a:rPr>
              <a:t>235030</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en" dirty="0">
                <a:latin typeface="Roboto"/>
                <a:ea typeface="Roboto"/>
                <a:cs typeface="Roboto"/>
                <a:sym typeface="Roboto"/>
              </a:rPr>
              <a:t>Gradation Project</a:t>
            </a:r>
            <a:endParaRPr dirty="0">
              <a:solidFill>
                <a:srgbClr val="FFFFFF"/>
              </a:solidFill>
              <a:latin typeface="Roboto"/>
              <a:ea typeface="Roboto"/>
              <a:cs typeface="Roboto"/>
              <a:sym typeface="Roboto"/>
            </a:endParaRPr>
          </a:p>
        </p:txBody>
      </p:sp>
      <p:sp>
        <p:nvSpPr>
          <p:cNvPr id="6" name="Google Shape;94;p12" descr="Face" title="Face">
            <a:extLst>
              <a:ext uri="{FF2B5EF4-FFF2-40B4-BE49-F238E27FC236}">
                <a16:creationId xmlns:a16="http://schemas.microsoft.com/office/drawing/2014/main" id="{79517FC7-BDCA-09DE-9C15-375A87F020F6}"/>
              </a:ext>
            </a:extLst>
          </p:cNvPr>
          <p:cNvSpPr/>
          <p:nvPr/>
        </p:nvSpPr>
        <p:spPr>
          <a:xfrm>
            <a:off x="3749050" y="640075"/>
            <a:ext cx="1371600" cy="1371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[photo]</a:t>
            </a:r>
            <a:endParaRPr/>
          </a:p>
        </p:txBody>
      </p:sp>
      <p:sp>
        <p:nvSpPr>
          <p:cNvPr id="7" name="Google Shape;95;p12">
            <a:extLst>
              <a:ext uri="{FF2B5EF4-FFF2-40B4-BE49-F238E27FC236}">
                <a16:creationId xmlns:a16="http://schemas.microsoft.com/office/drawing/2014/main" id="{AD15C803-AE4E-6F80-8AA4-F0E44F2E66D0}"/>
              </a:ext>
            </a:extLst>
          </p:cNvPr>
          <p:cNvSpPr txBox="1">
            <a:spLocks noGrp="1"/>
          </p:cNvSpPr>
          <p:nvPr>
            <p:ph type="subTitle" idx="1"/>
          </p:nvPr>
        </p:nvSpPr>
        <p:spPr>
          <a:xfrm>
            <a:off x="548650" y="2718275"/>
            <a:ext cx="2011800" cy="1260000"/>
          </a:xfrm>
          <a:prstGeom prst="rect">
            <a:avLst/>
          </a:prstGeom>
        </p:spPr>
        <p:txBody>
          <a:bodyPr spcFirstLastPara="1" wrap="square" lIns="91425" tIns="91425" rIns="91425" bIns="91425" anchor="b" anchorCtr="0">
            <a:noAutofit/>
          </a:bodyPr>
          <a:lstStyle/>
          <a:p>
            <a:pPr marL="0" lvl="0" indent="0" algn="l" rtl="0">
              <a:lnSpc>
                <a:spcPct val="104000"/>
              </a:lnSpc>
              <a:spcBef>
                <a:spcPts val="0"/>
              </a:spcBef>
              <a:spcAft>
                <a:spcPts val="0"/>
              </a:spcAft>
              <a:buNone/>
            </a:pPr>
            <a:r>
              <a:rPr lang="en" sz="1800" dirty="0">
                <a:solidFill>
                  <a:srgbClr val="434343"/>
                </a:solidFill>
              </a:rPr>
              <a:t>Learning Log </a:t>
            </a:r>
            <a:endParaRPr sz="1800" dirty="0">
              <a:solidFill>
                <a:srgbClr val="434343"/>
              </a:solidFill>
            </a:endParaRPr>
          </a:p>
          <a:p>
            <a:pPr marL="0" lvl="0" indent="0" algn="l" rtl="0">
              <a:lnSpc>
                <a:spcPct val="104000"/>
              </a:lnSpc>
              <a:spcBef>
                <a:spcPts val="800"/>
              </a:spcBef>
              <a:spcAft>
                <a:spcPts val="800"/>
              </a:spcAft>
              <a:buNone/>
            </a:pPr>
            <a:r>
              <a:rPr lang="en" dirty="0">
                <a:solidFill>
                  <a:srgbClr val="434343"/>
                </a:solidFill>
              </a:rPr>
              <a:t>202</a:t>
            </a:r>
            <a:r>
              <a:rPr lang="en-GB" dirty="0">
                <a:solidFill>
                  <a:srgbClr val="434343"/>
                </a:solidFill>
              </a:rPr>
              <a:t>6- 2027</a:t>
            </a:r>
            <a:r>
              <a:rPr lang="en" dirty="0">
                <a:solidFill>
                  <a:srgbClr val="434343"/>
                </a:solidFill>
              </a:rPr>
              <a:t/>
            </a:r>
            <a:br>
              <a:rPr lang="en" dirty="0">
                <a:solidFill>
                  <a:srgbClr val="434343"/>
                </a:solidFill>
              </a:rPr>
            </a:br>
            <a:r>
              <a:rPr lang="en" dirty="0">
                <a:solidFill>
                  <a:srgbClr val="434343"/>
                </a:solidFill>
              </a:rPr>
              <a:t> </a:t>
            </a:r>
            <a:r>
              <a:rPr lang="en" sz="1800" dirty="0">
                <a:solidFill>
                  <a:srgbClr val="434343"/>
                </a:solidFill>
              </a:rPr>
              <a:t> </a:t>
            </a:r>
            <a:endParaRPr sz="1800" dirty="0">
              <a:solidFill>
                <a:srgbClr val="434343"/>
              </a:solidFill>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49050" y="542300"/>
            <a:ext cx="1371600" cy="1820707"/>
          </a:xfrm>
          <a:prstGeom prst="rect">
            <a:avLst/>
          </a:prstGeom>
        </p:spPr>
      </p:pic>
    </p:spTree>
    <p:extLst>
      <p:ext uri="{BB962C8B-B14F-4D97-AF65-F5344CB8AC3E}">
        <p14:creationId xmlns:p14="http://schemas.microsoft.com/office/powerpoint/2010/main" val="3505391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As a student at Breda University of Applied Sciences studying to become a professional, you are required to provide evidence that demonstrates your professional learning and growth during the block. This template is intended to provide you with a well-structured and organised format for doing this effectively. Keep in mind that certain competencies may require you to update your evidence every week, and others may have only be relevant during a particular week or two.</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dirty="0"/>
              <a:t>With the evidence you present here teachers should get a clear and comprehensive overview of your progress, how you’ve engaged with feedback, as well as your general attitude and performance as a student and as an aspiring professional developer.</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dirty="0"/>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dirty="0"/>
          </a:p>
          <a:p>
            <a:pPr marL="0" lvl="0" indent="0" algn="l" rtl="0">
              <a:spcBef>
                <a:spcPts val="800"/>
              </a:spcBef>
              <a:spcAft>
                <a:spcPts val="0"/>
              </a:spcAft>
              <a:buNone/>
            </a:pPr>
            <a:endParaRPr dirty="0"/>
          </a:p>
          <a:p>
            <a:pPr marL="0" lvl="0" indent="0" algn="l" rtl="0">
              <a:spcBef>
                <a:spcPts val="800"/>
              </a:spcBef>
              <a:spcAft>
                <a:spcPts val="800"/>
              </a:spcAft>
              <a:buNone/>
            </a:pPr>
            <a:r>
              <a:rPr lang="en" dirty="0"/>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dirty="0"/>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Learning Log</a:t>
            </a:r>
            <a:endParaRPr dirty="0"/>
          </a:p>
          <a:p>
            <a:pPr marL="0" lvl="0" indent="0" algn="ctr" rtl="0">
              <a:spcBef>
                <a:spcPts val="0"/>
              </a:spcBef>
              <a:spcAft>
                <a:spcPts val="0"/>
              </a:spcAft>
              <a:buNone/>
            </a:pPr>
            <a:r>
              <a:rPr lang="en" dirty="0"/>
              <a:t>Structure</a:t>
            </a:r>
            <a:endParaRPr dirty="0"/>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dirty="0"/>
              <a:t>Section A</a:t>
            </a:r>
            <a:endParaRPr sz="1400" dirty="0"/>
          </a:p>
          <a:p>
            <a:pPr marL="182880" lvl="0" indent="-180340" algn="l" rtl="0">
              <a:spcBef>
                <a:spcPts val="0"/>
              </a:spcBef>
              <a:spcAft>
                <a:spcPts val="0"/>
              </a:spcAft>
              <a:buSzPts val="1400"/>
              <a:buChar char="●"/>
            </a:pPr>
            <a:r>
              <a:rPr lang="en" sz="1400" dirty="0"/>
              <a:t>Starting this block</a:t>
            </a:r>
            <a:endParaRPr sz="1400" dirty="0"/>
          </a:p>
          <a:p>
            <a:pPr marL="182880" lvl="0" indent="-180340" algn="l" rtl="0">
              <a:spcBef>
                <a:spcPts val="0"/>
              </a:spcBef>
              <a:spcAft>
                <a:spcPts val="0"/>
              </a:spcAft>
              <a:buSzPts val="1400"/>
              <a:buChar char="●"/>
            </a:pPr>
            <a:r>
              <a:rPr lang="en" sz="1400" dirty="0"/>
              <a:t>Goals</a:t>
            </a:r>
            <a:endParaRPr sz="1400" dirty="0"/>
          </a:p>
          <a:p>
            <a:pPr marL="0" lvl="0" indent="0" algn="l" rtl="0">
              <a:spcBef>
                <a:spcPts val="0"/>
              </a:spcBef>
              <a:spcAft>
                <a:spcPts val="0"/>
              </a:spcAft>
              <a:buNone/>
            </a:pPr>
            <a:endParaRPr sz="1400" dirty="0"/>
          </a:p>
          <a:p>
            <a:pPr marL="0" lvl="0" indent="0" algn="l" rtl="0">
              <a:spcBef>
                <a:spcPts val="0"/>
              </a:spcBef>
              <a:spcAft>
                <a:spcPts val="0"/>
              </a:spcAft>
              <a:buNone/>
            </a:pPr>
            <a:r>
              <a:rPr lang="en" sz="1400" dirty="0"/>
              <a:t>Section B </a:t>
            </a:r>
            <a:endParaRPr sz="1400" dirty="0"/>
          </a:p>
          <a:p>
            <a:pPr marL="182880" lvl="0" indent="-180340" algn="l" rtl="0">
              <a:spcBef>
                <a:spcPts val="0"/>
              </a:spcBef>
              <a:spcAft>
                <a:spcPts val="0"/>
              </a:spcAft>
              <a:buSzPts val="1400"/>
              <a:buChar char="●"/>
            </a:pPr>
            <a:r>
              <a:rPr lang="en" sz="1400" dirty="0"/>
              <a:t>Week log section</a:t>
            </a:r>
            <a:endParaRPr sz="1400" dirty="0"/>
          </a:p>
          <a:p>
            <a:pPr marL="0" lvl="0" indent="0" algn="l" rtl="0">
              <a:spcBef>
                <a:spcPts val="0"/>
              </a:spcBef>
              <a:spcAft>
                <a:spcPts val="0"/>
              </a:spcAft>
              <a:buNone/>
            </a:pPr>
            <a:endParaRPr sz="1400" dirty="0"/>
          </a:p>
          <a:p>
            <a:pPr marL="0" lvl="0" indent="0" algn="l" rtl="0">
              <a:spcBef>
                <a:spcPts val="0"/>
              </a:spcBef>
              <a:spcAft>
                <a:spcPts val="0"/>
              </a:spcAft>
              <a:buNone/>
            </a:pPr>
            <a:r>
              <a:rPr lang="en" sz="1400" dirty="0"/>
              <a:t>Section C</a:t>
            </a:r>
            <a:endParaRPr sz="1400" dirty="0"/>
          </a:p>
          <a:p>
            <a:pPr marL="182880" lvl="0" indent="-180340" algn="l" rtl="0">
              <a:spcBef>
                <a:spcPts val="0"/>
              </a:spcBef>
              <a:spcAft>
                <a:spcPts val="0"/>
              </a:spcAft>
              <a:buSzPts val="1400"/>
              <a:buChar char="●"/>
            </a:pPr>
            <a:r>
              <a:rPr lang="en-GB" sz="1400" dirty="0"/>
              <a:t>ILO section</a:t>
            </a:r>
          </a:p>
          <a:p>
            <a:pPr marL="182880" lvl="0" indent="-180340" algn="l" rtl="0">
              <a:spcBef>
                <a:spcPts val="0"/>
              </a:spcBef>
              <a:spcAft>
                <a:spcPts val="0"/>
              </a:spcAft>
              <a:buSzPts val="1400"/>
              <a:buChar char="●"/>
            </a:pPr>
            <a:endParaRPr lang="en" sz="1400" dirty="0"/>
          </a:p>
          <a:p>
            <a:pPr marL="2540" lvl="0" indent="0" algn="l" rtl="0">
              <a:spcBef>
                <a:spcPts val="0"/>
              </a:spcBef>
              <a:spcAft>
                <a:spcPts val="0"/>
              </a:spcAft>
              <a:buSzPts val="1400"/>
            </a:pPr>
            <a:r>
              <a:rPr lang="en" sz="1400" dirty="0"/>
              <a:t>Section D</a:t>
            </a:r>
          </a:p>
          <a:p>
            <a:pPr marL="182880" lvl="0" indent="-180340" algn="l" rtl="0">
              <a:spcBef>
                <a:spcPts val="0"/>
              </a:spcBef>
              <a:spcAft>
                <a:spcPts val="0"/>
              </a:spcAft>
              <a:buSzPts val="1400"/>
              <a:buChar char="●"/>
            </a:pPr>
            <a:r>
              <a:rPr lang="en" sz="1400" dirty="0"/>
              <a:t>Block reflection</a:t>
            </a:r>
          </a:p>
          <a:p>
            <a:pPr marL="2540" lvl="0" indent="0" algn="l" rtl="0">
              <a:spcBef>
                <a:spcPts val="0"/>
              </a:spcBef>
              <a:spcAft>
                <a:spcPts val="0"/>
              </a:spcAft>
              <a:buSzPts val="1400"/>
            </a:pPr>
            <a:endParaRPr lang="en" sz="1400" dirty="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dirty="0"/>
              <a:t>Section A - My Plan		</a:t>
            </a:r>
            <a:r>
              <a:rPr lang="en" i="1" dirty="0"/>
              <a:t>Must be completed in </a:t>
            </a:r>
            <a:r>
              <a:rPr lang="en" i="1" u="sng" dirty="0"/>
              <a:t>week 1</a:t>
            </a:r>
            <a:endParaRPr i="1" u="sng" dirty="0"/>
          </a:p>
          <a:p>
            <a:pPr marL="0" lvl="0" indent="0" algn="l" rtl="0">
              <a:spcBef>
                <a:spcPts val="800"/>
              </a:spcBef>
              <a:spcAft>
                <a:spcPts val="0"/>
              </a:spcAft>
              <a:buNone/>
            </a:pPr>
            <a:r>
              <a:rPr lang="en" dirty="0"/>
              <a:t>Your plan describes your goals for the </a:t>
            </a:r>
            <a:r>
              <a:rPr lang="en-US" dirty="0"/>
              <a:t>graduation project</a:t>
            </a:r>
            <a:r>
              <a:rPr lang="en" dirty="0"/>
              <a:t>. Starting with where you are right now, where do you want to be at the end of the </a:t>
            </a:r>
            <a:r>
              <a:rPr lang="en-US" dirty="0"/>
              <a:t>graduation project</a:t>
            </a:r>
            <a:r>
              <a:rPr lang="en" dirty="0"/>
              <a:t>? I.e. what role(s) will you take responsibility for, and how will you demonstrate progress relevant to the ILOs for this </a:t>
            </a:r>
            <a:r>
              <a:rPr lang="en-US" dirty="0"/>
              <a:t>graduation project</a:t>
            </a:r>
            <a:r>
              <a:rPr lang="en" dirty="0"/>
              <a:t>? What tasks and deliverables are best aligned with your role and the project?</a:t>
            </a:r>
            <a:endParaRPr dirty="0"/>
          </a:p>
          <a:p>
            <a:pPr marL="0" lvl="0" indent="0" algn="l" rtl="0">
              <a:spcBef>
                <a:spcPts val="800"/>
              </a:spcBef>
              <a:spcAft>
                <a:spcPts val="0"/>
              </a:spcAft>
              <a:buNone/>
            </a:pPr>
            <a:r>
              <a:rPr lang="en" sz="1200" b="1" u="sng" dirty="0"/>
              <a:t>Section B - Weekly Log	</a:t>
            </a:r>
            <a:r>
              <a:rPr lang="en" i="1" dirty="0"/>
              <a:t>Must be updated </a:t>
            </a:r>
            <a:r>
              <a:rPr lang="en" i="1" u="sng" dirty="0"/>
              <a:t>every week</a:t>
            </a:r>
            <a:endParaRPr i="1" u="sng" dirty="0"/>
          </a:p>
          <a:p>
            <a:pPr marL="0" lvl="0" indent="0" algn="l" rtl="0">
              <a:spcBef>
                <a:spcPts val="800"/>
              </a:spcBef>
              <a:spcAft>
                <a:spcPts val="0"/>
              </a:spcAft>
              <a:buNone/>
            </a:pPr>
            <a:r>
              <a:rPr lang="en" dirty="0"/>
              <a:t>This is simply a log (journal) of what you do each week,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80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800"/>
              </a:spcBef>
              <a:spcAft>
                <a:spcPts val="0"/>
              </a:spcAft>
              <a:buNone/>
            </a:pPr>
            <a:r>
              <a:rPr lang="en" dirty="0"/>
              <a:t>(Some reflection is almost always a good idea as it provides the foundation for Section D.)</a:t>
            </a:r>
          </a:p>
          <a:p>
            <a:pPr marL="0" lvl="0" indent="0" algn="l" rtl="0">
              <a:spcBef>
                <a:spcPts val="800"/>
              </a:spcBef>
              <a:spcAft>
                <a:spcPts val="0"/>
              </a:spcAft>
              <a:buNone/>
            </a:pPr>
            <a:r>
              <a:rPr lang="en-US" sz="1200" b="1" u="sng" dirty="0"/>
              <a:t>Section B - ILO’s		</a:t>
            </a:r>
            <a:r>
              <a:rPr lang="en-US" i="1" dirty="0"/>
              <a:t>Must be completed in </a:t>
            </a:r>
            <a:r>
              <a:rPr lang="en-US" i="1" u="sng" dirty="0"/>
              <a:t>week 20</a:t>
            </a:r>
            <a:r>
              <a:rPr lang="en-US" i="1" dirty="0"/>
              <a:t> but should be updated </a:t>
            </a:r>
            <a:r>
              <a:rPr lang="en-US" i="1" u="sng" dirty="0"/>
              <a:t>regularly</a:t>
            </a:r>
          </a:p>
          <a:p>
            <a:pPr marL="0" lvl="0" indent="0" algn="l" rtl="0">
              <a:spcBef>
                <a:spcPts val="800"/>
              </a:spcBef>
              <a:spcAft>
                <a:spcPts val="0"/>
              </a:spcAft>
              <a:buNone/>
            </a:pPr>
            <a:r>
              <a:rPr lang="en-US" dirty="0"/>
              <a:t>This is where you link your evidence to each of the Intended Learning Outcomes of this graduation project.</a:t>
            </a:r>
            <a:endParaRPr dirty="0"/>
          </a:p>
          <a:p>
            <a:pPr marL="0" lvl="0" indent="0" algn="l" rtl="0">
              <a:spcBef>
                <a:spcPts val="800"/>
              </a:spcBef>
              <a:spcAft>
                <a:spcPts val="0"/>
              </a:spcAft>
              <a:buNone/>
            </a:pPr>
            <a:r>
              <a:rPr lang="en" sz="1200" b="1" u="sng" dirty="0"/>
              <a:t>Section C - Reflection	</a:t>
            </a:r>
            <a:r>
              <a:rPr lang="en" i="1" dirty="0"/>
              <a:t>Must be completed in </a:t>
            </a:r>
            <a:r>
              <a:rPr lang="en" i="1" u="sng" dirty="0"/>
              <a:t>week 20</a:t>
            </a:r>
            <a:endParaRPr i="1" u="sng" dirty="0"/>
          </a:p>
          <a:p>
            <a:pPr marL="0" lvl="0" indent="0" algn="l" rtl="0">
              <a:spcBef>
                <a:spcPts val="800"/>
              </a:spcBef>
              <a:spcAft>
                <a:spcPts val="800"/>
              </a:spcAft>
              <a:buNone/>
            </a:pPr>
            <a:r>
              <a:rPr lang="en" dirty="0"/>
              <a:t>Summative reflection on your progress during your </a:t>
            </a:r>
            <a:r>
              <a:rPr lang="en-US" dirty="0"/>
              <a:t>graduation project</a:t>
            </a:r>
            <a:r>
              <a:rPr lang="en" dirty="0"/>
              <a:t> including a critical assessment of everything you did and learned during the </a:t>
            </a:r>
            <a:r>
              <a:rPr lang="en-US" dirty="0"/>
              <a:t>graduation project</a:t>
            </a:r>
            <a:r>
              <a:rPr lang="en" dirty="0"/>
              <a:t>. This is a comprehensive review of everything recorded in Section B and C, evaluated against the goals and planning laid out in Section 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sym typeface="Roboto"/>
              </a:rPr>
              <a:t>A</a:t>
            </a:r>
            <a:endParaRPr sz="40000" dirty="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effectLst/>
                <a:latin typeface="Open Sans" panose="020B0606030504020204" pitchFamily="34" charset="0"/>
                <a:ea typeface="Open Sans" panose="020B0606030504020204" pitchFamily="34" charset="0"/>
                <a:cs typeface="Times New Roman" panose="02020603050405020304" pitchFamily="18" charset="0"/>
              </a:rPr>
              <a:t>The student sets ambitious, S.M.A.R.T./ C.L.E.A.R goals in alignment with the project brief, their chosen role(s), content of the assessment rubric and their personal long-term goals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This is a short summary of what I will be responsible for during my graduation project: 										</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l" rtl="0">
              <a:spcBef>
                <a:spcPts val="800"/>
              </a:spcBef>
              <a:spcAft>
                <a:spcPts val="800"/>
              </a:spcAft>
              <a:buNone/>
            </a:pP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dirty="0"/>
              <a:t>2/</a:t>
            </a:r>
            <a:r>
              <a:rPr lang="en" dirty="0"/>
              <a:t>2</a:t>
            </a:r>
            <a:endParaRPr sz="1400" dirty="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20" y="667548"/>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These are qualities I bring to my graduation project: 							</a:t>
            </a:r>
            <a:endParaRPr b="0" i="1" dirty="0"/>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800"/>
              </a:spcAft>
              <a:buNone/>
            </a:pPr>
            <a:r>
              <a:rPr lang="en" dirty="0"/>
              <a:t>...</a:t>
            </a:r>
            <a:endParaRPr dirty="0"/>
          </a:p>
        </p:txBody>
      </p:sp>
      <p:sp>
        <p:nvSpPr>
          <p:cNvPr id="2" name="Google Shape;125;p16">
            <a:extLst>
              <a:ext uri="{FF2B5EF4-FFF2-40B4-BE49-F238E27FC236}">
                <a16:creationId xmlns:a16="http://schemas.microsoft.com/office/drawing/2014/main" id="{F30A2A53-9DE6-7BEA-7FE8-7A8F29F575C6}"/>
              </a:ext>
            </a:extLst>
          </p:cNvPr>
          <p:cNvSpPr txBox="1">
            <a:spLocks/>
          </p:cNvSpPr>
          <p:nvPr/>
        </p:nvSpPr>
        <p:spPr>
          <a:xfrm>
            <a:off x="182820" y="1341444"/>
            <a:ext cx="8778300" cy="40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292100" algn="l" rtl="0">
              <a:lnSpc>
                <a:spcPct val="104000"/>
              </a:lnSpc>
              <a:spcBef>
                <a:spcPts val="0"/>
              </a:spcBef>
              <a:spcAft>
                <a:spcPts val="0"/>
              </a:spcAft>
              <a:buClr>
                <a:srgbClr val="FFFFFF"/>
              </a:buClr>
              <a:buSzPts val="1000"/>
              <a:buFont typeface="Roboto"/>
              <a:buNone/>
              <a:defRPr sz="1400" b="1" i="0" u="none" strike="noStrike" cap="none">
                <a:solidFill>
                  <a:srgbClr val="FFFFFF"/>
                </a:solidFill>
                <a:latin typeface="Roboto"/>
                <a:ea typeface="Roboto"/>
                <a:cs typeface="Roboto"/>
                <a:sym typeface="Roboto"/>
              </a:defRPr>
            </a:lvl1pPr>
            <a:lvl2pPr marL="914400" marR="0" lvl="1"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2pPr>
            <a:lvl3pPr marL="1371600" marR="0" lvl="2" indent="-292100" algn="l" rtl="0">
              <a:lnSpc>
                <a:spcPct val="104000"/>
              </a:lnSpc>
              <a:spcBef>
                <a:spcPts val="800"/>
              </a:spcBef>
              <a:spcAft>
                <a:spcPts val="0"/>
              </a:spcAft>
              <a:buClr>
                <a:srgbClr val="FFFFFF"/>
              </a:buClr>
              <a:buSzPts val="1000"/>
              <a:buFont typeface="Roboto"/>
              <a:buNone/>
              <a:defRPr sz="1000" b="0" i="0" u="sng" strike="noStrike" cap="none">
                <a:solidFill>
                  <a:srgbClr val="FFFFFF"/>
                </a:solidFill>
                <a:latin typeface="Roboto"/>
                <a:ea typeface="Roboto"/>
                <a:cs typeface="Roboto"/>
                <a:sym typeface="Roboto"/>
              </a:defRPr>
            </a:lvl3pPr>
            <a:lvl4pPr marL="1828800" marR="0" lvl="3" indent="-292100" algn="l" rtl="0">
              <a:lnSpc>
                <a:spcPct val="104000"/>
              </a:lnSpc>
              <a:spcBef>
                <a:spcPts val="800"/>
              </a:spcBef>
              <a:spcAft>
                <a:spcPts val="0"/>
              </a:spcAft>
              <a:buClr>
                <a:srgbClr val="FFFFFF"/>
              </a:buClr>
              <a:buSzPts val="1000"/>
              <a:buFont typeface="Roboto"/>
              <a:buNone/>
              <a:defRPr sz="1000" b="0" i="0" u="none" strike="noStrike" cap="none">
                <a:solidFill>
                  <a:srgbClr val="FFFFFF"/>
                </a:solidFill>
                <a:latin typeface="Roboto"/>
                <a:ea typeface="Roboto"/>
                <a:cs typeface="Roboto"/>
                <a:sym typeface="Roboto"/>
              </a:defRPr>
            </a:lvl4pPr>
            <a:lvl5pPr marL="2286000" marR="0" lvl="4"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5pPr>
            <a:lvl6pPr marL="2743200" marR="0" lvl="5" indent="-292100" algn="l" rtl="0">
              <a:lnSpc>
                <a:spcPct val="104000"/>
              </a:lnSpc>
              <a:spcBef>
                <a:spcPts val="800"/>
              </a:spcBef>
              <a:spcAft>
                <a:spcPts val="0"/>
              </a:spcAft>
              <a:buClr>
                <a:srgbClr val="FFFFFF"/>
              </a:buClr>
              <a:buSzPts val="1000"/>
              <a:buFont typeface="Roboto"/>
              <a:buNone/>
              <a:defRPr sz="1000" b="0" i="0" u="sng" strike="noStrike" cap="none">
                <a:solidFill>
                  <a:srgbClr val="FFFFFF"/>
                </a:solidFill>
                <a:latin typeface="Roboto"/>
                <a:ea typeface="Roboto"/>
                <a:cs typeface="Roboto"/>
                <a:sym typeface="Roboto"/>
              </a:defRPr>
            </a:lvl6pPr>
            <a:lvl7pPr marL="3200400" marR="0" lvl="6" indent="-292100" algn="l" rtl="0">
              <a:lnSpc>
                <a:spcPct val="104000"/>
              </a:lnSpc>
              <a:spcBef>
                <a:spcPts val="800"/>
              </a:spcBef>
              <a:spcAft>
                <a:spcPts val="0"/>
              </a:spcAft>
              <a:buClr>
                <a:srgbClr val="FFFFFF"/>
              </a:buClr>
              <a:buSzPts val="1000"/>
              <a:buFont typeface="Roboto"/>
              <a:buNone/>
              <a:defRPr sz="1000" b="0" i="0" u="none" strike="noStrike" cap="none">
                <a:solidFill>
                  <a:srgbClr val="FFFFFF"/>
                </a:solidFill>
                <a:latin typeface="Roboto"/>
                <a:ea typeface="Roboto"/>
                <a:cs typeface="Roboto"/>
                <a:sym typeface="Roboto"/>
              </a:defRPr>
            </a:lvl7pPr>
            <a:lvl8pPr marL="3657600" marR="0" lvl="7"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8pPr>
            <a:lvl9pPr marL="4114800" marR="0" lvl="8" indent="-292100" algn="l" rtl="0">
              <a:lnSpc>
                <a:spcPct val="104000"/>
              </a:lnSpc>
              <a:spcBef>
                <a:spcPts val="800"/>
              </a:spcBef>
              <a:spcAft>
                <a:spcPts val="800"/>
              </a:spcAft>
              <a:buClr>
                <a:srgbClr val="FFFFFF"/>
              </a:buClr>
              <a:buSzPts val="1000"/>
              <a:buFont typeface="Roboto"/>
              <a:buNone/>
              <a:defRPr sz="1000" b="0" i="0" u="sng" strike="noStrike" cap="none">
                <a:solidFill>
                  <a:srgbClr val="FFFFFF"/>
                </a:solidFill>
                <a:latin typeface="Roboto"/>
                <a:ea typeface="Roboto"/>
                <a:cs typeface="Roboto"/>
                <a:sym typeface="Roboto"/>
              </a:defRPr>
            </a:lvl9pPr>
          </a:lstStyle>
          <a:p>
            <a:pPr marL="0" indent="0">
              <a:spcAft>
                <a:spcPts val="800"/>
              </a:spcAft>
            </a:pPr>
            <a:r>
              <a:rPr lang="en-US" dirty="0"/>
              <a:t>These are qualities I would like to improve/learn more about during my graduation project: 							</a:t>
            </a:r>
            <a:endParaRPr lang="en-US" b="0" i="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en" dirty="0"/>
              <a:t>...</a:t>
            </a: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 roles I am taking responsibility for</a:t>
            </a:r>
            <a:r>
              <a:rPr lang="en" b="0" i="1" dirty="0"/>
              <a:t> (if multiple add in percentages)</a:t>
            </a:r>
            <a:endParaRPr b="0" i="1" dirty="0"/>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Meaningful:</a:t>
                      </a:r>
                      <a:r>
                        <a:rPr lang="en" sz="600">
                          <a:latin typeface="Roboto"/>
                          <a:ea typeface="Roboto"/>
                          <a:cs typeface="Roboto"/>
                          <a:sym typeface="Roboto"/>
                        </a:rPr>
                        <a:t> This is the WHY of your goal setting. When your specific goal has enough meaning for you, you will do whatever it takes to achieve it. When your goal is meaningful the more profound and life altering the results are.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6167" y="1152698"/>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Set </a:t>
            </a:r>
            <a:r>
              <a:rPr lang="en-GB" dirty="0"/>
              <a:t>up the repo/environment, read the core literature, and lock in early architecture and risk-scoring decisions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set up repo, Python/CUDA environment; read YOLO/Faster R-CNN/RDD2022/CRDDC and </a:t>
            </a:r>
            <a:r>
              <a:rPr lang="en-GB" dirty="0" err="1"/>
              <a:t>OSMnx</a:t>
            </a:r>
            <a:r>
              <a:rPr lang="en-GB" dirty="0"/>
              <a:t>/routing/PCI literature; decided YOLOv8n vs Faster R-CNN as the two architectures, rule-based risk scoring, finalised H1–H4</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lgn="l" rtl="0">
              <a:spcBef>
                <a:spcPts val="0"/>
              </a:spcBef>
              <a:spcAft>
                <a:spcPts val="0"/>
              </a:spcAft>
              <a:buSzPts val="100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a:t>G</a:t>
            </a:r>
            <a:r>
              <a:rPr lang="en-GB" dirty="0" smtClean="0"/>
              <a:t>ood </a:t>
            </a:r>
            <a:r>
              <a:rPr lang="en-GB" dirty="0"/>
              <a:t>start, clear foundation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L</a:t>
            </a:r>
            <a:r>
              <a:rPr lang="en-GB" dirty="0" smtClean="0"/>
              <a:t>iterature </a:t>
            </a:r>
            <a:r>
              <a:rPr lang="en-GB" dirty="0"/>
              <a:t>converged quickly on the architecture and risk-scoring choices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CUDA/driver setup took a bit longer than planned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The </a:t>
            </a:r>
            <a:r>
              <a:rPr lang="en-GB" dirty="0"/>
              <a:t>one-stage/two-stage trade-off literature, and why rule-based scoring is easier to justify than a learned 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start </a:t>
            </a:r>
            <a:r>
              <a:rPr lang="en-GB" dirty="0"/>
              <a:t>RDD2022 exploration and the small </a:t>
            </a:r>
            <a:r>
              <a:rPr lang="en-GB" dirty="0" smtClean="0"/>
              <a:t>dataset.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3" name="Table 2"/>
          <p:cNvGraphicFramePr>
            <a:graphicFrameLocks noGrp="1"/>
          </p:cNvGraphicFramePr>
          <p:nvPr>
            <p:extLst>
              <p:ext uri="{D42A27DB-BD31-4B8C-83A1-F6EECF244321}">
                <p14:modId xmlns:p14="http://schemas.microsoft.com/office/powerpoint/2010/main" val="2103711854"/>
              </p:ext>
            </p:extLst>
          </p:nvPr>
        </p:nvGraphicFramePr>
        <p:xfrm>
          <a:off x="344557" y="3677478"/>
          <a:ext cx="1231900" cy="809625"/>
        </p:xfrm>
        <a:graphic>
          <a:graphicData uri="http://schemas.openxmlformats.org/drawingml/2006/table">
            <a:tbl>
              <a:tblPr>
                <a:tableStyleId>{764D4AE7-FFBC-431D-9275-528F30A785D3}</a:tableStyleId>
              </a:tblPr>
              <a:tblGrid>
                <a:gridCol w="1231900">
                  <a:extLst>
                    <a:ext uri="{9D8B030D-6E8A-4147-A177-3AD203B41FA5}">
                      <a16:colId xmlns:a16="http://schemas.microsoft.com/office/drawing/2014/main" val="431691437"/>
                    </a:ext>
                  </a:extLst>
                </a:gridCol>
              </a:tblGrid>
              <a:tr h="161925">
                <a:tc>
                  <a:txBody>
                    <a:bodyPr/>
                    <a:lstStyle/>
                    <a:p>
                      <a:pPr algn="l" fontAlgn="b"/>
                      <a:r>
                        <a:rPr lang="en-GB" sz="1000" u="sng" strike="noStrike" dirty="0">
                          <a:effectLst/>
                          <a:hlinkClick r:id="rId3"/>
                        </a:rPr>
                        <a:t>repo root</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1191797150"/>
                  </a:ext>
                </a:extLst>
              </a:tr>
              <a:tr h="161925">
                <a:tc>
                  <a:txBody>
                    <a:bodyPr/>
                    <a:lstStyle/>
                    <a:p>
                      <a:pPr algn="l" fontAlgn="b"/>
                      <a:r>
                        <a:rPr lang="en-GB" sz="1000" u="sng" strike="noStrike">
                          <a:effectLst/>
                          <a:hlinkClick r:id="rId4"/>
                        </a:rPr>
                        <a:t>requirements.txt</a:t>
                      </a:r>
                      <a:endParaRPr lang="en-GB" sz="1000" b="0" i="0" u="sng" strike="noStrike">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902013584"/>
                  </a:ext>
                </a:extLst>
              </a:tr>
              <a:tr h="161925">
                <a:tc>
                  <a:txBody>
                    <a:bodyPr/>
                    <a:lstStyle/>
                    <a:p>
                      <a:pPr algn="l" fontAlgn="b"/>
                      <a:r>
                        <a:rPr lang="en-GB" sz="1000" u="sng" strike="noStrike">
                          <a:effectLst/>
                          <a:hlinkClick r:id="rId5"/>
                        </a:rPr>
                        <a:t>references.bib</a:t>
                      </a:r>
                      <a:endParaRPr lang="en-GB" sz="1000" b="0" i="0" u="sng" strike="noStrike">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48491065"/>
                  </a:ext>
                </a:extLst>
              </a:tr>
              <a:tr h="161925">
                <a:tc>
                  <a:txBody>
                    <a:bodyPr/>
                    <a:lstStyle/>
                    <a:p>
                      <a:pPr algn="l" fontAlgn="b"/>
                      <a:r>
                        <a:rPr lang="en-GB" sz="1000" u="sng" strike="noStrike" dirty="0" err="1">
                          <a:effectLst/>
                          <a:hlinkClick r:id="rId5"/>
                        </a:rPr>
                        <a:t>references.bib</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846664293"/>
                  </a:ext>
                </a:extLst>
              </a:tr>
              <a:tr h="161925">
                <a:tc>
                  <a:txBody>
                    <a:bodyPr/>
                    <a:lstStyle/>
                    <a:p>
                      <a:pPr algn="l" fontAlgn="b"/>
                      <a:r>
                        <a:rPr lang="en-GB" sz="1000" u="sng" strike="noStrike" dirty="0">
                          <a:effectLst/>
                          <a:hlinkClick r:id="rId6"/>
                        </a:rPr>
                        <a:t>thesis 3.2</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691526948"/>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a:t>
            </a:r>
            <a:r>
              <a:rPr lang="en" b="1" dirty="0" smtClean="0"/>
              <a:t>: </a:t>
            </a:r>
            <a:r>
              <a:rPr lang="en-GB" dirty="0"/>
              <a:t>17/04/2026</a:t>
            </a:r>
            <a:endParaRPr lang="en" b="1" dirty="0"/>
          </a:p>
          <a:p>
            <a:pPr marL="182880" lvl="0" indent="-154940"/>
            <a:r>
              <a:rPr lang="en" b="1" dirty="0"/>
              <a:t>Feedback from</a:t>
            </a:r>
            <a:r>
              <a:rPr lang="en" b="1" dirty="0" smtClean="0"/>
              <a:t>: </a:t>
            </a:r>
            <a:r>
              <a:rPr lang="en-GB" dirty="0"/>
              <a:t>Karna </a:t>
            </a:r>
            <a:r>
              <a:rPr lang="en-GB" dirty="0" err="1"/>
              <a:t>Rewatkar</a:t>
            </a:r>
            <a:r>
              <a:rPr lang="en-GB" dirty="0"/>
              <a:t> (</a:t>
            </a:r>
            <a:r>
              <a:rPr lang="en-GB" dirty="0" err="1"/>
              <a:t>BUas</a:t>
            </a:r>
            <a:r>
              <a:rPr lang="en-GB" dirty="0"/>
              <a:t> Supervisor)</a:t>
            </a:r>
            <a:endParaRPr lang="en" b="1" dirty="0"/>
          </a:p>
          <a:p>
            <a:pPr marL="182880" lvl="0" indent="-154940"/>
            <a:r>
              <a:rPr lang="en" b="1" dirty="0"/>
              <a:t>Feedback</a:t>
            </a:r>
            <a:r>
              <a:rPr lang="en" b="1" dirty="0" smtClean="0"/>
              <a:t>: </a:t>
            </a:r>
            <a:r>
              <a:rPr lang="en-GB" dirty="0"/>
              <a:t>Everything is off to a solid start. The choice between YOLOv8n and Faster R-CNN is well reasoned, and going with a rule-based rather than learned risk score is the right call for something a municipality would need to trust and audit. Good that H1-H4 were pinned down this early </a:t>
            </a:r>
            <a:r>
              <a:rPr lang="en-GB" dirty="0" smtClean="0"/>
              <a:t>- </a:t>
            </a:r>
            <a:r>
              <a:rPr lang="en-GB" dirty="0"/>
              <a:t>it gives the rest of the project fixed targets to work against.</a:t>
            </a:r>
          </a:p>
          <a:p>
            <a:pPr marL="182880" lvl="0" indent="-154940" algn="l" rtl="0">
              <a:spcBef>
                <a:spcPts val="0"/>
              </a:spcBef>
              <a:spcAft>
                <a:spcPts val="0"/>
              </a:spcAft>
              <a:buSzPts val="1000"/>
              <a:buChar char="●"/>
            </a:pPr>
            <a:endParaRPr lang="en" b="1" dirty="0"/>
          </a:p>
          <a:p>
            <a:pPr marL="182880" lvl="0" indent="-154940"/>
            <a:r>
              <a:rPr lang="en" b="1" dirty="0"/>
              <a:t>Related to what task: </a:t>
            </a:r>
            <a:r>
              <a:rPr lang="en-GB" dirty="0" smtClean="0"/>
              <a:t>Architecture </a:t>
            </a:r>
            <a:r>
              <a:rPr lang="en-GB" dirty="0"/>
              <a:t>decision and risk-scoring approach</a:t>
            </a:r>
            <a:endParaRPr lang="en" dirty="0"/>
          </a:p>
          <a:p>
            <a:pPr marL="182880" lvl="0" indent="-154940"/>
            <a:r>
              <a:rPr lang="en" b="1" dirty="0"/>
              <a:t>Response/action coming forward from this: </a:t>
            </a:r>
            <a:r>
              <a:rPr lang="en-GB" dirty="0" smtClean="0"/>
              <a:t>Proceed </a:t>
            </a:r>
            <a:r>
              <a:rPr lang="en-GB" dirty="0"/>
              <a:t>to dataset exploration and the first small-scale dataset build.</a:t>
            </a:r>
            <a:endParaRPr lang="en" dirty="0" smtClean="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dirty="0"/>
          </a:p>
        </p:txBody>
      </p:sp>
      <p:sp>
        <p:nvSpPr>
          <p:cNvPr id="2" name="TextBox 1">
            <a:extLst>
              <a:ext uri="{FF2B5EF4-FFF2-40B4-BE49-F238E27FC236}">
                <a16:creationId xmlns:a16="http://schemas.microsoft.com/office/drawing/2014/main" id="{7D431F1F-F634-7FA5-06F3-E9A2BA1F45DE}"/>
              </a:ext>
            </a:extLst>
          </p:cNvPr>
          <p:cNvSpPr txBox="1"/>
          <p:nvPr/>
        </p:nvSpPr>
        <p:spPr>
          <a:xfrm>
            <a:off x="6464538" y="4711181"/>
            <a:ext cx="2496587" cy="253916"/>
          </a:xfrm>
          <a:prstGeom prst="rect">
            <a:avLst/>
          </a:prstGeom>
          <a:solidFill>
            <a:schemeClr val="bg1"/>
          </a:solidFill>
        </p:spPr>
        <p:txBody>
          <a:bodyPr rot="0" spcFirstLastPara="0" vert="horz" wrap="square" lIns="91440" tIns="45720" rIns="91440" bIns="45720" numCol="1" spcCol="0" rtlCol="0" fromWordArt="0" anchor="t" anchorCtr="0" forceAA="0" compatLnSpc="1">
            <a:prstTxWarp prst="textNoShape">
              <a:avLst/>
            </a:prstTxWarp>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050" dirty="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2 -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a:t>E</a:t>
            </a:r>
            <a:r>
              <a:rPr lang="en-GB" dirty="0" smtClean="0"/>
              <a:t>xplore </a:t>
            </a:r>
            <a:r>
              <a:rPr lang="en-GB" dirty="0"/>
              <a:t>RDD2022, decide which classes to keep, build the small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Downloaded/Explored </a:t>
            </a:r>
            <a:r>
              <a:rPr lang="en-GB" dirty="0"/>
              <a:t>RDD2022; decided to keep 4 classes, filter the 5th; wrote the annotation conversion script; built the small dataset (277/60/60) and verified it; researched CVAT; planned the app's page structure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r>
              <a:rPr lang="en" dirty="0"/>
              <a:t>How did the week </a:t>
            </a:r>
            <a:r>
              <a:rPr lang="en" dirty="0" smtClean="0"/>
              <a:t>go?</a:t>
            </a:r>
          </a:p>
          <a:p>
            <a:pPr marL="27940" lvl="0" indent="0">
              <a:buNone/>
            </a:pPr>
            <a:r>
              <a:rPr lang="en" dirty="0" smtClean="0"/>
              <a:t>It was a </a:t>
            </a:r>
            <a:r>
              <a:rPr lang="en-GB" dirty="0" smtClean="0"/>
              <a:t>productive </a:t>
            </a:r>
            <a:r>
              <a:rPr lang="en-GB" dirty="0"/>
              <a:t>exploration week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RDD2022's structure was well documented, so conversion was straightforward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T</a:t>
            </a:r>
            <a:r>
              <a:rPr lang="en-GB" dirty="0" smtClean="0"/>
              <a:t>he </a:t>
            </a:r>
            <a:r>
              <a:rPr lang="en-GB" dirty="0"/>
              <a:t>raw folder structure needed more </a:t>
            </a:r>
            <a:r>
              <a:rPr lang="en-GB" dirty="0" smtClean="0"/>
              <a:t>clean-up </a:t>
            </a:r>
            <a:r>
              <a:rPr lang="en-GB" dirty="0"/>
              <a:t>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How </a:t>
            </a:r>
            <a:r>
              <a:rPr lang="en-GB" dirty="0"/>
              <a:t>skewed RDD2022's country/class distribution is </a:t>
            </a:r>
            <a:r>
              <a:rPr lang="en-GB" dirty="0" smtClean="0"/>
              <a:t>- </a:t>
            </a:r>
            <a:r>
              <a:rPr lang="en-GB" dirty="0"/>
              <a:t>relevant for later balancing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Action point for the next wekk is to train the first models on the small dataset.</a:t>
            </a:r>
          </a:p>
          <a:p>
            <a:pPr marL="27940" lvl="0" indent="0" algn="l" rtl="0">
              <a:spcBef>
                <a:spcPts val="0"/>
              </a:spcBef>
              <a:spcAft>
                <a:spcPts val="0"/>
              </a:spcAft>
              <a:buSzPts val="1000"/>
              <a:buNone/>
            </a:pP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 name="Table 1"/>
          <p:cNvGraphicFramePr>
            <a:graphicFrameLocks noGrp="1"/>
          </p:cNvGraphicFramePr>
          <p:nvPr>
            <p:extLst>
              <p:ext uri="{D42A27DB-BD31-4B8C-83A1-F6EECF244321}">
                <p14:modId xmlns:p14="http://schemas.microsoft.com/office/powerpoint/2010/main" val="3873338517"/>
              </p:ext>
            </p:extLst>
          </p:nvPr>
        </p:nvGraphicFramePr>
        <p:xfrm>
          <a:off x="384313" y="3525078"/>
          <a:ext cx="1702904" cy="638175"/>
        </p:xfrm>
        <a:graphic>
          <a:graphicData uri="http://schemas.openxmlformats.org/drawingml/2006/table">
            <a:tbl>
              <a:tblPr>
                <a:tableStyleId>{764D4AE7-FFBC-431D-9275-528F30A785D3}</a:tableStyleId>
              </a:tblPr>
              <a:tblGrid>
                <a:gridCol w="1702904">
                  <a:extLst>
                    <a:ext uri="{9D8B030D-6E8A-4147-A177-3AD203B41FA5}">
                      <a16:colId xmlns:a16="http://schemas.microsoft.com/office/drawing/2014/main" val="2647405054"/>
                    </a:ext>
                  </a:extLst>
                </a:gridCol>
              </a:tblGrid>
              <a:tr h="161925">
                <a:tc>
                  <a:txBody>
                    <a:bodyPr/>
                    <a:lstStyle/>
                    <a:p>
                      <a:pPr algn="l" fontAlgn="b"/>
                      <a:r>
                        <a:rPr lang="en-GB" sz="1000" u="sng" strike="noStrike" dirty="0">
                          <a:effectLst/>
                          <a:hlinkClick r:id="rId3"/>
                        </a:rPr>
                        <a:t>data</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532099476"/>
                  </a:ext>
                </a:extLst>
              </a:tr>
              <a:tr h="161925">
                <a:tc>
                  <a:txBody>
                    <a:bodyPr/>
                    <a:lstStyle/>
                    <a:p>
                      <a:pPr algn="l" fontAlgn="b"/>
                      <a:r>
                        <a:rPr lang="en-GB" sz="1000" u="sng" strike="noStrike" dirty="0">
                          <a:effectLst/>
                          <a:hlinkClick r:id="rId4"/>
                        </a:rPr>
                        <a:t>visual dataset inspection notebook</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673156909"/>
                  </a:ext>
                </a:extLst>
              </a:tr>
              <a:tr h="161925">
                <a:tc>
                  <a:txBody>
                    <a:bodyPr/>
                    <a:lstStyle/>
                    <a:p>
                      <a:pPr algn="l" fontAlgn="b"/>
                      <a:r>
                        <a:rPr lang="en-GB" sz="1000" u="sng" strike="noStrike" dirty="0">
                          <a:effectLst/>
                          <a:hlinkClick r:id="rId5"/>
                        </a:rPr>
                        <a:t>scripts/</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135732429"/>
                  </a:ext>
                </a:extLst>
              </a:tr>
            </a:tbl>
          </a:graphicData>
        </a:graphic>
      </p:graphicFrame>
    </p:spTree>
    <p:extLst>
      <p:ext uri="{BB962C8B-B14F-4D97-AF65-F5344CB8AC3E}">
        <p14:creationId xmlns:p14="http://schemas.microsoft.com/office/powerpoint/2010/main" val="3729613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2 -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22/04/2026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It's a smart move to validate the pipeline on a small dataset before scaling up rather than jumping straight to the full RDD2022 set. The decision to keep only four damage classes looks sensible given the risk-scoring model you described. Just make sure that reasoning is written down somewhere now, while it's still fresh, so you're not reconstructing it later for the thesis</a:t>
            </a:r>
            <a:r>
              <a:rPr lang="en-GB" dirty="0" smtClean="0"/>
              <a:t>.</a:t>
            </a:r>
          </a:p>
          <a:p>
            <a:pPr marL="182880" lvl="0" indent="-154940"/>
            <a:endParaRPr lang="en" dirty="0"/>
          </a:p>
          <a:p>
            <a:pPr marL="182880" lvl="0" indent="-154940"/>
            <a:r>
              <a:rPr lang="en" b="1" dirty="0"/>
              <a:t>Related to what task: </a:t>
            </a:r>
            <a:r>
              <a:rPr lang="en-GB" dirty="0" smtClean="0"/>
              <a:t>Small </a:t>
            </a:r>
            <a:r>
              <a:rPr lang="en-GB" dirty="0"/>
              <a:t>dataset build and 4-class filtering decision.</a:t>
            </a:r>
            <a:endParaRPr lang="en" dirty="0"/>
          </a:p>
          <a:p>
            <a:pPr marL="182880" lvl="0" indent="-154940"/>
            <a:r>
              <a:rPr lang="en" b="1" dirty="0"/>
              <a:t>Response/action coming forward from this: </a:t>
            </a:r>
            <a:r>
              <a:rPr lang="en-GB" dirty="0" smtClean="0"/>
              <a:t>Documented </a:t>
            </a:r>
            <a:r>
              <a:rPr lang="en-GB" dirty="0"/>
              <a:t>the decision in the dataset-construction notes.</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Tree>
    <p:extLst>
      <p:ext uri="{BB962C8B-B14F-4D97-AF65-F5344CB8AC3E}">
        <p14:creationId xmlns:p14="http://schemas.microsoft.com/office/powerpoint/2010/main" val="2257558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3 -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Goals for this weeks are to </a:t>
            </a:r>
            <a:r>
              <a:rPr lang="en-GB" dirty="0"/>
              <a:t>train the first models on the small </a:t>
            </a:r>
            <a:r>
              <a:rPr lang="en-GB" dirty="0" smtClean="0"/>
              <a:t>dataset and start </a:t>
            </a:r>
            <a:r>
              <a:rPr lang="en-GB" dirty="0"/>
              <a:t>researching the geospatial/app layers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W</a:t>
            </a:r>
            <a:r>
              <a:rPr lang="en-GB" dirty="0" smtClean="0"/>
              <a:t>rote </a:t>
            </a:r>
            <a:r>
              <a:rPr lang="en-GB" dirty="0"/>
              <a:t>both training </a:t>
            </a:r>
            <a:r>
              <a:rPr lang="en-GB" dirty="0" err="1"/>
              <a:t>configs</a:t>
            </a:r>
            <a:r>
              <a:rPr lang="en-GB" dirty="0"/>
              <a:t>, fixed an early Faster R-CNN memory error, trained and evaluated both models; researched </a:t>
            </a:r>
            <a:r>
              <a:rPr lang="en-GB" dirty="0" err="1"/>
              <a:t>OSMnx</a:t>
            </a:r>
            <a:r>
              <a:rPr lang="en-GB" dirty="0"/>
              <a:t>/Folium; drafted the pipeline diagram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a:t>
            </a:r>
            <a:r>
              <a:rPr lang="en" dirty="0" smtClean="0"/>
              <a:t>it.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first YOLO training</a:t>
            </a:r>
            <a:r>
              <a:rPr lang="en-GB" dirty="0"/>
              <a:t> </a:t>
            </a:r>
            <a:endParaRPr lang="en-GB" dirty="0" smtClean="0"/>
          </a:p>
          <a:p>
            <a:pPr marL="27940" lvl="0" indent="0">
              <a:buNone/>
            </a:pPr>
            <a:endParaRPr lang="en-GB" dirty="0"/>
          </a:p>
          <a:p>
            <a:pPr marL="27940" lvl="0" indent="0">
              <a:buNone/>
            </a:pPr>
            <a:r>
              <a:rPr lang="en-GB" u="sng" dirty="0">
                <a:hlinkClick r:id="rId4"/>
              </a:rPr>
              <a:t>first </a:t>
            </a:r>
            <a:r>
              <a:rPr lang="en-GB" u="sng" dirty="0" err="1">
                <a:hlinkClick r:id="rId4"/>
              </a:rPr>
              <a:t>FasteRNN</a:t>
            </a:r>
            <a:r>
              <a:rPr lang="en-GB" u="sng" dirty="0">
                <a:hlinkClick r:id="rId4"/>
              </a:rPr>
              <a:t> training</a:t>
            </a:r>
            <a:r>
              <a:rPr lang="en-GB" dirty="0"/>
              <a:t> </a:t>
            </a:r>
            <a:endParaRPr lang="en-GB" dirty="0" smtClean="0"/>
          </a:p>
          <a:p>
            <a:pPr marL="27940" lvl="0" indent="0">
              <a:buNone/>
            </a:pPr>
            <a:endParaRPr lang="en-GB" dirty="0"/>
          </a:p>
          <a:p>
            <a:pPr marL="27940" lvl="0" indent="0">
              <a:buNone/>
            </a:pPr>
            <a:r>
              <a:rPr lang="en-GB" u="sng" dirty="0">
                <a:hlinkClick r:id="rId5"/>
              </a:rPr>
              <a:t>Product architecture plan</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p>
          <a:p>
            <a:pPr marL="27940" lvl="0" indent="0">
              <a:buNone/>
            </a:pPr>
            <a:r>
              <a:rPr lang="en" dirty="0" smtClean="0"/>
              <a:t>The week was </a:t>
            </a:r>
            <a:r>
              <a:rPr lang="en-GB" dirty="0"/>
              <a:t>encouraging, both models trained successfully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YOLOv8n trained cleanly with sane (if low) small-dataset numbers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Faster R-CNN needed gradient accumulation and mixed precision to fit an 8GB GPU</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H</a:t>
            </a:r>
            <a:r>
              <a:rPr lang="en-GB" dirty="0" smtClean="0"/>
              <a:t>ow </a:t>
            </a:r>
            <a:r>
              <a:rPr lang="en-GB" dirty="0"/>
              <a:t>to tune batch size/accumulation/mixed precision for a memory-constrained two-stage detector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design and implement the risk-scoring model.</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89890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3 -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29/04/2026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Everything is off to a solid start. The choice between YOLOv8n and Faster R-CNN is well reasoned, and going with a rule-based rather than learned risk score is the right call for something a municipality would need to trust and audit. Good that H1-H4 were pinned down this early </a:t>
            </a:r>
            <a:r>
              <a:rPr lang="en-GB" dirty="0" smtClean="0"/>
              <a:t>- </a:t>
            </a:r>
            <a:r>
              <a:rPr lang="en-GB" dirty="0"/>
              <a:t>it gives the rest of the project fixed targets to work against.</a:t>
            </a:r>
            <a:endParaRPr lang="en" dirty="0"/>
          </a:p>
          <a:p>
            <a:pPr marL="182880" lvl="0" indent="-154940"/>
            <a:r>
              <a:rPr lang="en" b="1" dirty="0"/>
              <a:t>Related to what task: </a:t>
            </a:r>
            <a:r>
              <a:rPr lang="en-GB" dirty="0" smtClean="0"/>
              <a:t>Architecture </a:t>
            </a:r>
            <a:r>
              <a:rPr lang="en-GB" dirty="0"/>
              <a:t>decision and risk-scoring approach</a:t>
            </a:r>
            <a:endParaRPr lang="en" dirty="0"/>
          </a:p>
          <a:p>
            <a:pPr marL="182880" lvl="0" indent="-154940"/>
            <a:r>
              <a:rPr lang="en" b="1" dirty="0"/>
              <a:t>Response/action coming forward from this: </a:t>
            </a:r>
            <a:r>
              <a:rPr lang="en-GB" dirty="0" smtClean="0"/>
              <a:t>Proceed </a:t>
            </a:r>
            <a:r>
              <a:rPr lang="en-GB" dirty="0"/>
              <a:t>to dataset exploration and the first small-scale dataset build.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Tree>
    <p:extLst>
      <p:ext uri="{BB962C8B-B14F-4D97-AF65-F5344CB8AC3E}">
        <p14:creationId xmlns:p14="http://schemas.microsoft.com/office/powerpoint/2010/main" val="3098760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4 -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Goal for the week is to </a:t>
            </a:r>
            <a:r>
              <a:rPr lang="en-GB" dirty="0"/>
              <a:t>design and implement the risk-scoring model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designed the per-detection formula, confidence multiplier, and </a:t>
            </a:r>
            <a:r>
              <a:rPr lang="en-GB" dirty="0" err="1"/>
              <a:t>max+damped-rest</a:t>
            </a:r>
            <a:r>
              <a:rPr lang="en-GB" dirty="0"/>
              <a:t> combination rule; decided to exclude </a:t>
            </a:r>
            <a:r>
              <a:rPr lang="en-GB" dirty="0" err="1"/>
              <a:t>bbox</a:t>
            </a:r>
            <a:r>
              <a:rPr lang="en-GB" dirty="0"/>
              <a:t> size from severity; implemented and unit-tested the code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lang="en" dirty="0" smtClean="0"/>
          </a:p>
          <a:p>
            <a:pPr marL="27940" lvl="0" indent="0">
              <a:buNone/>
            </a:pPr>
            <a:r>
              <a:rPr lang="en-GB" u="sng" dirty="0" err="1">
                <a:hlinkClick r:id="rId3"/>
              </a:rPr>
              <a:t>config</a:t>
            </a:r>
            <a:r>
              <a:rPr lang="en-GB" u="sng" dirty="0">
                <a:hlinkClick r:id="rId3"/>
              </a:rPr>
              <a:t>/</a:t>
            </a:r>
            <a:r>
              <a:rPr lang="en-GB" u="sng" dirty="0" err="1">
                <a:hlinkClick r:id="rId3"/>
              </a:rPr>
              <a:t>risk_weights.yaml</a:t>
            </a:r>
            <a:r>
              <a:rPr lang="en-GB" dirty="0"/>
              <a:t> </a:t>
            </a:r>
            <a:endParaRPr lang="en-GB" dirty="0" smtClean="0"/>
          </a:p>
          <a:p>
            <a:pPr marL="27940" lvl="0" indent="0">
              <a:buNone/>
            </a:pPr>
            <a:endParaRPr lang="en-GB" dirty="0"/>
          </a:p>
          <a:p>
            <a:pPr marL="27940" lvl="0" indent="0">
              <a:buNone/>
            </a:pPr>
            <a:r>
              <a:rPr lang="en-GB" u="sng" dirty="0">
                <a:hlinkClick r:id="rId4"/>
              </a:rPr>
              <a:t>src/risk/scoring.py</a:t>
            </a:r>
            <a:r>
              <a:rPr lang="en-GB" dirty="0"/>
              <a:t> </a:t>
            </a:r>
            <a:endParaRPr lang="en-GB" dirty="0" smtClean="0"/>
          </a:p>
          <a:p>
            <a:pPr marL="27940" lvl="0" indent="0">
              <a:buNone/>
            </a:pPr>
            <a:endParaRPr lang="en-GB" dirty="0"/>
          </a:p>
          <a:p>
            <a:pPr marL="27940" lvl="0" indent="0">
              <a:buNone/>
            </a:pPr>
            <a:r>
              <a:rPr lang="en-GB" u="sng" dirty="0">
                <a:hlinkClick r:id="rId5"/>
              </a:rPr>
              <a:t>src/risk/observation_risk.py</a:t>
            </a:r>
            <a:r>
              <a:rPr lang="en-GB" dirty="0"/>
              <a:t> </a:t>
            </a:r>
            <a:endParaRPr lang="en-GB" dirty="0" smtClean="0"/>
          </a:p>
          <a:p>
            <a:pPr marL="27940" lvl="0" indent="0">
              <a:buNone/>
            </a:pPr>
            <a:endParaRPr lang="en-GB" dirty="0" smtClean="0"/>
          </a:p>
          <a:p>
            <a:pPr marL="27940" lvl="0" indent="0">
              <a:buNone/>
            </a:pPr>
            <a:r>
              <a:rPr lang="en-GB" u="sng" dirty="0" err="1">
                <a:hlinkClick r:id="rId6"/>
              </a:rPr>
              <a:t>src</a:t>
            </a:r>
            <a:r>
              <a:rPr lang="en-GB" u="sng" dirty="0">
                <a:hlinkClick r:id="rId6"/>
              </a:rPr>
              <a:t>/risk/</a:t>
            </a:r>
            <a:r>
              <a:rPr lang="en-GB" dirty="0"/>
              <a:t> </a:t>
            </a:r>
            <a:endParaRPr lang="en-GB" dirty="0" smtClean="0"/>
          </a:p>
          <a:p>
            <a:pPr marL="27940" lvl="0" indent="0">
              <a:buNone/>
            </a:pPr>
            <a:endParaRPr lang="en-GB" dirty="0"/>
          </a:p>
          <a:p>
            <a:pPr marL="27940" lvl="0" indent="0">
              <a:buNone/>
            </a:pPr>
            <a:r>
              <a:rPr lang="en-GB" u="sng" dirty="0">
                <a:hlinkClick r:id="rId7"/>
              </a:rPr>
              <a:t>thesis 3.3</a:t>
            </a:r>
            <a:r>
              <a:rPr lang="en-GB" dirty="0"/>
              <a:t> </a:t>
            </a:r>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p>
          <a:p>
            <a:pPr marL="27940" lvl="0" indent="0" algn="l" rtl="0">
              <a:spcBef>
                <a:spcPts val="0"/>
              </a:spcBef>
              <a:spcAft>
                <a:spcPts val="0"/>
              </a:spcAft>
              <a:buSzPts val="1000"/>
              <a:buNone/>
            </a:pPr>
            <a:r>
              <a:rPr lang="en" dirty="0" smtClean="0"/>
              <a:t>The week went smooth. The design took longer than implementation</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three design criteria (worst dominates, extra counts, confidence nudges) resolved disagreements about the formula quickly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J</a:t>
            </a:r>
            <a:r>
              <a:rPr lang="en-GB" dirty="0" smtClean="0"/>
              <a:t>ustifying </a:t>
            </a:r>
            <a:r>
              <a:rPr lang="en-GB" dirty="0"/>
              <a:t>the </a:t>
            </a:r>
            <a:r>
              <a:rPr lang="en-GB" dirty="0" err="1"/>
              <a:t>bbox</a:t>
            </a:r>
            <a:r>
              <a:rPr lang="en-GB" dirty="0"/>
              <a:t>-size exclusion needed care since it departs from H2's original wording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Learnt why </a:t>
            </a:r>
            <a:r>
              <a:rPr lang="en-GB" dirty="0" err="1"/>
              <a:t>bbox</a:t>
            </a:r>
            <a:r>
              <a:rPr lang="en-GB" dirty="0"/>
              <a:t> size is a poor severity proxy in a 2D photo</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build geospatial matching and routing.</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75888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4 -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08/05/2026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Rewtkar (Supervisor)</a:t>
            </a:r>
            <a:endParaRPr lang="en" b="1" dirty="0"/>
          </a:p>
          <a:p>
            <a:pPr marL="182880" lvl="0" indent="-154940"/>
            <a:r>
              <a:rPr lang="en" b="1" dirty="0"/>
              <a:t>Feedback</a:t>
            </a:r>
            <a:r>
              <a:rPr lang="en" b="1" dirty="0" smtClean="0"/>
              <a:t>: </a:t>
            </a:r>
            <a:r>
              <a:rPr lang="en" dirty="0" smtClean="0"/>
              <a:t>T</a:t>
            </a:r>
            <a:r>
              <a:rPr lang="en-GB" dirty="0" smtClean="0"/>
              <a:t>he </a:t>
            </a:r>
            <a:r>
              <a:rPr lang="en-GB" dirty="0"/>
              <a:t>risk-scoring design is clear and the three criteria you used to compare it against alternatives is a good way to justify the formula rather than just asserting it. Excluding bounding-box size is a reasonable engineering decision, but since it changes what H2 originally proposed, it needs to be flagged explicitly and early in the thesis rather than mentioned in passing. Otherwise this looks like a strong piece of design work.</a:t>
            </a:r>
            <a:endParaRPr lang="en" dirty="0"/>
          </a:p>
          <a:p>
            <a:pPr marL="182880" lvl="0" indent="-154940"/>
            <a:r>
              <a:rPr lang="en" b="1" dirty="0"/>
              <a:t>Related to what task: </a:t>
            </a:r>
            <a:r>
              <a:rPr lang="en-GB" dirty="0" smtClean="0"/>
              <a:t>Risk-scoring </a:t>
            </a:r>
            <a:r>
              <a:rPr lang="en-GB" dirty="0"/>
              <a:t>formula design.</a:t>
            </a:r>
            <a:endParaRPr lang="en" dirty="0"/>
          </a:p>
          <a:p>
            <a:pPr marL="182880" lvl="0" indent="-154940"/>
            <a:r>
              <a:rPr lang="en" b="1" dirty="0"/>
              <a:t>Response/action coming forward from this: </a:t>
            </a:r>
            <a:r>
              <a:rPr lang="en-GB" dirty="0" smtClean="0"/>
              <a:t>Added </a:t>
            </a:r>
            <a:r>
              <a:rPr lang="en-GB" dirty="0"/>
              <a:t>an explicit statement of the deviation to the Methodology section.</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Tree>
    <p:extLst>
      <p:ext uri="{BB962C8B-B14F-4D97-AF65-F5344CB8AC3E}">
        <p14:creationId xmlns:p14="http://schemas.microsoft.com/office/powerpoint/2010/main" val="3973839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5 -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build minimal geospatial matching and routing to prove the full chain works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S</a:t>
            </a:r>
            <a:r>
              <a:rPr lang="en-GB" dirty="0" smtClean="0"/>
              <a:t>et </a:t>
            </a:r>
            <a:r>
              <a:rPr lang="en-GB" dirty="0"/>
              <a:t>up and cached the Sofia OSM graph; implemented GPS-to-edge matching, segment-level risk aggregation, and the routing cost; confirmed the full chain end to end at script level; rough alpha calibration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src/geospatial/network.py</a:t>
            </a:r>
            <a:r>
              <a:rPr lang="en-GB" dirty="0"/>
              <a:t> </a:t>
            </a:r>
            <a:endParaRPr lang="en-GB" dirty="0" smtClean="0"/>
          </a:p>
          <a:p>
            <a:pPr marL="27940" lvl="0" indent="0">
              <a:buNone/>
            </a:pPr>
            <a:endParaRPr lang="en-GB" dirty="0"/>
          </a:p>
          <a:p>
            <a:pPr marL="27940" lvl="0" indent="0">
              <a:buNone/>
            </a:pPr>
            <a:r>
              <a:rPr lang="en-GB" u="sng" dirty="0">
                <a:hlinkClick r:id="rId4"/>
              </a:rPr>
              <a:t>src/geospatial/matching.py</a:t>
            </a:r>
            <a:r>
              <a:rPr lang="en-GB" dirty="0"/>
              <a:t> </a:t>
            </a:r>
            <a:endParaRPr lang="en-GB" dirty="0" smtClean="0"/>
          </a:p>
          <a:p>
            <a:pPr marL="27940" lvl="0" indent="0">
              <a:buNone/>
            </a:pPr>
            <a:endParaRPr lang="en-GB" dirty="0"/>
          </a:p>
          <a:p>
            <a:pPr marL="27940" lvl="0" indent="0">
              <a:buNone/>
            </a:pPr>
            <a:r>
              <a:rPr lang="en-GB" u="sng" dirty="0">
                <a:hlinkClick r:id="rId5"/>
              </a:rPr>
              <a:t>src/risk/segment_aggregation.py</a:t>
            </a:r>
            <a:r>
              <a:rPr lang="en-GB" dirty="0"/>
              <a:t> </a:t>
            </a:r>
            <a:endParaRPr lang="en-GB" dirty="0" smtClean="0"/>
          </a:p>
          <a:p>
            <a:pPr marL="27940" lvl="0" indent="0">
              <a:buNone/>
            </a:pPr>
            <a:endParaRPr lang="en-GB" dirty="0"/>
          </a:p>
          <a:p>
            <a:pPr marL="27940" lvl="0" indent="0">
              <a:buNone/>
            </a:pPr>
            <a:r>
              <a:rPr lang="en-GB" u="sng" dirty="0">
                <a:hlinkClick r:id="rId6"/>
              </a:rPr>
              <a:t>src/routing/router.py</a:t>
            </a:r>
            <a:r>
              <a:rPr lang="en-GB" dirty="0"/>
              <a:t> </a:t>
            </a:r>
            <a:endParaRPr lang="en-GB" dirty="0" smtClean="0"/>
          </a:p>
          <a:p>
            <a:pPr marL="27940" lvl="0" indent="0">
              <a:buNone/>
            </a:pPr>
            <a:endParaRPr lang="en-GB" dirty="0"/>
          </a:p>
          <a:p>
            <a:pPr marL="27940" lvl="0" indent="0">
              <a:buNone/>
            </a:pPr>
            <a:r>
              <a:rPr lang="en-GB" u="sng" dirty="0" err="1">
                <a:hlinkClick r:id="rId7"/>
              </a:rPr>
              <a:t>config</a:t>
            </a:r>
            <a:r>
              <a:rPr lang="en-GB" u="sng" dirty="0">
                <a:hlinkClick r:id="rId7"/>
              </a:rPr>
              <a:t>/</a:t>
            </a:r>
            <a:r>
              <a:rPr lang="en-GB" u="sng" dirty="0" err="1">
                <a:hlinkClick r:id="rId7"/>
              </a:rPr>
              <a:t>risk_weights.yaml</a:t>
            </a:r>
            <a:r>
              <a:rPr lang="en-GB" dirty="0"/>
              <a:t> </a:t>
            </a:r>
          </a:p>
          <a:p>
            <a:pPr marL="27940" lvl="0" indent="0">
              <a:buNone/>
            </a:pPr>
            <a:endParaRPr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did the last piece before the app.</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chain worked end to end on the first proper attempt once the matching threshold was tuned</a:t>
            </a:r>
            <a:r>
              <a:rPr lang="en-GB" dirty="0" smtClean="0"/>
              <a:t>.</a:t>
            </a:r>
          </a:p>
          <a:p>
            <a:pPr marL="27940" lvl="0" indent="0">
              <a:buNone/>
            </a:pPr>
            <a:endParaRPr lang="en-GB" dirty="0" smtClean="0"/>
          </a:p>
          <a:p>
            <a:pPr marL="182880" lvl="0" indent="-154940" algn="l" rtl="0">
              <a:spcBef>
                <a:spcPts val="0"/>
              </a:spcBef>
              <a:spcAft>
                <a:spcPts val="0"/>
              </a:spcAft>
              <a:buSzPts val="1000"/>
              <a:buChar char="●"/>
            </a:pPr>
            <a:r>
              <a:rPr lang="en" dirty="0" smtClean="0"/>
              <a:t>What </a:t>
            </a:r>
            <a:r>
              <a:rPr lang="en" dirty="0"/>
              <a:t>didn’t go so well? </a:t>
            </a:r>
            <a:endParaRPr lang="en" dirty="0" smtClean="0"/>
          </a:p>
          <a:p>
            <a:pPr marL="27940" lvl="0" indent="0">
              <a:buNone/>
            </a:pPr>
            <a:r>
              <a:rPr lang="en-GB" dirty="0"/>
              <a:t>T</a:t>
            </a:r>
            <a:r>
              <a:rPr lang="en-GB" dirty="0" smtClean="0"/>
              <a:t>he </a:t>
            </a:r>
            <a:r>
              <a:rPr lang="en-GB" dirty="0"/>
              <a:t>OSM graph download was slow and needed local caching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a:t>
            </a:r>
            <a:r>
              <a:rPr lang="en" dirty="0" smtClean="0"/>
              <a:t>?</a:t>
            </a:r>
          </a:p>
          <a:p>
            <a:pPr marL="27940" lvl="0" indent="0">
              <a:buNone/>
            </a:pPr>
            <a:r>
              <a:rPr lang="en" dirty="0" smtClean="0"/>
              <a:t>I learnt </a:t>
            </a:r>
            <a:r>
              <a:rPr lang="en-GB" dirty="0"/>
              <a:t>how to match noisy GPS to the right edge, and why a distance threshold matters</a:t>
            </a:r>
            <a:r>
              <a:rPr lang="en-GB" dirty="0" smtClean="0"/>
              <a:t>.</a:t>
            </a:r>
          </a:p>
          <a:p>
            <a:pPr marL="27940" lvl="0" indent="0">
              <a:buNone/>
            </a:pPr>
            <a:r>
              <a:rPr lang="en" dirty="0" smtClean="0"/>
              <a:t> </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build the first </a:t>
            </a:r>
            <a:r>
              <a:rPr lang="en-GB" dirty="0" err="1"/>
              <a:t>Streamlit</a:t>
            </a:r>
            <a:r>
              <a:rPr lang="en-GB" dirty="0"/>
              <a:t> app</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3956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5 -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13/05/2026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Proving the whole chain works at script level before building any UI around it is the right order of operations </a:t>
            </a:r>
            <a:r>
              <a:rPr lang="en-GB" dirty="0" smtClean="0"/>
              <a:t>- </a:t>
            </a:r>
            <a:r>
              <a:rPr lang="en-GB" dirty="0"/>
              <a:t>it means any bugs you find later in the app will be UI bugs, not pipeline bugs. The GPS-matching threshold choice makes sense given how noisy phone GPS can be. Good progress for a week that was mostly plumbing work.</a:t>
            </a:r>
            <a:endParaRPr lang="en" dirty="0"/>
          </a:p>
          <a:p>
            <a:pPr marL="182880" lvl="0" indent="-154940"/>
            <a:r>
              <a:rPr lang="en" b="1" dirty="0"/>
              <a:t>Related to what task: </a:t>
            </a:r>
            <a:r>
              <a:rPr lang="en-GB" dirty="0"/>
              <a:t>end-to-end pipeline test</a:t>
            </a:r>
            <a:endParaRPr lang="en" dirty="0"/>
          </a:p>
          <a:p>
            <a:pPr marL="182880" lvl="0" indent="-154940"/>
            <a:r>
              <a:rPr lang="en" b="1" dirty="0"/>
              <a:t>Response/action coming forward from this: </a:t>
            </a:r>
            <a:r>
              <a:rPr lang="en-GB" dirty="0"/>
              <a:t>kept the script-level test as a regression check for later.</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Tree>
    <p:extLst>
      <p:ext uri="{BB962C8B-B14F-4D97-AF65-F5344CB8AC3E}">
        <p14:creationId xmlns:p14="http://schemas.microsoft.com/office/powerpoint/2010/main" val="25134849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6 -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goals for this week are to </a:t>
            </a:r>
            <a:r>
              <a:rPr lang="en-GB" dirty="0"/>
              <a:t>build the first </a:t>
            </a:r>
            <a:r>
              <a:rPr lang="en-GB" dirty="0" err="1"/>
              <a:t>Streamlit</a:t>
            </a:r>
            <a:r>
              <a:rPr lang="en-GB" dirty="0"/>
              <a:t> app, wiring detection, risk, mapping and routing together </a:t>
            </a:r>
            <a:r>
              <a:rPr lang="en-GB" dirty="0" smtClean="0"/>
              <a:t>- </a:t>
            </a:r>
            <a:r>
              <a:rPr lang="en-GB" dirty="0"/>
              <a:t>working pipeline milestone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B</a:t>
            </a:r>
            <a:r>
              <a:rPr lang="en-GB" dirty="0" smtClean="0"/>
              <a:t>uilt </a:t>
            </a:r>
            <a:r>
              <a:rPr lang="en-GB" dirty="0"/>
              <a:t>the app skeleton, Upload and Detect page, SQLite schema, basic Dashboard/Damage Map/Safer Route Planner pages; ran a full walkthrough and fixed the bugs it found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endParaRPr lang="en-GB" dirty="0"/>
          </a:p>
          <a:p>
            <a:pPr marL="27940" lvl="0" indent="0">
              <a:buNone/>
            </a:pPr>
            <a:r>
              <a:rPr lang="en-GB" u="sng" dirty="0">
                <a:hlinkClick r:id="rId3"/>
              </a:rPr>
              <a:t>app.py</a:t>
            </a:r>
            <a:r>
              <a:rPr lang="en-GB" dirty="0"/>
              <a:t> </a:t>
            </a:r>
            <a:endParaRPr lang="en-GB" dirty="0" smtClean="0"/>
          </a:p>
          <a:p>
            <a:pPr marL="27940" lvl="0" indent="0">
              <a:buNone/>
            </a:pPr>
            <a:endParaRPr lang="en-GB" dirty="0"/>
          </a:p>
          <a:p>
            <a:pPr marL="27940" lvl="0" indent="0">
              <a:buNone/>
            </a:pPr>
            <a:r>
              <a:rPr lang="en-GB" u="sng" dirty="0">
                <a:hlinkClick r:id="rId4"/>
              </a:rPr>
              <a:t>pages/2_Upload_Detect.py</a:t>
            </a:r>
            <a:r>
              <a:rPr lang="en-GB" dirty="0"/>
              <a:t> </a:t>
            </a:r>
            <a:endParaRPr lang="en-GB" dirty="0" smtClean="0"/>
          </a:p>
          <a:p>
            <a:pPr marL="27940" lvl="0" indent="0">
              <a:buNone/>
            </a:pPr>
            <a:endParaRPr lang="en-GB" dirty="0"/>
          </a:p>
          <a:p>
            <a:pPr marL="27940" lvl="0" indent="0">
              <a:buNone/>
            </a:pPr>
            <a:r>
              <a:rPr lang="en-GB" u="sng" dirty="0">
                <a:hlinkClick r:id="rId5"/>
              </a:rPr>
              <a:t>src/app/database.py</a:t>
            </a:r>
            <a:r>
              <a:rPr lang="en-GB" dirty="0"/>
              <a:t> </a:t>
            </a:r>
            <a:endParaRPr lang="en-GB" dirty="0" smtClean="0"/>
          </a:p>
          <a:p>
            <a:pPr marL="27940" lvl="0" indent="0">
              <a:buNone/>
            </a:pPr>
            <a:endParaRPr lang="en-GB" dirty="0"/>
          </a:p>
          <a:p>
            <a:pPr marL="27940" lvl="0" indent="0">
              <a:buNone/>
            </a:pPr>
            <a:r>
              <a:rPr lang="en-GB" u="sng" dirty="0">
                <a:hlinkClick r:id="rId6"/>
              </a:rPr>
              <a:t>pages/1_Dashboard.py</a:t>
            </a:r>
            <a:r>
              <a:rPr lang="en-GB" dirty="0"/>
              <a:t> </a:t>
            </a:r>
            <a:endParaRPr lang="en-GB" dirty="0" smtClean="0"/>
          </a:p>
          <a:p>
            <a:pPr marL="27940" lvl="0" indent="0">
              <a:buNone/>
            </a:pPr>
            <a:endParaRPr lang="en-GB" dirty="0"/>
          </a:p>
          <a:p>
            <a:pPr marL="27940" lvl="0" indent="0">
              <a:buNone/>
            </a:pPr>
            <a:r>
              <a:rPr lang="en-GB" u="sng" dirty="0" smtClean="0">
                <a:hlinkClick r:id="rId7"/>
              </a:rPr>
              <a:t>pages/3_Damage_Map.py</a:t>
            </a:r>
            <a:endParaRPr lang="en-GB" u="sng" dirty="0" smtClean="0"/>
          </a:p>
          <a:p>
            <a:pPr marL="27940" lvl="0" indent="0">
              <a:buNone/>
            </a:pPr>
            <a:endParaRPr lang="en-GB" u="sng" dirty="0"/>
          </a:p>
          <a:p>
            <a:pPr marL="27940" lvl="0" indent="0">
              <a:buNone/>
            </a:pPr>
            <a:r>
              <a:rPr lang="en-GB" u="sng" dirty="0">
                <a:hlinkClick r:id="rId8"/>
              </a:rPr>
              <a:t>pages/4_Safer_Route_Planner.py</a:t>
            </a:r>
            <a:r>
              <a:rPr lang="en-GB" dirty="0"/>
              <a:t>  </a:t>
            </a:r>
            <a:endParaRPr lang="en-GB"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GB" dirty="0" smtClean="0"/>
              <a:t>I</a:t>
            </a:r>
            <a:r>
              <a:rPr lang="en" dirty="0" smtClean="0"/>
              <a:t>t went pretty well. A working pipeline exists.</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R</a:t>
            </a:r>
            <a:r>
              <a:rPr lang="en-GB" dirty="0" smtClean="0"/>
              <a:t>isk-scoring </a:t>
            </a:r>
            <a:r>
              <a:rPr lang="en-GB" dirty="0"/>
              <a:t>and routing code already working made wiring the UI fast</a:t>
            </a:r>
            <a:r>
              <a:rPr lang="en-GB" dirty="0" smtClean="0"/>
              <a:t>.</a:t>
            </a:r>
          </a:p>
          <a:p>
            <a:pPr marL="27940" lvl="0" indent="0">
              <a:buNone/>
            </a:pPr>
            <a:endParaRPr dirty="0"/>
          </a:p>
          <a:p>
            <a:pPr marL="182880" lvl="0" indent="-154940"/>
            <a:r>
              <a:rPr lang="en" dirty="0"/>
              <a:t>What didn’t go so well? </a:t>
            </a:r>
            <a:endParaRPr lang="en-GB" dirty="0"/>
          </a:p>
          <a:p>
            <a:pPr marL="27940" lvl="0" indent="0">
              <a:buNone/>
            </a:pPr>
            <a:r>
              <a:rPr lang="en-GB" dirty="0"/>
              <a:t>A</a:t>
            </a:r>
            <a:r>
              <a:rPr lang="en-GB" dirty="0" smtClean="0"/>
              <a:t> </a:t>
            </a:r>
            <a:r>
              <a:rPr lang="en-GB" dirty="0"/>
              <a:t>few map-centring/duplicate-upload bugs only appeared once everything ran together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integration-only bugs matter </a:t>
            </a:r>
            <a:r>
              <a:rPr lang="en-GB" dirty="0" smtClean="0"/>
              <a:t>- </a:t>
            </a:r>
            <a:r>
              <a:rPr lang="en-GB" dirty="0"/>
              <a:t>parts that work alone can fail </a:t>
            </a:r>
            <a:r>
              <a:rPr lang="en-GB" dirty="0" smtClean="0"/>
              <a:t>together.</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go back to training </a:t>
            </a:r>
            <a:r>
              <a:rPr lang="en-GB" dirty="0" smtClean="0"/>
              <a:t>- </a:t>
            </a:r>
            <a:r>
              <a:rPr lang="en-GB" dirty="0"/>
              <a:t>audit bias and build the medium dataset.</a:t>
            </a:r>
            <a:endParaRPr lang="en"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0977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6 -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22/05/2026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T</a:t>
            </a:r>
            <a:r>
              <a:rPr lang="en-GB" dirty="0" smtClean="0"/>
              <a:t>his </a:t>
            </a:r>
            <a:r>
              <a:rPr lang="en-GB" dirty="0"/>
              <a:t>is a genuinely good milestone </a:t>
            </a:r>
            <a:r>
              <a:rPr lang="en-GB" dirty="0" smtClean="0"/>
              <a:t>- </a:t>
            </a:r>
            <a:r>
              <a:rPr lang="en-GB" dirty="0"/>
              <a:t>having a working end-to-end prototype this early, even running on the small dataset, gives you a lot of room to iterate for the rest of the project. The bugs you found during the walkthrough are exactly the kind of thing that only shows up once components are wired together, so that was a useful exercise. I'd recommend shifting attention back to data quality now before investing more time in the app itself.</a:t>
            </a:r>
            <a:endParaRPr lang="en" dirty="0"/>
          </a:p>
          <a:p>
            <a:pPr marL="182880" lvl="0" indent="-154940"/>
            <a:r>
              <a:rPr lang="en" b="1" dirty="0"/>
              <a:t>Related to what task: </a:t>
            </a:r>
            <a:r>
              <a:rPr lang="en-GB" dirty="0" smtClean="0"/>
              <a:t>First </a:t>
            </a:r>
            <a:r>
              <a:rPr lang="en-GB" dirty="0"/>
              <a:t>working pipeline demo</a:t>
            </a:r>
            <a:endParaRPr lang="en" dirty="0"/>
          </a:p>
          <a:p>
            <a:pPr marL="182880" lvl="0" indent="-154940"/>
            <a:r>
              <a:rPr lang="en" b="1" dirty="0"/>
              <a:t>Response/action coming forward from this: </a:t>
            </a:r>
            <a:r>
              <a:rPr lang="en-GB" dirty="0" smtClean="0"/>
              <a:t>Shifted </a:t>
            </a:r>
            <a:r>
              <a:rPr lang="en-GB" dirty="0"/>
              <a:t>focus to bias auditing and the medium-dataset build.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spTree>
    <p:extLst>
      <p:ext uri="{BB962C8B-B14F-4D97-AF65-F5344CB8AC3E}">
        <p14:creationId xmlns:p14="http://schemas.microsoft.com/office/powerpoint/2010/main" val="16046695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7 -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gol for this week is to </a:t>
            </a:r>
            <a:r>
              <a:rPr lang="en-GB" dirty="0"/>
              <a:t>audit the small dataset for bias and retrain on a medium-scale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A</a:t>
            </a:r>
            <a:r>
              <a:rPr lang="en-GB" dirty="0" err="1" smtClean="0"/>
              <a:t>udited</a:t>
            </a:r>
            <a:r>
              <a:rPr lang="en-GB" dirty="0" smtClean="0"/>
              <a:t> </a:t>
            </a:r>
            <a:r>
              <a:rPr lang="en-GB" dirty="0"/>
              <a:t>class/country balance, confirmed D00 </a:t>
            </a:r>
            <a:r>
              <a:rPr lang="en-GB" dirty="0" smtClean="0"/>
              <a:t>over represents </a:t>
            </a:r>
            <a:r>
              <a:rPr lang="en-GB" dirty="0"/>
              <a:t>D20/D40 2–3x and Japan is ~46% vs ~28% raw; built the medium dataset (1,034/224/221), retrained and evaluated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Classes visual inspection</a:t>
            </a:r>
            <a:r>
              <a:rPr lang="en-GB" dirty="0"/>
              <a:t> </a:t>
            </a:r>
            <a:endParaRPr lang="en-GB" dirty="0" smtClean="0"/>
          </a:p>
          <a:p>
            <a:pPr marL="27940" lvl="0" indent="0">
              <a:buNone/>
            </a:pPr>
            <a:endParaRPr lang="en-GB" dirty="0"/>
          </a:p>
          <a:p>
            <a:pPr marL="27940" lvl="0" indent="0">
              <a:buNone/>
            </a:pPr>
            <a:r>
              <a:rPr lang="en-GB" u="sng" dirty="0">
                <a:hlinkClick r:id="rId4"/>
              </a:rPr>
              <a:t>data</a:t>
            </a:r>
            <a:r>
              <a:rPr lang="en-GB" dirty="0"/>
              <a:t> </a:t>
            </a:r>
          </a:p>
          <a:p>
            <a:pPr marL="27940" lvl="0" indent="0">
              <a:buNone/>
            </a:pPr>
            <a:endParaRPr lang="en-GB" dirty="0" smtClean="0"/>
          </a:p>
          <a:p>
            <a:pPr marL="27940" lvl="0" indent="0">
              <a:buNone/>
            </a:pPr>
            <a:r>
              <a:rPr lang="en-GB" u="sng" dirty="0" err="1">
                <a:hlinkClick r:id="rId5"/>
              </a:rPr>
              <a:t>Yolo_medium_data_train</a:t>
            </a:r>
            <a:r>
              <a:rPr lang="en-GB" dirty="0"/>
              <a:t> </a:t>
            </a:r>
            <a:endParaRPr lang="en-GB" dirty="0" smtClean="0"/>
          </a:p>
          <a:p>
            <a:pPr marL="27940" lvl="0" indent="0">
              <a:buNone/>
            </a:pPr>
            <a:endParaRPr lang="en-GB" dirty="0"/>
          </a:p>
          <a:p>
            <a:pPr marL="27940" lvl="0" indent="0">
              <a:buNone/>
            </a:pPr>
            <a:r>
              <a:rPr lang="en-GB" u="sng" dirty="0" err="1">
                <a:hlinkClick r:id="rId6"/>
              </a:rPr>
              <a:t>Fasterrcnn_medium_dataset_train</a:t>
            </a:r>
            <a:r>
              <a:rPr lang="en-GB" dirty="0"/>
              <a:t> </a:t>
            </a:r>
            <a:endParaRPr lang="en-GB" dirty="0" smtClean="0"/>
          </a:p>
          <a:p>
            <a:pPr marL="27940" lvl="0" indent="0">
              <a:buNone/>
            </a:pPr>
            <a:endParaRPr lang="en-GB" dirty="0"/>
          </a:p>
          <a:p>
            <a:pPr marL="27940" lvl="0" indent="0">
              <a:buNone/>
            </a:pPr>
            <a:r>
              <a:rPr lang="en-GB" u="sng" dirty="0">
                <a:hlinkClick r:id="rId7"/>
              </a:rPr>
              <a:t>Evaluation images in notebooks, and saved in the notebooks/ folder</a:t>
            </a:r>
            <a:r>
              <a:rPr lang="en-GB" dirty="0"/>
              <a:t> </a:t>
            </a:r>
            <a:endParaRPr lang="en-GB"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smtClean="0"/>
              <a:t>The week was useful </a:t>
            </a:r>
            <a:r>
              <a:rPr lang="en-GB" dirty="0"/>
              <a:t>but slightly concerning </a:t>
            </a:r>
            <a:r>
              <a:rPr lang="en-GB" dirty="0" smtClean="0"/>
              <a:t>- </a:t>
            </a:r>
            <a:r>
              <a:rPr lang="en-GB" dirty="0"/>
              <a:t>bias worse 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 dirty="0" smtClean="0"/>
              <a:t>T</a:t>
            </a:r>
            <a:r>
              <a:rPr lang="en-GB" dirty="0"/>
              <a:t>he bias was caught clearly and early with concrete numbers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T</a:t>
            </a:r>
            <a:r>
              <a:rPr lang="en-GB" dirty="0" smtClean="0"/>
              <a:t>he </a:t>
            </a:r>
            <a:r>
              <a:rPr lang="en-GB" dirty="0"/>
              <a:t>medium dataset confirmed the bias persists </a:t>
            </a:r>
            <a:r>
              <a:rPr lang="en-GB" dirty="0" smtClean="0"/>
              <a:t>- </a:t>
            </a:r>
            <a:r>
              <a:rPr lang="en-GB" dirty="0"/>
              <a:t>balancing is now unavoidable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H</a:t>
            </a:r>
            <a:r>
              <a:rPr lang="en-GB" dirty="0" smtClean="0"/>
              <a:t>ow </a:t>
            </a:r>
            <a:r>
              <a:rPr lang="en-GB" dirty="0"/>
              <a:t>fast an unbalanced source dataset propagates into training even at a bigger scale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design </a:t>
            </a:r>
            <a:r>
              <a:rPr lang="en-GB" dirty="0" smtClean="0"/>
              <a:t>a </a:t>
            </a:r>
            <a:r>
              <a:rPr lang="en-GB" dirty="0"/>
              <a:t>proper balancing algorithm</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7</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27880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7 -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27/05/2026</a:t>
            </a:r>
          </a:p>
          <a:p>
            <a:pPr marL="182880" lvl="0" indent="-154940" algn="l" rtl="0">
              <a:spcBef>
                <a:spcPts val="0"/>
              </a:spcBef>
              <a:spcAft>
                <a:spcPts val="0"/>
              </a:spcAft>
              <a:buSzPts val="1000"/>
              <a:buChar char="●"/>
            </a:pPr>
            <a:r>
              <a:rPr lang="en" b="1" dirty="0"/>
              <a:t>Feedback </a:t>
            </a:r>
            <a:r>
              <a:rPr lang="en" b="1" dirty="0" smtClean="0"/>
              <a:t>from: </a:t>
            </a:r>
            <a:r>
              <a:rPr lang="en" dirty="0" smtClean="0"/>
              <a:t>Borislav Nachev (peer)</a:t>
            </a:r>
            <a:endParaRPr lang="en" dirty="0"/>
          </a:p>
          <a:p>
            <a:pPr marL="182880" lvl="0" indent="-154940"/>
            <a:r>
              <a:rPr lang="en" b="1" dirty="0"/>
              <a:t>Feedback</a:t>
            </a:r>
            <a:r>
              <a:rPr lang="en" b="1" dirty="0" smtClean="0"/>
              <a:t>: </a:t>
            </a:r>
            <a:r>
              <a:rPr lang="en-GB" dirty="0"/>
              <a:t>The class and country imbalance you found is worse than I expected, especially the Japan skew, and it's good that you quantified it properly rather than just noting it was "unbalanced." Since D20 and D40 are your highest-severity classes in the risk model, this imbalance has a direct effect on what the model will be good or bad at scoring. Worth explaining that connection explicitly when you write this section up.</a:t>
            </a:r>
            <a:endParaRPr lang="en" dirty="0"/>
          </a:p>
          <a:p>
            <a:pPr marL="182880" lvl="0" indent="-154940"/>
            <a:r>
              <a:rPr lang="en" b="1" dirty="0"/>
              <a:t>Related to what task: </a:t>
            </a:r>
            <a:r>
              <a:rPr lang="en-GB" dirty="0" smtClean="0"/>
              <a:t>Dataset </a:t>
            </a:r>
            <a:r>
              <a:rPr lang="en-GB" dirty="0"/>
              <a:t>bias audit</a:t>
            </a:r>
            <a:endParaRPr lang="en" dirty="0"/>
          </a:p>
          <a:p>
            <a:pPr marL="182880" lvl="0" indent="-154940"/>
            <a:r>
              <a:rPr lang="en" b="1" dirty="0"/>
              <a:t>Response/action coming forward from this: </a:t>
            </a:r>
            <a:r>
              <a:rPr lang="en" dirty="0" smtClean="0"/>
              <a:t>L</a:t>
            </a:r>
            <a:r>
              <a:rPr lang="en-GB" dirty="0" smtClean="0"/>
              <a:t>inked </a:t>
            </a:r>
            <a:r>
              <a:rPr lang="en-GB" dirty="0"/>
              <a:t>the bias discussion to the risk-scoring severity table in the write-up plan.</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7</a:t>
            </a:r>
            <a:endParaRPr dirty="0"/>
          </a:p>
        </p:txBody>
      </p:sp>
    </p:spTree>
    <p:extLst>
      <p:ext uri="{BB962C8B-B14F-4D97-AF65-F5344CB8AC3E}">
        <p14:creationId xmlns:p14="http://schemas.microsoft.com/office/powerpoint/2010/main" val="14011652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8 -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design and build a properly balanced large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D</a:t>
            </a:r>
            <a:r>
              <a:rPr lang="en-GB" dirty="0" smtClean="0"/>
              <a:t>esigned </a:t>
            </a:r>
            <a:r>
              <a:rPr lang="en-GB" dirty="0"/>
              <a:t>a water-filling balancing algorithm handling D40's 4-country constraint; implemented, unit-tested, and ran it to build the large dataset (4,291/597/592); verified output, added damage-free negatives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scripts/create_rdd2022_4classes_large.py</a:t>
            </a:r>
            <a:r>
              <a:rPr lang="en-GB" dirty="0"/>
              <a:t> </a:t>
            </a:r>
            <a:endParaRPr lang="en-GB" dirty="0" smtClean="0"/>
          </a:p>
          <a:p>
            <a:pPr marL="27940" lvl="0" indent="0">
              <a:buNone/>
            </a:pPr>
            <a:endParaRPr lang="en-GB" dirty="0"/>
          </a:p>
          <a:p>
            <a:pPr marL="27940" lvl="0" indent="0">
              <a:buNone/>
            </a:pPr>
            <a:r>
              <a:rPr lang="en-GB" u="sng" dirty="0">
                <a:hlinkClick r:id="rId4"/>
              </a:rPr>
              <a:t>data</a:t>
            </a:r>
            <a:r>
              <a:rPr lang="en-GB" dirty="0"/>
              <a:t> </a:t>
            </a:r>
            <a:endParaRPr lang="en-GB" dirty="0" smtClean="0"/>
          </a:p>
          <a:p>
            <a:pPr marL="27940" lvl="0" indent="0">
              <a:buNone/>
            </a:pPr>
            <a:endParaRPr lang="en-GB" dirty="0"/>
          </a:p>
          <a:p>
            <a:pPr marL="27940" lvl="0" indent="0">
              <a:buNone/>
            </a:pPr>
            <a:r>
              <a:rPr lang="en-GB" u="sng" dirty="0">
                <a:hlinkClick r:id="rId5"/>
              </a:rPr>
              <a:t>thesis Table A.1</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The trickiest part (D40) was solved cleanly.</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water-filling allocation generalised without special-casing every class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G</a:t>
            </a:r>
            <a:r>
              <a:rPr lang="en-GB" dirty="0" smtClean="0"/>
              <a:t>etting </a:t>
            </a:r>
            <a:r>
              <a:rPr lang="en-GB" dirty="0"/>
              <a:t>D40's quota maths right took a couple of iterations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During the week I learnt </a:t>
            </a:r>
            <a:r>
              <a:rPr lang="en-GB" dirty="0"/>
              <a:t>how to design a fair allocation when the constraint set differs per category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train both models on the final large dataset.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8</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89893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8 -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03/06/2026</a:t>
            </a:r>
          </a:p>
          <a:p>
            <a:pPr marL="182880" lvl="0" indent="-154940" algn="l" rtl="0">
              <a:spcBef>
                <a:spcPts val="0"/>
              </a:spcBef>
              <a:spcAft>
                <a:spcPts val="0"/>
              </a:spcAft>
              <a:buSzPts val="1000"/>
              <a:buChar char="●"/>
            </a:pPr>
            <a:r>
              <a:rPr lang="en" b="1" dirty="0"/>
              <a:t>Feedback from</a:t>
            </a:r>
            <a:r>
              <a:rPr lang="en" b="1" dirty="0" smtClean="0"/>
              <a:t>: </a:t>
            </a:r>
            <a:r>
              <a:rPr lang="en" dirty="0" smtClean="0"/>
              <a:t>Borislav Nachev (peer)</a:t>
            </a:r>
            <a:endParaRPr lang="en" dirty="0"/>
          </a:p>
          <a:p>
            <a:pPr marL="182880" lvl="0" indent="-154940"/>
            <a:r>
              <a:rPr lang="en" b="1" dirty="0"/>
              <a:t>Feedback</a:t>
            </a:r>
            <a:r>
              <a:rPr lang="en" b="1" dirty="0" smtClean="0"/>
              <a:t>: </a:t>
            </a:r>
            <a:r>
              <a:rPr lang="en-GB" dirty="0"/>
              <a:t>The water-filling approach is a clean way to handle a genuinely awkward constraint </a:t>
            </a:r>
            <a:r>
              <a:rPr lang="en-GB" dirty="0" smtClean="0"/>
              <a:t>- </a:t>
            </a:r>
            <a:r>
              <a:rPr lang="en-GB" dirty="0"/>
              <a:t>D40 only existing in four of the seven countries isn't a simple case, and a naive even split across all seven would have been wrong. It's explainable, which matters for the thesis, since you can walk a reader through exactly why each country got the share it did. This looks like solid, defensible methodology work.</a:t>
            </a:r>
            <a:endParaRPr lang="en" dirty="0"/>
          </a:p>
          <a:p>
            <a:pPr marL="182880" lvl="0" indent="-154940"/>
            <a:r>
              <a:rPr lang="en" b="1" dirty="0"/>
              <a:t>Related to what task: </a:t>
            </a:r>
            <a:r>
              <a:rPr lang="en-GB" dirty="0"/>
              <a:t>dataset balancing algorithm.</a:t>
            </a:r>
            <a:endParaRPr lang="en" dirty="0"/>
          </a:p>
          <a:p>
            <a:pPr marL="182880" lvl="0" indent="-154940"/>
            <a:r>
              <a:rPr lang="en" b="1" dirty="0"/>
              <a:t>Response/action coming forward from this: </a:t>
            </a:r>
            <a:r>
              <a:rPr lang="en-GB" dirty="0"/>
              <a:t>added the algorithm's reasoning to the Methodology section.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8</a:t>
            </a:r>
            <a:endParaRPr dirty="0"/>
          </a:p>
        </p:txBody>
      </p:sp>
    </p:spTree>
    <p:extLst>
      <p:ext uri="{BB962C8B-B14F-4D97-AF65-F5344CB8AC3E}">
        <p14:creationId xmlns:p14="http://schemas.microsoft.com/office/powerpoint/2010/main" val="38882126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9 -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T</a:t>
            </a:r>
            <a:r>
              <a:rPr lang="en" dirty="0" smtClean="0"/>
              <a:t>he goal for this week is to </a:t>
            </a:r>
            <a:r>
              <a:rPr lang="en-GB" dirty="0"/>
              <a:t>train both models on the large dataset and properly evaluate the architecture comparison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trained YOLOv8n and Faster R-CNN (fixing another FRCNN memory error), evaluated both, computed per-class mAP50-95, discovered FRCNN's overfitting (best checkpoint at epoch 2 of 22</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err="1">
                <a:hlinkClick r:id="rId3"/>
              </a:rPr>
              <a:t>YoLo_large_dataset_train</a:t>
            </a:r>
            <a:r>
              <a:rPr lang="en-GB" dirty="0"/>
              <a:t> </a:t>
            </a:r>
            <a:endParaRPr lang="en-GB" dirty="0" smtClean="0"/>
          </a:p>
          <a:p>
            <a:pPr marL="27940" lvl="0" indent="0">
              <a:buNone/>
            </a:pPr>
            <a:endParaRPr lang="en-GB" dirty="0"/>
          </a:p>
          <a:p>
            <a:pPr marL="27940" lvl="0" indent="0">
              <a:buNone/>
            </a:pPr>
            <a:r>
              <a:rPr lang="nb-NO" u="sng" dirty="0">
                <a:hlinkClick r:id="rId4"/>
              </a:rPr>
              <a:t>Faster RNN large dataset train</a:t>
            </a:r>
            <a:r>
              <a:rPr lang="nb-NO" dirty="0"/>
              <a:t> </a:t>
            </a:r>
            <a:endParaRPr lang="nb-NO" dirty="0" smtClean="0"/>
          </a:p>
          <a:p>
            <a:pPr marL="27940" lvl="0" indent="0">
              <a:buNone/>
            </a:pPr>
            <a:endParaRPr lang="nb-NO" dirty="0"/>
          </a:p>
          <a:p>
            <a:pPr marL="27940" lvl="0" indent="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went partly well - </a:t>
            </a:r>
            <a:r>
              <a:rPr lang="en-GB" dirty="0"/>
              <a:t> good YOLOv8n results, a clear FRCNN </a:t>
            </a:r>
            <a:r>
              <a:rPr lang="en-GB" dirty="0" smtClean="0"/>
              <a:t>problem</a:t>
            </a:r>
          </a:p>
          <a:p>
            <a:pPr marL="27940" lvl="0" indent="0">
              <a:buNone/>
            </a:pPr>
            <a:endParaRPr dirty="0"/>
          </a:p>
          <a:p>
            <a:pPr marL="182880" lvl="0" indent="-154940"/>
            <a:r>
              <a:rPr lang="en" dirty="0"/>
              <a:t>What went well? </a:t>
            </a:r>
            <a:endParaRPr lang="en" dirty="0" smtClean="0"/>
          </a:p>
          <a:p>
            <a:pPr marL="27940" lvl="0" indent="0">
              <a:buNone/>
            </a:pPr>
            <a:r>
              <a:rPr lang="en-GB" dirty="0" smtClean="0"/>
              <a:t>D40 </a:t>
            </a:r>
            <a:r>
              <a:rPr lang="en-GB" dirty="0"/>
              <a:t>became the strongest class for both models after balancing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FRCNN </a:t>
            </a:r>
            <a:r>
              <a:rPr lang="en-GB" dirty="0" err="1"/>
              <a:t>overfits</a:t>
            </a:r>
            <a:r>
              <a:rPr lang="en-GB" dirty="0"/>
              <a:t> very early at this scale; reduced LR/increased patience didn't fix it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large two-stage detector can need far more data than a lightweight one-stage 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document the limitation and run the H1 statistical tests.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9</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89410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9 -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smtClean="0"/>
              <a:t>10/06/2026</a:t>
            </a:r>
          </a:p>
          <a:p>
            <a:pPr marL="182880" lvl="0" indent="-154940"/>
            <a:r>
              <a:rPr lang="en" b="1" dirty="0" smtClean="0"/>
              <a:t>Feedback </a:t>
            </a:r>
            <a:r>
              <a:rPr lang="en" b="1" dirty="0"/>
              <a:t>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Finding that Faster R-CNN </a:t>
            </a:r>
            <a:r>
              <a:rPr lang="en-GB" dirty="0" err="1"/>
              <a:t>overfits</a:t>
            </a:r>
            <a:r>
              <a:rPr lang="en-GB" dirty="0"/>
              <a:t> this early, even on the large balanced dataset, is actually a more interesting result than if both models had trained similarly well. It's good that you tried a couple of fixes (reduced LR, more patience) rather than accepting the first run as final, even though neither worked. That gives you a stronger basis to say the issue is a genuine capacity-versus-data problem rather than just a tuning mistake</a:t>
            </a:r>
            <a:r>
              <a:rPr lang="en-GB" dirty="0" smtClean="0"/>
              <a:t>.</a:t>
            </a:r>
          </a:p>
          <a:p>
            <a:pPr marL="182880" lvl="0" indent="-154940"/>
            <a:r>
              <a:rPr lang="en" b="1" dirty="0" smtClean="0"/>
              <a:t>Related </a:t>
            </a:r>
            <a:r>
              <a:rPr lang="en" b="1" dirty="0"/>
              <a:t>to what task: </a:t>
            </a:r>
            <a:r>
              <a:rPr lang="en-GB" dirty="0"/>
              <a:t>Faster R-CNN overfitting investigation</a:t>
            </a:r>
            <a:r>
              <a:rPr lang="en-GB" dirty="0" smtClean="0"/>
              <a:t>.</a:t>
            </a:r>
          </a:p>
          <a:p>
            <a:pPr marL="182880" lvl="0" indent="-154940"/>
            <a:r>
              <a:rPr lang="en" b="1" dirty="0" smtClean="0"/>
              <a:t>Response/action </a:t>
            </a:r>
            <a:r>
              <a:rPr lang="en" b="1" dirty="0"/>
              <a:t>coming forward from this: </a:t>
            </a:r>
            <a:r>
              <a:rPr lang="en-GB" dirty="0" smtClean="0"/>
              <a:t>Decided </a:t>
            </a:r>
            <a:r>
              <a:rPr lang="en-GB" dirty="0"/>
              <a:t>to report it as a data-volume-related limitation rather than chase it further.</a:t>
            </a:r>
          </a:p>
          <a:p>
            <a:pPr marL="182880" lvl="0" indent="-154940"/>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9</a:t>
            </a:r>
            <a:endParaRPr dirty="0"/>
          </a:p>
        </p:txBody>
      </p:sp>
    </p:spTree>
    <p:extLst>
      <p:ext uri="{BB962C8B-B14F-4D97-AF65-F5344CB8AC3E}">
        <p14:creationId xmlns:p14="http://schemas.microsoft.com/office/powerpoint/2010/main" val="27590000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10 -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Reflection</a:t>
            </a:r>
            <a:endParaRPr dirty="0"/>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did you do?</a:t>
            </a:r>
            <a:endParaRPr dirty="0"/>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run the formal H1 statistical tests and write up the model comparison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measured inference time and training wall-clock for both models; ran the Wilcoxon test and the bootstrap CI; updated the pipeline diagram; drafted the H1 Results/Discussion text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thesis 5.4</a:t>
            </a:r>
            <a:r>
              <a:rPr lang="en-GB" dirty="0"/>
              <a:t> </a:t>
            </a:r>
            <a:endParaRPr lang="en-GB" dirty="0" smtClean="0"/>
          </a:p>
          <a:p>
            <a:pPr marL="27940" lvl="0" indent="0">
              <a:buNone/>
            </a:pPr>
            <a:endParaRPr lang="en-GB" dirty="0"/>
          </a:p>
          <a:p>
            <a:pPr marL="27940" lvl="0" indent="0">
              <a:buNone/>
            </a:pPr>
            <a:r>
              <a:rPr lang="en-GB" u="sng" dirty="0">
                <a:hlinkClick r:id="rId4"/>
              </a:rPr>
              <a:t>outputs/reports/</a:t>
            </a:r>
            <a:r>
              <a:rPr lang="en-GB" dirty="0"/>
              <a:t> </a:t>
            </a:r>
            <a:endParaRPr lang="en-GB" dirty="0" smtClean="0"/>
          </a:p>
          <a:p>
            <a:pPr marL="27940" lvl="0" indent="0">
              <a:buNone/>
            </a:pPr>
            <a:endParaRPr lang="en-GB" dirty="0"/>
          </a:p>
          <a:p>
            <a:pPr marL="27940" lvl="0" indent="0">
              <a:buNone/>
            </a:pPr>
            <a:r>
              <a:rPr lang="nb-NO" u="sng" dirty="0">
                <a:hlinkClick r:id="rId5"/>
              </a:rPr>
              <a:t>Faster RNN large dataset train</a:t>
            </a:r>
            <a:r>
              <a:rPr lang="nb-NO" dirty="0"/>
              <a:t> </a:t>
            </a:r>
            <a:endParaRPr lang="nb-NO" dirty="0" smtClean="0"/>
          </a:p>
          <a:p>
            <a:pPr marL="27940" lvl="0" indent="0">
              <a:buNone/>
            </a:pPr>
            <a:endParaRPr lang="nb-NO" dirty="0"/>
          </a:p>
          <a:p>
            <a:pPr marL="27940" lvl="0" indent="0">
              <a:buNone/>
            </a:pPr>
            <a:r>
              <a:rPr lang="en-GB" u="sng" dirty="0">
                <a:hlinkClick r:id="rId3"/>
              </a:rPr>
              <a:t>thesis Table 2</a:t>
            </a:r>
            <a:r>
              <a:rPr lang="en-GB" dirty="0"/>
              <a:t> </a:t>
            </a:r>
            <a:endParaRPr lang="en-GB" dirty="0" smtClean="0"/>
          </a:p>
          <a:p>
            <a:pPr marL="27940" lvl="0" indent="0">
              <a:buNone/>
            </a:pPr>
            <a:endParaRPr lang="en-GB" dirty="0"/>
          </a:p>
          <a:p>
            <a:pPr marL="27940" lvl="0" indent="0">
              <a:buNone/>
            </a:pPr>
            <a:r>
              <a:rPr lang="en-GB" u="sng" dirty="0">
                <a:hlinkClick r:id="rId3"/>
              </a:rPr>
              <a:t>thesis figure 1</a:t>
            </a:r>
            <a:r>
              <a:rPr lang="en-GB" dirty="0"/>
              <a:t> </a:t>
            </a:r>
            <a:endParaRPr lang="en-GB" dirty="0" smtClean="0"/>
          </a:p>
          <a:p>
            <a:pPr marL="27940" lvl="0" indent="0">
              <a:buNone/>
            </a:pPr>
            <a:endParaRPr lang="en-GB" dirty="0"/>
          </a:p>
          <a:p>
            <a:pPr marL="27940" lvl="0" indent="0">
              <a:buNone/>
            </a:pPr>
            <a:r>
              <a:rPr lang="en-GB" u="sng" dirty="0">
                <a:hlinkClick r:id="rId3"/>
              </a:rPr>
              <a:t>thesis 4.1.3</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 H1 fully tested and written up.</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bootstrap CI gave a clean, decisive answer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H1's accuracy criterion is rejected </a:t>
            </a:r>
            <a:r>
              <a:rPr lang="en-GB" dirty="0" smtClean="0"/>
              <a:t>- </a:t>
            </a:r>
            <a:r>
              <a:rPr lang="en-GB" dirty="0"/>
              <a:t>the opposite of the hypothesis </a:t>
            </a:r>
            <a:r>
              <a:rPr lang="en-GB" dirty="0" smtClean="0"/>
              <a:t>- </a:t>
            </a:r>
            <a:r>
              <a:rPr lang="en-GB" dirty="0"/>
              <a:t>needed careful framing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I learnt how </a:t>
            </a:r>
            <a:r>
              <a:rPr lang="en-GB" dirty="0"/>
              <a:t>to design and interpret an equivalence test against a margin, not just a plain significance test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endParaRPr lang="en-GB" dirty="0"/>
          </a:p>
          <a:p>
            <a:pPr marL="27940" lvl="0" indent="0">
              <a:buNone/>
            </a:pPr>
            <a:r>
              <a:rPr lang="en-GB" dirty="0" smtClean="0"/>
              <a:t>Action Point for the next week is to </a:t>
            </a:r>
            <a:r>
              <a:rPr lang="en-GB" dirty="0"/>
              <a:t>start collecting the first manual Sofia dataset.</a:t>
            </a:r>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10</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2547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10 -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smtClean="0"/>
              <a:t>ate: </a:t>
            </a:r>
            <a:r>
              <a:rPr lang="en-GB" dirty="0" smtClean="0"/>
              <a:t>19/06/2026</a:t>
            </a:r>
            <a:endParaRPr lang="en" b="1" dirty="0"/>
          </a:p>
          <a:p>
            <a:pPr marL="182880" lvl="0" indent="-154940"/>
            <a:r>
              <a:rPr lang="en" b="1" dirty="0"/>
              <a:t>Feedback </a:t>
            </a:r>
            <a:r>
              <a:rPr lang="en" b="1" dirty="0" smtClean="0"/>
              <a:t>from: </a:t>
            </a:r>
            <a:r>
              <a:rPr lang="en-GB" dirty="0" smtClean="0"/>
              <a:t>Karna </a:t>
            </a:r>
            <a:r>
              <a:rPr lang="en-GB" dirty="0" err="1"/>
              <a:t>Rewatkar</a:t>
            </a:r>
            <a:r>
              <a:rPr lang="en-GB" dirty="0"/>
              <a:t> (</a:t>
            </a:r>
            <a:r>
              <a:rPr lang="en-GB" dirty="0" err="1"/>
              <a:t>BUas</a:t>
            </a:r>
            <a:r>
              <a:rPr lang="en-GB" dirty="0"/>
              <a:t> Supervisor)</a:t>
            </a:r>
            <a:endParaRPr lang="en" b="1" dirty="0"/>
          </a:p>
          <a:p>
            <a:pPr marL="182880" lvl="0" indent="-154940"/>
            <a:r>
              <a:rPr lang="en" b="1" dirty="0" smtClean="0"/>
              <a:t>Feedback: </a:t>
            </a:r>
            <a:r>
              <a:rPr lang="en-GB" dirty="0" smtClean="0"/>
              <a:t>The </a:t>
            </a:r>
            <a:r>
              <a:rPr lang="en-GB" dirty="0"/>
              <a:t>statistical approach for H1 is appropriately rigorous </a:t>
            </a:r>
            <a:r>
              <a:rPr lang="en-GB" dirty="0" smtClean="0"/>
              <a:t>- </a:t>
            </a:r>
            <a:r>
              <a:rPr lang="en-GB" dirty="0"/>
              <a:t>treating the accuracy criterion as an equivalence question with a bootstrap CI, rather than just eyeballing the numbers, is exactly the kind of thing that will hold up under scrutiny. The result going against the original hypothesis isn't a problem as long as you're upfront about it in the discussion, which it sounds like you are. This is a good, complete piece of analysis to have finished.</a:t>
            </a:r>
            <a:endParaRPr lang="en" dirty="0"/>
          </a:p>
          <a:p>
            <a:pPr marL="182880" lvl="0" indent="-154940"/>
            <a:r>
              <a:rPr lang="en" b="1" dirty="0"/>
              <a:t>Related to what task: </a:t>
            </a:r>
            <a:r>
              <a:rPr lang="en-GB" dirty="0"/>
              <a:t>H1 statistical testing and write-up.</a:t>
            </a:r>
            <a:endParaRPr lang="en" dirty="0"/>
          </a:p>
          <a:p>
            <a:pPr marL="182880" lvl="0" indent="-154940"/>
            <a:r>
              <a:rPr lang="en" b="1" dirty="0"/>
              <a:t>Response/action coming forward from this: </a:t>
            </a:r>
            <a:r>
              <a:rPr lang="en-GB" dirty="0" smtClean="0"/>
              <a:t>Kept </a:t>
            </a:r>
            <a:r>
              <a:rPr lang="en-GB" dirty="0"/>
              <a:t>the "partially supported" framing and explained why the accuracy prediction didn't hold.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10</a:t>
            </a:r>
            <a:endParaRPr sz="2400" dirty="0"/>
          </a:p>
        </p:txBody>
      </p:sp>
    </p:spTree>
    <p:extLst>
      <p:ext uri="{BB962C8B-B14F-4D97-AF65-F5344CB8AC3E}">
        <p14:creationId xmlns:p14="http://schemas.microsoft.com/office/powerpoint/2010/main" val="4083812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1745053"/>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accent6">
                    <a:lumMod val="75000"/>
                  </a:schemeClr>
                </a:solidFill>
              </a:rPr>
              <a:t>You are halfway there!</a:t>
            </a:r>
            <a:endParaRPr b="1" dirty="0">
              <a:solidFill>
                <a:schemeClr val="accent6">
                  <a:lumMod val="75000"/>
                </a:schemeClr>
              </a:solidFill>
            </a:endParaRPr>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200" b="1" dirty="0"/>
              <a:t>You are now halfway your graduation project period, congratulations! Hopefully, you have learned a lot already by now and you have found your way around the company and the team you are working with. As a reminder, do not forget about the following deliverables:</a:t>
            </a:r>
          </a:p>
          <a:p>
            <a:pPr marL="0" lvl="0" indent="0" algn="l" rtl="0">
              <a:spcBef>
                <a:spcPts val="0"/>
              </a:spcBef>
              <a:spcAft>
                <a:spcPts val="0"/>
              </a:spcAft>
              <a:buNone/>
            </a:pPr>
            <a:endParaRPr lang="en-GB" sz="1200" b="1" dirty="0"/>
          </a:p>
          <a:p>
            <a:pPr algn="l" rtl="0" fontAlgn="base">
              <a:buFont typeface="+mj-lt"/>
              <a:buAutoNum type="arabicPeriod"/>
            </a:pPr>
            <a:r>
              <a:rPr lang="en-GB" sz="1200" dirty="0"/>
              <a:t>Remind your company supervisor about the 10</a:t>
            </a:r>
            <a:r>
              <a:rPr lang="en-GB" sz="1200" baseline="30000" dirty="0"/>
              <a:t>th</a:t>
            </a:r>
            <a:r>
              <a:rPr lang="en-GB" sz="1200" dirty="0"/>
              <a:t> week assessment. They should fill in the assessment sheet provided and discuss their outcomes with you. Reflect on their feedback and see how you can improve yourself for the second half of your graduation project period. Afterwards, your supervisor needs to send the signed version to your </a:t>
            </a:r>
            <a:r>
              <a:rPr lang="en-GB" sz="1200" dirty="0" err="1"/>
              <a:t>BUas</a:t>
            </a:r>
            <a:r>
              <a:rPr lang="en-GB" sz="1200" dirty="0"/>
              <a:t> supervisor! ​</a:t>
            </a:r>
            <a:br>
              <a:rPr lang="en-GB" sz="1200" dirty="0"/>
            </a:br>
            <a:r>
              <a:rPr lang="en-GB" sz="1200" dirty="0"/>
              <a:t>​</a:t>
            </a:r>
          </a:p>
          <a:p>
            <a:pPr algn="l" rtl="0" fontAlgn="base">
              <a:buFont typeface="+mj-lt"/>
              <a:buAutoNum type="arabicPeriod"/>
            </a:pPr>
            <a:r>
              <a:rPr lang="en-GB" sz="1200" dirty="0"/>
              <a:t>Plan a meeting with your Buas supervisor to discuss the progress of your graduation project. </a:t>
            </a:r>
            <a:br>
              <a:rPr lang="en-GB" sz="1200" dirty="0"/>
            </a:br>
            <a:endParaRPr lang="en-GB" sz="1200" dirty="0"/>
          </a:p>
          <a:p>
            <a:pPr algn="l" rtl="0" fontAlgn="base">
              <a:buFont typeface="+mj-lt"/>
              <a:buAutoNum type="arabicPeriod"/>
            </a:pPr>
            <a:r>
              <a:rPr lang="en-GB" sz="1200" dirty="0"/>
              <a:t>Do not forget to update your learning log! Make sure that the log is accessible for your Buas supervisor so they can have a look at your progress.</a:t>
            </a:r>
          </a:p>
          <a:p>
            <a:pPr algn="l" rtl="0" fontAlgn="base">
              <a:buFont typeface="+mj-lt"/>
              <a:buAutoNum type="arabicPeriod"/>
            </a:pPr>
            <a:endParaRPr lang="en-GB" sz="1200" dirty="0"/>
          </a:p>
          <a:p>
            <a:pPr algn="l" rtl="0" fontAlgn="base">
              <a:buFont typeface="+mj-lt"/>
              <a:buAutoNum type="arabicPeriod"/>
            </a:pPr>
            <a:r>
              <a:rPr lang="en-GB" sz="1200" dirty="0"/>
              <a:t>Start writing on your report! Check Brightspace for the guidelines.</a:t>
            </a:r>
          </a:p>
          <a:p>
            <a:pPr algn="l" rtl="0" fontAlgn="base">
              <a:buFont typeface="+mj-lt"/>
              <a:buAutoNum type="arabicPeriod"/>
            </a:pPr>
            <a:endParaRPr lang="en-GB" sz="1200" dirty="0"/>
          </a:p>
          <a:p>
            <a:pPr algn="l" rtl="0" fontAlgn="base">
              <a:buFont typeface="+mj-lt"/>
              <a:buAutoNum type="arabicPeriod"/>
            </a:pPr>
            <a:r>
              <a:rPr lang="en-GB" sz="1200" dirty="0"/>
              <a:t>Above all, don’t be shy! Ask all the questions that pop up and have coffee with your coworkers to learn about their career path and their education. You are there to learn, make the most of it!</a:t>
            </a:r>
            <a:endParaRPr lang="en-GB" dirty="0"/>
          </a:p>
          <a:p>
            <a:pPr marL="0" lvl="0" indent="0" algn="l" rtl="0">
              <a:spcBef>
                <a:spcPts val="0"/>
              </a:spcBef>
              <a:spcAft>
                <a:spcPts val="0"/>
              </a:spcAft>
              <a:buNone/>
            </a:pPr>
            <a:endParaRPr lang="en-GB" sz="1200" dirty="0"/>
          </a:p>
        </p:txBody>
      </p:sp>
    </p:spTree>
    <p:extLst>
      <p:ext uri="{BB962C8B-B14F-4D97-AF65-F5344CB8AC3E}">
        <p14:creationId xmlns:p14="http://schemas.microsoft.com/office/powerpoint/2010/main" val="25162100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11 -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collect and start annotating the first manual </a:t>
            </a:r>
            <a:r>
              <a:rPr lang="en-GB" dirty="0" smtClean="0"/>
              <a:t>Sofia, Bulgaria (pilot-area) </a:t>
            </a:r>
            <a:r>
              <a:rPr lang="en-GB" dirty="0"/>
              <a:t>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planned the route/method, recorded two driving-video sessions around Sofia, extracted candidate damage frames, began CVAT annotation across all four classes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thesis 3.6</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5"/>
              </a:rPr>
              <a:t>data/manual/images/</a:t>
            </a:r>
            <a:r>
              <a:rPr lang="en-GB" dirty="0"/>
              <a:t> </a:t>
            </a:r>
            <a:endParaRPr lang="en-GB" dirty="0" smtClean="0"/>
          </a:p>
          <a:p>
            <a:pPr marL="27940" lvl="0" indent="0">
              <a:buNone/>
            </a:pPr>
            <a:endParaRPr lang="en-GB" dirty="0"/>
          </a:p>
          <a:p>
            <a:pPr marL="27940" lvl="0" indent="0">
              <a:buNone/>
            </a:pPr>
            <a:r>
              <a:rPr lang="en-GB" u="sng" dirty="0">
                <a:hlinkClick r:id="rId6"/>
              </a:rPr>
              <a:t>data/manual/labels/</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good, but the collection procedure was hard to perform.</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in-car mount gave consistent, usable footage across both sessions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A</a:t>
            </a:r>
            <a:r>
              <a:rPr lang="en-GB" dirty="0" smtClean="0"/>
              <a:t>nnotation </a:t>
            </a:r>
            <a:r>
              <a:rPr lang="en-GB" dirty="0"/>
              <a:t>is slower than expected </a:t>
            </a:r>
            <a:r>
              <a:rPr lang="en-GB" dirty="0" smtClean="0"/>
              <a:t>- </a:t>
            </a:r>
            <a:r>
              <a:rPr lang="en-GB" dirty="0"/>
              <a:t>more candidate frames than time to annotate this week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 h</a:t>
            </a:r>
            <a:r>
              <a:rPr lang="en-GB" dirty="0" smtClean="0"/>
              <a:t>ow </a:t>
            </a:r>
            <a:r>
              <a:rPr lang="en-GB" dirty="0"/>
              <a:t>much manual annotation time a small real-world dataset needs compared to a ready-made benchmark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finish annotation and start fine-tuning.</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11</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85366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11 -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01/07/2026</a:t>
            </a:r>
          </a:p>
          <a:p>
            <a:pPr marL="182880" lvl="0" indent="-154940" algn="l" rtl="0">
              <a:spcBef>
                <a:spcPts val="0"/>
              </a:spcBef>
              <a:spcAft>
                <a:spcPts val="0"/>
              </a:spcAft>
              <a:buSzPts val="1000"/>
              <a:buChar char="●"/>
            </a:pPr>
            <a:r>
              <a:rPr lang="en" b="1" dirty="0"/>
              <a:t>Feedback from</a:t>
            </a:r>
            <a:r>
              <a:rPr lang="en" b="1" dirty="0" smtClean="0"/>
              <a:t>: </a:t>
            </a:r>
            <a:r>
              <a:rPr lang="en" dirty="0" smtClean="0"/>
              <a:t>Borislavv Nachev (peer)</a:t>
            </a:r>
            <a:endParaRPr lang="en" dirty="0"/>
          </a:p>
          <a:p>
            <a:pPr marL="182880" lvl="0" indent="-154940"/>
            <a:r>
              <a:rPr lang="en" b="1" dirty="0"/>
              <a:t>Feedback</a:t>
            </a:r>
            <a:r>
              <a:rPr lang="en" b="1" dirty="0" smtClean="0"/>
              <a:t>: </a:t>
            </a:r>
            <a:r>
              <a:rPr lang="en-GB" dirty="0"/>
              <a:t>Good discipline keeping this collection area separate from the Sveta </a:t>
            </a:r>
            <a:r>
              <a:rPr lang="en-GB" dirty="0" err="1"/>
              <a:t>Troitsa</a:t>
            </a:r>
            <a:r>
              <a:rPr lang="en-GB" dirty="0"/>
              <a:t> neighbourhood you'll use for the routing evaluation later </a:t>
            </a:r>
            <a:r>
              <a:rPr lang="en-GB" dirty="0" smtClean="0"/>
              <a:t>- </a:t>
            </a:r>
            <a:r>
              <a:rPr lang="en-GB" dirty="0"/>
              <a:t>that's the kind of thing that's easy to overlook and hard to fix retroactively if you get it wrong. The in-car recording setup sounds like it gave you consistent footage across both sessions, which should make annotation more straightforward. It's fine that annotation is taking longer than planned; that's normal for manual labelling work.</a:t>
            </a:r>
            <a:endParaRPr lang="en" dirty="0"/>
          </a:p>
          <a:p>
            <a:pPr marL="182880" lvl="0" indent="-154940"/>
            <a:r>
              <a:rPr lang="en" b="1" dirty="0"/>
              <a:t>Related to what task: </a:t>
            </a:r>
            <a:r>
              <a:rPr lang="en-GB" dirty="0" smtClean="0"/>
              <a:t>Manual </a:t>
            </a:r>
            <a:r>
              <a:rPr lang="en-GB" dirty="0"/>
              <a:t>Sofia data collection planning.</a:t>
            </a:r>
            <a:endParaRPr lang="en" dirty="0"/>
          </a:p>
          <a:p>
            <a:pPr marL="182880" lvl="0" indent="-154940"/>
            <a:r>
              <a:rPr lang="en" b="1" dirty="0"/>
              <a:t>Response/action coming forward from this: </a:t>
            </a:r>
            <a:r>
              <a:rPr lang="en-GB" dirty="0" smtClean="0"/>
              <a:t>Documented </a:t>
            </a:r>
            <a:r>
              <a:rPr lang="en-GB" dirty="0"/>
              <a:t>the non-overlap decision in the thesis.</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11</a:t>
            </a:r>
            <a:endParaRPr sz="2400" dirty="0"/>
          </a:p>
        </p:txBody>
      </p:sp>
    </p:spTree>
    <p:extLst>
      <p:ext uri="{BB962C8B-B14F-4D97-AF65-F5344CB8AC3E}">
        <p14:creationId xmlns:p14="http://schemas.microsoft.com/office/powerpoint/2010/main" val="21723267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12 -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6"/>
            <a:ext cx="4294500" cy="3896381"/>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finish annotating the manual Sofia dataset and fine-tune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finished/verified all 201 pairs; split 131/28/42; baseline-evaluated both models (revealing a large domain gap); designed the fine-tuning protocol; fine-tuned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r>
              <a:rPr lang="en-GB" u="sng" dirty="0">
                <a:hlinkClick r:id="rId3"/>
              </a:rPr>
              <a:t>data/manual/labels/</a:t>
            </a:r>
            <a:r>
              <a:rPr lang="en-GB" dirty="0"/>
              <a:t> </a:t>
            </a:r>
            <a:endParaRPr lang="en-GB" dirty="0" smtClean="0"/>
          </a:p>
          <a:p>
            <a:pPr marL="27940" lvl="0" indent="0">
              <a:buNone/>
            </a:pPr>
            <a:endParaRPr lang="en-GB" dirty="0"/>
          </a:p>
          <a:p>
            <a:pPr marL="27940" lvl="0" indent="0">
              <a:buNone/>
            </a:pPr>
            <a:r>
              <a:rPr lang="en-GB" u="sng" dirty="0">
                <a:hlinkClick r:id="rId4"/>
              </a:rPr>
              <a:t>thesis 3.6</a:t>
            </a:r>
            <a:r>
              <a:rPr lang="en-GB" dirty="0"/>
              <a:t> </a:t>
            </a:r>
            <a:endParaRPr lang="en-GB" dirty="0" smtClean="0"/>
          </a:p>
          <a:p>
            <a:pPr marL="27940" lvl="0" indent="0">
              <a:buNone/>
            </a:pPr>
            <a:endParaRPr lang="en-GB" dirty="0"/>
          </a:p>
          <a:p>
            <a:pPr marL="27940" lvl="0" indent="0">
              <a:buNone/>
            </a:pPr>
            <a:r>
              <a:rPr lang="en-GB" u="sng" dirty="0">
                <a:hlinkClick r:id="rId4"/>
              </a:rPr>
              <a:t>thesis Table: Sofia split</a:t>
            </a:r>
            <a:r>
              <a:rPr lang="en-GB" dirty="0"/>
              <a:t> </a:t>
            </a:r>
            <a:endParaRPr lang="en-GB" dirty="0" smtClean="0"/>
          </a:p>
          <a:p>
            <a:pPr marL="27940" lvl="0" indent="0">
              <a:buNone/>
            </a:pPr>
            <a:endParaRPr lang="en-GB" dirty="0"/>
          </a:p>
          <a:p>
            <a:pPr marL="27940" lvl="0" indent="0">
              <a:buNone/>
            </a:pPr>
            <a:r>
              <a:rPr lang="en-GB" u="sng" dirty="0">
                <a:hlinkClick r:id="rId5"/>
              </a:rPr>
              <a:t>outputs/reports/</a:t>
            </a:r>
            <a:r>
              <a:rPr lang="en-GB" dirty="0"/>
              <a:t> </a:t>
            </a:r>
            <a:endParaRPr lang="en-GB" dirty="0" smtClean="0"/>
          </a:p>
          <a:p>
            <a:pPr marL="27940" lvl="0" indent="0">
              <a:buNone/>
            </a:pPr>
            <a:endParaRPr lang="en-GB" dirty="0"/>
          </a:p>
          <a:p>
            <a:pPr marL="27940" lvl="0" indent="0">
              <a:buNone/>
            </a:pPr>
            <a:r>
              <a:rPr lang="en-GB" u="sng" dirty="0">
                <a:hlinkClick r:id="rId6"/>
              </a:rPr>
              <a:t>notebooks/</a:t>
            </a:r>
            <a:r>
              <a:rPr lang="en-GB" dirty="0"/>
              <a:t> </a:t>
            </a:r>
            <a:endParaRPr lang="en-GB" dirty="0" smtClean="0"/>
          </a:p>
          <a:p>
            <a:pPr marL="27940" lvl="0" indent="0">
              <a:buNone/>
            </a:pPr>
            <a:endParaRPr lang="en-GB" dirty="0"/>
          </a:p>
          <a:p>
            <a:pPr marL="27940" lvl="0" indent="0">
              <a:buNone/>
            </a:pPr>
            <a:r>
              <a:rPr lang="en-GB" u="sng" dirty="0">
                <a:hlinkClick r:id="rId7"/>
              </a:rPr>
              <a:t>models/yolov8n_sofia_finetune/</a:t>
            </a:r>
            <a:r>
              <a:rPr lang="en-GB" dirty="0"/>
              <a:t> </a:t>
            </a:r>
            <a:endParaRPr lang="en-GB" dirty="0" smtClean="0"/>
          </a:p>
          <a:p>
            <a:pPr marL="27940" lvl="0" indent="0">
              <a:buNone/>
            </a:pPr>
            <a:endParaRPr lang="en-GB" dirty="0" smtClean="0"/>
          </a:p>
          <a:p>
            <a:pPr marL="27940" lvl="0" indent="0">
              <a:buNone/>
            </a:pPr>
            <a:r>
              <a:rPr lang="en-GB" u="sng" dirty="0">
                <a:hlinkClick r:id="rId8"/>
              </a:rPr>
              <a:t>models/</a:t>
            </a:r>
            <a:r>
              <a:rPr lang="en-GB" u="sng" dirty="0" err="1">
                <a:hlinkClick r:id="rId8"/>
              </a:rPr>
              <a:t>fasterrcnn_sofia_finetune</a:t>
            </a:r>
            <a:r>
              <a:rPr lang="en-GB" u="sng" dirty="0">
                <a:hlinkClick r:id="rId8"/>
              </a:rPr>
              <a:t>/</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It was a </a:t>
            </a:r>
            <a:r>
              <a:rPr lang="en-GB" dirty="0"/>
              <a:t>big week </a:t>
            </a:r>
            <a:r>
              <a:rPr lang="en-GB" dirty="0" smtClean="0"/>
              <a:t>- </a:t>
            </a:r>
            <a:r>
              <a:rPr lang="en-GB" dirty="0"/>
              <a:t>one of the most important results in the thesis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p>
          <a:p>
            <a:pPr marL="27940" lvl="0" indent="0" algn="l" rtl="0">
              <a:spcBef>
                <a:spcPts val="0"/>
              </a:spcBef>
              <a:spcAft>
                <a:spcPts val="0"/>
              </a:spcAft>
              <a:buSzPts val="1000"/>
              <a:buNone/>
            </a:pPr>
            <a:r>
              <a:rPr lang="en-GB" dirty="0"/>
              <a:t>F</a:t>
            </a:r>
            <a:r>
              <a:rPr lang="en-GB" dirty="0" smtClean="0"/>
              <a:t>ine-tuning </a:t>
            </a:r>
            <a:r>
              <a:rPr lang="en-GB" dirty="0"/>
              <a:t>on just 131 images produced a large, measurable improvement for both models</a:t>
            </a:r>
            <a:r>
              <a:rPr lang="en-GB" dirty="0" smtClean="0"/>
              <a:t>.</a:t>
            </a:r>
            <a:r>
              <a:rPr lang="en-GB" dirty="0"/>
              <a:t/>
            </a:r>
            <a:br>
              <a:rPr lang="en-GB" dirty="0"/>
            </a:br>
            <a:endParaRPr dirty="0" smtClean="0"/>
          </a:p>
          <a:p>
            <a:pPr marL="182880" lvl="0" indent="-154940" algn="l" rtl="0">
              <a:spcBef>
                <a:spcPts val="0"/>
              </a:spcBef>
              <a:spcAft>
                <a:spcPts val="0"/>
              </a:spcAft>
              <a:buSzPts val="1000"/>
              <a:buChar char="●"/>
            </a:pPr>
            <a:r>
              <a:rPr lang="en" dirty="0" smtClean="0"/>
              <a:t>What </a:t>
            </a:r>
            <a:r>
              <a:rPr lang="en" dirty="0"/>
              <a:t>didn’t go so well? </a:t>
            </a:r>
            <a:endParaRPr lang="en" dirty="0" smtClean="0"/>
          </a:p>
          <a:p>
            <a:pPr marL="27940" lvl="0" indent="0">
              <a:buNone/>
            </a:pPr>
            <a:r>
              <a:rPr lang="en-GB" dirty="0"/>
              <a:t>T</a:t>
            </a:r>
            <a:r>
              <a:rPr lang="en-GB" dirty="0" smtClean="0"/>
              <a:t>he </a:t>
            </a:r>
            <a:r>
              <a:rPr lang="en-GB" dirty="0"/>
              <a:t>pre-fine-tuning baseline on Sofia photos was much worse than expected </a:t>
            </a:r>
            <a:r>
              <a:rPr lang="en-GB" dirty="0" smtClean="0"/>
              <a:t>- </a:t>
            </a:r>
            <a:r>
              <a:rPr lang="en-GB" dirty="0"/>
              <a:t>worrying before the fine-tuned results came in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lernt that </a:t>
            </a:r>
            <a:r>
              <a:rPr lang="en-GB" dirty="0"/>
              <a:t>a benchmark-only model can collapse on real local images, and a little local data closes much of the gap</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The goal for the next week is to </a:t>
            </a:r>
            <a:r>
              <a:rPr lang="en-GB" dirty="0"/>
              <a:t> rebuild the app around the fine-tuned model.</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12</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259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12 -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10/07/2026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This is probably the most important result in the thesis so far </a:t>
            </a:r>
            <a:r>
              <a:rPr lang="en-GB" dirty="0" smtClean="0"/>
              <a:t>- </a:t>
            </a:r>
            <a:r>
              <a:rPr lang="en-GB" dirty="0"/>
              <a:t>the size of the domain gap between RDD2022 and real Sofia photos, and how much a small amount of fine-tuning recovers, is a strong, concrete finding. Make sure this doesn't get buried as just another evaluation table; it deserves to anchor the discussion chapter. Good instinct running the baseline evaluation before fine-tuning so you have a clean before/after comparison to report.</a:t>
            </a:r>
            <a:endParaRPr lang="en" dirty="0"/>
          </a:p>
          <a:p>
            <a:pPr marL="182880" lvl="0" indent="-154940"/>
            <a:r>
              <a:rPr lang="en" b="1" dirty="0"/>
              <a:t>Related to what task: </a:t>
            </a:r>
            <a:r>
              <a:rPr lang="en-GB" dirty="0" smtClean="0"/>
              <a:t>Domain-adaptation </a:t>
            </a:r>
            <a:r>
              <a:rPr lang="en-GB" dirty="0"/>
              <a:t>fine-tuning results.</a:t>
            </a:r>
            <a:endParaRPr lang="en" dirty="0"/>
          </a:p>
          <a:p>
            <a:pPr marL="182880" lvl="0" indent="-154940"/>
            <a:r>
              <a:rPr lang="en" b="1" dirty="0"/>
              <a:t>Response/action coming forward from this: </a:t>
            </a:r>
            <a:r>
              <a:rPr lang="en-GB" dirty="0" smtClean="0"/>
              <a:t>Planned </a:t>
            </a:r>
            <a:r>
              <a:rPr lang="en-GB" dirty="0"/>
              <a:t>to lead the Discussion chapter with this finding.</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12</a:t>
            </a:r>
            <a:endParaRPr sz="2400" dirty="0"/>
          </a:p>
        </p:txBody>
      </p:sp>
    </p:spTree>
    <p:extLst>
      <p:ext uri="{BB962C8B-B14F-4D97-AF65-F5344CB8AC3E}">
        <p14:creationId xmlns:p14="http://schemas.microsoft.com/office/powerpoint/2010/main" val="18110032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13 -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rebuild the app around the fine-tuned model and finish the remaining pages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swapped the active model; rebuilt Damage Map (colouring, </a:t>
            </a:r>
            <a:r>
              <a:rPr lang="en-GB" dirty="0" err="1"/>
              <a:t>heatmap</a:t>
            </a:r>
            <a:r>
              <a:rPr lang="en-GB" dirty="0"/>
              <a:t>) and Safer Route Planner (alpha slider, comparison); full walkthrough with the fine-tuned model; fixed bugs found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err="1">
                <a:hlinkClick r:id="rId3"/>
              </a:rPr>
              <a:t>config</a:t>
            </a:r>
            <a:r>
              <a:rPr lang="en-GB" u="sng" dirty="0">
                <a:hlinkClick r:id="rId3"/>
              </a:rPr>
              <a:t>/</a:t>
            </a:r>
            <a:r>
              <a:rPr lang="en-GB" u="sng" dirty="0" err="1">
                <a:hlinkClick r:id="rId3"/>
              </a:rPr>
              <a:t>app_config.yaml</a:t>
            </a:r>
            <a:r>
              <a:rPr lang="en-GB" dirty="0"/>
              <a:t> </a:t>
            </a:r>
            <a:endParaRPr lang="en-GB" dirty="0" smtClean="0"/>
          </a:p>
          <a:p>
            <a:pPr marL="27940" lvl="0" indent="0">
              <a:buNone/>
            </a:pPr>
            <a:endParaRPr lang="en-GB" dirty="0"/>
          </a:p>
          <a:p>
            <a:pPr marL="27940" lvl="0" indent="0">
              <a:buNone/>
            </a:pPr>
            <a:r>
              <a:rPr lang="en-GB" u="sng" dirty="0">
                <a:hlinkClick r:id="rId4"/>
              </a:rPr>
              <a:t>pages/3_Damage_Map.py</a:t>
            </a:r>
            <a:r>
              <a:rPr lang="en-GB" dirty="0"/>
              <a:t> </a:t>
            </a:r>
            <a:endParaRPr lang="en-GB" dirty="0" smtClean="0"/>
          </a:p>
          <a:p>
            <a:pPr marL="27940" lvl="0" indent="0">
              <a:buNone/>
            </a:pPr>
            <a:endParaRPr lang="en-GB" dirty="0"/>
          </a:p>
          <a:p>
            <a:pPr marL="27940" lvl="0" indent="0">
              <a:buNone/>
            </a:pPr>
            <a:r>
              <a:rPr lang="en-GB" u="sng" dirty="0">
                <a:hlinkClick r:id="rId5"/>
              </a:rPr>
              <a:t>pages/4_Safer_Route_Planner.py</a:t>
            </a:r>
            <a:r>
              <a:rPr lang="en-GB" dirty="0"/>
              <a:t> </a:t>
            </a:r>
            <a:endParaRPr lang="en-GB" dirty="0" smtClean="0"/>
          </a:p>
          <a:p>
            <a:pPr marL="27940" lvl="0" indent="0">
              <a:buNone/>
            </a:pPr>
            <a:endParaRPr lang="en-GB" dirty="0"/>
          </a:p>
          <a:p>
            <a:pPr marL="27940" lvl="0" indent="0">
              <a:buNone/>
            </a:pPr>
            <a:r>
              <a:rPr lang="en-GB" u="sng" dirty="0">
                <a:hlinkClick r:id="rId6"/>
              </a:rPr>
              <a:t>src/app/database.py</a:t>
            </a:r>
            <a:r>
              <a:rPr lang="en-GB" dirty="0"/>
              <a:t> </a:t>
            </a:r>
            <a:endParaRPr lang="en-GB" dirty="0" smtClean="0"/>
          </a:p>
          <a:p>
            <a:pPr marL="27940" lvl="0" indent="0">
              <a:buNone/>
            </a:pPr>
            <a:endParaRPr lang="en-GB" dirty="0"/>
          </a:p>
          <a:p>
            <a:pPr marL="27940" lvl="0" indent="0">
              <a:buNone/>
            </a:pPr>
            <a:r>
              <a:rPr lang="en-GB" u="sng" dirty="0">
                <a:hlinkClick r:id="rId7"/>
              </a:rPr>
              <a:t>pages/1_Dashboard.py</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a:t>
            </a:r>
            <a:r>
              <a:rPr lang="en" dirty="0" smtClean="0"/>
              <a:t>? </a:t>
            </a:r>
          </a:p>
          <a:p>
            <a:pPr marL="27940" lvl="0" indent="0">
              <a:buNone/>
            </a:pPr>
            <a:r>
              <a:rPr lang="en" dirty="0" smtClean="0"/>
              <a:t>The week went </a:t>
            </a:r>
            <a:r>
              <a:rPr lang="en-GB" dirty="0"/>
              <a:t>good </a:t>
            </a:r>
            <a:r>
              <a:rPr lang="en-GB" dirty="0" smtClean="0"/>
              <a:t>- </a:t>
            </a:r>
            <a:r>
              <a:rPr lang="en-GB" dirty="0"/>
              <a:t>the app is now feature-complete with the better model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smtClean="0"/>
              <a:t>What </a:t>
            </a:r>
            <a:r>
              <a:rPr lang="en" dirty="0"/>
              <a:t>went well? </a:t>
            </a:r>
            <a:endParaRPr lang="en" dirty="0" smtClean="0"/>
          </a:p>
          <a:p>
            <a:pPr marL="27940" lvl="0" indent="0">
              <a:buNone/>
            </a:pPr>
            <a:r>
              <a:rPr lang="en-GB" dirty="0"/>
              <a:t>S</a:t>
            </a:r>
            <a:r>
              <a:rPr lang="en-GB" dirty="0" smtClean="0"/>
              <a:t>wapping </a:t>
            </a:r>
            <a:r>
              <a:rPr lang="en-GB" dirty="0"/>
              <a:t>the model required only a </a:t>
            </a:r>
            <a:r>
              <a:rPr lang="en-GB" dirty="0" err="1"/>
              <a:t>config</a:t>
            </a:r>
            <a:r>
              <a:rPr lang="en-GB" dirty="0"/>
              <a:t> change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M</a:t>
            </a:r>
            <a:r>
              <a:rPr lang="en-GB" dirty="0" smtClean="0"/>
              <a:t>arker/map-centring </a:t>
            </a:r>
            <a:r>
              <a:rPr lang="en-GB" dirty="0"/>
              <a:t>bugs resurfaced with real Sofia coordinates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real GPS data surfaces different edge </a:t>
            </a:r>
            <a:r>
              <a:rPr lang="en-GB" dirty="0" smtClean="0"/>
              <a:t>cases are better </a:t>
            </a:r>
            <a:r>
              <a:rPr lang="en-GB" dirty="0"/>
              <a:t>than synthetic test coordinates.</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then next week is to </a:t>
            </a:r>
            <a:r>
              <a:rPr lang="en-GB" dirty="0"/>
              <a:t>collect the second Sofia photo set and attempt the first H3 test.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13</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0284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13 -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29/07/2026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The app is looking much more complete now that it's running on the fine-tuned model instead of the original small-dataset one. Exposing alpha as an adjustable slider rather than hard-coding it is a good usability decision </a:t>
            </a:r>
            <a:r>
              <a:rPr lang="en-GB" dirty="0" smtClean="0"/>
              <a:t>- </a:t>
            </a:r>
            <a:r>
              <a:rPr lang="en-GB" dirty="0"/>
              <a:t>it means a user can see directly how risk-aversion changes the recommended route. The bugs that showed up with real Sofia coordinates are a good reminder that synthetic test data doesn't always catch everything.</a:t>
            </a:r>
            <a:endParaRPr lang="en" dirty="0"/>
          </a:p>
          <a:p>
            <a:pPr marL="182880" lvl="0" indent="-154940"/>
            <a:r>
              <a:rPr lang="en" b="1" dirty="0"/>
              <a:t>Related to what task: </a:t>
            </a:r>
            <a:r>
              <a:rPr lang="en-GB" dirty="0"/>
              <a:t>Safer Route Planner rebuild</a:t>
            </a:r>
            <a:endParaRPr lang="en" dirty="0"/>
          </a:p>
          <a:p>
            <a:pPr marL="182880" lvl="0" indent="-154940"/>
            <a:r>
              <a:rPr lang="en" b="1" dirty="0"/>
              <a:t>Response/action coming forward from this: </a:t>
            </a:r>
            <a:r>
              <a:rPr lang="en-GB" dirty="0"/>
              <a:t>kept alpha as a UI-exposed, adjustable parameter.</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13</a:t>
            </a:r>
            <a:endParaRPr sz="2400" dirty="0"/>
          </a:p>
        </p:txBody>
      </p:sp>
    </p:spTree>
    <p:extLst>
      <p:ext uri="{BB962C8B-B14F-4D97-AF65-F5344CB8AC3E}">
        <p14:creationId xmlns:p14="http://schemas.microsoft.com/office/powerpoint/2010/main" val="2737858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14 -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collect the second Sofia photo set and run the first H3 routing test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planned and collected three sessions of geotagged photos in Sveta </a:t>
            </a:r>
            <a:r>
              <a:rPr lang="en-GB" dirty="0" err="1" smtClean="0"/>
              <a:t>Troitsa</a:t>
            </a:r>
            <a:r>
              <a:rPr lang="en-GB" dirty="0" smtClean="0"/>
              <a:t> district; </a:t>
            </a:r>
            <a:r>
              <a:rPr lang="en-GB" dirty="0"/>
              <a:t>ran an initial 40-route city-wide H3 sample; found only 4 edges citywide carried recorded risk, so the test was inconclusive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3.6</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5"/>
              </a:rPr>
              <a:t>outputs/geo/</a:t>
            </a:r>
            <a:r>
              <a:rPr lang="en-GB" u="sng" dirty="0" err="1">
                <a:hlinkClick r:id="rId5"/>
              </a:rPr>
              <a:t>route_comparison.json</a:t>
            </a:r>
            <a:r>
              <a:rPr lang="en-GB" dirty="0"/>
              <a:t> </a:t>
            </a:r>
            <a:endParaRPr lang="en-GB" dirty="0" smtClean="0"/>
          </a:p>
          <a:p>
            <a:pPr marL="27940" lvl="0" indent="0">
              <a:buNone/>
            </a:pPr>
            <a:endParaRPr lang="en-GB" dirty="0"/>
          </a:p>
          <a:p>
            <a:pPr marL="27940" lvl="0" indent="0">
              <a:buNone/>
            </a:pPr>
            <a:r>
              <a:rPr lang="en-GB" u="sng" dirty="0">
                <a:hlinkClick r:id="rId3"/>
              </a:rPr>
              <a:t>thesis 4.1.3</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6"/>
              </a:rPr>
              <a:t>outputs/geo/segment_risk.csv</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didn’t go so well, </a:t>
            </a:r>
            <a:r>
              <a:rPr lang="en-GB" dirty="0"/>
              <a:t>first H3 attempt failed, for an understandable </a:t>
            </a:r>
            <a:r>
              <a:rPr lang="en-GB" dirty="0" smtClean="0"/>
              <a:t>reason</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C</a:t>
            </a:r>
            <a:r>
              <a:rPr lang="en-GB" dirty="0" smtClean="0"/>
              <a:t>orrectly </a:t>
            </a:r>
            <a:r>
              <a:rPr lang="en-GB" dirty="0"/>
              <a:t>diagnosed the failure as sparse data, not a broken mechanism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C</a:t>
            </a:r>
            <a:r>
              <a:rPr lang="en-GB" dirty="0" smtClean="0"/>
              <a:t>ity-wide </a:t>
            </a:r>
            <a:r>
              <a:rPr lang="en-GB" dirty="0"/>
              <a:t>random sampling wasted most of the data-collection effort on hazard-free areas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p>
          <a:p>
            <a:pPr marL="27940" lvl="0" indent="0">
              <a:buNone/>
            </a:pPr>
            <a:r>
              <a:rPr lang="en" dirty="0" smtClean="0"/>
              <a:t>I learnt that </a:t>
            </a:r>
            <a:r>
              <a:rPr lang="en-GB" dirty="0" smtClean="0"/>
              <a:t>a </a:t>
            </a:r>
            <a:r>
              <a:rPr lang="en-GB" dirty="0"/>
              <a:t>sparse-data routing test needs concentrated, not thinly spread, data collection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re-run H3 restricted to the data-rich neighbourhood.</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14</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7685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14 -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05/08/2026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It's disappointing that the first H3 sample didn't produce a usable result, but diagnosing why rather than assuming the routing logic was broken was the right response. Four risky edges out of over 27,000 was never going to give you a meaningful sample no matter how the routing cost was calculated. Concentrating the next round of data collection into one neighbourhood is clearly the right fix, and it's good you spotted it this quickly rather than losing more time on city-wide sampling.</a:t>
            </a:r>
            <a:endParaRPr lang="en" dirty="0"/>
          </a:p>
          <a:p>
            <a:pPr marL="182880" lvl="0" indent="-154940"/>
            <a:r>
              <a:rPr lang="en" b="1" dirty="0"/>
              <a:t>Related to what task: </a:t>
            </a:r>
            <a:r>
              <a:rPr lang="en-GB" dirty="0" smtClean="0"/>
              <a:t>First </a:t>
            </a:r>
            <a:r>
              <a:rPr lang="en-GB" dirty="0"/>
              <a:t>H3 routing sample (city-wide).</a:t>
            </a:r>
            <a:endParaRPr lang="en" dirty="0"/>
          </a:p>
          <a:p>
            <a:pPr marL="182880" lvl="0" indent="-154940"/>
            <a:r>
              <a:rPr lang="en" b="1" dirty="0"/>
              <a:t>Response/action coming forward from this: </a:t>
            </a:r>
            <a:r>
              <a:rPr lang="en-GB" dirty="0" smtClean="0"/>
              <a:t>Restricted </a:t>
            </a:r>
            <a:r>
              <a:rPr lang="en-GB" dirty="0"/>
              <a:t>the next sample to nodes inside Sveta </a:t>
            </a:r>
            <a:r>
              <a:rPr lang="en-GB" dirty="0" err="1"/>
              <a:t>Troitsa</a:t>
            </a:r>
            <a:r>
              <a:rPr lang="en-GB" dirty="0"/>
              <a:t> only.</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14</a:t>
            </a:r>
            <a:endParaRPr sz="2400" dirty="0"/>
          </a:p>
        </p:txBody>
      </p:sp>
    </p:spTree>
    <p:extLst>
      <p:ext uri="{BB962C8B-B14F-4D97-AF65-F5344CB8AC3E}">
        <p14:creationId xmlns:p14="http://schemas.microsoft.com/office/powerpoint/2010/main" val="39922176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15 -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complete the remaining hypothesis tests </a:t>
            </a:r>
            <a:r>
              <a:rPr lang="en-GB" dirty="0" smtClean="0"/>
              <a:t>- </a:t>
            </a:r>
            <a:r>
              <a:rPr lang="en-GB" dirty="0"/>
              <a:t>re-run H3, run H4 and H2</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 </a:t>
            </a:r>
            <a:r>
              <a:rPr lang="en-GB" dirty="0" smtClean="0"/>
              <a:t>I re-ran </a:t>
            </a:r>
            <a:r>
              <a:rPr lang="en-GB" dirty="0"/>
              <a:t>the 40-route H3 sample restricted to the neighbourhood (successful this time), ran Wilcoxon; rated 16 segments for H4 and ran Spearman; selected/labelled the 42-image H2 sample and ran the classification evaluation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r>
              <a:rPr lang="en-GB" u="sng" dirty="0">
                <a:hlinkClick r:id="rId3"/>
              </a:rPr>
              <a:t>outputs/geo/segment_risk.csv</a:t>
            </a:r>
            <a:r>
              <a:rPr lang="en-GB" dirty="0"/>
              <a:t> </a:t>
            </a:r>
            <a:endParaRPr lang="en-GB" dirty="0" smtClean="0"/>
          </a:p>
          <a:p>
            <a:pPr marL="27940" lvl="0" indent="0">
              <a:buNone/>
            </a:pPr>
            <a:endParaRPr lang="en-GB" dirty="0"/>
          </a:p>
          <a:p>
            <a:pPr marL="27940" lvl="0" indent="0">
              <a:buNone/>
            </a:pPr>
            <a:r>
              <a:rPr lang="en-GB" u="sng" dirty="0">
                <a:hlinkClick r:id="rId4"/>
              </a:rPr>
              <a:t>outputs/reports/</a:t>
            </a:r>
            <a:r>
              <a:rPr lang="en-GB" dirty="0"/>
              <a:t> </a:t>
            </a:r>
            <a:endParaRPr lang="en-GB" dirty="0" smtClean="0"/>
          </a:p>
          <a:p>
            <a:pPr marL="27940" lvl="0" indent="0">
              <a:buNone/>
            </a:pPr>
            <a:endParaRPr lang="en-GB" dirty="0"/>
          </a:p>
          <a:p>
            <a:pPr marL="27940" lvl="0" indent="0">
              <a:buNone/>
            </a:pPr>
            <a:r>
              <a:rPr lang="en-GB" u="sng" dirty="0">
                <a:hlinkClick r:id="rId5"/>
              </a:rPr>
              <a:t>outputs/reports/h4_evaluation_results.csv</a:t>
            </a:r>
            <a:r>
              <a:rPr lang="en-GB" dirty="0"/>
              <a:t> </a:t>
            </a:r>
            <a:endParaRPr lang="en-GB" dirty="0" smtClean="0"/>
          </a:p>
          <a:p>
            <a:pPr marL="27940" lvl="0" indent="0">
              <a:buNone/>
            </a:pPr>
            <a:endParaRPr lang="en-GB" dirty="0"/>
          </a:p>
          <a:p>
            <a:pPr marL="27940" lvl="0" indent="0">
              <a:buNone/>
            </a:pPr>
            <a:r>
              <a:rPr lang="en-GB" u="sng" dirty="0">
                <a:hlinkClick r:id="rId6"/>
              </a:rPr>
              <a:t>H4 evaluation</a:t>
            </a:r>
            <a:r>
              <a:rPr lang="en-GB" dirty="0"/>
              <a:t> </a:t>
            </a:r>
            <a:endParaRPr lang="en-GB" dirty="0" smtClean="0"/>
          </a:p>
          <a:p>
            <a:pPr marL="27940" lvl="0" indent="0">
              <a:buNone/>
            </a:pPr>
            <a:endParaRPr lang="en-GB" dirty="0"/>
          </a:p>
          <a:p>
            <a:pPr marL="27940" lvl="0" indent="0">
              <a:buNone/>
            </a:pPr>
            <a:r>
              <a:rPr lang="en-GB" u="sng" dirty="0">
                <a:hlinkClick r:id="rId7"/>
              </a:rPr>
              <a:t>outputs/reports/h2_confusion_matrix.png</a:t>
            </a:r>
            <a:r>
              <a:rPr lang="en-GB" dirty="0"/>
              <a:t> </a:t>
            </a:r>
            <a:endParaRPr lang="en-GB" dirty="0" smtClean="0"/>
          </a:p>
          <a:p>
            <a:pPr marL="27940" lvl="0" indent="0">
              <a:buNone/>
            </a:pPr>
            <a:endParaRPr lang="en-GB" dirty="0"/>
          </a:p>
          <a:p>
            <a:pPr marL="27940" lvl="0" indent="0">
              <a:buNone/>
            </a:pPr>
            <a:r>
              <a:rPr lang="en-GB" u="sng" dirty="0">
                <a:hlinkClick r:id="rId8"/>
              </a:rPr>
              <a:t>H2 evaluation</a:t>
            </a:r>
            <a:r>
              <a:rPr lang="en-GB" dirty="0"/>
              <a:t> </a:t>
            </a:r>
            <a:endParaRPr lang="en-GB" dirty="0" smtClean="0"/>
          </a:p>
          <a:p>
            <a:pPr marL="27940" lvl="0" indent="0">
              <a:buNone/>
            </a:pPr>
            <a:r>
              <a:rPr lang="en-GB" u="sng" dirty="0">
                <a:hlinkClick r:id="rId9"/>
              </a:rPr>
              <a:t>thesis 4.1</a:t>
            </a:r>
            <a:r>
              <a:rPr lang="en-GB" dirty="0"/>
              <a:t> </a:t>
            </a:r>
          </a:p>
          <a:p>
            <a:pPr marL="27940" lvl="0" indent="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went excellect - </a:t>
            </a:r>
            <a:r>
              <a:rPr lang="en-GB" dirty="0" smtClean="0"/>
              <a:t>all </a:t>
            </a:r>
            <a:r>
              <a:rPr lang="en-GB" dirty="0"/>
              <a:t>four hypotheses now have a result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H3 and H4 came back supported once data was concentrated, confirming last week's diagnosis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H2 fell short of its F1 target; misses traced to detector recall, not the scoring rule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smtClean="0"/>
              <a:t>a </a:t>
            </a:r>
            <a:r>
              <a:rPr lang="en-GB" dirty="0"/>
              <a:t>disappointing headline number can still have a clear, defensible explanation once you inspect the detail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next week is to </a:t>
            </a:r>
            <a:r>
              <a:rPr lang="en-GB" dirty="0"/>
              <a:t>design and start the usability study pilot.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15</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76502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15 -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13/08/2026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A strong week </a:t>
            </a:r>
            <a:r>
              <a:rPr lang="en-GB" dirty="0" smtClean="0"/>
              <a:t>- </a:t>
            </a:r>
            <a:r>
              <a:rPr lang="en-GB" dirty="0"/>
              <a:t>getting results for H2, H3 and H4 all in the same stretch is good progress, and H3/H4 coming back supported once the data was concentrated confirms last week's diagnosis was correct. H2 falling short of its target isn't ideal, but tracing the misses back to detector recall rather than the scoring rule turns it into a much more useful and defensible discussion point than a plain negative result. This is exactly the kind of inspection work that makes a results chapter convincing.</a:t>
            </a:r>
            <a:endParaRPr lang="en" dirty="0"/>
          </a:p>
          <a:p>
            <a:pPr marL="182880" lvl="0" indent="-154940"/>
            <a:r>
              <a:rPr lang="en" b="1" dirty="0"/>
              <a:t>Related to what task: </a:t>
            </a:r>
            <a:r>
              <a:rPr lang="en-GB" dirty="0"/>
              <a:t>H2 risk-classification evaluation.</a:t>
            </a:r>
            <a:endParaRPr lang="en" dirty="0"/>
          </a:p>
          <a:p>
            <a:pPr marL="182880" lvl="0" indent="-154940"/>
            <a:r>
              <a:rPr lang="en" b="1" dirty="0"/>
              <a:t>Response/action coming forward from this: </a:t>
            </a:r>
            <a:r>
              <a:rPr lang="en-GB" dirty="0" smtClean="0"/>
              <a:t>Built </a:t>
            </a:r>
            <a:r>
              <a:rPr lang="en-GB" dirty="0"/>
              <a:t>the H2 discussion around the detection-recall explanation.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15</a:t>
            </a:r>
            <a:endParaRPr sz="2400" dirty="0"/>
          </a:p>
        </p:txBody>
      </p:sp>
    </p:spTree>
    <p:extLst>
      <p:ext uri="{BB962C8B-B14F-4D97-AF65-F5344CB8AC3E}">
        <p14:creationId xmlns:p14="http://schemas.microsoft.com/office/powerpoint/2010/main" val="236583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16 -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The goal for this week is to run </a:t>
            </a:r>
            <a:r>
              <a:rPr lang="en-GB" dirty="0"/>
              <a:t>the first usability-study round (5-person pilot) and fix the clearest issues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I </a:t>
            </a:r>
            <a:r>
              <a:rPr lang="en-GB" dirty="0"/>
              <a:t>designed the survey/script; ran 5 pilot participants; compiled closed-question stats and coded first themes; fixed the clearest interface issues (alpha-slider help text, map pin-selection hint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Qualitative Survey Question and Responses</a:t>
            </a:r>
            <a:r>
              <a:rPr lang="en-GB" dirty="0"/>
              <a:t> </a:t>
            </a:r>
            <a:endParaRPr lang="en-GB" dirty="0" smtClean="0"/>
          </a:p>
          <a:p>
            <a:pPr marL="27940" lvl="0" indent="0">
              <a:buNone/>
            </a:pPr>
            <a:endParaRPr lang="en-GB" dirty="0"/>
          </a:p>
          <a:p>
            <a:pPr marL="27940" lvl="0" indent="0">
              <a:buNone/>
            </a:pPr>
            <a:r>
              <a:rPr lang="en-GB" u="sng" dirty="0">
                <a:hlinkClick r:id="rId4"/>
              </a:rPr>
              <a:t>thematic analysis</a:t>
            </a:r>
            <a:r>
              <a:rPr lang="en-GB" dirty="0"/>
              <a:t> </a:t>
            </a:r>
            <a:endParaRPr lang="en-GB" dirty="0" smtClean="0"/>
          </a:p>
          <a:p>
            <a:pPr marL="27940" lvl="0" indent="0">
              <a:buNone/>
            </a:pPr>
            <a:endParaRPr lang="en-GB" dirty="0"/>
          </a:p>
          <a:p>
            <a:pPr marL="27940" lvl="0" indent="0">
              <a:buNone/>
            </a:pPr>
            <a:r>
              <a:rPr lang="en-GB" u="sng" dirty="0">
                <a:hlinkClick r:id="rId5"/>
              </a:rPr>
              <a:t>pages/4_Safer_Route_Planner.py</a:t>
            </a:r>
            <a:r>
              <a:rPr lang="en-GB" dirty="0"/>
              <a:t> </a:t>
            </a:r>
            <a:endParaRPr lang="en-GB" dirty="0" smtClean="0"/>
          </a:p>
          <a:p>
            <a:pPr marL="27940" lvl="0" indent="0">
              <a:buNone/>
            </a:pPr>
            <a:endParaRPr lang="en-GB" dirty="0"/>
          </a:p>
          <a:p>
            <a:pPr marL="27940" lvl="0" indent="0">
              <a:buNone/>
            </a:pPr>
            <a:r>
              <a:rPr lang="en-GB" u="sng" dirty="0" err="1">
                <a:hlinkClick r:id="rId6"/>
              </a:rPr>
              <a:t>config</a:t>
            </a:r>
            <a:r>
              <a:rPr lang="en-GB" u="sng" dirty="0">
                <a:hlinkClick r:id="rId6"/>
              </a:rPr>
              <a:t>/</a:t>
            </a:r>
            <a:r>
              <a:rPr lang="en-GB" u="sng" dirty="0" err="1">
                <a:hlinkClick r:id="rId6"/>
              </a:rPr>
              <a:t>risk_weights.yaml</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was useful - </a:t>
            </a:r>
            <a:r>
              <a:rPr lang="en-GB" dirty="0"/>
              <a:t>the pilot caught real problems before the full study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P</a:t>
            </a:r>
            <a:r>
              <a:rPr lang="en-GB" dirty="0" smtClean="0"/>
              <a:t>articipants </a:t>
            </a:r>
            <a:r>
              <a:rPr lang="en-GB" dirty="0"/>
              <a:t>understood the risk colour-coding correctly without being told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S</a:t>
            </a:r>
            <a:r>
              <a:rPr lang="en-GB" dirty="0" smtClean="0"/>
              <a:t>everal </a:t>
            </a:r>
            <a:r>
              <a:rPr lang="en-GB" dirty="0"/>
              <a:t>found the alpha slider and pin selection unclear </a:t>
            </a:r>
            <a:r>
              <a:rPr lang="en-GB" dirty="0" smtClean="0"/>
              <a:t>- </a:t>
            </a:r>
            <a:r>
              <a:rPr lang="en-GB" dirty="0"/>
              <a:t>a genuine interface problem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small pilot is enough to catch the most obvious interface issues before scaling up</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a:t>
            </a:r>
            <a:r>
              <a:rPr lang="en" dirty="0" smtClean="0"/>
              <a:t>week?</a:t>
            </a:r>
          </a:p>
          <a:p>
            <a:pPr marL="27940" lvl="0" indent="0">
              <a:buNone/>
            </a:pPr>
            <a:r>
              <a:rPr lang="en" dirty="0" smtClean="0"/>
              <a:t>As an Aciton Point for the next week is to </a:t>
            </a:r>
            <a:r>
              <a:rPr lang="en-GB" dirty="0"/>
              <a:t>recruit 5 more participants and finalise the pipeline.</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16</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3473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16 -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28/08/2026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Running a five-person pilot before the full usability study was a sensible choice, and it paid off </a:t>
            </a:r>
            <a:r>
              <a:rPr lang="en-GB" dirty="0" smtClean="0"/>
              <a:t>- </a:t>
            </a:r>
            <a:r>
              <a:rPr lang="en-GB" dirty="0"/>
              <a:t>catching the alpha-slider and pin-selection confusion now means the next five participants will have a cleaner experience and give you cleaner data. It's a good sign that participants worked out the risk colour-coding on their own without being told what it meant. Fixing the clearest issues immediately, rather than waiting until after the full sample, was the right call.</a:t>
            </a:r>
            <a:endParaRPr lang="en" dirty="0"/>
          </a:p>
          <a:p>
            <a:pPr marL="182880" lvl="0" indent="-154940"/>
            <a:r>
              <a:rPr lang="en" b="1" dirty="0"/>
              <a:t>Related to what task: </a:t>
            </a:r>
            <a:r>
              <a:rPr lang="en-GB" dirty="0"/>
              <a:t>usability study pilot (5 participants).</a:t>
            </a:r>
            <a:endParaRPr lang="en" dirty="0"/>
          </a:p>
          <a:p>
            <a:pPr marL="182880" lvl="0" indent="-154940"/>
            <a:r>
              <a:rPr lang="en" b="1" dirty="0"/>
              <a:t>Response/action coming forward from this: </a:t>
            </a:r>
            <a:r>
              <a:rPr lang="en-GB" dirty="0"/>
              <a:t>applied the interface fixes before recruiting the rest.</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16</a:t>
            </a:r>
            <a:endParaRPr sz="2400" dirty="0"/>
          </a:p>
        </p:txBody>
      </p:sp>
    </p:spTree>
    <p:extLst>
      <p:ext uri="{BB962C8B-B14F-4D97-AF65-F5344CB8AC3E}">
        <p14:creationId xmlns:p14="http://schemas.microsoft.com/office/powerpoint/2010/main" val="19672901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a:t>
            </a:r>
            <a:r>
              <a:rPr lang="en" dirty="0"/>
              <a:t>7</a:t>
            </a:r>
            <a:r>
              <a:rPr lang="en"/>
              <a:t> </a:t>
            </a:r>
            <a:r>
              <a:rPr lang="en" dirty="0"/>
              <a:t>-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run the second usability-study round (5 more, 10 total) and finalise/freeze the pipeline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ran the remaining 5 participants; recomputed stats for n=10; coded the final 7 themes; ran a full pipeline smoke test; froze model weights and </a:t>
            </a:r>
            <a:r>
              <a:rPr lang="en-GB" dirty="0" err="1"/>
              <a:t>configs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Qualitative Survey Question and Responses</a:t>
            </a:r>
            <a:r>
              <a:rPr lang="en-GB" dirty="0"/>
              <a:t> </a:t>
            </a:r>
            <a:endParaRPr lang="en-GB" dirty="0" smtClean="0"/>
          </a:p>
          <a:p>
            <a:pPr marL="27940" lvl="0" indent="0">
              <a:buNone/>
            </a:pPr>
            <a:endParaRPr lang="en-GB" dirty="0"/>
          </a:p>
          <a:p>
            <a:pPr marL="27940" lvl="0" indent="0">
              <a:buNone/>
            </a:pPr>
            <a:r>
              <a:rPr lang="en-GB" u="sng" dirty="0">
                <a:hlinkClick r:id="rId4"/>
              </a:rPr>
              <a:t>analyze_qualitative_survey.py</a:t>
            </a:r>
            <a:r>
              <a:rPr lang="en-GB" dirty="0"/>
              <a:t> </a:t>
            </a:r>
            <a:endParaRPr lang="en-GB" dirty="0" smtClean="0"/>
          </a:p>
          <a:p>
            <a:pPr marL="27940" lvl="0" indent="0">
              <a:buNone/>
            </a:pPr>
            <a:endParaRPr lang="en-GB" dirty="0"/>
          </a:p>
          <a:p>
            <a:pPr marL="27940" lvl="0" indent="0">
              <a:buNone/>
            </a:pPr>
            <a:r>
              <a:rPr lang="en-GB" u="sng" dirty="0">
                <a:hlinkClick r:id="rId5"/>
              </a:rPr>
              <a:t>thematic analysis</a:t>
            </a:r>
            <a:r>
              <a:rPr lang="en-GB" dirty="0"/>
              <a:t> </a:t>
            </a:r>
            <a:endParaRPr lang="en-GB" dirty="0" smtClean="0"/>
          </a:p>
          <a:p>
            <a:pPr marL="27940" lvl="0" indent="0">
              <a:buNone/>
            </a:pPr>
            <a:endParaRPr lang="en-GB" dirty="0"/>
          </a:p>
          <a:p>
            <a:pPr marL="27940" lvl="0" indent="0">
              <a:buNone/>
            </a:pPr>
            <a:r>
              <a:rPr lang="en-GB" u="sng" dirty="0">
                <a:hlinkClick r:id="rId6"/>
              </a:rPr>
              <a:t>models/</a:t>
            </a:r>
            <a:r>
              <a:rPr lang="en-GB" dirty="0"/>
              <a:t> </a:t>
            </a:r>
            <a:endParaRPr lang="en-GB" dirty="0" smtClean="0"/>
          </a:p>
          <a:p>
            <a:pPr marL="27940" lvl="0" indent="0">
              <a:buNone/>
            </a:pPr>
            <a:endParaRPr lang="en-GB" dirty="0"/>
          </a:p>
          <a:p>
            <a:pPr marL="27940" lvl="0" indent="0">
              <a:buNone/>
            </a:pPr>
            <a:r>
              <a:rPr lang="en-GB" u="sng" dirty="0">
                <a:hlinkClick r:id="rId7"/>
              </a:rPr>
              <a:t>screenshots/</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was satisfying - </a:t>
            </a:r>
            <a:r>
              <a:rPr lang="en-GB" dirty="0"/>
              <a:t>both the qualitative study and the pipeline are complete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smtClean="0"/>
              <a:t>Thing that went well is that </a:t>
            </a:r>
            <a:r>
              <a:rPr lang="en-GB" dirty="0"/>
              <a:t>themes from the second group matched and reinforced the first group's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R</a:t>
            </a:r>
            <a:r>
              <a:rPr lang="en-GB" dirty="0" smtClean="0"/>
              <a:t>e-coding </a:t>
            </a:r>
            <a:r>
              <a:rPr lang="en-GB" dirty="0"/>
              <a:t>across the full sample took longer 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During the week I learnt that </a:t>
            </a:r>
            <a:r>
              <a:rPr lang="en-GB" dirty="0"/>
              <a:t>thematic coding isn't one-pass </a:t>
            </a:r>
            <a:r>
              <a:rPr lang="en-GB" dirty="0" smtClean="0"/>
              <a:t>- </a:t>
            </a:r>
            <a:r>
              <a:rPr lang="en-GB" dirty="0"/>
              <a:t>new data should prompt revisiting earlier codes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As an Action Point for the next week is to start writing the thesis.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17</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176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17 -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02/09/2026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It's a good sign that the themes from the second group of participants reinforced rather than contradicted the first group's — that gives you more confidence that the seven themes are genuinely representative and not just an artefact of five people. Freezing the pipeline and the model weights at the same time as finishing the qualitative study is good planning, since it means nothing you write about afterwards can shift under you. This was a solid, well-sequenced week</a:t>
            </a:r>
            <a:r>
              <a:rPr lang="en-GB" dirty="0" smtClean="0"/>
              <a:t>.</a:t>
            </a:r>
          </a:p>
          <a:p>
            <a:pPr marL="182880" lvl="0" indent="-154940"/>
            <a:r>
              <a:rPr lang="en" b="1" dirty="0" smtClean="0"/>
              <a:t>Related to what task: </a:t>
            </a:r>
            <a:r>
              <a:rPr lang="en-GB" dirty="0" smtClean="0"/>
              <a:t>Full-sample </a:t>
            </a:r>
            <a:r>
              <a:rPr lang="en-GB" dirty="0"/>
              <a:t>(n=10) thematic coding</a:t>
            </a:r>
            <a:r>
              <a:rPr lang="en-GB" dirty="0" smtClean="0"/>
              <a:t>.</a:t>
            </a:r>
          </a:p>
          <a:p>
            <a:pPr marL="182880" lvl="0" indent="-154940"/>
            <a:r>
              <a:rPr lang="en" b="1" dirty="0" smtClean="0"/>
              <a:t>Response/action coming forward from this: </a:t>
            </a:r>
            <a:r>
              <a:rPr lang="en-GB" dirty="0"/>
              <a:t>noted theme stability across the two participant groups in the write-up.</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17</a:t>
            </a:r>
            <a:endParaRPr sz="2400" dirty="0"/>
          </a:p>
        </p:txBody>
      </p:sp>
    </p:spTree>
    <p:extLst>
      <p:ext uri="{BB962C8B-B14F-4D97-AF65-F5344CB8AC3E}">
        <p14:creationId xmlns:p14="http://schemas.microsoft.com/office/powerpoint/2010/main" val="33654149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18 -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write Introduction, Related Work and Methodology, including the qualitative method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wrote Introduction, Related Work, Methodology (dataset, models, risk scoring, routing, prototype, qualitative method); built remaining figures; internal consistency pass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a:t>
            </a:r>
            <a:r>
              <a:rPr lang="en-GB" u="sng" dirty="0" smtClean="0">
                <a:hlinkClick r:id="rId3"/>
              </a:rPr>
              <a:t>section </a:t>
            </a:r>
            <a:r>
              <a:rPr lang="en-GB" u="sng" dirty="0">
                <a:hlinkClick r:id="rId3"/>
              </a:rPr>
              <a:t>1</a:t>
            </a:r>
            <a:r>
              <a:rPr lang="en-GB" dirty="0"/>
              <a:t> </a:t>
            </a:r>
            <a:endParaRPr lang="en-GB" dirty="0" smtClean="0"/>
          </a:p>
          <a:p>
            <a:pPr marL="27940" lvl="0" indent="0">
              <a:buNone/>
            </a:pPr>
            <a:r>
              <a:rPr lang="en-GB" u="sng" dirty="0">
                <a:hlinkClick r:id="rId3"/>
              </a:rPr>
              <a:t>thesis section 1.3</a:t>
            </a:r>
            <a:r>
              <a:rPr lang="en-GB" dirty="0"/>
              <a:t> </a:t>
            </a:r>
            <a:endParaRPr lang="en-GB" dirty="0" smtClean="0"/>
          </a:p>
          <a:p>
            <a:pPr marL="27940" lvl="0" indent="0">
              <a:buNone/>
            </a:pPr>
            <a:r>
              <a:rPr lang="en-GB" u="sng" dirty="0">
                <a:hlinkClick r:id="rId3"/>
              </a:rPr>
              <a:t>thesis section 2</a:t>
            </a:r>
            <a:r>
              <a:rPr lang="en-GB" dirty="0"/>
              <a:t> </a:t>
            </a:r>
            <a:endParaRPr lang="en-GB" dirty="0" smtClean="0"/>
          </a:p>
          <a:p>
            <a:pPr marL="27940" lvl="0" indent="0">
              <a:buNone/>
            </a:pPr>
            <a:r>
              <a:rPr lang="en-GB" u="sng" dirty="0">
                <a:hlinkClick r:id="rId3"/>
              </a:rPr>
              <a:t>thesis section 3</a:t>
            </a:r>
            <a:r>
              <a:rPr lang="en-GB" dirty="0"/>
              <a:t> </a:t>
            </a:r>
            <a:endParaRPr lang="en-GB" dirty="0" smtClean="0"/>
          </a:p>
          <a:p>
            <a:pPr marL="27940" lvl="0" indent="0">
              <a:buNone/>
            </a:pPr>
            <a:r>
              <a:rPr lang="en-GB" u="sng" dirty="0">
                <a:hlinkClick r:id="rId3"/>
              </a:rPr>
              <a:t>thesis section 3.8</a:t>
            </a:r>
            <a:r>
              <a:rPr lang="en-GB" dirty="0"/>
              <a:t> </a:t>
            </a:r>
            <a:endParaRPr lang="en-GB" dirty="0" smtClean="0"/>
          </a:p>
          <a:p>
            <a:pPr marL="27940" lvl="0" indent="0">
              <a:buNone/>
            </a:pPr>
            <a:r>
              <a:rPr lang="en-GB" u="sng" dirty="0">
                <a:hlinkClick r:id="rId4"/>
              </a:rPr>
              <a:t>thesis/figures/</a:t>
            </a:r>
            <a:r>
              <a:rPr lang="en-GB" dirty="0"/>
              <a:t> </a:t>
            </a:r>
            <a:endParaRPr lang="en-GB"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weeks was </a:t>
            </a:r>
            <a:r>
              <a:rPr lang="en-GB" dirty="0"/>
              <a:t>heavy but productive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H</a:t>
            </a:r>
            <a:r>
              <a:rPr lang="en-GB" dirty="0" smtClean="0"/>
              <a:t>aving </a:t>
            </a:r>
            <a:r>
              <a:rPr lang="en-GB" dirty="0"/>
              <a:t>all results already frozen and documented made the Methodology chapter fast to write accurately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W</a:t>
            </a:r>
            <a:r>
              <a:rPr lang="en-GB" dirty="0" smtClean="0"/>
              <a:t>riting </a:t>
            </a:r>
            <a:r>
              <a:rPr lang="en-GB" dirty="0"/>
              <a:t>volume was bigger than expected; some sections needed a second pass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writing goes faster when the underlying numbers are already frozen and verified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 write Results, Discussion, Ethics, Conclusion.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18</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5638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18 -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smtClean="0"/>
              <a:t>10/09/2026</a:t>
            </a:r>
            <a:endParaRPr lang="en" dirty="0"/>
          </a:p>
          <a:p>
            <a:pPr marL="182880" lvl="0" indent="-154940"/>
            <a:r>
              <a:rPr lang="en" b="1" dirty="0"/>
              <a:t>Feedback from: </a:t>
            </a:r>
            <a:r>
              <a:rPr lang="en-GB" dirty="0"/>
              <a:t>Karna </a:t>
            </a:r>
            <a:r>
              <a:rPr lang="en-GB" dirty="0" err="1"/>
              <a:t>Rewatkar</a:t>
            </a:r>
            <a:r>
              <a:rPr lang="en-GB" dirty="0"/>
              <a:t> (Supervisor)</a:t>
            </a:r>
            <a:endParaRPr lang="en" dirty="0"/>
          </a:p>
          <a:p>
            <a:pPr marL="182880" lvl="0" indent="-154940"/>
            <a:r>
              <a:rPr lang="en" b="1" dirty="0"/>
              <a:t>Feedback: </a:t>
            </a:r>
            <a:r>
              <a:rPr lang="en-GB" dirty="0"/>
              <a:t>The Introduction and Methodology draft reads well and the pacing is good - it's clear you're writing from results you've already verified rather than writing speculatively. One thing to tighten: the qualitative usability method section needs to explicitly say how it connects to H2 and H4, since that link is part of why the study was designed the way it was. Otherwise this is a strong first full draft of the opening chapters.</a:t>
            </a:r>
            <a:endParaRPr lang="en" dirty="0"/>
          </a:p>
          <a:p>
            <a:pPr marL="182880" lvl="0" indent="-154940"/>
            <a:r>
              <a:rPr lang="en" b="1" dirty="0"/>
              <a:t>Related to what task: </a:t>
            </a:r>
            <a:r>
              <a:rPr lang="en-GB" dirty="0"/>
              <a:t>Methodology chapter draft.</a:t>
            </a:r>
            <a:endParaRPr lang="en" dirty="0"/>
          </a:p>
          <a:p>
            <a:pPr marL="182880" lvl="0" indent="-154940"/>
            <a:r>
              <a:rPr lang="en" b="1" dirty="0"/>
              <a:t>Response/action coming forward from this: </a:t>
            </a:r>
            <a:r>
              <a:rPr lang="en-GB" dirty="0"/>
              <a:t>added an explicit link back to H2 and H4.</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18</a:t>
            </a:r>
            <a:endParaRPr sz="2400" dirty="0"/>
          </a:p>
        </p:txBody>
      </p:sp>
    </p:spTree>
    <p:extLst>
      <p:ext uri="{BB962C8B-B14F-4D97-AF65-F5344CB8AC3E}">
        <p14:creationId xmlns:p14="http://schemas.microsoft.com/office/powerpoint/2010/main" val="39733255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19 -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write Results, Discussion, Ethics, Conclusion; final touches and proofread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wrote Results (</a:t>
            </a:r>
            <a:r>
              <a:rPr lang="en-GB" dirty="0" smtClean="0"/>
              <a:t>H1-H4</a:t>
            </a:r>
            <a:r>
              <a:rPr lang="en-GB" dirty="0"/>
              <a:t>, qualitative), Discussion (H1, domain gap, H2 shortfall, H3/H4 coverage, limitations, implications, future work), Ethics, Conclusion; finalised abstract; full proofread/reference check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endParaRPr lang="en" dirty="0"/>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section 4.1</a:t>
            </a:r>
            <a:r>
              <a:rPr lang="en-GB" dirty="0"/>
              <a:t> </a:t>
            </a:r>
            <a:endParaRPr lang="en-GB" dirty="0" smtClean="0"/>
          </a:p>
          <a:p>
            <a:pPr marL="27940" lvl="0" indent="0">
              <a:buNone/>
            </a:pPr>
            <a:endParaRPr lang="en-GB" dirty="0"/>
          </a:p>
          <a:p>
            <a:pPr marL="27940" lvl="0" indent="0">
              <a:buNone/>
            </a:pPr>
            <a:r>
              <a:rPr lang="en-GB" u="sng" dirty="0">
                <a:hlinkClick r:id="rId3"/>
              </a:rPr>
              <a:t>thesis section 4</a:t>
            </a:r>
            <a:r>
              <a:rPr lang="en-GB" dirty="0"/>
              <a:t> </a:t>
            </a:r>
            <a:endParaRPr lang="en-GB" dirty="0" smtClean="0"/>
          </a:p>
          <a:p>
            <a:pPr marL="27940" lvl="0" indent="0">
              <a:buNone/>
            </a:pPr>
            <a:endParaRPr lang="en-GB" dirty="0"/>
          </a:p>
          <a:p>
            <a:pPr marL="27940" lvl="0" indent="0">
              <a:buNone/>
            </a:pPr>
            <a:r>
              <a:rPr lang="en-GB" u="sng" dirty="0">
                <a:hlinkClick r:id="rId3"/>
              </a:rPr>
              <a:t>thesis section 5</a:t>
            </a:r>
            <a:r>
              <a:rPr lang="en-GB" dirty="0"/>
              <a:t> </a:t>
            </a:r>
            <a:endParaRPr lang="en-GB" dirty="0" smtClean="0"/>
          </a:p>
          <a:p>
            <a:pPr marL="27940" lvl="0" indent="0">
              <a:buNone/>
            </a:pPr>
            <a:endParaRPr lang="en-GB" dirty="0"/>
          </a:p>
          <a:p>
            <a:pPr marL="27940" lvl="0" indent="0">
              <a:buNone/>
            </a:pPr>
            <a:r>
              <a:rPr lang="en-GB" u="sng" dirty="0">
                <a:hlinkClick r:id="rId3"/>
              </a:rPr>
              <a:t>thesis section 6</a:t>
            </a:r>
            <a:r>
              <a:rPr lang="en-GB" dirty="0"/>
              <a:t> </a:t>
            </a:r>
            <a:endParaRPr lang="en-GB" dirty="0" smtClean="0"/>
          </a:p>
          <a:p>
            <a:pPr marL="27940" lvl="0" indent="0">
              <a:buNone/>
            </a:pPr>
            <a:endParaRPr lang="en-GB" dirty="0"/>
          </a:p>
          <a:p>
            <a:pPr marL="27940" lvl="0" indent="0">
              <a:buNone/>
            </a:pPr>
            <a:r>
              <a:rPr lang="en-GB" u="sng" dirty="0">
                <a:hlinkClick r:id="rId3"/>
              </a:rPr>
              <a:t>thesis section 7</a:t>
            </a:r>
            <a:r>
              <a:rPr lang="en-GB" dirty="0"/>
              <a:t> </a:t>
            </a:r>
            <a:endParaRPr lang="en-GB" dirty="0" smtClean="0"/>
          </a:p>
          <a:p>
            <a:pPr marL="27940" lvl="0" indent="0">
              <a:buNone/>
            </a:pPr>
            <a:endParaRPr lang="en-GB" dirty="0"/>
          </a:p>
          <a:p>
            <a:pPr marL="27940" lvl="0" indent="0">
              <a:buNone/>
            </a:pPr>
            <a:r>
              <a:rPr lang="en-GB" u="sng">
                <a:hlinkClick r:id="rId3"/>
              </a:rPr>
              <a:t>thesis abstract</a:t>
            </a:r>
            <a:r>
              <a:rPr lang="en-GB"/>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as </a:t>
            </a:r>
            <a:r>
              <a:rPr lang="en-GB" dirty="0"/>
              <a:t>demanding but rewarding </a:t>
            </a:r>
            <a:r>
              <a:rPr lang="en-GB" dirty="0" smtClean="0"/>
              <a:t>- </a:t>
            </a:r>
            <a:r>
              <a:rPr lang="en-GB" dirty="0"/>
              <a:t>full draft now exists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Discussion came together cleanly since each result already had an explanation from earlier weeks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p>
          <a:p>
            <a:pPr marL="27940" lvl="0" indent="0" algn="l" rtl="0">
              <a:spcBef>
                <a:spcPts val="0"/>
              </a:spcBef>
              <a:spcAft>
                <a:spcPts val="0"/>
              </a:spcAft>
              <a:buSzPts val="1000"/>
              <a:buNone/>
            </a:pPr>
            <a:r>
              <a:rPr lang="en" dirty="0" smtClean="0"/>
              <a:t>P</a:t>
            </a:r>
            <a:r>
              <a:rPr lang="en-GB" dirty="0" err="1" smtClean="0"/>
              <a:t>roofread</a:t>
            </a:r>
            <a:r>
              <a:rPr lang="en-GB" dirty="0" smtClean="0"/>
              <a:t> </a:t>
            </a:r>
            <a:r>
              <a:rPr lang="en-GB" dirty="0"/>
              <a:t>surfaced several numerical inconsistencies between sections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full cross-check of numbers across the whole document is essential, not a last-minute task</a:t>
            </a:r>
            <a:r>
              <a:rPr lang="en-GB" dirty="0" smtClean="0"/>
              <a:t>.</a:t>
            </a:r>
          </a:p>
          <a:p>
            <a:pPr marL="27940" lvl="0" indent="0">
              <a:buNone/>
            </a:pPr>
            <a:r>
              <a:rPr lang="en" dirty="0" smtClean="0"/>
              <a:t> </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The action point for the next weeks is to finish all evidencing documents.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19</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91494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19 -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17/09/2026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The full draft is in good shape, and the Discussion chapter does a good job of tying H1 through H4 into one coherent narrative rather than treating them as four separate results. A handful of numbers didn't quite match between the Results and Discussion sections, which is a common issue at this stage of writing and worth doing one more full pass to catch. Once that's cleaned up, this reads as a complete and well-argued thesis.</a:t>
            </a:r>
            <a:endParaRPr lang="en" dirty="0"/>
          </a:p>
          <a:p>
            <a:pPr marL="182880" lvl="0" indent="-154940"/>
            <a:r>
              <a:rPr lang="en" b="1" dirty="0"/>
              <a:t>Related to what task: </a:t>
            </a:r>
            <a:r>
              <a:rPr lang="en-GB" dirty="0" smtClean="0"/>
              <a:t>Full </a:t>
            </a:r>
            <a:r>
              <a:rPr lang="en-GB" dirty="0"/>
              <a:t>thesis draft (Results-Conclusion).</a:t>
            </a:r>
            <a:endParaRPr lang="en" dirty="0"/>
          </a:p>
          <a:p>
            <a:pPr marL="182880" lvl="0" indent="-154940"/>
            <a:r>
              <a:rPr lang="en" b="1" dirty="0"/>
              <a:t>Response/action coming forward from this: </a:t>
            </a:r>
            <a:r>
              <a:rPr lang="en-GB" dirty="0" smtClean="0"/>
              <a:t>Completed </a:t>
            </a:r>
            <a:r>
              <a:rPr lang="en-GB" dirty="0"/>
              <a:t>a full consistency pass before submission.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19</a:t>
            </a:r>
            <a:endParaRPr sz="2400" dirty="0"/>
          </a:p>
        </p:txBody>
      </p:sp>
    </p:spTree>
    <p:extLst>
      <p:ext uri="{BB962C8B-B14F-4D97-AF65-F5344CB8AC3E}">
        <p14:creationId xmlns:p14="http://schemas.microsoft.com/office/powerpoint/2010/main" val="15585670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20 -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finish the Work Log, Learning Log and Assessment Rubric</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I </a:t>
            </a:r>
            <a:r>
              <a:rPr lang="en-GB" dirty="0"/>
              <a:t>finalised the 20-week Work Log, wrote all Learning Log entries, collected/organised evidence links, filled the Assessment Rubric across all five ILOs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dirty="0"/>
              <a:t>thesis/evidencing/ complete, with evidence links.</a:t>
            </a:r>
            <a:endParaRPr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smtClean="0"/>
              <a:t>It was a </a:t>
            </a:r>
            <a:r>
              <a:rPr lang="en-GB" dirty="0"/>
              <a:t>satisfying final week </a:t>
            </a:r>
            <a:r>
              <a:rPr lang="en-GB" dirty="0" smtClean="0"/>
              <a:t>- </a:t>
            </a:r>
            <a:r>
              <a:rPr lang="en-GB" dirty="0"/>
              <a:t>the whole portfolio is complete and consistent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lgn="l" rtl="0">
              <a:spcBef>
                <a:spcPts val="0"/>
              </a:spcBef>
              <a:spcAft>
                <a:spcPts val="0"/>
              </a:spcAft>
              <a:buSzPts val="1000"/>
              <a:buNone/>
            </a:pPr>
            <a:r>
              <a:rPr lang="en" dirty="0" smtClean="0"/>
              <a:t>Finalizing Work and Learning Log on time.</a:t>
            </a:r>
          </a:p>
          <a:p>
            <a:pPr marL="27940" lvl="0" indent="0" algn="l" rtl="0">
              <a:spcBef>
                <a:spcPts val="0"/>
              </a:spcBef>
              <a:spcAft>
                <a:spcPts val="0"/>
              </a:spcAft>
              <a:buSzPts val="1000"/>
              <a:buNone/>
            </a:pPr>
            <a:endParaRPr dirty="0"/>
          </a:p>
          <a:p>
            <a:pPr marL="182880" lvl="0" indent="-154940"/>
            <a:r>
              <a:rPr lang="en" dirty="0"/>
              <a:t>What didn’t go so well? </a:t>
            </a:r>
          </a:p>
          <a:p>
            <a:pPr marL="27940" lvl="0" indent="0">
              <a:buNone/>
            </a:pPr>
            <a:r>
              <a:rPr lang="en-GB" dirty="0" smtClean="0"/>
              <a:t>checking </a:t>
            </a:r>
            <a:r>
              <a:rPr lang="en-GB" dirty="0"/>
              <a:t>every evidence link against the final, frozen files took longer than planned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evidencing </a:t>
            </a:r>
            <a:r>
              <a:rPr lang="en-GB" dirty="0"/>
              <a:t>is much </a:t>
            </a:r>
            <a:r>
              <a:rPr lang="en-GB" dirty="0" smtClean="0"/>
              <a:t>easier if done divided on multiple tasks</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Action point for next weeks is to prepare myself for the oral exam and its presentation.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20</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934175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20 -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25/09/2026</a:t>
            </a:r>
          </a:p>
          <a:p>
            <a:pPr marL="182880" lvl="0" indent="-154940"/>
            <a:r>
              <a:rPr lang="en" b="1" dirty="0"/>
              <a:t>Feedback from</a:t>
            </a:r>
            <a:r>
              <a:rPr lang="en" b="1" dirty="0" smtClean="0"/>
              <a:t>: </a:t>
            </a:r>
            <a:r>
              <a:rPr lang="en-GB" b="1" dirty="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The evidencing is thorough, and the fact that every claim traces back to a specific file, output, or thesis section makes it easy to verify where the work actually came from. It's clear the Work Log was kept up throughout rather than reconstructed at the end, which shows in how consistent the weekly entries are. This is ready for submission.</a:t>
            </a:r>
            <a:endParaRPr lang="en" dirty="0"/>
          </a:p>
          <a:p>
            <a:pPr marL="182880" lvl="0" indent="-154940"/>
            <a:r>
              <a:rPr lang="en" b="1" dirty="0"/>
              <a:t>Related to what task: </a:t>
            </a:r>
            <a:r>
              <a:rPr lang="en-GB" dirty="0" smtClean="0"/>
              <a:t>Final </a:t>
            </a:r>
            <a:r>
              <a:rPr lang="en-GB" dirty="0"/>
              <a:t>evidencing documents.</a:t>
            </a:r>
            <a:endParaRPr lang="en" dirty="0"/>
          </a:p>
          <a:p>
            <a:pPr marL="182880" lvl="0" indent="-154940" algn="l" rtl="0">
              <a:spcBef>
                <a:spcPts val="0"/>
              </a:spcBef>
              <a:spcAft>
                <a:spcPts val="0"/>
              </a:spcAft>
              <a:buSzPts val="1000"/>
              <a:buChar char="●"/>
            </a:pPr>
            <a:r>
              <a:rPr lang="en" b="1" dirty="0"/>
              <a:t>Response/action coming forward from this: </a:t>
            </a:r>
            <a:r>
              <a:rPr lang="en" dirty="0" smtClean="0"/>
              <a:t>The portfolio is finalized so now should focus on preparing for the oral exam</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20</a:t>
            </a:r>
            <a:endParaRPr sz="2400" dirty="0"/>
          </a:p>
        </p:txBody>
      </p:sp>
    </p:spTree>
    <p:extLst>
      <p:ext uri="{BB962C8B-B14F-4D97-AF65-F5344CB8AC3E}">
        <p14:creationId xmlns:p14="http://schemas.microsoft.com/office/powerpoint/2010/main" val="16606437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1745053"/>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accent6">
                    <a:lumMod val="75000"/>
                  </a:schemeClr>
                </a:solidFill>
              </a:rPr>
              <a:t>You made it!</a:t>
            </a:r>
            <a:endParaRPr b="1" dirty="0">
              <a:solidFill>
                <a:schemeClr val="accent6">
                  <a:lumMod val="75000"/>
                </a:schemeClr>
              </a:solidFill>
            </a:endParaRPr>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200" b="1" dirty="0"/>
              <a:t>You made it to the end of your graduation project period, congratulations! Hopefully, you have learned a lot and you gained experience with the work field, working with other professionals and became more independent in your work. As a reminder, do not forget about the following deliverables:</a:t>
            </a:r>
          </a:p>
          <a:p>
            <a:pPr marL="0" lvl="0" indent="0" algn="l" rtl="0">
              <a:spcBef>
                <a:spcPts val="0"/>
              </a:spcBef>
              <a:spcAft>
                <a:spcPts val="0"/>
              </a:spcAft>
              <a:buNone/>
            </a:pPr>
            <a:endParaRPr lang="en-GB" sz="1200" b="1" dirty="0"/>
          </a:p>
          <a:p>
            <a:pPr marL="228600" lvl="0" indent="-228600" algn="l" rtl="0">
              <a:spcBef>
                <a:spcPts val="0"/>
              </a:spcBef>
              <a:spcAft>
                <a:spcPts val="0"/>
              </a:spcAft>
              <a:buAutoNum type="arabicParenR"/>
            </a:pPr>
            <a:r>
              <a:rPr lang="en-GB" sz="1200" dirty="0"/>
              <a:t>Remind your company supervisor about the 20</a:t>
            </a:r>
            <a:r>
              <a:rPr lang="en-GB" sz="1200" baseline="30000" dirty="0"/>
              <a:t>th</a:t>
            </a:r>
            <a:r>
              <a:rPr lang="en-GB" sz="1200" dirty="0"/>
              <a:t> week assessment. They should fill in the assessment sheet provided and discuss their outcomes with you. Reflect on their feedback and see how you improved yourself compared to the 10</a:t>
            </a:r>
            <a:r>
              <a:rPr lang="en-GB" sz="1200" baseline="30000" dirty="0"/>
              <a:t>th</a:t>
            </a:r>
            <a:r>
              <a:rPr lang="en-GB" sz="1200" dirty="0"/>
              <a:t> week feedback. Afterwards, your supervisor needs to send the signed version to your </a:t>
            </a:r>
            <a:r>
              <a:rPr lang="en-GB" sz="1200" dirty="0" err="1"/>
              <a:t>BUas</a:t>
            </a:r>
            <a:r>
              <a:rPr lang="en-GB" sz="1200" dirty="0"/>
              <a:t> supervisor! </a:t>
            </a:r>
            <a:br>
              <a:rPr lang="en-GB" sz="1200" dirty="0"/>
            </a:br>
            <a:endParaRPr lang="en-GB" sz="1200" dirty="0"/>
          </a:p>
          <a:p>
            <a:pPr marL="228600" lvl="0" indent="-228600" algn="l" rtl="0">
              <a:spcBef>
                <a:spcPts val="0"/>
              </a:spcBef>
              <a:spcAft>
                <a:spcPts val="0"/>
              </a:spcAft>
              <a:buAutoNum type="arabicParenR"/>
            </a:pPr>
            <a:r>
              <a:rPr lang="en-GB" sz="1200" dirty="0"/>
              <a:t>Plan a meeting with your company supervisor, your Buas supervisor and you to discuss the end of your graduation project. </a:t>
            </a:r>
            <a:br>
              <a:rPr lang="en-GB" sz="1200" dirty="0"/>
            </a:br>
            <a:endParaRPr lang="en-GB" sz="1200" dirty="0"/>
          </a:p>
          <a:p>
            <a:pPr marL="228600" lvl="0" indent="-228600" algn="l" rtl="0">
              <a:spcBef>
                <a:spcPts val="0"/>
              </a:spcBef>
              <a:spcAft>
                <a:spcPts val="0"/>
              </a:spcAft>
              <a:buAutoNum type="arabicParenR"/>
            </a:pPr>
            <a:r>
              <a:rPr lang="en-GB" sz="1200" dirty="0"/>
              <a:t>Do not forget to update your learning log! Make sure that the log is accessible for your Buas supervisor so they can have a look at what you have done.</a:t>
            </a:r>
          </a:p>
          <a:p>
            <a:pPr marL="228600" lvl="0" indent="-228600" algn="l" rtl="0">
              <a:spcBef>
                <a:spcPts val="0"/>
              </a:spcBef>
              <a:spcAft>
                <a:spcPts val="0"/>
              </a:spcAft>
              <a:buAutoNum type="arabicParenR"/>
            </a:pPr>
            <a:endParaRPr lang="en-GB" sz="1200" dirty="0"/>
          </a:p>
          <a:p>
            <a:pPr marL="228600" lvl="0" indent="-228600" algn="l" rtl="0">
              <a:spcBef>
                <a:spcPts val="0"/>
              </a:spcBef>
              <a:spcAft>
                <a:spcPts val="0"/>
              </a:spcAft>
              <a:buAutoNum type="arabicParenR"/>
            </a:pPr>
            <a:r>
              <a:rPr lang="en-GB" sz="1200" dirty="0"/>
              <a:t>Finalize all the deliverables and hand them in on time! </a:t>
            </a:r>
          </a:p>
          <a:p>
            <a:pPr marL="228600" lvl="0" indent="-228600" algn="l" rtl="0">
              <a:spcBef>
                <a:spcPts val="0"/>
              </a:spcBef>
              <a:spcAft>
                <a:spcPts val="0"/>
              </a:spcAft>
              <a:buAutoNum type="arabicParenR"/>
            </a:pPr>
            <a:endParaRPr lang="en-GB" sz="1200" dirty="0"/>
          </a:p>
          <a:p>
            <a:pPr marL="228600" lvl="0" indent="-228600" algn="l" rtl="0">
              <a:spcBef>
                <a:spcPts val="0"/>
              </a:spcBef>
              <a:spcAft>
                <a:spcPts val="0"/>
              </a:spcAft>
              <a:buAutoNum type="arabicParenR"/>
            </a:pPr>
            <a:r>
              <a:rPr lang="en-GB" sz="1200" dirty="0"/>
              <a:t>Make sure to thank your supervisor at the company and other team members! Update your LinkedIn and maybe add your colleagues to further build your network.</a:t>
            </a:r>
          </a:p>
          <a:p>
            <a:pPr marL="0" lvl="0" indent="0" algn="l" rtl="0">
              <a:spcBef>
                <a:spcPts val="0"/>
              </a:spcBef>
              <a:spcAft>
                <a:spcPts val="0"/>
              </a:spcAft>
              <a:buNone/>
            </a:pPr>
            <a:endParaRPr lang="en-GB" sz="1200" dirty="0"/>
          </a:p>
        </p:txBody>
      </p:sp>
    </p:spTree>
    <p:extLst>
      <p:ext uri="{BB962C8B-B14F-4D97-AF65-F5344CB8AC3E}">
        <p14:creationId xmlns:p14="http://schemas.microsoft.com/office/powerpoint/2010/main" val="2643562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dirty="0"/>
              <a:t>Section </a:t>
            </a:r>
            <a:r>
              <a:rPr lang="en" dirty="0"/>
              <a:t>C</a:t>
            </a:r>
            <a:endParaRPr sz="6000" dirty="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Progress</a:t>
            </a:r>
            <a:endParaRPr dirty="0"/>
          </a:p>
          <a:p>
            <a:pPr marL="0" lvl="0" indent="0" algn="ctr" rtl="0">
              <a:spcBef>
                <a:spcPts val="0"/>
              </a:spcBef>
              <a:spcAft>
                <a:spcPts val="0"/>
              </a:spcAft>
              <a:buNone/>
            </a:pPr>
            <a:r>
              <a:rPr lang="en" dirty="0"/>
              <a:t>Intended Learning Outcomes</a:t>
            </a:r>
            <a:endParaRPr sz="3000" dirty="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rPr>
              <a:t>C</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62">
          <a:extLst>
            <a:ext uri="{FF2B5EF4-FFF2-40B4-BE49-F238E27FC236}">
              <a16:creationId xmlns:a16="http://schemas.microsoft.com/office/drawing/2014/main" id="{295F5BAE-BA7D-E898-3F38-25CAB23A3D48}"/>
            </a:ext>
          </a:extLst>
        </p:cNvPr>
        <p:cNvGrpSpPr/>
        <p:nvPr/>
      </p:nvGrpSpPr>
      <p:grpSpPr>
        <a:xfrm>
          <a:off x="0" y="0"/>
          <a:ext cx="0" cy="0"/>
          <a:chOff x="0" y="0"/>
          <a:chExt cx="0" cy="0"/>
        </a:xfrm>
      </p:grpSpPr>
      <p:sp>
        <p:nvSpPr>
          <p:cNvPr id="363" name="Google Shape;363;p39">
            <a:extLst>
              <a:ext uri="{FF2B5EF4-FFF2-40B4-BE49-F238E27FC236}">
                <a16:creationId xmlns:a16="http://schemas.microsoft.com/office/drawing/2014/main" id="{1729EDB1-B126-19CD-A001-392E7030EEB2}"/>
              </a:ext>
            </a:extLst>
          </p:cNvPr>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1</a:t>
            </a:r>
            <a:endParaRPr dirty="0"/>
          </a:p>
        </p:txBody>
      </p:sp>
      <p:sp>
        <p:nvSpPr>
          <p:cNvPr id="364" name="Google Shape;364;p39">
            <a:extLst>
              <a:ext uri="{FF2B5EF4-FFF2-40B4-BE49-F238E27FC236}">
                <a16:creationId xmlns:a16="http://schemas.microsoft.com/office/drawing/2014/main" id="{4CDD4960-C537-A1AC-A736-420D31FDF211}"/>
              </a:ext>
            </a:extLst>
          </p:cNvPr>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nl-NL" dirty="0"/>
              <a:t>Research</a:t>
            </a:r>
            <a:endParaRPr dirty="0"/>
          </a:p>
        </p:txBody>
      </p:sp>
      <p:sp>
        <p:nvSpPr>
          <p:cNvPr id="365" name="Google Shape;365;p39">
            <a:extLst>
              <a:ext uri="{FF2B5EF4-FFF2-40B4-BE49-F238E27FC236}">
                <a16:creationId xmlns:a16="http://schemas.microsoft.com/office/drawing/2014/main" id="{177721F2-072E-C20D-9BA3-4592D43D9756}"/>
              </a:ext>
            </a:extLst>
          </p:cNvPr>
          <p:cNvSpPr txBox="1">
            <a:spLocks noGrp="1"/>
          </p:cNvSpPr>
          <p:nvPr>
            <p:ph type="subTitle" idx="2"/>
          </p:nvPr>
        </p:nvSpPr>
        <p:spPr>
          <a:xfrm>
            <a:off x="3097824" y="3353563"/>
            <a:ext cx="5588976"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conduct research according to data science and AI industry standards and apply knowledge in a professional context.</a:t>
            </a:r>
            <a:endParaRPr lang="nl-NL" dirty="0"/>
          </a:p>
        </p:txBody>
      </p:sp>
      <p:sp>
        <p:nvSpPr>
          <p:cNvPr id="366" name="Google Shape;366;p39">
            <a:extLst>
              <a:ext uri="{FF2B5EF4-FFF2-40B4-BE49-F238E27FC236}">
                <a16:creationId xmlns:a16="http://schemas.microsoft.com/office/drawing/2014/main" id="{2F48EDC3-8EBE-DB53-F444-215868F67080}"/>
              </a:ext>
            </a:extLst>
          </p:cNvPr>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688219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8220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Relevance</a:t>
            </a:r>
            <a:endParaRPr sz="2800" dirty="0"/>
          </a:p>
        </p:txBody>
      </p:sp>
      <p:sp>
        <p:nvSpPr>
          <p:cNvPr id="398" name="Google Shape;398;p42"/>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clearly identify, </a:t>
            </a:r>
            <a:r>
              <a:rPr lang="en-GB" dirty="0" err="1"/>
              <a:t>analyze</a:t>
            </a:r>
            <a:r>
              <a:rPr lang="en-GB" dirty="0"/>
              <a:t>, and articulate a problem or issue that is relevant to the commissioned product, demonstrating extensive critical evaluation and understanding of its implications.</a:t>
            </a:r>
            <a:endParaRPr lang="nl-NL" dirty="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7" name="TextBox 6">
            <a:extLst>
              <a:ext uri="{FF2B5EF4-FFF2-40B4-BE49-F238E27FC236}">
                <a16:creationId xmlns:a16="http://schemas.microsoft.com/office/drawing/2014/main" id="{2D93DE6F-3DFF-6961-EE62-4797770601EE}"/>
              </a:ext>
            </a:extLst>
          </p:cNvPr>
          <p:cNvSpPr txBox="1"/>
          <p:nvPr/>
        </p:nvSpPr>
        <p:spPr>
          <a:xfrm>
            <a:off x="8531799" y="134111"/>
            <a:ext cx="543951" cy="307777"/>
          </a:xfrm>
          <a:prstGeom prst="rect">
            <a:avLst/>
          </a:prstGeom>
          <a:noFill/>
        </p:spPr>
        <p:txBody>
          <a:bodyPr wrap="square">
            <a:spAutoFit/>
          </a:bodyPr>
          <a:lstStyle/>
          <a:p>
            <a:r>
              <a:rPr lang="en" dirty="0"/>
              <a:t>1/3</a:t>
            </a:r>
            <a:endParaRPr lang="en-GB"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FCF9FA16-64DC-9CAA-12A3-66CD60944E2B}"/>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4B76868B-265F-A07C-272A-12BCFF07CE68}"/>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754AA99B-49CD-4E0D-DB2F-8891160D951E}"/>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396" name="Google Shape;396;p42">
            <a:extLst>
              <a:ext uri="{FF2B5EF4-FFF2-40B4-BE49-F238E27FC236}">
                <a16:creationId xmlns:a16="http://schemas.microsoft.com/office/drawing/2014/main" id="{90365685-565A-A154-BB39-BB60757F018A}"/>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37A5E0AB-1078-F672-DBB3-847B17E31B2F}"/>
              </a:ext>
            </a:extLst>
          </p:cNvPr>
          <p:cNvSpPr txBox="1">
            <a:spLocks noGrp="1"/>
          </p:cNvSpPr>
          <p:nvPr>
            <p:ph type="title" idx="4"/>
          </p:nvPr>
        </p:nvSpPr>
        <p:spPr>
          <a:xfrm>
            <a:off x="68249" y="576000"/>
            <a:ext cx="235379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Methodology</a:t>
            </a:r>
            <a:endParaRPr sz="2800" dirty="0"/>
          </a:p>
        </p:txBody>
      </p:sp>
      <p:sp>
        <p:nvSpPr>
          <p:cNvPr id="398" name="Google Shape;398;p42">
            <a:extLst>
              <a:ext uri="{FF2B5EF4-FFF2-40B4-BE49-F238E27FC236}">
                <a16:creationId xmlns:a16="http://schemas.microsoft.com/office/drawing/2014/main" id="{D691AE9C-7F94-3244-8631-ECC0D2A3DF4A}"/>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select and apply appropriate methodologies that align with the scope and expected outcomes of their research, effectively gathering extensive data from a wide variety of relevant sources.</a:t>
            </a:r>
            <a:endParaRPr lang="nl-NL" dirty="0"/>
          </a:p>
        </p:txBody>
      </p:sp>
      <p:sp>
        <p:nvSpPr>
          <p:cNvPr id="399" name="Google Shape;399;p42">
            <a:extLst>
              <a:ext uri="{FF2B5EF4-FFF2-40B4-BE49-F238E27FC236}">
                <a16:creationId xmlns:a16="http://schemas.microsoft.com/office/drawing/2014/main" id="{E2C5F091-595D-FD87-F026-2788346F76D6}"/>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27C4F6E0-E743-DF0C-D7EE-90433D3D4F13}"/>
              </a:ext>
            </a:extLst>
          </p:cNvPr>
          <p:cNvSpPr txBox="1"/>
          <p:nvPr/>
        </p:nvSpPr>
        <p:spPr>
          <a:xfrm>
            <a:off x="8531799" y="134111"/>
            <a:ext cx="543951" cy="307777"/>
          </a:xfrm>
          <a:prstGeom prst="rect">
            <a:avLst/>
          </a:prstGeom>
          <a:noFill/>
        </p:spPr>
        <p:txBody>
          <a:bodyPr wrap="square">
            <a:spAutoFit/>
          </a:bodyPr>
          <a:lstStyle/>
          <a:p>
            <a:r>
              <a:rPr lang="en" dirty="0"/>
              <a:t>2/3</a:t>
            </a:r>
            <a:endParaRPr lang="en-GB" dirty="0"/>
          </a:p>
        </p:txBody>
      </p:sp>
    </p:spTree>
    <p:extLst>
      <p:ext uri="{BB962C8B-B14F-4D97-AF65-F5344CB8AC3E}">
        <p14:creationId xmlns:p14="http://schemas.microsoft.com/office/powerpoint/2010/main" val="42914790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B29A38E7-2F5C-AA10-8A47-70D257ACA440}"/>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67AAD546-03DB-1CF1-B83B-4FD13E83D7E7}"/>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2B55FACA-86AD-5BB7-9A53-EB3D24BFEB70}"/>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396" name="Google Shape;396;p42">
            <a:extLst>
              <a:ext uri="{FF2B5EF4-FFF2-40B4-BE49-F238E27FC236}">
                <a16:creationId xmlns:a16="http://schemas.microsoft.com/office/drawing/2014/main" id="{62FED935-CDD3-C179-5D76-6A8CDF155D55}"/>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B8E4F657-7EE3-CBBF-BE9A-581C8907A4AB}"/>
              </a:ext>
            </a:extLst>
          </p:cNvPr>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Application</a:t>
            </a:r>
            <a:endParaRPr sz="2800" dirty="0"/>
          </a:p>
        </p:txBody>
      </p:sp>
      <p:sp>
        <p:nvSpPr>
          <p:cNvPr id="398" name="Google Shape;398;p42">
            <a:extLst>
              <a:ext uri="{FF2B5EF4-FFF2-40B4-BE49-F238E27FC236}">
                <a16:creationId xmlns:a16="http://schemas.microsoft.com/office/drawing/2014/main" id="{373DD8F2-EDDE-ACE7-8A72-12A315342119}"/>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able to apply relevant data, appropriate models, and the knowledge and skills from the Data Science and AI curriculum to inform and support key decisions and evaluations related to a primary product or project.</a:t>
            </a:r>
            <a:endParaRPr lang="nl-NL" dirty="0"/>
          </a:p>
        </p:txBody>
      </p:sp>
      <p:sp>
        <p:nvSpPr>
          <p:cNvPr id="399" name="Google Shape;399;p42">
            <a:extLst>
              <a:ext uri="{FF2B5EF4-FFF2-40B4-BE49-F238E27FC236}">
                <a16:creationId xmlns:a16="http://schemas.microsoft.com/office/drawing/2014/main" id="{C031EB76-B59E-4FC6-2369-F18BD5AFA545}"/>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E063DA8C-82ED-A7FF-314E-06625FF7A6C3}"/>
              </a:ext>
            </a:extLst>
          </p:cNvPr>
          <p:cNvSpPr txBox="1"/>
          <p:nvPr/>
        </p:nvSpPr>
        <p:spPr>
          <a:xfrm>
            <a:off x="8531799" y="134111"/>
            <a:ext cx="543951" cy="307777"/>
          </a:xfrm>
          <a:prstGeom prst="rect">
            <a:avLst/>
          </a:prstGeom>
          <a:noFill/>
        </p:spPr>
        <p:txBody>
          <a:bodyPr wrap="square">
            <a:spAutoFit/>
          </a:bodyPr>
          <a:lstStyle/>
          <a:p>
            <a:r>
              <a:rPr lang="en" dirty="0"/>
              <a:t>3/3</a:t>
            </a:r>
            <a:endParaRPr lang="en-GB" dirty="0"/>
          </a:p>
        </p:txBody>
      </p:sp>
    </p:spTree>
    <p:extLst>
      <p:ext uri="{BB962C8B-B14F-4D97-AF65-F5344CB8AC3E}">
        <p14:creationId xmlns:p14="http://schemas.microsoft.com/office/powerpoint/2010/main" val="17438772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a:t>
            </a:r>
            <a:r>
              <a:rPr lang="en-NL" dirty="0"/>
              <a:t>2</a:t>
            </a:r>
            <a:endParaRPr dirty="0"/>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nl-NL" dirty="0"/>
              <a:t>Product</a:t>
            </a:r>
            <a:endParaRPr dirty="0"/>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create and deliver a professional product that meets the standards of the Data Science and AI industry.</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dirty="0">
                <a:solidFill>
                  <a:srgbClr val="999999"/>
                </a:solidFill>
                <a:latin typeface="Roboto"/>
                <a:ea typeface="Roboto"/>
                <a:cs typeface="Roboto"/>
                <a:sym typeface="Roboto"/>
              </a:rPr>
              <a:t>2</a:t>
            </a:r>
            <a:endParaRPr sz="40000" dirty="0">
              <a:solidFill>
                <a:srgbClr val="999999"/>
              </a:solidFill>
              <a:latin typeface="Roboto"/>
              <a:ea typeface="Roboto"/>
              <a:cs typeface="Roboto"/>
              <a:sym typeface="Roboto"/>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8"/>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2</a:t>
            </a:r>
            <a:endParaRPr/>
          </a:p>
        </p:txBody>
      </p:sp>
      <p:sp>
        <p:nvSpPr>
          <p:cNvPr id="457" name="Google Shape;457;p48"/>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458" name="Google Shape;458;p48"/>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7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dirty="0"/>
          </a:p>
        </p:txBody>
      </p:sp>
      <p:sp>
        <p:nvSpPr>
          <p:cNvPr id="459" name="Google Shape;459;p48"/>
          <p:cNvSpPr txBox="1">
            <a:spLocks noGrp="1"/>
          </p:cNvSpPr>
          <p:nvPr>
            <p:ph type="title" idx="3"/>
          </p:nvPr>
        </p:nvSpPr>
        <p:spPr>
          <a:xfrm>
            <a:off x="2049461" y="0"/>
            <a:ext cx="5576290" cy="576000"/>
          </a:xfrm>
          <a:prstGeom prst="rect">
            <a:avLst/>
          </a:prstGeom>
        </p:spPr>
        <p:txBody>
          <a:bodyPr spcFirstLastPara="1" wrap="square" lIns="91425" tIns="91425" rIns="91425" bIns="91425" anchor="ctr" anchorCtr="0">
            <a:noAutofit/>
          </a:bodyPr>
          <a:lstStyle/>
          <a:p>
            <a:r>
              <a:rPr lang="en-US" dirty="0"/>
              <a:t>The student demonstrates the ability to create and deliver a professional product that meets the standards of the Data Science and AI industry.</a:t>
            </a:r>
            <a:endParaRPr lang="en-GB" dirty="0"/>
          </a:p>
        </p:txBody>
      </p:sp>
      <p:sp>
        <p:nvSpPr>
          <p:cNvPr id="460" name="Google Shape;460;p48"/>
          <p:cNvSpPr txBox="1">
            <a:spLocks noGrp="1"/>
          </p:cNvSpPr>
          <p:nvPr>
            <p:ph type="title" idx="4"/>
          </p:nvPr>
        </p:nvSpPr>
        <p:spPr>
          <a:xfrm>
            <a:off x="68249" y="576000"/>
            <a:ext cx="206386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Usefulness</a:t>
            </a:r>
            <a:endParaRPr sz="2400" dirty="0"/>
          </a:p>
        </p:txBody>
      </p:sp>
      <p:sp>
        <p:nvSpPr>
          <p:cNvPr id="461" name="Google Shape;461;p48"/>
          <p:cNvSpPr txBox="1">
            <a:spLocks noGrp="1"/>
          </p:cNvSpPr>
          <p:nvPr>
            <p:ph type="title" idx="5"/>
          </p:nvPr>
        </p:nvSpPr>
        <p:spPr>
          <a:xfrm>
            <a:off x="2132113" y="576000"/>
            <a:ext cx="6261550" cy="493800"/>
          </a:xfrm>
          <a:prstGeom prst="rect">
            <a:avLst/>
          </a:prstGeom>
        </p:spPr>
        <p:txBody>
          <a:bodyPr spcFirstLastPara="1" wrap="square" lIns="91425" tIns="91425" rIns="91425" bIns="91425" anchor="ctr" anchorCtr="0">
            <a:noAutofit/>
          </a:bodyPr>
          <a:lstStyle/>
          <a:p>
            <a:r>
              <a:rPr lang="en-GB" dirty="0"/>
              <a:t>Students is able to develop a product that appropriately and clearly achieves the identified goal, supported by thorough testing and evaluation with stakeholders</a:t>
            </a:r>
          </a:p>
        </p:txBody>
      </p:sp>
      <p:sp>
        <p:nvSpPr>
          <p:cNvPr id="462" name="Google Shape;462;p48"/>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t>Product</a:t>
            </a:r>
            <a:endParaRPr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55">
          <a:extLst>
            <a:ext uri="{FF2B5EF4-FFF2-40B4-BE49-F238E27FC236}">
              <a16:creationId xmlns:a16="http://schemas.microsoft.com/office/drawing/2014/main" id="{C6AB58CA-63ED-227A-387A-45495EA81792}"/>
            </a:ext>
          </a:extLst>
        </p:cNvPr>
        <p:cNvGrpSpPr/>
        <p:nvPr/>
      </p:nvGrpSpPr>
      <p:grpSpPr>
        <a:xfrm>
          <a:off x="0" y="0"/>
          <a:ext cx="0" cy="0"/>
          <a:chOff x="0" y="0"/>
          <a:chExt cx="0" cy="0"/>
        </a:xfrm>
      </p:grpSpPr>
      <p:sp>
        <p:nvSpPr>
          <p:cNvPr id="456" name="Google Shape;456;p48">
            <a:extLst>
              <a:ext uri="{FF2B5EF4-FFF2-40B4-BE49-F238E27FC236}">
                <a16:creationId xmlns:a16="http://schemas.microsoft.com/office/drawing/2014/main" id="{387F404A-6975-6198-85FC-E91555A6CAB0}"/>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2</a:t>
            </a:r>
            <a:endParaRPr/>
          </a:p>
        </p:txBody>
      </p:sp>
      <p:sp>
        <p:nvSpPr>
          <p:cNvPr id="457" name="Google Shape;457;p48">
            <a:extLst>
              <a:ext uri="{FF2B5EF4-FFF2-40B4-BE49-F238E27FC236}">
                <a16:creationId xmlns:a16="http://schemas.microsoft.com/office/drawing/2014/main" id="{ABE32A8C-EF47-3B69-31D1-9E7CAB2D3B06}"/>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458" name="Google Shape;458;p48">
            <a:extLst>
              <a:ext uri="{FF2B5EF4-FFF2-40B4-BE49-F238E27FC236}">
                <a16:creationId xmlns:a16="http://schemas.microsoft.com/office/drawing/2014/main" id="{244472F4-7C5A-E9B6-EF34-C8DB4CCE0035}"/>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7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dirty="0"/>
          </a:p>
        </p:txBody>
      </p:sp>
      <p:sp>
        <p:nvSpPr>
          <p:cNvPr id="459" name="Google Shape;459;p48">
            <a:extLst>
              <a:ext uri="{FF2B5EF4-FFF2-40B4-BE49-F238E27FC236}">
                <a16:creationId xmlns:a16="http://schemas.microsoft.com/office/drawing/2014/main" id="{88D6A412-48D3-9FC0-1E65-63222226BEFD}"/>
              </a:ext>
            </a:extLst>
          </p:cNvPr>
          <p:cNvSpPr txBox="1">
            <a:spLocks noGrp="1"/>
          </p:cNvSpPr>
          <p:nvPr>
            <p:ph type="title" idx="3"/>
          </p:nvPr>
        </p:nvSpPr>
        <p:spPr>
          <a:xfrm>
            <a:off x="2049461" y="0"/>
            <a:ext cx="5576290" cy="576000"/>
          </a:xfrm>
          <a:prstGeom prst="rect">
            <a:avLst/>
          </a:prstGeom>
        </p:spPr>
        <p:txBody>
          <a:bodyPr spcFirstLastPara="1" wrap="square" lIns="91425" tIns="91425" rIns="91425" bIns="91425" anchor="ctr" anchorCtr="0">
            <a:noAutofit/>
          </a:bodyPr>
          <a:lstStyle/>
          <a:p>
            <a:r>
              <a:rPr lang="en-US" dirty="0"/>
              <a:t>The student demonstrates the ability to create and deliver a professional product that meets the standards of the Data Science and AI industry.</a:t>
            </a:r>
            <a:endParaRPr lang="en-GB" dirty="0"/>
          </a:p>
        </p:txBody>
      </p:sp>
      <p:sp>
        <p:nvSpPr>
          <p:cNvPr id="460" name="Google Shape;460;p48">
            <a:extLst>
              <a:ext uri="{FF2B5EF4-FFF2-40B4-BE49-F238E27FC236}">
                <a16:creationId xmlns:a16="http://schemas.microsoft.com/office/drawing/2014/main" id="{0485BE02-178C-5FA8-0FCB-2A699F44536F}"/>
              </a:ext>
            </a:extLst>
          </p:cNvPr>
          <p:cNvSpPr txBox="1">
            <a:spLocks noGrp="1"/>
          </p:cNvSpPr>
          <p:nvPr>
            <p:ph type="title" idx="4"/>
          </p:nvPr>
        </p:nvSpPr>
        <p:spPr>
          <a:xfrm>
            <a:off x="68249" y="576000"/>
            <a:ext cx="206386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Quality</a:t>
            </a:r>
            <a:endParaRPr sz="2400" dirty="0"/>
          </a:p>
        </p:txBody>
      </p:sp>
      <p:sp>
        <p:nvSpPr>
          <p:cNvPr id="461" name="Google Shape;461;p48">
            <a:extLst>
              <a:ext uri="{FF2B5EF4-FFF2-40B4-BE49-F238E27FC236}">
                <a16:creationId xmlns:a16="http://schemas.microsoft.com/office/drawing/2014/main" id="{7BC43B53-29F8-A116-93D4-2B20C1FC7E71}"/>
              </a:ext>
            </a:extLst>
          </p:cNvPr>
          <p:cNvSpPr txBox="1">
            <a:spLocks noGrp="1"/>
          </p:cNvSpPr>
          <p:nvPr>
            <p:ph type="title" idx="5"/>
          </p:nvPr>
        </p:nvSpPr>
        <p:spPr>
          <a:xfrm>
            <a:off x="2132113" y="576000"/>
            <a:ext cx="6261550" cy="493800"/>
          </a:xfrm>
          <a:prstGeom prst="rect">
            <a:avLst/>
          </a:prstGeom>
        </p:spPr>
        <p:txBody>
          <a:bodyPr spcFirstLastPara="1" wrap="square" lIns="91425" tIns="91425" rIns="91425" bIns="91425" anchor="ctr" anchorCtr="0">
            <a:noAutofit/>
          </a:bodyPr>
          <a:lstStyle/>
          <a:p>
            <a:r>
              <a:rPr lang="en-GB" dirty="0"/>
              <a:t>Students is able to develop a professional-quality product that meets industry standards and is ready for use in its intended purpose</a:t>
            </a:r>
          </a:p>
        </p:txBody>
      </p:sp>
      <p:sp>
        <p:nvSpPr>
          <p:cNvPr id="462" name="Google Shape;462;p48">
            <a:extLst>
              <a:ext uri="{FF2B5EF4-FFF2-40B4-BE49-F238E27FC236}">
                <a16:creationId xmlns:a16="http://schemas.microsoft.com/office/drawing/2014/main" id="{6E650C45-4FBD-13A6-35A7-63BC9D545147}"/>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t>Product</a:t>
            </a:r>
            <a:endParaRPr sz="1100" dirty="0"/>
          </a:p>
        </p:txBody>
      </p:sp>
    </p:spTree>
    <p:extLst>
      <p:ext uri="{BB962C8B-B14F-4D97-AF65-F5344CB8AC3E}">
        <p14:creationId xmlns:p14="http://schemas.microsoft.com/office/powerpoint/2010/main" val="22793908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3</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Project Management</a:t>
            </a:r>
            <a:endParaRPr dirty="0"/>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3</a:t>
            </a:r>
            <a:endParaRPr sz="40000">
              <a:solidFill>
                <a:srgbClr val="999999"/>
              </a:solidFill>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p:cNvSpPr txBox="1">
            <a:spLocks noGrp="1"/>
          </p:cNvSpPr>
          <p:nvPr>
            <p:ph type="title" idx="4"/>
          </p:nvPr>
        </p:nvSpPr>
        <p:spPr>
          <a:xfrm>
            <a:off x="68249" y="576000"/>
            <a:ext cx="188544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rgbClr val="FFFFFF"/>
                </a:solidFill>
              </a:rPr>
              <a:t>Process</a:t>
            </a:r>
            <a:endParaRPr sz="2400" dirty="0">
              <a:solidFill>
                <a:srgbClr val="FFFFFF"/>
              </a:solidFill>
            </a:endParaRPr>
          </a:p>
        </p:txBody>
      </p:sp>
      <p:sp>
        <p:nvSpPr>
          <p:cNvPr id="480" name="Google Shape;480;p50"/>
          <p:cNvSpPr txBox="1">
            <a:spLocks noGrp="1"/>
          </p:cNvSpPr>
          <p:nvPr>
            <p:ph type="title" idx="5"/>
          </p:nvPr>
        </p:nvSpPr>
        <p:spPr>
          <a:xfrm>
            <a:off x="1784194" y="576000"/>
            <a:ext cx="7118940" cy="493800"/>
          </a:xfrm>
          <a:prstGeom prst="rect">
            <a:avLst/>
          </a:prstGeom>
        </p:spPr>
        <p:txBody>
          <a:bodyPr spcFirstLastPara="1" wrap="square" lIns="91425" tIns="91425" rIns="91425" bIns="91425" anchor="ctr" anchorCtr="0">
            <a:noAutofit/>
          </a:bodyPr>
          <a:lstStyle/>
          <a:p>
            <a:r>
              <a:rPr lang="en-GB" dirty="0"/>
              <a:t>Students is able to implement all appropriate phases of product development excellently, adhering to professional standards throughout the process.</a:t>
            </a:r>
          </a:p>
        </p:txBody>
      </p:sp>
      <p:sp>
        <p:nvSpPr>
          <p:cNvPr id="8" name="Google Shape;459;p48">
            <a:extLst>
              <a:ext uri="{FF2B5EF4-FFF2-40B4-BE49-F238E27FC236}">
                <a16:creationId xmlns:a16="http://schemas.microsoft.com/office/drawing/2014/main" id="{DE8B85CC-86BE-FFBA-5E25-9E5D1318CD48}"/>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4B1AFA75-0BFC-2AF2-8AED-33D45D7F8644}"/>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17D9BCB1-0555-2AC7-7BC1-F3F5B5E9A4B1}"/>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7B712E37-5400-B9BC-9549-D7BA4A248F70}"/>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a:extLst>
              <a:ext uri="{FF2B5EF4-FFF2-40B4-BE49-F238E27FC236}">
                <a16:creationId xmlns:a16="http://schemas.microsoft.com/office/drawing/2014/main" id="{EE3DAEA9-929D-CE57-6E07-ADD4E57E2730}"/>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2/3</a:t>
            </a:r>
            <a:endParaRPr dirty="0"/>
          </a:p>
        </p:txBody>
      </p:sp>
      <p:sp>
        <p:nvSpPr>
          <p:cNvPr id="477" name="Google Shape;477;p50">
            <a:extLst>
              <a:ext uri="{FF2B5EF4-FFF2-40B4-BE49-F238E27FC236}">
                <a16:creationId xmlns:a16="http://schemas.microsoft.com/office/drawing/2014/main" id="{36C05713-6FC2-CBB7-83CE-69E63C9843F5}"/>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830F7524-DBA7-0A98-33B1-25DCDB22A871}"/>
              </a:ext>
            </a:extLst>
          </p:cNvPr>
          <p:cNvSpPr txBox="1">
            <a:spLocks noGrp="1"/>
          </p:cNvSpPr>
          <p:nvPr>
            <p:ph type="title" idx="4"/>
          </p:nvPr>
        </p:nvSpPr>
        <p:spPr>
          <a:xfrm>
            <a:off x="68249" y="576000"/>
            <a:ext cx="230027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Risk Management</a:t>
            </a:r>
            <a:endParaRPr sz="1800" dirty="0">
              <a:solidFill>
                <a:srgbClr val="FFFFFF"/>
              </a:solidFill>
            </a:endParaRPr>
          </a:p>
        </p:txBody>
      </p:sp>
      <p:sp>
        <p:nvSpPr>
          <p:cNvPr id="480" name="Google Shape;480;p50">
            <a:extLst>
              <a:ext uri="{FF2B5EF4-FFF2-40B4-BE49-F238E27FC236}">
                <a16:creationId xmlns:a16="http://schemas.microsoft.com/office/drawing/2014/main" id="{D3C916F0-FB6A-F672-EE61-F7DEFEC7B901}"/>
              </a:ext>
            </a:extLst>
          </p:cNvPr>
          <p:cNvSpPr txBox="1">
            <a:spLocks noGrp="1"/>
          </p:cNvSpPr>
          <p:nvPr>
            <p:ph type="title" idx="5"/>
          </p:nvPr>
        </p:nvSpPr>
        <p:spPr>
          <a:xfrm>
            <a:off x="2368520" y="576000"/>
            <a:ext cx="6396340" cy="493800"/>
          </a:xfrm>
          <a:prstGeom prst="rect">
            <a:avLst/>
          </a:prstGeom>
        </p:spPr>
        <p:txBody>
          <a:bodyPr spcFirstLastPara="1" wrap="square" lIns="91425" tIns="91425" rIns="91425" bIns="91425" anchor="ctr" anchorCtr="0">
            <a:noAutofit/>
          </a:bodyPr>
          <a:lstStyle/>
          <a:p>
            <a:r>
              <a:rPr lang="en-GB" dirty="0"/>
              <a:t>Students is be able to implement a professional problem-solving process, thoroughly supported by an appropriate framework or model to </a:t>
            </a:r>
            <a:r>
              <a:rPr lang="en-GB" dirty="0" err="1"/>
              <a:t>analyze</a:t>
            </a:r>
            <a:r>
              <a:rPr lang="en-GB" dirty="0"/>
              <a:t> and address encountered problems.</a:t>
            </a:r>
          </a:p>
        </p:txBody>
      </p:sp>
      <p:sp>
        <p:nvSpPr>
          <p:cNvPr id="8" name="Google Shape;459;p48">
            <a:extLst>
              <a:ext uri="{FF2B5EF4-FFF2-40B4-BE49-F238E27FC236}">
                <a16:creationId xmlns:a16="http://schemas.microsoft.com/office/drawing/2014/main" id="{9104081E-5C83-4D26-DFC4-D9374F846419}"/>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A6719589-295D-40A8-CBF6-9251C2D48027}"/>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spTree>
    <p:extLst>
      <p:ext uri="{BB962C8B-B14F-4D97-AF65-F5344CB8AC3E}">
        <p14:creationId xmlns:p14="http://schemas.microsoft.com/office/powerpoint/2010/main" val="22735800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4</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Professionalism</a:t>
            </a:r>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4</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41115616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4</a:t>
            </a:r>
            <a:endParaRPr/>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p:cNvSpPr txBox="1">
            <a:spLocks noGrp="1"/>
          </p:cNvSpPr>
          <p:nvPr>
            <p:ph type="title" idx="4"/>
          </p:nvPr>
        </p:nvSpPr>
        <p:spPr>
          <a:xfrm>
            <a:off x="68250" y="576000"/>
            <a:ext cx="207278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Collaboration</a:t>
            </a:r>
            <a:endParaRPr sz="1800" dirty="0">
              <a:solidFill>
                <a:srgbClr val="FFFFFF"/>
              </a:solidFill>
            </a:endParaRPr>
          </a:p>
        </p:txBody>
      </p:sp>
      <p:sp>
        <p:nvSpPr>
          <p:cNvPr id="480" name="Google Shape;480;p50"/>
          <p:cNvSpPr txBox="1">
            <a:spLocks noGrp="1"/>
          </p:cNvSpPr>
          <p:nvPr>
            <p:ph type="title" idx="5"/>
          </p:nvPr>
        </p:nvSpPr>
        <p:spPr>
          <a:xfrm>
            <a:off x="1998299" y="576000"/>
            <a:ext cx="6162451" cy="493800"/>
          </a:xfrm>
          <a:prstGeom prst="rect">
            <a:avLst/>
          </a:prstGeom>
        </p:spPr>
        <p:txBody>
          <a:bodyPr spcFirstLastPara="1" wrap="square" lIns="91425" tIns="91425" rIns="91425" bIns="91425" anchor="ctr" anchorCtr="0">
            <a:noAutofit/>
          </a:bodyPr>
          <a:lstStyle/>
          <a:p>
            <a:r>
              <a:rPr lang="en-GB" dirty="0"/>
              <a:t>Students is able to effectively engage key stakeholders and a broader network of experts throughout the process, aligning with industry expectations</a:t>
            </a:r>
            <a:endParaRPr lang="nl-NL" dirty="0"/>
          </a:p>
        </p:txBody>
      </p:sp>
      <p:sp>
        <p:nvSpPr>
          <p:cNvPr id="7" name="Google Shape;459;p48">
            <a:extLst>
              <a:ext uri="{FF2B5EF4-FFF2-40B4-BE49-F238E27FC236}">
                <a16:creationId xmlns:a16="http://schemas.microsoft.com/office/drawing/2014/main" id="{53BB9E1B-97C5-2DA9-6DD8-8B90626EFB7C}"/>
              </a:ext>
            </a:extLst>
          </p:cNvPr>
          <p:cNvSpPr txBox="1">
            <a:spLocks noGrp="1"/>
          </p:cNvSpPr>
          <p:nvPr>
            <p:ph type="title" idx="3"/>
          </p:nvPr>
        </p:nvSpPr>
        <p:spPr>
          <a:xfrm>
            <a:off x="2049461" y="0"/>
            <a:ext cx="582645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2" name="Google Shape;462;p48">
            <a:extLst>
              <a:ext uri="{FF2B5EF4-FFF2-40B4-BE49-F238E27FC236}">
                <a16:creationId xmlns:a16="http://schemas.microsoft.com/office/drawing/2014/main" id="{0DF68E2A-4FDB-D5FA-06F1-F3DB970B9CD1}"/>
              </a:ext>
            </a:extLst>
          </p:cNvPr>
          <p:cNvSpPr txBox="1">
            <a:spLocks noGrp="1"/>
          </p:cNvSpPr>
          <p:nvPr>
            <p:ph type="title" idx="6"/>
          </p:nvPr>
        </p:nvSpPr>
        <p:spPr>
          <a:xfrm>
            <a:off x="845550" y="39077"/>
            <a:ext cx="1368600" cy="576000"/>
          </a:xfrm>
          <a:prstGeom prst="rect">
            <a:avLst/>
          </a:prstGeom>
        </p:spPr>
        <p:txBody>
          <a:bodyPr spcFirstLastPara="1" wrap="square" lIns="91425" tIns="91425" rIns="91425" bIns="91425" anchor="ctr" anchorCtr="0">
            <a:noAutofit/>
          </a:bodyPr>
          <a:lstStyle/>
          <a:p>
            <a:r>
              <a:rPr lang="en-US" sz="1100" dirty="0" err="1"/>
              <a:t>Professionalizm</a:t>
            </a:r>
            <a:endParaRPr lang="en-US" sz="1100" dirty="0"/>
          </a:p>
        </p:txBody>
      </p:sp>
    </p:spTree>
    <p:extLst>
      <p:ext uri="{BB962C8B-B14F-4D97-AF65-F5344CB8AC3E}">
        <p14:creationId xmlns:p14="http://schemas.microsoft.com/office/powerpoint/2010/main" val="38890678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6E61D359-B2F9-8FF4-37F1-9D84EA845400}"/>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860824A7-EFCD-8BC6-F804-426B2D83A225}"/>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4</a:t>
            </a:r>
            <a:endParaRPr dirty="0"/>
          </a:p>
        </p:txBody>
      </p:sp>
      <p:sp>
        <p:nvSpPr>
          <p:cNvPr id="476" name="Google Shape;476;p50">
            <a:extLst>
              <a:ext uri="{FF2B5EF4-FFF2-40B4-BE49-F238E27FC236}">
                <a16:creationId xmlns:a16="http://schemas.microsoft.com/office/drawing/2014/main" id="{AE57B895-CC07-E50E-2C0B-4B1CA43C87F4}"/>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2/3</a:t>
            </a:r>
            <a:endParaRPr dirty="0"/>
          </a:p>
        </p:txBody>
      </p:sp>
      <p:sp>
        <p:nvSpPr>
          <p:cNvPr id="477" name="Google Shape;477;p50">
            <a:extLst>
              <a:ext uri="{FF2B5EF4-FFF2-40B4-BE49-F238E27FC236}">
                <a16:creationId xmlns:a16="http://schemas.microsoft.com/office/drawing/2014/main" id="{2EB17D5F-AE6A-92C6-5089-ACB59D1DFBF0}"/>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4942D1AF-E758-5EC2-2251-DA008FABC936}"/>
              </a:ext>
            </a:extLst>
          </p:cNvPr>
          <p:cNvSpPr txBox="1">
            <a:spLocks noGrp="1"/>
          </p:cNvSpPr>
          <p:nvPr>
            <p:ph type="title" idx="4"/>
          </p:nvPr>
        </p:nvSpPr>
        <p:spPr>
          <a:xfrm>
            <a:off x="68249" y="576000"/>
            <a:ext cx="230027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800" dirty="0">
                <a:solidFill>
                  <a:srgbClr val="FFFFFF"/>
                </a:solidFill>
              </a:rPr>
              <a:t>Ethics &amp; Legal</a:t>
            </a:r>
            <a:endParaRPr sz="1800" dirty="0">
              <a:solidFill>
                <a:srgbClr val="FFFFFF"/>
              </a:solidFill>
            </a:endParaRPr>
          </a:p>
        </p:txBody>
      </p:sp>
      <p:sp>
        <p:nvSpPr>
          <p:cNvPr id="480" name="Google Shape;480;p50">
            <a:extLst>
              <a:ext uri="{FF2B5EF4-FFF2-40B4-BE49-F238E27FC236}">
                <a16:creationId xmlns:a16="http://schemas.microsoft.com/office/drawing/2014/main" id="{5BFC4CD0-264F-C9BB-5428-C9D7F451CA38}"/>
              </a:ext>
            </a:extLst>
          </p:cNvPr>
          <p:cNvSpPr txBox="1">
            <a:spLocks noGrp="1"/>
          </p:cNvSpPr>
          <p:nvPr>
            <p:ph type="title" idx="5"/>
          </p:nvPr>
        </p:nvSpPr>
        <p:spPr>
          <a:xfrm>
            <a:off x="2368520" y="576000"/>
            <a:ext cx="6396340" cy="493800"/>
          </a:xfrm>
          <a:prstGeom prst="rect">
            <a:avLst/>
          </a:prstGeom>
        </p:spPr>
        <p:txBody>
          <a:bodyPr spcFirstLastPara="1" wrap="square" lIns="91425" tIns="91425" rIns="91425" bIns="91425" anchor="ctr" anchorCtr="0">
            <a:noAutofit/>
          </a:bodyPr>
          <a:lstStyle/>
          <a:p>
            <a:r>
              <a:rPr lang="en-GB" dirty="0"/>
              <a:t>The student is able to evaluate and apply ethical and legal frameworks and methodologies in alignment with industry standards, demonstrating how these principles inform and guide decisions made in their projects or portfolios</a:t>
            </a:r>
          </a:p>
        </p:txBody>
      </p:sp>
      <p:sp>
        <p:nvSpPr>
          <p:cNvPr id="8" name="Google Shape;459;p48">
            <a:extLst>
              <a:ext uri="{FF2B5EF4-FFF2-40B4-BE49-F238E27FC236}">
                <a16:creationId xmlns:a16="http://schemas.microsoft.com/office/drawing/2014/main" id="{CB63CC33-2C94-737E-31F7-1C7DB9C19F27}"/>
              </a:ext>
            </a:extLst>
          </p:cNvPr>
          <p:cNvSpPr txBox="1">
            <a:spLocks noGrp="1"/>
          </p:cNvSpPr>
          <p:nvPr>
            <p:ph type="title" idx="3"/>
          </p:nvPr>
        </p:nvSpPr>
        <p:spPr>
          <a:xfrm>
            <a:off x="2314320"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4" name="Google Shape;462;p48">
            <a:extLst>
              <a:ext uri="{FF2B5EF4-FFF2-40B4-BE49-F238E27FC236}">
                <a16:creationId xmlns:a16="http://schemas.microsoft.com/office/drawing/2014/main" id="{6DD9938A-0032-481C-42A8-B06E9CAD45D8}"/>
              </a:ext>
            </a:extLst>
          </p:cNvPr>
          <p:cNvSpPr txBox="1">
            <a:spLocks noGrp="1"/>
          </p:cNvSpPr>
          <p:nvPr>
            <p:ph type="title" idx="6"/>
          </p:nvPr>
        </p:nvSpPr>
        <p:spPr>
          <a:xfrm>
            <a:off x="845549" y="0"/>
            <a:ext cx="1468769" cy="576000"/>
          </a:xfrm>
          <a:prstGeom prst="rect">
            <a:avLst/>
          </a:prstGeom>
        </p:spPr>
        <p:txBody>
          <a:bodyPr spcFirstLastPara="1" wrap="square" lIns="91425" tIns="91425" rIns="91425" bIns="91425" anchor="ctr" anchorCtr="0">
            <a:noAutofit/>
          </a:bodyPr>
          <a:lstStyle/>
          <a:p>
            <a:pPr marL="0" indent="0"/>
            <a:r>
              <a:rPr lang="en-US" sz="1400" dirty="0"/>
              <a:t>Professionalism</a:t>
            </a:r>
          </a:p>
        </p:txBody>
      </p:sp>
    </p:spTree>
    <p:extLst>
      <p:ext uri="{BB962C8B-B14F-4D97-AF65-F5344CB8AC3E}">
        <p14:creationId xmlns:p14="http://schemas.microsoft.com/office/powerpoint/2010/main" val="20867425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28E4A57D-E8FD-038B-6B2F-CFEAE839F1DD}"/>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4478063A-CF62-907E-E10C-CDC65F5EE15F}"/>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4</a:t>
            </a:r>
            <a:endParaRPr dirty="0"/>
          </a:p>
        </p:txBody>
      </p:sp>
      <p:sp>
        <p:nvSpPr>
          <p:cNvPr id="476" name="Google Shape;476;p50">
            <a:extLst>
              <a:ext uri="{FF2B5EF4-FFF2-40B4-BE49-F238E27FC236}">
                <a16:creationId xmlns:a16="http://schemas.microsoft.com/office/drawing/2014/main" id="{9ED2B224-643D-95B0-B276-EC21B7C0AAE2}"/>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3/3</a:t>
            </a:r>
            <a:endParaRPr dirty="0"/>
          </a:p>
        </p:txBody>
      </p:sp>
      <p:sp>
        <p:nvSpPr>
          <p:cNvPr id="477" name="Google Shape;477;p50">
            <a:extLst>
              <a:ext uri="{FF2B5EF4-FFF2-40B4-BE49-F238E27FC236}">
                <a16:creationId xmlns:a16="http://schemas.microsoft.com/office/drawing/2014/main" id="{3045061A-096A-1216-9B4D-68C76B030F0E}"/>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999E417F-D7F4-B13C-8589-EDFE7ECA2CDE}"/>
              </a:ext>
            </a:extLst>
          </p:cNvPr>
          <p:cNvSpPr txBox="1">
            <a:spLocks noGrp="1"/>
          </p:cNvSpPr>
          <p:nvPr>
            <p:ph type="title" idx="4"/>
          </p:nvPr>
        </p:nvSpPr>
        <p:spPr>
          <a:xfrm>
            <a:off x="68250" y="576000"/>
            <a:ext cx="207278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Communication</a:t>
            </a:r>
            <a:endParaRPr sz="1800" dirty="0">
              <a:solidFill>
                <a:srgbClr val="FFFFFF"/>
              </a:solidFill>
            </a:endParaRPr>
          </a:p>
        </p:txBody>
      </p:sp>
      <p:sp>
        <p:nvSpPr>
          <p:cNvPr id="480" name="Google Shape;480;p50">
            <a:extLst>
              <a:ext uri="{FF2B5EF4-FFF2-40B4-BE49-F238E27FC236}">
                <a16:creationId xmlns:a16="http://schemas.microsoft.com/office/drawing/2014/main" id="{D9A8002D-E519-7407-7DDD-E1B65C7F5446}"/>
              </a:ext>
            </a:extLst>
          </p:cNvPr>
          <p:cNvSpPr txBox="1">
            <a:spLocks noGrp="1"/>
          </p:cNvSpPr>
          <p:nvPr>
            <p:ph type="title" idx="5"/>
          </p:nvPr>
        </p:nvSpPr>
        <p:spPr>
          <a:xfrm>
            <a:off x="1998299" y="576000"/>
            <a:ext cx="6162451" cy="493800"/>
          </a:xfrm>
          <a:prstGeom prst="rect">
            <a:avLst/>
          </a:prstGeom>
        </p:spPr>
        <p:txBody>
          <a:bodyPr spcFirstLastPara="1" wrap="square" lIns="91425" tIns="91425" rIns="91425" bIns="91425" anchor="ctr" anchorCtr="0">
            <a:noAutofit/>
          </a:bodyPr>
          <a:lstStyle/>
          <a:p>
            <a:r>
              <a:rPr lang="en-GB" dirty="0"/>
              <a:t>Students is able to effectively communicate complex information, ideas, problems, and solutions to both specialist and non-specialist audiences in a clear and engaging manner.</a:t>
            </a:r>
            <a:endParaRPr lang="nl-NL" dirty="0"/>
          </a:p>
        </p:txBody>
      </p:sp>
      <p:sp>
        <p:nvSpPr>
          <p:cNvPr id="7" name="Google Shape;459;p48">
            <a:extLst>
              <a:ext uri="{FF2B5EF4-FFF2-40B4-BE49-F238E27FC236}">
                <a16:creationId xmlns:a16="http://schemas.microsoft.com/office/drawing/2014/main" id="{A47B4753-3CDE-BD59-5C62-F3F81B6E1163}"/>
              </a:ext>
            </a:extLst>
          </p:cNvPr>
          <p:cNvSpPr txBox="1">
            <a:spLocks noGrp="1"/>
          </p:cNvSpPr>
          <p:nvPr>
            <p:ph type="title" idx="3"/>
          </p:nvPr>
        </p:nvSpPr>
        <p:spPr>
          <a:xfrm>
            <a:off x="2049461" y="0"/>
            <a:ext cx="582645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2" name="Google Shape;462;p48">
            <a:extLst>
              <a:ext uri="{FF2B5EF4-FFF2-40B4-BE49-F238E27FC236}">
                <a16:creationId xmlns:a16="http://schemas.microsoft.com/office/drawing/2014/main" id="{F875C590-16CF-4BC9-2D58-83481D589700}"/>
              </a:ext>
            </a:extLst>
          </p:cNvPr>
          <p:cNvSpPr txBox="1">
            <a:spLocks noGrp="1"/>
          </p:cNvSpPr>
          <p:nvPr>
            <p:ph type="title" idx="6"/>
          </p:nvPr>
        </p:nvSpPr>
        <p:spPr>
          <a:xfrm>
            <a:off x="845550" y="39077"/>
            <a:ext cx="1368600" cy="576000"/>
          </a:xfrm>
          <a:prstGeom prst="rect">
            <a:avLst/>
          </a:prstGeom>
        </p:spPr>
        <p:txBody>
          <a:bodyPr spcFirstLastPara="1" wrap="square" lIns="91425" tIns="91425" rIns="91425" bIns="91425" anchor="ctr" anchorCtr="0">
            <a:noAutofit/>
          </a:bodyPr>
          <a:lstStyle/>
          <a:p>
            <a:r>
              <a:rPr lang="en-US" sz="1100" dirty="0"/>
              <a:t>Professionalism</a:t>
            </a:r>
          </a:p>
        </p:txBody>
      </p:sp>
    </p:spTree>
    <p:extLst>
      <p:ext uri="{BB962C8B-B14F-4D97-AF65-F5344CB8AC3E}">
        <p14:creationId xmlns:p14="http://schemas.microsoft.com/office/powerpoint/2010/main" val="21381150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5</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Learning</a:t>
            </a:r>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systematically reflect, learn, and request feedback on professional products, processes, and behavior, and apply where appropriate.</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rPr>
              <a:t>5</a:t>
            </a:r>
          </a:p>
        </p:txBody>
      </p:sp>
    </p:spTree>
    <p:extLst>
      <p:ext uri="{BB962C8B-B14F-4D97-AF65-F5344CB8AC3E}">
        <p14:creationId xmlns:p14="http://schemas.microsoft.com/office/powerpoint/2010/main" val="336910565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5</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p:cNvSpPr txBox="1">
            <a:spLocks noGrp="1"/>
          </p:cNvSpPr>
          <p:nvPr>
            <p:ph type="title" idx="4"/>
          </p:nvPr>
        </p:nvSpPr>
        <p:spPr>
          <a:xfrm>
            <a:off x="68249" y="576000"/>
            <a:ext cx="189857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Feedback</a:t>
            </a:r>
            <a:endParaRPr lang="en" sz="2800" dirty="0">
              <a:solidFill>
                <a:srgbClr val="FFFFFF"/>
              </a:solidFill>
            </a:endParaRPr>
          </a:p>
        </p:txBody>
      </p:sp>
      <p:sp>
        <p:nvSpPr>
          <p:cNvPr id="480" name="Google Shape;480;p50"/>
          <p:cNvSpPr txBox="1">
            <a:spLocks noGrp="1"/>
          </p:cNvSpPr>
          <p:nvPr>
            <p:ph type="title" idx="5"/>
          </p:nvPr>
        </p:nvSpPr>
        <p:spPr>
          <a:xfrm>
            <a:off x="2214150" y="576000"/>
            <a:ext cx="5946599" cy="493800"/>
          </a:xfrm>
          <a:prstGeom prst="rect">
            <a:avLst/>
          </a:prstGeom>
        </p:spPr>
        <p:txBody>
          <a:bodyPr spcFirstLastPara="1" wrap="square" lIns="91425" tIns="91425" rIns="91425" bIns="91425" anchor="ctr" anchorCtr="0">
            <a:noAutofit/>
          </a:bodyPr>
          <a:lstStyle/>
          <a:p>
            <a:r>
              <a:rPr lang="en-GB" dirty="0"/>
              <a:t>Students is able to implement appropriate methods for requesting feedback from experts and stakeholders, enabling them to critically reflect on their professional products, processes, and </a:t>
            </a:r>
            <a:r>
              <a:rPr lang="en-GB" dirty="0" err="1"/>
              <a:t>behavior</a:t>
            </a:r>
            <a:r>
              <a:rPr lang="en-GB" dirty="0"/>
              <a:t>.</a:t>
            </a:r>
            <a:endParaRPr lang="nl-NL" dirty="0"/>
          </a:p>
        </p:txBody>
      </p:sp>
      <p:sp>
        <p:nvSpPr>
          <p:cNvPr id="7" name="Google Shape;459;p48">
            <a:extLst>
              <a:ext uri="{FF2B5EF4-FFF2-40B4-BE49-F238E27FC236}">
                <a16:creationId xmlns:a16="http://schemas.microsoft.com/office/drawing/2014/main" id="{53BB9E1B-97C5-2DA9-6DD8-8B90626EFB7C}"/>
              </a:ext>
            </a:extLst>
          </p:cNvPr>
          <p:cNvSpPr txBox="1">
            <a:spLocks noGrp="1"/>
          </p:cNvSpPr>
          <p:nvPr>
            <p:ph type="title" idx="3"/>
          </p:nvPr>
        </p:nvSpPr>
        <p:spPr>
          <a:xfrm>
            <a:off x="2049461" y="0"/>
            <a:ext cx="5127715" cy="576000"/>
          </a:xfrm>
          <a:prstGeom prst="rect">
            <a:avLst/>
          </a:prstGeom>
        </p:spPr>
        <p:txBody>
          <a:bodyPr spcFirstLastPara="1" wrap="square" lIns="91425" tIns="91425" rIns="91425" bIns="91425" anchor="ctr" anchorCtr="0">
            <a:noAutofit/>
          </a:bodyPr>
          <a:lstStyle/>
          <a:p>
            <a:r>
              <a:rPr lang="en-US" dirty="0"/>
              <a:t>The student demonstrates the ability to systematically reflect, learn, and request feedback on professional products, processes, and behavior, and apply where appropriate.</a:t>
            </a:r>
            <a:endParaRPr lang="nl-NL" dirty="0"/>
          </a:p>
        </p:txBody>
      </p:sp>
      <p:sp>
        <p:nvSpPr>
          <p:cNvPr id="2" name="Google Shape;462;p48">
            <a:extLst>
              <a:ext uri="{FF2B5EF4-FFF2-40B4-BE49-F238E27FC236}">
                <a16:creationId xmlns:a16="http://schemas.microsoft.com/office/drawing/2014/main" id="{0DF68E2A-4FDB-D5FA-06F1-F3DB970B9CD1}"/>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1100" dirty="0"/>
              <a:t>Learning</a:t>
            </a:r>
          </a:p>
        </p:txBody>
      </p:sp>
    </p:spTree>
    <p:extLst>
      <p:ext uri="{BB962C8B-B14F-4D97-AF65-F5344CB8AC3E}">
        <p14:creationId xmlns:p14="http://schemas.microsoft.com/office/powerpoint/2010/main" val="274225865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163B541D-835F-F3E9-2402-1F1B76A8E3FA}"/>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DA426EAA-CC36-73DB-3507-DE7621843A5A}"/>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5</a:t>
            </a:r>
            <a:endParaRPr dirty="0"/>
          </a:p>
        </p:txBody>
      </p:sp>
      <p:sp>
        <p:nvSpPr>
          <p:cNvPr id="476" name="Google Shape;476;p50">
            <a:extLst>
              <a:ext uri="{FF2B5EF4-FFF2-40B4-BE49-F238E27FC236}">
                <a16:creationId xmlns:a16="http://schemas.microsoft.com/office/drawing/2014/main" id="{A085FE4B-E969-DAFA-481A-3654A868D5CC}"/>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477" name="Google Shape;477;p50">
            <a:extLst>
              <a:ext uri="{FF2B5EF4-FFF2-40B4-BE49-F238E27FC236}">
                <a16:creationId xmlns:a16="http://schemas.microsoft.com/office/drawing/2014/main" id="{4422F7EE-F8E2-1632-E015-B398A148320C}"/>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dirty="0">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dirty="0">
              <a:solidFill>
                <a:schemeClr val="lt1"/>
              </a:solidFill>
            </a:endParaRPr>
          </a:p>
          <a:p>
            <a:pPr marL="0" lvl="0" indent="0" algn="l" rtl="0">
              <a:lnSpc>
                <a:spcPct val="115000"/>
              </a:lnSpc>
              <a:spcBef>
                <a:spcPts val="0"/>
              </a:spcBef>
              <a:spcAft>
                <a:spcPts val="0"/>
              </a:spcAft>
              <a:buNone/>
            </a:pPr>
            <a:endParaRPr sz="7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49D15DC4-D0DF-9D9B-2F55-93221DC163A5}"/>
              </a:ext>
            </a:extLst>
          </p:cNvPr>
          <p:cNvSpPr txBox="1">
            <a:spLocks noGrp="1"/>
          </p:cNvSpPr>
          <p:nvPr>
            <p:ph type="title" idx="4"/>
          </p:nvPr>
        </p:nvSpPr>
        <p:spPr>
          <a:xfrm>
            <a:off x="68249" y="576000"/>
            <a:ext cx="189857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t>Implementation</a:t>
            </a:r>
            <a:endParaRPr lang="en" sz="1800" dirty="0">
              <a:solidFill>
                <a:srgbClr val="FFFFFF"/>
              </a:solidFill>
            </a:endParaRPr>
          </a:p>
        </p:txBody>
      </p:sp>
      <p:sp>
        <p:nvSpPr>
          <p:cNvPr id="480" name="Google Shape;480;p50">
            <a:extLst>
              <a:ext uri="{FF2B5EF4-FFF2-40B4-BE49-F238E27FC236}">
                <a16:creationId xmlns:a16="http://schemas.microsoft.com/office/drawing/2014/main" id="{418FA87E-E555-3568-84E3-6C7EF74A02DC}"/>
              </a:ext>
            </a:extLst>
          </p:cNvPr>
          <p:cNvSpPr txBox="1">
            <a:spLocks noGrp="1"/>
          </p:cNvSpPr>
          <p:nvPr>
            <p:ph type="title" idx="5"/>
          </p:nvPr>
        </p:nvSpPr>
        <p:spPr>
          <a:xfrm>
            <a:off x="2214150" y="576000"/>
            <a:ext cx="5946599" cy="493800"/>
          </a:xfrm>
          <a:prstGeom prst="rect">
            <a:avLst/>
          </a:prstGeom>
        </p:spPr>
        <p:txBody>
          <a:bodyPr spcFirstLastPara="1" wrap="square" lIns="91425" tIns="91425" rIns="91425" bIns="91425" anchor="ctr" anchorCtr="0">
            <a:noAutofit/>
          </a:bodyPr>
          <a:lstStyle/>
          <a:p>
            <a:r>
              <a:rPr lang="en-GB" dirty="0"/>
              <a:t>Students is able to clearly and concisely articulate key insights from reflection and feedback and apply appropriate modifications to products, processes, and/or </a:t>
            </a:r>
            <a:r>
              <a:rPr lang="en-GB" dirty="0" err="1"/>
              <a:t>behavior</a:t>
            </a:r>
            <a:r>
              <a:rPr lang="en-GB" dirty="0"/>
              <a:t> based on those insights.</a:t>
            </a:r>
            <a:endParaRPr lang="nl-NL" dirty="0"/>
          </a:p>
        </p:txBody>
      </p:sp>
      <p:sp>
        <p:nvSpPr>
          <p:cNvPr id="7" name="Google Shape;459;p48">
            <a:extLst>
              <a:ext uri="{FF2B5EF4-FFF2-40B4-BE49-F238E27FC236}">
                <a16:creationId xmlns:a16="http://schemas.microsoft.com/office/drawing/2014/main" id="{B2B9EA72-0FA8-AA72-4C56-4B4FA62B4372}"/>
              </a:ext>
            </a:extLst>
          </p:cNvPr>
          <p:cNvSpPr txBox="1">
            <a:spLocks noGrp="1"/>
          </p:cNvSpPr>
          <p:nvPr>
            <p:ph type="title" idx="3"/>
          </p:nvPr>
        </p:nvSpPr>
        <p:spPr>
          <a:xfrm>
            <a:off x="2049461" y="0"/>
            <a:ext cx="5127715" cy="576000"/>
          </a:xfrm>
          <a:prstGeom prst="rect">
            <a:avLst/>
          </a:prstGeom>
        </p:spPr>
        <p:txBody>
          <a:bodyPr spcFirstLastPara="1" wrap="square" lIns="91425" tIns="91425" rIns="91425" bIns="91425" anchor="ctr" anchorCtr="0">
            <a:noAutofit/>
          </a:bodyPr>
          <a:lstStyle/>
          <a:p>
            <a:r>
              <a:rPr lang="en-US" dirty="0"/>
              <a:t>The student demonstrates the ability to systematically reflect, learn, and request feedback on professional products, processes, and behavior, and apply where appropriate.</a:t>
            </a:r>
            <a:endParaRPr lang="nl-NL" dirty="0"/>
          </a:p>
        </p:txBody>
      </p:sp>
      <p:sp>
        <p:nvSpPr>
          <p:cNvPr id="2" name="Google Shape;462;p48">
            <a:extLst>
              <a:ext uri="{FF2B5EF4-FFF2-40B4-BE49-F238E27FC236}">
                <a16:creationId xmlns:a16="http://schemas.microsoft.com/office/drawing/2014/main" id="{1D7CDF46-2631-9CE8-5E4E-15582BE66E1A}"/>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1100" dirty="0"/>
              <a:t>Learning</a:t>
            </a:r>
          </a:p>
        </p:txBody>
      </p:sp>
    </p:spTree>
    <p:extLst>
      <p:ext uri="{BB962C8B-B14F-4D97-AF65-F5344CB8AC3E}">
        <p14:creationId xmlns:p14="http://schemas.microsoft.com/office/powerpoint/2010/main" val="2509397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dirty="0"/>
              <a:t>Section D</a:t>
            </a:r>
            <a:endParaRPr sz="6000" dirty="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278956" y="736062"/>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sym typeface="Roboto"/>
              </a:rPr>
              <a:t>D</a:t>
            </a:r>
            <a:endParaRPr sz="40000" dirty="0">
              <a:solidFill>
                <a:srgbClr val="999999"/>
              </a:solidFill>
              <a:latin typeface="Roboto"/>
              <a:ea typeface="Roboto"/>
              <a:cs typeface="Roboto"/>
              <a:sym typeface="Roboto"/>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My most significant achievements during my </a:t>
            </a:r>
            <a:r>
              <a:rPr lang="en-US" dirty="0"/>
              <a:t>graduation project</a:t>
            </a:r>
            <a:endParaRPr dirty="0"/>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most difficult challenges my </a:t>
            </a:r>
            <a:r>
              <a:rPr lang="en-US" sz="1400" b="1" dirty="0"/>
              <a:t>graduation project</a:t>
            </a:r>
            <a:endParaRPr sz="1400" b="1" dirty="0"/>
          </a:p>
          <a:p>
            <a:pPr marL="0" lvl="0" indent="0" algn="just" rtl="0">
              <a:spcBef>
                <a:spcPts val="80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The most important lessons I learned during my </a:t>
            </a:r>
            <a:r>
              <a:rPr lang="en-US" sz="1400" b="1" dirty="0"/>
              <a:t>graduation project</a:t>
            </a:r>
            <a:endParaRPr sz="1400" b="1" dirty="0"/>
          </a:p>
          <a:p>
            <a:pPr marL="0" lvl="0" indent="0" algn="just" rtl="0">
              <a:spcBef>
                <a:spcPts val="800"/>
              </a:spcBef>
              <a:spcAft>
                <a:spcPts val="800"/>
              </a:spcAft>
              <a:buNone/>
            </a:pPr>
            <a:r>
              <a:rPr lang="en" dirty="0"/>
              <a:t>...</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602742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These where the qualities </a:t>
            </a:r>
            <a:r>
              <a:rPr lang="en-GB" dirty="0"/>
              <a:t>I</a:t>
            </a:r>
            <a:r>
              <a:rPr lang="en" dirty="0"/>
              <a:t> intended to work on indicated in section A</a:t>
            </a:r>
          </a:p>
          <a:p>
            <a:pPr marL="0" lvl="0" indent="0" algn="l" rtl="0">
              <a:spcBef>
                <a:spcPts val="0"/>
              </a:spcBef>
              <a:spcAft>
                <a:spcPts val="800"/>
              </a:spcAft>
              <a:buNone/>
            </a:pPr>
            <a:endParaRPr dirty="0"/>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GB" sz="1400" b="1" dirty="0"/>
              <a:t>This is how I feel like I improved on those qualities</a:t>
            </a:r>
            <a:endParaRPr sz="1400" b="1" dirty="0"/>
          </a:p>
          <a:p>
            <a:pPr marL="0" lvl="0" indent="0" algn="just" rtl="0">
              <a:spcBef>
                <a:spcPts val="80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GB" sz="1400" b="1" dirty="0"/>
              <a:t>This is the advice I would give myself if I would start my graduation project with the knowledge I have now</a:t>
            </a:r>
            <a:endParaRPr sz="1400" b="1" dirty="0"/>
          </a:p>
          <a:p>
            <a:pPr marL="0" lvl="0" indent="0" algn="just" rtl="0">
              <a:spcBef>
                <a:spcPts val="800"/>
              </a:spcBef>
              <a:spcAft>
                <a:spcPts val="800"/>
              </a:spcAft>
              <a:buNone/>
            </a:pPr>
            <a:r>
              <a:rPr lang="en" dirty="0"/>
              <a:t>...</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t>
            </a:r>
          </a:p>
        </p:txBody>
      </p:sp>
    </p:spTree>
    <p:extLst>
      <p:ext uri="{BB962C8B-B14F-4D97-AF65-F5344CB8AC3E}">
        <p14:creationId xmlns:p14="http://schemas.microsoft.com/office/powerpoint/2010/main" val="3347921444"/>
      </p:ext>
    </p:extLst>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ff92c65-ed86-4457-baee-ccd535c9ea21">
      <Terms xmlns="http://schemas.microsoft.com/office/infopath/2007/PartnerControls"/>
    </lcf76f155ced4ddcb4097134ff3c332f>
    <TaxCatchAll xmlns="6c8d291c-a5bf-4049-930d-38db8e991d8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Een nieuw document maken." ma:contentTypeScope="" ma:versionID="fe102fc92a60fb44f88498837809608c">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2f72fefe31d96546aeabc284eee7b20"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Afbeelding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Gedeeld met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http://schemas.microsoft.com/office/2006/metadata/properties"/>
    <ds:schemaRef ds:uri="http://www.w3.org/2000/xmlns/"/>
    <ds:schemaRef ds:uri="5ff92c65-ed86-4457-baee-ccd535c9ea21"/>
    <ds:schemaRef ds:uri="http://schemas.microsoft.com/office/infopath/2007/PartnerControls"/>
    <ds:schemaRef ds:uri="6c8d291c-a5bf-4049-930d-38db8e991d8e"/>
    <ds:schemaRef ds:uri="http://www.w3.org/2001/XMLSchema-instan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FD274795-8130-4893-9AFD-BAA9B90058EA}">
  <ds:schemaRefs>
    <ds:schemaRef ds:uri="http://schemas.microsoft.com/office/2006/metadata/contentType"/>
    <ds:schemaRef ds:uri="http://schemas.microsoft.com/office/2006/metadata/properties/metaAttributes"/>
    <ds:schemaRef ds:uri="http://www.w3.org/2000/xmlns/"/>
    <ds:schemaRef ds:uri="http://www.w3.org/2001/XMLSchema"/>
    <ds:schemaRef ds:uri="5ff92c65-ed86-4457-baee-ccd535c9ea21"/>
    <ds:schemaRef ds:uri="6c8d291c-a5bf-4049-930d-38db8e991d8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1598</TotalTime>
  <Words>9802</Words>
  <Application>Microsoft Office PowerPoint</Application>
  <PresentationFormat>On-screen Show (16:9)</PresentationFormat>
  <Paragraphs>1137</Paragraphs>
  <Slides>71</Slides>
  <Notes>70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71</vt:i4>
      </vt:variant>
    </vt:vector>
  </HeadingPairs>
  <TitlesOfParts>
    <vt:vector size="82" baseType="lpstr">
      <vt:lpstr>Roboto Light</vt:lpstr>
      <vt:lpstr>Segoe UI</vt:lpstr>
      <vt:lpstr>Alfa Slab One</vt:lpstr>
      <vt:lpstr>Arial</vt:lpstr>
      <vt:lpstr>Times New Roman</vt:lpstr>
      <vt:lpstr>Roboto</vt:lpstr>
      <vt:lpstr>Open Sans</vt:lpstr>
      <vt:lpstr>Helvetica Neue</vt:lpstr>
      <vt:lpstr>Roboto Thin</vt:lpstr>
      <vt:lpstr>Proxima Nova</vt:lpstr>
      <vt:lpstr>BUAS Gameday</vt:lpstr>
      <vt:lpstr>Vladislav Stoimenov 235030 Gradation Project</vt:lpstr>
      <vt:lpstr>How To Use This Template</vt:lpstr>
      <vt:lpstr>Learning Log Structure</vt:lpstr>
      <vt:lpstr>Section A</vt:lpstr>
      <vt:lpstr>What is my plan?</vt:lpstr>
      <vt:lpstr>Where am I starting?</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Week 9 - Log</vt:lpstr>
      <vt:lpstr>Week 9 - Feedback</vt:lpstr>
      <vt:lpstr>Week 10 - Log</vt:lpstr>
      <vt:lpstr>Week 10 - Feedback</vt:lpstr>
      <vt:lpstr>You are halfway there!</vt:lpstr>
      <vt:lpstr>Week 11 - Log</vt:lpstr>
      <vt:lpstr>Week 11 - Feedback</vt:lpstr>
      <vt:lpstr>Week 12 - Log</vt:lpstr>
      <vt:lpstr>Week 12 - Feedback</vt:lpstr>
      <vt:lpstr>Week 13 - Log</vt:lpstr>
      <vt:lpstr>Week 13 - Feedback</vt:lpstr>
      <vt:lpstr>Week 14 - Log</vt:lpstr>
      <vt:lpstr>Week 14 - Feedback</vt:lpstr>
      <vt:lpstr>Week 15 - Log</vt:lpstr>
      <vt:lpstr>Week 15 - Feedback</vt:lpstr>
      <vt:lpstr>Week 16 - Log</vt:lpstr>
      <vt:lpstr>Week 16 - Feedback</vt:lpstr>
      <vt:lpstr>Week 17 - Log</vt:lpstr>
      <vt:lpstr>Week 17 - Feedback</vt:lpstr>
      <vt:lpstr>Week 18 - Log</vt:lpstr>
      <vt:lpstr>Week 18 - Feedback</vt:lpstr>
      <vt:lpstr>Week 19 - Log</vt:lpstr>
      <vt:lpstr>Week 19 - Feedback</vt:lpstr>
      <vt:lpstr>Week 20 - Log</vt:lpstr>
      <vt:lpstr>Week 20 - Feedback</vt:lpstr>
      <vt:lpstr>You made it!</vt:lpstr>
      <vt:lpstr>Section C</vt:lpstr>
      <vt:lpstr>ILO 1</vt:lpstr>
      <vt:lpstr>ILO 1</vt:lpstr>
      <vt:lpstr>ILO 1</vt:lpstr>
      <vt:lpstr>ILO 1</vt:lpstr>
      <vt:lpstr>ILO 2</vt:lpstr>
      <vt:lpstr>ILO 2</vt:lpstr>
      <vt:lpstr>ILO 2</vt:lpstr>
      <vt:lpstr>ILO 3</vt:lpstr>
      <vt:lpstr>ILO 3</vt:lpstr>
      <vt:lpstr>ILO 3</vt:lpstr>
      <vt:lpstr>ILO 4</vt:lpstr>
      <vt:lpstr>ILO 4</vt:lpstr>
      <vt:lpstr>ILO 4</vt:lpstr>
      <vt:lpstr>ILO 4</vt:lpstr>
      <vt:lpstr>ILO 5</vt:lpstr>
      <vt:lpstr>ILO 5</vt:lpstr>
      <vt:lpstr>ILO 5</vt:lpstr>
      <vt:lpstr>Section D</vt:lpstr>
      <vt:lpstr>What did I achieve this block?</vt:lpstr>
      <vt:lpstr>What did I achieve this block?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cp:lastModifiedBy>Vladi</cp:lastModifiedBy>
  <cp:revision>258</cp:revision>
  <dcterms:modified xsi:type="dcterms:W3CDTF">2026-10-11T20:04:33Z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ies>
</file>